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52"/>
  </p:notesMasterIdLst>
  <p:handoutMasterIdLst>
    <p:handoutMasterId r:id="rId53"/>
  </p:handoutMasterIdLst>
  <p:sldIdLst>
    <p:sldId id="337" r:id="rId2"/>
    <p:sldId id="355" r:id="rId3"/>
    <p:sldId id="356" r:id="rId4"/>
    <p:sldId id="357" r:id="rId5"/>
    <p:sldId id="358" r:id="rId6"/>
    <p:sldId id="359" r:id="rId7"/>
    <p:sldId id="360" r:id="rId8"/>
    <p:sldId id="362" r:id="rId9"/>
    <p:sldId id="363" r:id="rId10"/>
    <p:sldId id="364" r:id="rId11"/>
    <p:sldId id="365" r:id="rId12"/>
    <p:sldId id="366" r:id="rId13"/>
    <p:sldId id="367" r:id="rId14"/>
    <p:sldId id="368" r:id="rId15"/>
    <p:sldId id="369" r:id="rId16"/>
    <p:sldId id="370" r:id="rId17"/>
    <p:sldId id="371" r:id="rId18"/>
    <p:sldId id="372" r:id="rId19"/>
    <p:sldId id="373" r:id="rId20"/>
    <p:sldId id="374" r:id="rId21"/>
    <p:sldId id="375" r:id="rId22"/>
    <p:sldId id="376" r:id="rId23"/>
    <p:sldId id="377" r:id="rId24"/>
    <p:sldId id="378" r:id="rId25"/>
    <p:sldId id="379" r:id="rId26"/>
    <p:sldId id="381" r:id="rId27"/>
    <p:sldId id="382" r:id="rId28"/>
    <p:sldId id="383" r:id="rId29"/>
    <p:sldId id="380" r:id="rId30"/>
    <p:sldId id="384" r:id="rId31"/>
    <p:sldId id="386" r:id="rId32"/>
    <p:sldId id="387" r:id="rId33"/>
    <p:sldId id="388" r:id="rId34"/>
    <p:sldId id="389" r:id="rId35"/>
    <p:sldId id="390" r:id="rId36"/>
    <p:sldId id="391" r:id="rId37"/>
    <p:sldId id="392" r:id="rId38"/>
    <p:sldId id="393" r:id="rId39"/>
    <p:sldId id="394" r:id="rId40"/>
    <p:sldId id="395" r:id="rId41"/>
    <p:sldId id="396" r:id="rId42"/>
    <p:sldId id="397" r:id="rId43"/>
    <p:sldId id="398" r:id="rId44"/>
    <p:sldId id="399" r:id="rId45"/>
    <p:sldId id="400" r:id="rId46"/>
    <p:sldId id="401" r:id="rId47"/>
    <p:sldId id="402" r:id="rId48"/>
    <p:sldId id="403" r:id="rId49"/>
    <p:sldId id="404" r:id="rId50"/>
    <p:sldId id="340"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169" autoAdjust="0"/>
    <p:restoredTop sz="78045" autoAdjust="0"/>
  </p:normalViewPr>
  <p:slideViewPr>
    <p:cSldViewPr snapToGrid="0" showGuides="1">
      <p:cViewPr varScale="1">
        <p:scale>
          <a:sx n="143" d="100"/>
          <a:sy n="143" d="100"/>
        </p:scale>
        <p:origin x="248" y="504"/>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2025/4/3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2025/4/3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2025/4/3</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artinfowler.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持续集成</a:t>
            </a:r>
          </a:p>
        </p:txBody>
      </p:sp>
      <p:sp>
        <p:nvSpPr>
          <p:cNvPr id="3" name="文本占位符 2"/>
          <p:cNvSpPr>
            <a:spLocks noGrp="1"/>
          </p:cNvSpPr>
          <p:nvPr>
            <p:ph type="body" sz="quarter" idx="11"/>
          </p:nvPr>
        </p:nvSpPr>
        <p:spPr/>
        <p:txBody>
          <a:bodyPr/>
          <a:lstStyle/>
          <a:p>
            <a:r>
              <a:rPr lang="zh-CN" altLang="en-US" dirty="0"/>
              <a:t>一种提升软件开发效率与质量的实践</a:t>
            </a:r>
          </a:p>
        </p:txBody>
      </p:sp>
      <p:sp>
        <p:nvSpPr>
          <p:cNvPr id="4" name="文本占位符 3"/>
          <p:cNvSpPr>
            <a:spLocks noGrp="1"/>
          </p:cNvSpPr>
          <p:nvPr>
            <p:ph type="body" sz="quarter" idx="12"/>
          </p:nvPr>
        </p:nvSpPr>
        <p:spPr/>
        <p:txBody>
          <a:bodyPr/>
          <a:lstStyle/>
          <a:p>
            <a:r>
              <a:rPr lang="en-US" altLang="zh-CN" b="1" i="0" u="none" strike="noStrike" dirty="0">
                <a:effectLst/>
                <a:latin typeface="Open Sans" panose="020B0306030504020204" pitchFamily="34" charset="0"/>
                <a:hlinkClick r:id="rId2"/>
              </a:rPr>
              <a:t>Martin Fowler</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85DB6-C182-E2F1-3803-24F7106171A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B86E507-4981-3D8E-626F-B328012F4A0B}"/>
              </a:ext>
            </a:extLst>
          </p:cNvPr>
          <p:cNvSpPr>
            <a:spLocks noGrp="1"/>
          </p:cNvSpPr>
          <p:nvPr>
            <p:ph type="sldNum" sz="quarter" idx="12"/>
          </p:nvPr>
        </p:nvSpPr>
        <p:spPr/>
        <p:txBody>
          <a:bodyPr/>
          <a:lstStyle/>
          <a:p>
            <a:fld id="{51D91E7F-84B6-4064-9D4E-CC7D244BCA04}" type="slidenum">
              <a:rPr lang="zh-CN" altLang="en-US" smtClean="0"/>
              <a:t>1</a:t>
            </a:fld>
            <a:endParaRPr lang="zh-CN" altLang="en-US"/>
          </a:p>
        </p:txBody>
      </p:sp>
      <p:sp>
        <p:nvSpPr>
          <p:cNvPr id="3" name="文本占位符 2">
            <a:extLst>
              <a:ext uri="{FF2B5EF4-FFF2-40B4-BE49-F238E27FC236}">
                <a16:creationId xmlns:a16="http://schemas.microsoft.com/office/drawing/2014/main" id="{5E0DAED4-09B6-C2EB-6B52-2AA9D98055F6}"/>
              </a:ext>
            </a:extLst>
          </p:cNvPr>
          <p:cNvSpPr>
            <a:spLocks noGrp="1"/>
          </p:cNvSpPr>
          <p:nvPr>
            <p:ph type="body" sz="quarter" idx="13"/>
          </p:nvPr>
        </p:nvSpPr>
        <p:spPr/>
        <p:txBody>
          <a:bodyPr/>
          <a:lstStyle/>
          <a:p>
            <a:r>
              <a:rPr kumimoji="1" lang="zh-CN" altLang="en-US" dirty="0"/>
              <a:t>什么是持续集成 </a:t>
            </a:r>
            <a:r>
              <a:rPr kumimoji="1" lang="en-US" altLang="zh-CN" dirty="0"/>
              <a:t>(CI)</a:t>
            </a:r>
            <a:r>
              <a:rPr kumimoji="1" lang="zh-CN" altLang="en-US" dirty="0"/>
              <a:t>？</a:t>
            </a:r>
          </a:p>
        </p:txBody>
      </p:sp>
      <p:sp>
        <p:nvSpPr>
          <p:cNvPr id="4" name="内容占位符 3">
            <a:extLst>
              <a:ext uri="{FF2B5EF4-FFF2-40B4-BE49-F238E27FC236}">
                <a16:creationId xmlns:a16="http://schemas.microsoft.com/office/drawing/2014/main" id="{21BBC398-1DC5-0BFE-948E-7D2C6E104380}"/>
              </a:ext>
            </a:extLst>
          </p:cNvPr>
          <p:cNvSpPr>
            <a:spLocks noGrp="1"/>
          </p:cNvSpPr>
          <p:nvPr>
            <p:ph idx="1"/>
          </p:nvPr>
        </p:nvSpPr>
        <p:spPr/>
        <p:txBody>
          <a:bodyPr>
            <a:normAutofit fontScale="92500" lnSpcReduction="20000"/>
          </a:bodyPr>
          <a:lstStyle/>
          <a:p>
            <a:r>
              <a:rPr kumimoji="1" lang="zh-CN" altLang="en-US" dirty="0"/>
              <a:t>定义：</a:t>
            </a:r>
            <a:r>
              <a:rPr kumimoji="1" lang="zh-CN" altLang="en-US" dirty="0">
                <a:solidFill>
                  <a:srgbClr val="FF0000"/>
                </a:solidFill>
              </a:rPr>
              <a:t>持续集成 </a:t>
            </a:r>
            <a:r>
              <a:rPr kumimoji="1" lang="en-US" altLang="zh-CN" dirty="0">
                <a:solidFill>
                  <a:srgbClr val="FF0000"/>
                </a:solidFill>
              </a:rPr>
              <a:t>(Continuous Integration, CI) </a:t>
            </a:r>
            <a:r>
              <a:rPr kumimoji="1" lang="zh-CN" altLang="en-US" dirty="0">
                <a:solidFill>
                  <a:srgbClr val="FF0000"/>
                </a:solidFill>
              </a:rPr>
              <a:t>是一种软件开发实践，团队成员频繁地（通常每天至少一次）将他们的代码更改集成到共享的代码库主线中。</a:t>
            </a:r>
            <a:endParaRPr kumimoji="1" lang="en-US" altLang="zh-CN" dirty="0">
              <a:solidFill>
                <a:srgbClr val="FF0000"/>
              </a:solidFill>
            </a:endParaRPr>
          </a:p>
          <a:p>
            <a:r>
              <a:rPr kumimoji="1" lang="zh-CN" altLang="en-US" dirty="0"/>
              <a:t>每次集成都会触发一次自动化的构建过程，该过程包括编译、链接以及运行一套全面的自动化测试套件。</a:t>
            </a:r>
            <a:endParaRPr kumimoji="1" lang="en-US" altLang="zh-CN" dirty="0"/>
          </a:p>
          <a:p>
            <a:r>
              <a:rPr kumimoji="1" lang="zh-CN" altLang="en-US" dirty="0"/>
              <a:t>这样做的核心目的是尽早发现并解决集成过程中可能出现的各种问题，包括代码冲突、编译错误、运行时错误以及逻辑缺陷。</a:t>
            </a:r>
            <a:endParaRPr kumimoji="1" lang="en-US" altLang="zh-CN" dirty="0"/>
          </a:p>
          <a:p>
            <a:r>
              <a:rPr kumimoji="1" lang="zh-CN" altLang="en-US" dirty="0"/>
              <a:t>通过频繁集成和快速反馈，</a:t>
            </a:r>
            <a:r>
              <a:rPr kumimoji="1" lang="en-US" altLang="zh-CN" dirty="0"/>
              <a:t>CI </a:t>
            </a:r>
            <a:r>
              <a:rPr kumimoji="1" lang="zh-CN" altLang="en-US" dirty="0"/>
              <a:t>旨在降低集成的复杂性和风险，避免在项目后期出现痛苦而漫长的“集成地狱”。</a:t>
            </a:r>
          </a:p>
        </p:txBody>
      </p:sp>
    </p:spTree>
    <p:extLst>
      <p:ext uri="{BB962C8B-B14F-4D97-AF65-F5344CB8AC3E}">
        <p14:creationId xmlns:p14="http://schemas.microsoft.com/office/powerpoint/2010/main" val="42486870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CFF53-B9E5-6DF1-4D52-D49901B38820}"/>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C920EC-2072-CACF-24DC-5EB923BAD23A}"/>
              </a:ext>
            </a:extLst>
          </p:cNvPr>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a:extLst>
              <a:ext uri="{FF2B5EF4-FFF2-40B4-BE49-F238E27FC236}">
                <a16:creationId xmlns:a16="http://schemas.microsoft.com/office/drawing/2014/main" id="{565EC52E-06DA-D465-FE02-171B25895015}"/>
              </a:ext>
            </a:extLst>
          </p:cNvPr>
          <p:cNvSpPr>
            <a:spLocks noGrp="1"/>
          </p:cNvSpPr>
          <p:nvPr>
            <p:ph type="body" sz="quarter" idx="13"/>
          </p:nvPr>
        </p:nvSpPr>
        <p:spPr/>
        <p:txBody>
          <a:bodyPr/>
          <a:lstStyle/>
          <a:p>
            <a:r>
              <a:rPr kumimoji="1" lang="en-US" altLang="zh-CN" dirty="0"/>
              <a:t>CI </a:t>
            </a:r>
            <a:r>
              <a:rPr kumimoji="1" lang="zh-CN" altLang="en-US" dirty="0"/>
              <a:t>的起源与动机</a:t>
            </a:r>
          </a:p>
        </p:txBody>
      </p:sp>
      <p:sp>
        <p:nvSpPr>
          <p:cNvPr id="4" name="内容占位符 3">
            <a:extLst>
              <a:ext uri="{FF2B5EF4-FFF2-40B4-BE49-F238E27FC236}">
                <a16:creationId xmlns:a16="http://schemas.microsoft.com/office/drawing/2014/main" id="{9FEEF603-A3ED-1A84-D4AD-62F7CD596402}"/>
              </a:ext>
            </a:extLst>
          </p:cNvPr>
          <p:cNvSpPr>
            <a:spLocks noGrp="1"/>
          </p:cNvSpPr>
          <p:nvPr>
            <p:ph idx="1"/>
          </p:nvPr>
        </p:nvSpPr>
        <p:spPr/>
        <p:txBody>
          <a:bodyPr>
            <a:normAutofit fontScale="92500" lnSpcReduction="20000"/>
          </a:bodyPr>
          <a:lstStyle/>
          <a:p>
            <a:r>
              <a:rPr kumimoji="1" lang="zh-CN" altLang="en-US" dirty="0"/>
              <a:t>我清楚地记得我首次见识大型软件项目的情景。</a:t>
            </a:r>
            <a:endParaRPr kumimoji="1" lang="en-US" altLang="zh-CN" dirty="0"/>
          </a:p>
          <a:p>
            <a:r>
              <a:rPr kumimoji="1" lang="zh-CN" altLang="en-US" dirty="0"/>
              <a:t>“当时我在一家大型英国电子公司参加暑期实习。我的经理属于质量保证团队，他带我参观了一个场地，我们走进了一个巨大、沉闷且没有窗户的仓库，里面全是在小隔间工作的人。我得知这些程序员为这个软件编写代码已经有几年时间了，虽然编程工作已经完成，但他们各自开发的模块现在正进行整合，而且已经整合了好几个月。带我参观的人告诉我，没人真正知道完成整合还需要多长时间。”</a:t>
            </a:r>
            <a:endParaRPr kumimoji="1" lang="en-US" altLang="zh-CN" dirty="0"/>
          </a:p>
          <a:p>
            <a:r>
              <a:rPr kumimoji="1" lang="zh-CN" altLang="en-US" dirty="0"/>
              <a:t>由此我了解到软件项目中一个常见的情况：整合多个开发者的工作是一个漫长且难以预测的过程。</a:t>
            </a:r>
          </a:p>
        </p:txBody>
      </p:sp>
    </p:spTree>
    <p:extLst>
      <p:ext uri="{BB962C8B-B14F-4D97-AF65-F5344CB8AC3E}">
        <p14:creationId xmlns:p14="http://schemas.microsoft.com/office/powerpoint/2010/main" val="208464574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B9C0-3ED4-9FBE-715E-4928FEC7A11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18C6F19-67A6-6747-A070-9DF767BCF701}"/>
              </a:ext>
            </a:extLst>
          </p:cNvPr>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a:extLst>
              <a:ext uri="{FF2B5EF4-FFF2-40B4-BE49-F238E27FC236}">
                <a16:creationId xmlns:a16="http://schemas.microsoft.com/office/drawing/2014/main" id="{72069592-6B6A-7EBB-3679-7A992A75046D}"/>
              </a:ext>
            </a:extLst>
          </p:cNvPr>
          <p:cNvSpPr>
            <a:spLocks noGrp="1"/>
          </p:cNvSpPr>
          <p:nvPr>
            <p:ph type="body" sz="quarter" idx="13"/>
          </p:nvPr>
        </p:nvSpPr>
        <p:spPr/>
        <p:txBody>
          <a:bodyPr/>
          <a:lstStyle/>
          <a:p>
            <a:r>
              <a:rPr kumimoji="1" lang="zh-CN" altLang="en-US" dirty="0"/>
              <a:t>传统集成的痛点 </a:t>
            </a:r>
            <a:r>
              <a:rPr kumimoji="1" lang="en-US" altLang="zh-CN" dirty="0"/>
              <a:t>(1)</a:t>
            </a:r>
            <a:endParaRPr kumimoji="1" lang="zh-CN" altLang="en-US" dirty="0"/>
          </a:p>
        </p:txBody>
      </p:sp>
      <p:sp>
        <p:nvSpPr>
          <p:cNvPr id="4" name="内容占位符 3">
            <a:extLst>
              <a:ext uri="{FF2B5EF4-FFF2-40B4-BE49-F238E27FC236}">
                <a16:creationId xmlns:a16="http://schemas.microsoft.com/office/drawing/2014/main" id="{ACD06576-2FD7-BDDC-B632-B31740BC4482}"/>
              </a:ext>
            </a:extLst>
          </p:cNvPr>
          <p:cNvSpPr>
            <a:spLocks noGrp="1"/>
          </p:cNvSpPr>
          <p:nvPr>
            <p:ph idx="1"/>
          </p:nvPr>
        </p:nvSpPr>
        <p:spPr/>
        <p:txBody>
          <a:bodyPr>
            <a:normAutofit fontScale="92500"/>
          </a:bodyPr>
          <a:lstStyle/>
          <a:p>
            <a:r>
              <a:rPr kumimoji="1" lang="zh-CN" altLang="en-US" dirty="0"/>
              <a:t>问题描述：</a:t>
            </a:r>
            <a:endParaRPr kumimoji="1" lang="en-US" altLang="zh-CN" dirty="0"/>
          </a:p>
          <a:p>
            <a:pPr lvl="1"/>
            <a:r>
              <a:rPr kumimoji="1" lang="zh-CN" altLang="en-US" dirty="0"/>
              <a:t> 当集成周期很长时，开发者可能会在数周甚至数月的时间里不与主代码库同步。</a:t>
            </a:r>
            <a:endParaRPr kumimoji="1" lang="en-US" altLang="zh-CN" dirty="0"/>
          </a:p>
          <a:p>
            <a:pPr lvl="1"/>
            <a:r>
              <a:rPr kumimoji="1" lang="zh-CN" altLang="en-US" dirty="0"/>
              <a:t>当他们最终尝试集成时，面临的挑战不仅仅是合并源代码的复杂性，更严重的是那些难以发现的错误。</a:t>
            </a:r>
            <a:endParaRPr kumimoji="1" lang="en-US" altLang="zh-CN" dirty="0"/>
          </a:p>
          <a:p>
            <a:pPr lvl="1"/>
            <a:r>
              <a:rPr kumimoji="1" lang="zh-CN" altLang="en-US" dirty="0">
                <a:solidFill>
                  <a:srgbClr val="FF0000"/>
                </a:solidFill>
              </a:rPr>
              <a:t>一个开发者可能对代码库的某个部分做了修改，而另一个开发者基于旧版本的代码进行了开发。</a:t>
            </a:r>
            <a:endParaRPr kumimoji="1" lang="en-US" altLang="zh-CN" dirty="0">
              <a:solidFill>
                <a:srgbClr val="FF0000"/>
              </a:solidFill>
            </a:endParaRPr>
          </a:p>
          <a:p>
            <a:pPr lvl="1"/>
            <a:r>
              <a:rPr kumimoji="1" lang="zh-CN" altLang="en-US" dirty="0">
                <a:solidFill>
                  <a:srgbClr val="FF0000"/>
                </a:solidFill>
              </a:rPr>
              <a:t>当这些更改最终汇合时，可能会出现微妙且难以调试的错误。这些错误可能在开发者各自的本地环境中无法复现，只有在集成后的环境中才会暴露出来，定位和修复这些错误需要耗费大量时间和精力。</a:t>
            </a:r>
          </a:p>
        </p:txBody>
      </p:sp>
    </p:spTree>
    <p:extLst>
      <p:ext uri="{BB962C8B-B14F-4D97-AF65-F5344CB8AC3E}">
        <p14:creationId xmlns:p14="http://schemas.microsoft.com/office/powerpoint/2010/main" val="348803228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14065-EE74-3E99-8238-D8600E32090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234B754-ED0B-5516-5D30-45056F59F75B}"/>
              </a:ext>
            </a:extLst>
          </p:cNvPr>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a:extLst>
              <a:ext uri="{FF2B5EF4-FFF2-40B4-BE49-F238E27FC236}">
                <a16:creationId xmlns:a16="http://schemas.microsoft.com/office/drawing/2014/main" id="{B4B56F68-1230-CA0B-3DC4-F8ED4AA9876C}"/>
              </a:ext>
            </a:extLst>
          </p:cNvPr>
          <p:cNvSpPr>
            <a:spLocks noGrp="1"/>
          </p:cNvSpPr>
          <p:nvPr>
            <p:ph type="body" sz="quarter" idx="13"/>
          </p:nvPr>
        </p:nvSpPr>
        <p:spPr>
          <a:xfrm>
            <a:off x="1032184" y="297936"/>
            <a:ext cx="10321616" cy="584775"/>
          </a:xfrm>
        </p:spPr>
        <p:txBody>
          <a:bodyPr/>
          <a:lstStyle/>
          <a:p>
            <a:r>
              <a:rPr kumimoji="1" lang="zh-CN" altLang="en-US" dirty="0"/>
              <a:t>传统集成的痛点 </a:t>
            </a:r>
            <a:r>
              <a:rPr kumimoji="1" lang="en-US" altLang="zh-CN" dirty="0"/>
              <a:t>(2)</a:t>
            </a:r>
            <a:endParaRPr kumimoji="1" lang="zh-CN" altLang="en-US" dirty="0"/>
          </a:p>
        </p:txBody>
      </p:sp>
      <p:sp>
        <p:nvSpPr>
          <p:cNvPr id="4" name="内容占位符 3">
            <a:extLst>
              <a:ext uri="{FF2B5EF4-FFF2-40B4-BE49-F238E27FC236}">
                <a16:creationId xmlns:a16="http://schemas.microsoft.com/office/drawing/2014/main" id="{8F2682D0-D36F-5684-D9B6-A9260EEE541D}"/>
              </a:ext>
            </a:extLst>
          </p:cNvPr>
          <p:cNvSpPr>
            <a:spLocks noGrp="1"/>
          </p:cNvSpPr>
          <p:nvPr>
            <p:ph idx="1"/>
          </p:nvPr>
        </p:nvSpPr>
        <p:spPr/>
        <p:txBody>
          <a:bodyPr>
            <a:normAutofit/>
          </a:bodyPr>
          <a:lstStyle/>
          <a:p>
            <a:r>
              <a:rPr kumimoji="1" lang="zh-CN" altLang="en-US" dirty="0"/>
              <a:t>对开发者的影响：</a:t>
            </a:r>
            <a:endParaRPr kumimoji="1" lang="en-US" altLang="zh-CN" dirty="0"/>
          </a:p>
          <a:p>
            <a:pPr lvl="1"/>
            <a:r>
              <a:rPr kumimoji="1" lang="zh-CN" altLang="en-US" dirty="0"/>
              <a:t>漫长的集成过程迫使开发者在自己的代码逻辑和解决与同事代码冲突的调试工作之间频繁切换上下文。</a:t>
            </a:r>
            <a:endParaRPr kumimoji="1" lang="en-US" altLang="zh-CN" dirty="0"/>
          </a:p>
          <a:p>
            <a:pPr lvl="1"/>
            <a:r>
              <a:rPr kumimoji="1" lang="zh-CN" altLang="en-US" dirty="0"/>
              <a:t>开发者可能会因为害怕集成带来的麻烦而避免进行一些必要的、影响范围较大的重构。</a:t>
            </a:r>
            <a:endParaRPr kumimoji="1" lang="en-US" altLang="zh-CN" dirty="0"/>
          </a:p>
          <a:p>
            <a:pPr lvl="1"/>
            <a:r>
              <a:rPr kumimoji="1" lang="zh-CN" altLang="en-US" dirty="0"/>
              <a:t>他们倾向于在自己的小角落里进行开发，</a:t>
            </a:r>
            <a:r>
              <a:rPr kumimoji="1" lang="zh-CN" altLang="en-US" dirty="0">
                <a:solidFill>
                  <a:srgbClr val="FF0000"/>
                </a:solidFill>
              </a:rPr>
              <a:t>尽量减少与其他部分的交互，但这往往会导致技术债的积累和代码质量的下降</a:t>
            </a:r>
            <a:r>
              <a:rPr kumimoji="1" lang="zh-CN" altLang="en-US" dirty="0"/>
              <a:t>。这种工作方式不仅效率低下，而且极大地影响了开发者的积极性和团队的整体士气。</a:t>
            </a:r>
          </a:p>
        </p:txBody>
      </p:sp>
    </p:spTree>
    <p:extLst>
      <p:ext uri="{BB962C8B-B14F-4D97-AF65-F5344CB8AC3E}">
        <p14:creationId xmlns:p14="http://schemas.microsoft.com/office/powerpoint/2010/main" val="178988666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5137-8BFB-AA07-9D16-64CD35C2C10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615E769-3A86-4655-812D-E18291618DA1}"/>
              </a:ext>
            </a:extLst>
          </p:cNvPr>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a:extLst>
              <a:ext uri="{FF2B5EF4-FFF2-40B4-BE49-F238E27FC236}">
                <a16:creationId xmlns:a16="http://schemas.microsoft.com/office/drawing/2014/main" id="{A2732666-02D8-6178-51EB-6B204DF3D9A5}"/>
              </a:ext>
            </a:extLst>
          </p:cNvPr>
          <p:cNvSpPr>
            <a:spLocks noGrp="1"/>
          </p:cNvSpPr>
          <p:nvPr>
            <p:ph type="body" sz="quarter" idx="13"/>
          </p:nvPr>
        </p:nvSpPr>
        <p:spPr>
          <a:xfrm>
            <a:off x="1032184" y="297936"/>
            <a:ext cx="10321616" cy="584775"/>
          </a:xfrm>
        </p:spPr>
        <p:txBody>
          <a:bodyPr/>
          <a:lstStyle/>
          <a:p>
            <a:r>
              <a:rPr kumimoji="1" lang="zh-CN" altLang="en-US" dirty="0"/>
              <a:t>传统集成的痛点 </a:t>
            </a:r>
            <a:r>
              <a:rPr kumimoji="1" lang="en-US" altLang="zh-CN" dirty="0"/>
              <a:t>(3)</a:t>
            </a:r>
            <a:endParaRPr kumimoji="1" lang="zh-CN" altLang="en-US" dirty="0"/>
          </a:p>
        </p:txBody>
      </p:sp>
      <p:sp>
        <p:nvSpPr>
          <p:cNvPr id="4" name="内容占位符 3">
            <a:extLst>
              <a:ext uri="{FF2B5EF4-FFF2-40B4-BE49-F238E27FC236}">
                <a16:creationId xmlns:a16="http://schemas.microsoft.com/office/drawing/2014/main" id="{62D3A7A8-2AE9-6C10-BA73-D242E0580CA8}"/>
              </a:ext>
            </a:extLst>
          </p:cNvPr>
          <p:cNvSpPr>
            <a:spLocks noGrp="1"/>
          </p:cNvSpPr>
          <p:nvPr>
            <p:ph idx="1"/>
          </p:nvPr>
        </p:nvSpPr>
        <p:spPr/>
        <p:txBody>
          <a:bodyPr>
            <a:normAutofit fontScale="92500"/>
          </a:bodyPr>
          <a:lstStyle/>
          <a:p>
            <a:r>
              <a:rPr kumimoji="1" lang="zh-CN" altLang="en-US" dirty="0"/>
              <a:t>对代码质量和重构的影响：</a:t>
            </a:r>
            <a:endParaRPr kumimoji="1" lang="en-US" altLang="zh-CN" dirty="0"/>
          </a:p>
          <a:p>
            <a:pPr lvl="1"/>
            <a:r>
              <a:rPr kumimoji="1" lang="zh-CN" altLang="en-US" dirty="0"/>
              <a:t>由于害怕漫长且痛苦的集成，开发者可能会避免进行重要的代码重构。</a:t>
            </a:r>
            <a:endParaRPr kumimoji="1" lang="en-US" altLang="zh-CN" dirty="0"/>
          </a:p>
          <a:p>
            <a:pPr lvl="1"/>
            <a:r>
              <a:rPr kumimoji="1" lang="zh-CN" altLang="en-US" dirty="0"/>
              <a:t>即使他们意识到代码结构存在问题，或者需要清理重复代码，他们也可能因为担心引入集成冲突而选择维持现状。</a:t>
            </a:r>
            <a:endParaRPr kumimoji="1" lang="en-US" altLang="zh-CN" dirty="0"/>
          </a:p>
          <a:p>
            <a:pPr lvl="1"/>
            <a:r>
              <a:rPr kumimoji="1" lang="zh-CN" altLang="en-US" dirty="0"/>
              <a:t>这种对重构的回避，阻止了代码库根据需求变化和经验积累进行健康的演进。</a:t>
            </a:r>
            <a:endParaRPr kumimoji="1" lang="en-US" altLang="zh-CN" dirty="0"/>
          </a:p>
          <a:p>
            <a:pPr lvl="1"/>
            <a:r>
              <a:rPr kumimoji="1" lang="zh-CN" altLang="en-US" dirty="0"/>
              <a:t>久而久之，代码库会变得越来越复杂、脆弱和难以维护，形成所谓的“代码腐烂”（</a:t>
            </a:r>
            <a:r>
              <a:rPr kumimoji="1" lang="en-US" altLang="zh-CN" dirty="0"/>
              <a:t>code rot</a:t>
            </a:r>
            <a:r>
              <a:rPr kumimoji="1" lang="zh-CN" altLang="en-US" dirty="0"/>
              <a:t>）。</a:t>
            </a:r>
            <a:endParaRPr kumimoji="1" lang="en-US" altLang="zh-CN" dirty="0"/>
          </a:p>
          <a:p>
            <a:pPr lvl="1"/>
            <a:r>
              <a:rPr kumimoji="1" lang="zh-CN" altLang="en-US" dirty="0"/>
              <a:t>最终，整个团队都受困于一个难以理解和修改的系统，开发速度越来越慢，风险越来越高。</a:t>
            </a:r>
          </a:p>
        </p:txBody>
      </p:sp>
    </p:spTree>
    <p:extLst>
      <p:ext uri="{BB962C8B-B14F-4D97-AF65-F5344CB8AC3E}">
        <p14:creationId xmlns:p14="http://schemas.microsoft.com/office/powerpoint/2010/main" val="6659355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E1AA2-A5AE-FD5E-7CDD-00E942B4B22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58B2AA8-9EAF-0320-98CC-54A42179C912}"/>
              </a:ext>
            </a:extLst>
          </p:cNvPr>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 name="文本占位符 2">
            <a:extLst>
              <a:ext uri="{FF2B5EF4-FFF2-40B4-BE49-F238E27FC236}">
                <a16:creationId xmlns:a16="http://schemas.microsoft.com/office/drawing/2014/main" id="{350F4F08-EA7C-D827-711F-F6F13CD5B4C8}"/>
              </a:ext>
            </a:extLst>
          </p:cNvPr>
          <p:cNvSpPr>
            <a:spLocks noGrp="1"/>
          </p:cNvSpPr>
          <p:nvPr>
            <p:ph type="body" sz="quarter" idx="13"/>
          </p:nvPr>
        </p:nvSpPr>
        <p:spPr/>
        <p:txBody>
          <a:bodyPr/>
          <a:lstStyle/>
          <a:p>
            <a:r>
              <a:rPr kumimoji="1" lang="zh-CN" altLang="en-US" dirty="0"/>
              <a:t>持续集成的解决方案</a:t>
            </a:r>
          </a:p>
        </p:txBody>
      </p:sp>
      <p:sp>
        <p:nvSpPr>
          <p:cNvPr id="4" name="内容占位符 3">
            <a:extLst>
              <a:ext uri="{FF2B5EF4-FFF2-40B4-BE49-F238E27FC236}">
                <a16:creationId xmlns:a16="http://schemas.microsoft.com/office/drawing/2014/main" id="{7DAE7F56-2988-B560-A564-2EAF0B12A692}"/>
              </a:ext>
            </a:extLst>
          </p:cNvPr>
          <p:cNvSpPr>
            <a:spLocks noGrp="1"/>
          </p:cNvSpPr>
          <p:nvPr>
            <p:ph idx="1"/>
          </p:nvPr>
        </p:nvSpPr>
        <p:spPr/>
        <p:txBody>
          <a:bodyPr>
            <a:normAutofit fontScale="85000" lnSpcReduction="10000"/>
          </a:bodyPr>
          <a:lstStyle/>
          <a:p>
            <a:r>
              <a:rPr kumimoji="1" lang="zh-CN" altLang="en-US" dirty="0"/>
              <a:t>核心理念：持续集成旨在消除传统集成的痛苦。</a:t>
            </a:r>
            <a:endParaRPr kumimoji="1" lang="en-US" altLang="zh-CN" dirty="0"/>
          </a:p>
          <a:p>
            <a:r>
              <a:rPr kumimoji="1" lang="zh-CN" altLang="en-US" dirty="0"/>
              <a:t>其核心思想是让团队成员非常频繁地集成他们的工作，通常是每天多次。</a:t>
            </a:r>
            <a:endParaRPr kumimoji="1" lang="en-US" altLang="zh-CN" dirty="0"/>
          </a:p>
          <a:p>
            <a:r>
              <a:rPr kumimoji="1" lang="zh-CN" altLang="en-US" dirty="0"/>
              <a:t>通过这种方式，任何个体开发者偏离主线的时间都不会超过几个小时。这意味着每次集成涉及的代码量都相对较小，</a:t>
            </a:r>
            <a:r>
              <a:rPr kumimoji="1" lang="zh-CN" altLang="en-US" dirty="0">
                <a:solidFill>
                  <a:srgbClr val="FF0000"/>
                </a:solidFill>
              </a:rPr>
              <a:t>从而显著降低了合并冲突的可能性和复杂性。</a:t>
            </a:r>
            <a:endParaRPr kumimoji="1" lang="en-US" altLang="zh-CN" dirty="0">
              <a:solidFill>
                <a:srgbClr val="FF0000"/>
              </a:solidFill>
            </a:endParaRPr>
          </a:p>
          <a:p>
            <a:r>
              <a:rPr kumimoji="1" lang="zh-CN" altLang="en-US" dirty="0"/>
              <a:t>更重要的是，任何集成引入的问题都能够被自动化构建和测试快速发现。这种快速反馈机制使得问题定位和修复变得更加容易。</a:t>
            </a:r>
            <a:endParaRPr kumimoji="1" lang="en-US" altLang="zh-CN" dirty="0"/>
          </a:p>
          <a:p>
            <a:r>
              <a:rPr kumimoji="1" lang="en-US" altLang="zh-CN" dirty="0"/>
              <a:t>CI </a:t>
            </a:r>
            <a:r>
              <a:rPr kumimoji="1" lang="zh-CN" altLang="en-US" dirty="0"/>
              <a:t>鼓励使用主线开发（</a:t>
            </a:r>
            <a:r>
              <a:rPr kumimoji="1" lang="en-US" altLang="zh-CN" dirty="0"/>
              <a:t>Mainline Development</a:t>
            </a:r>
            <a:r>
              <a:rPr kumimoji="1" lang="zh-CN" altLang="en-US" dirty="0"/>
              <a:t>），有时也被称为基于主干的开发（</a:t>
            </a:r>
            <a:r>
              <a:rPr kumimoji="1" lang="en-US" altLang="zh-CN" dirty="0"/>
              <a:t>Trunk-Based Development</a:t>
            </a:r>
            <a:r>
              <a:rPr kumimoji="1" lang="zh-CN" altLang="en-US" dirty="0"/>
              <a:t>）。</a:t>
            </a:r>
          </a:p>
        </p:txBody>
      </p:sp>
    </p:spTree>
    <p:extLst>
      <p:ext uri="{BB962C8B-B14F-4D97-AF65-F5344CB8AC3E}">
        <p14:creationId xmlns:p14="http://schemas.microsoft.com/office/powerpoint/2010/main" val="5205834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094B6-3595-0955-3644-EC1B8D4BF94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A1B35C4-CEBA-1974-2820-F726324BC726}"/>
              </a:ext>
            </a:extLst>
          </p:cNvPr>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a:extLst>
              <a:ext uri="{FF2B5EF4-FFF2-40B4-BE49-F238E27FC236}">
                <a16:creationId xmlns:a16="http://schemas.microsoft.com/office/drawing/2014/main" id="{57DCA1F4-6789-48BB-F0A3-258124142F2B}"/>
              </a:ext>
            </a:extLst>
          </p:cNvPr>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1 - </a:t>
            </a:r>
            <a:r>
              <a:rPr kumimoji="1" lang="zh-CN" altLang="en-US" dirty="0"/>
              <a:t>获取最新代码</a:t>
            </a:r>
          </a:p>
        </p:txBody>
      </p:sp>
      <p:sp>
        <p:nvSpPr>
          <p:cNvPr id="4" name="内容占位符 3">
            <a:extLst>
              <a:ext uri="{FF2B5EF4-FFF2-40B4-BE49-F238E27FC236}">
                <a16:creationId xmlns:a16="http://schemas.microsoft.com/office/drawing/2014/main" id="{5C7E6089-5AAB-5AF9-21C5-9174281B173E}"/>
              </a:ext>
            </a:extLst>
          </p:cNvPr>
          <p:cNvSpPr>
            <a:spLocks noGrp="1"/>
          </p:cNvSpPr>
          <p:nvPr>
            <p:ph idx="1"/>
          </p:nvPr>
        </p:nvSpPr>
        <p:spPr/>
        <p:txBody>
          <a:bodyPr>
            <a:normAutofit fontScale="85000" lnSpcReduction="10000"/>
          </a:bodyPr>
          <a:lstStyle/>
          <a:p>
            <a:r>
              <a:rPr kumimoji="1" lang="zh-CN" altLang="en-US" dirty="0"/>
              <a:t>开发工作的第一步是从中央代码仓库（</a:t>
            </a:r>
            <a:r>
              <a:rPr kumimoji="1" lang="en-US" altLang="zh-CN" dirty="0"/>
              <a:t>Central Repository</a:t>
            </a:r>
            <a:r>
              <a:rPr kumimoji="1" lang="zh-CN" altLang="en-US" dirty="0"/>
              <a:t>）获取最新的产品代码，确保我的本地开发环境（</a:t>
            </a:r>
            <a:r>
              <a:rPr kumimoji="1" lang="en-US" altLang="zh-CN" dirty="0"/>
              <a:t>Local Environment</a:t>
            </a:r>
            <a:r>
              <a:rPr kumimoji="1" lang="zh-CN" altLang="en-US" dirty="0"/>
              <a:t>）与主线的最新状态保持一致。</a:t>
            </a:r>
            <a:endParaRPr kumimoji="1" lang="en-US" altLang="zh-CN" dirty="0"/>
          </a:p>
          <a:p>
            <a:r>
              <a:rPr kumimoji="1" lang="zh-CN" altLang="en-US" dirty="0"/>
              <a:t>通过执行 </a:t>
            </a:r>
            <a:r>
              <a:rPr kumimoji="1" lang="en-US" altLang="zh-CN" dirty="0"/>
              <a:t>git pull</a:t>
            </a:r>
            <a:r>
              <a:rPr kumimoji="1" lang="zh-CN" altLang="en-US" dirty="0"/>
              <a:t>（或其他版本控制系统的相应命令）从中央仓库拉取最新的 </a:t>
            </a:r>
            <a:r>
              <a:rPr kumimoji="1" lang="en-US" altLang="zh-CN" dirty="0"/>
              <a:t>main</a:t>
            </a:r>
            <a:r>
              <a:rPr kumimoji="1" lang="zh-CN" altLang="en-US" dirty="0"/>
              <a:t>（主线）分支。</a:t>
            </a:r>
            <a:endParaRPr kumimoji="1" lang="en-US" altLang="zh-CN" dirty="0"/>
          </a:p>
          <a:p>
            <a:r>
              <a:rPr kumimoji="1" lang="zh-CN" altLang="en-US" dirty="0"/>
              <a:t>然后，在本地创建一个工作副本（</a:t>
            </a:r>
            <a:r>
              <a:rPr kumimoji="1" lang="en-US" altLang="zh-CN" dirty="0"/>
              <a:t>Working Copy</a:t>
            </a:r>
            <a:r>
              <a:rPr kumimoji="1" lang="zh-CN" altLang="en-US" dirty="0"/>
              <a:t>）。这一步至关重要，因为它可以确保我基于最新的、集成了其他团队成员更改的代码进行开发，从而避免在过时的代码基础上工作，减少后续集成时出现冲突的可能性。</a:t>
            </a:r>
            <a:endParaRPr kumimoji="1" lang="en-US" altLang="zh-CN" dirty="0"/>
          </a:p>
          <a:p>
            <a:r>
              <a:rPr kumimoji="1" lang="zh-CN" altLang="en-US" dirty="0"/>
              <a:t>确保本地环境与中央仓库同步是 </a:t>
            </a:r>
            <a:r>
              <a:rPr kumimoji="1" lang="en-US" altLang="zh-CN" dirty="0"/>
              <a:t>CI </a:t>
            </a:r>
            <a:r>
              <a:rPr kumimoji="1" lang="zh-CN" altLang="en-US" dirty="0"/>
              <a:t>的基本前提。</a:t>
            </a:r>
          </a:p>
        </p:txBody>
      </p:sp>
    </p:spTree>
    <p:extLst>
      <p:ext uri="{BB962C8B-B14F-4D97-AF65-F5344CB8AC3E}">
        <p14:creationId xmlns:p14="http://schemas.microsoft.com/office/powerpoint/2010/main" val="44742547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51C50-34DE-01C5-E6B9-4BF9DAE4B92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B64B139-4EF0-1F12-3F1D-CE5A1EA07DF0}"/>
              </a:ext>
            </a:extLst>
          </p:cNvPr>
          <p:cNvSpPr>
            <a:spLocks noGrp="1"/>
          </p:cNvSpPr>
          <p:nvPr>
            <p:ph type="sldNum" sz="quarter" idx="12"/>
          </p:nvPr>
        </p:nvSpPr>
        <p:spPr/>
        <p:txBody>
          <a:bodyPr/>
          <a:lstStyle/>
          <a:p>
            <a:fld id="{51D91E7F-84B6-4064-9D4E-CC7D244BCA04}" type="slidenum">
              <a:rPr lang="zh-CN" altLang="en-US" smtClean="0"/>
              <a:t>8</a:t>
            </a:fld>
            <a:endParaRPr lang="zh-CN" altLang="en-US"/>
          </a:p>
        </p:txBody>
      </p:sp>
      <p:sp>
        <p:nvSpPr>
          <p:cNvPr id="3" name="文本占位符 2">
            <a:extLst>
              <a:ext uri="{FF2B5EF4-FFF2-40B4-BE49-F238E27FC236}">
                <a16:creationId xmlns:a16="http://schemas.microsoft.com/office/drawing/2014/main" id="{A32701DC-35F7-CE2F-E5FA-D5D4EA7FC65B}"/>
              </a:ext>
            </a:extLst>
          </p:cNvPr>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2 - </a:t>
            </a:r>
            <a:r>
              <a:rPr kumimoji="1" lang="zh-CN" altLang="en-US" dirty="0"/>
              <a:t>本地构建与开发</a:t>
            </a:r>
          </a:p>
        </p:txBody>
      </p:sp>
      <p:sp>
        <p:nvSpPr>
          <p:cNvPr id="4" name="内容占位符 3">
            <a:extLst>
              <a:ext uri="{FF2B5EF4-FFF2-40B4-BE49-F238E27FC236}">
                <a16:creationId xmlns:a16="http://schemas.microsoft.com/office/drawing/2014/main" id="{214BAD47-1A8C-3E0A-D8EC-CAA53AEC01BF}"/>
              </a:ext>
            </a:extLst>
          </p:cNvPr>
          <p:cNvSpPr>
            <a:spLocks noGrp="1"/>
          </p:cNvSpPr>
          <p:nvPr>
            <p:ph idx="1"/>
          </p:nvPr>
        </p:nvSpPr>
        <p:spPr/>
        <p:txBody>
          <a:bodyPr>
            <a:normAutofit fontScale="92500" lnSpcReduction="20000"/>
          </a:bodyPr>
          <a:lstStyle/>
          <a:p>
            <a:r>
              <a:rPr kumimoji="1" lang="zh-CN" altLang="en-US" dirty="0"/>
              <a:t>在获取了最新代码后，在自己的本地环境中</a:t>
            </a:r>
            <a:r>
              <a:rPr kumimoji="1" lang="zh-CN" altLang="en-US" dirty="0">
                <a:solidFill>
                  <a:srgbClr val="FF0000"/>
                </a:solidFill>
              </a:rPr>
              <a:t>运行完整的自动化构建脚本</a:t>
            </a:r>
            <a:r>
              <a:rPr kumimoji="1" lang="zh-CN" altLang="en-US" dirty="0"/>
              <a:t>。</a:t>
            </a:r>
            <a:endParaRPr kumimoji="1" lang="en-US" altLang="zh-CN" dirty="0"/>
          </a:p>
          <a:p>
            <a:r>
              <a:rPr kumimoji="1" lang="zh-CN" altLang="en-US" dirty="0"/>
              <a:t>这个构建过程通常包括编译代码和运行所有的自动化测试。</a:t>
            </a:r>
            <a:endParaRPr kumimoji="1" lang="en-US" altLang="zh-CN" dirty="0"/>
          </a:p>
          <a:p>
            <a:r>
              <a:rPr kumimoji="1" lang="zh-CN" altLang="en-US" dirty="0"/>
              <a:t>需要确保在我开始进行任何代码更改之前，本地构建是成功的（通常显示为“绿色”）。这可以排除本地环境配置问题或基础代码库本身存在问题的可能性。</a:t>
            </a:r>
            <a:endParaRPr kumimoji="1" lang="en-US" altLang="zh-CN" dirty="0"/>
          </a:p>
          <a:p>
            <a:r>
              <a:rPr kumimoji="1" lang="zh-CN" altLang="en-US" dirty="0"/>
              <a:t>只有在确认本地构建通过后，才开始着手修改代码。在开发过程中，可能会频繁地在本地运行部分或全部测试，以确保更改没有破坏现有功能。</a:t>
            </a:r>
          </a:p>
        </p:txBody>
      </p:sp>
    </p:spTree>
    <p:extLst>
      <p:ext uri="{BB962C8B-B14F-4D97-AF65-F5344CB8AC3E}">
        <p14:creationId xmlns:p14="http://schemas.microsoft.com/office/powerpoint/2010/main" val="37255478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25403-D914-B6B8-44C3-1CCE756866D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8B6AFA5-3791-E2AF-FD65-15E5696D52C0}"/>
              </a:ext>
            </a:extLst>
          </p:cNvPr>
          <p:cNvSpPr>
            <a:spLocks noGrp="1"/>
          </p:cNvSpPr>
          <p:nvPr>
            <p:ph type="sldNum" sz="quarter" idx="12"/>
          </p:nvPr>
        </p:nvSpPr>
        <p:spPr/>
        <p:txBody>
          <a:bodyPr/>
          <a:lstStyle/>
          <a:p>
            <a:fld id="{51D91E7F-84B6-4064-9D4E-CC7D244BCA04}" type="slidenum">
              <a:rPr lang="zh-CN" altLang="en-US" smtClean="0"/>
              <a:t>9</a:t>
            </a:fld>
            <a:endParaRPr lang="zh-CN" altLang="en-US"/>
          </a:p>
        </p:txBody>
      </p:sp>
      <p:sp>
        <p:nvSpPr>
          <p:cNvPr id="3" name="文本占位符 2">
            <a:extLst>
              <a:ext uri="{FF2B5EF4-FFF2-40B4-BE49-F238E27FC236}">
                <a16:creationId xmlns:a16="http://schemas.microsoft.com/office/drawing/2014/main" id="{736494BD-4954-8978-1644-F30ECAE4680C}"/>
              </a:ext>
            </a:extLst>
          </p:cNvPr>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3 - </a:t>
            </a:r>
            <a:r>
              <a:rPr kumimoji="1" lang="zh-CN" altLang="en-US" dirty="0"/>
              <a:t>集成前检查</a:t>
            </a:r>
          </a:p>
        </p:txBody>
      </p:sp>
      <p:sp>
        <p:nvSpPr>
          <p:cNvPr id="4" name="内容占位符 3">
            <a:extLst>
              <a:ext uri="{FF2B5EF4-FFF2-40B4-BE49-F238E27FC236}">
                <a16:creationId xmlns:a16="http://schemas.microsoft.com/office/drawing/2014/main" id="{E7A0E6B8-C40F-5E21-95B9-0E1B594D55BA}"/>
              </a:ext>
            </a:extLst>
          </p:cNvPr>
          <p:cNvSpPr>
            <a:spLocks noGrp="1"/>
          </p:cNvSpPr>
          <p:nvPr>
            <p:ph idx="1"/>
          </p:nvPr>
        </p:nvSpPr>
        <p:spPr/>
        <p:txBody>
          <a:bodyPr>
            <a:normAutofit fontScale="85000" lnSpcReduction="10000"/>
          </a:bodyPr>
          <a:lstStyle/>
          <a:p>
            <a:r>
              <a:rPr kumimoji="1" lang="zh-CN" altLang="en-US" dirty="0"/>
              <a:t> 当认为我的代码更改已经完成，并且本地测试也通过后，准备将这些更改集成回中央仓库的主线。</a:t>
            </a:r>
            <a:endParaRPr kumimoji="1" lang="en-US" altLang="zh-CN" dirty="0"/>
          </a:p>
          <a:p>
            <a:r>
              <a:rPr kumimoji="1" lang="zh-CN" altLang="en-US" dirty="0"/>
              <a:t>但在推送（</a:t>
            </a:r>
            <a:r>
              <a:rPr kumimoji="1" lang="en-US" altLang="zh-CN" dirty="0"/>
              <a:t>Push</a:t>
            </a:r>
            <a:r>
              <a:rPr kumimoji="1" lang="zh-CN" altLang="en-US" dirty="0"/>
              <a:t>）之前，必须再次执行 </a:t>
            </a:r>
            <a:r>
              <a:rPr kumimoji="1" lang="en-US" altLang="zh-CN" dirty="0"/>
              <a:t>git pull </a:t>
            </a:r>
            <a:r>
              <a:rPr kumimoji="1" lang="zh-CN" altLang="en-US" dirty="0"/>
              <a:t>从中央仓库拉取最新的主线代码。</a:t>
            </a:r>
            <a:endParaRPr kumimoji="1" lang="en-US" altLang="zh-CN" dirty="0"/>
          </a:p>
          <a:p>
            <a:r>
              <a:rPr kumimoji="1" lang="zh-CN" altLang="en-US" dirty="0"/>
              <a:t>这是因为在进行开发的同时，很可能（甚至是必然）有其他同事已经将他们的更改推送到了主线。</a:t>
            </a:r>
            <a:endParaRPr kumimoji="1" lang="en-US" altLang="zh-CN" dirty="0"/>
          </a:p>
          <a:p>
            <a:r>
              <a:rPr kumimoji="1" lang="zh-CN" altLang="en-US" dirty="0"/>
              <a:t>需要将这些最新的更改合并（</a:t>
            </a:r>
            <a:r>
              <a:rPr kumimoji="1" lang="en-US" altLang="zh-CN" dirty="0"/>
              <a:t>Merge</a:t>
            </a:r>
            <a:r>
              <a:rPr kumimoji="1" lang="zh-CN" altLang="en-US" dirty="0"/>
              <a:t>）到我的本地工作副本中。合并后我必须再次在本地运行完整的自动化构建（包括所有测试）。这一步是为了确保我的更改与同事的最新更改能够和谐共存，没有引入新的冲突或错误。</a:t>
            </a:r>
          </a:p>
        </p:txBody>
      </p:sp>
    </p:spTree>
    <p:extLst>
      <p:ext uri="{BB962C8B-B14F-4D97-AF65-F5344CB8AC3E}">
        <p14:creationId xmlns:p14="http://schemas.microsoft.com/office/powerpoint/2010/main" val="162949602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1E843-E581-1E73-BDD3-29FC98856E1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A47829-776E-5EB6-21B4-998B5E407830}"/>
              </a:ext>
            </a:extLst>
          </p:cNvPr>
          <p:cNvSpPr>
            <a:spLocks noGrp="1"/>
          </p:cNvSpPr>
          <p:nvPr>
            <p:ph type="sldNum" sz="quarter" idx="12"/>
          </p:nvPr>
        </p:nvSpPr>
        <p:spPr/>
        <p:txBody>
          <a:bodyPr/>
          <a:lstStyle/>
          <a:p>
            <a:fld id="{51D91E7F-84B6-4064-9D4E-CC7D244BCA04}" type="slidenum">
              <a:rPr lang="zh-CN" altLang="en-US" smtClean="0"/>
              <a:t>10</a:t>
            </a:fld>
            <a:endParaRPr lang="zh-CN" altLang="en-US"/>
          </a:p>
        </p:txBody>
      </p:sp>
      <p:sp>
        <p:nvSpPr>
          <p:cNvPr id="3" name="文本占位符 2">
            <a:extLst>
              <a:ext uri="{FF2B5EF4-FFF2-40B4-BE49-F238E27FC236}">
                <a16:creationId xmlns:a16="http://schemas.microsoft.com/office/drawing/2014/main" id="{AB772481-8742-1047-EE35-51CDCC9A7E85}"/>
              </a:ext>
            </a:extLst>
          </p:cNvPr>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4 - </a:t>
            </a:r>
            <a:r>
              <a:rPr kumimoji="1" lang="zh-CN" altLang="en-US" dirty="0"/>
              <a:t>本地构建通过与推送</a:t>
            </a:r>
          </a:p>
        </p:txBody>
      </p:sp>
      <p:sp>
        <p:nvSpPr>
          <p:cNvPr id="4" name="内容占位符 3">
            <a:extLst>
              <a:ext uri="{FF2B5EF4-FFF2-40B4-BE49-F238E27FC236}">
                <a16:creationId xmlns:a16="http://schemas.microsoft.com/office/drawing/2014/main" id="{D76EBECD-AFCB-AEB8-170B-D0F48D3C0959}"/>
              </a:ext>
            </a:extLst>
          </p:cNvPr>
          <p:cNvSpPr>
            <a:spLocks noGrp="1"/>
          </p:cNvSpPr>
          <p:nvPr>
            <p:ph idx="1"/>
          </p:nvPr>
        </p:nvSpPr>
        <p:spPr/>
        <p:txBody>
          <a:bodyPr>
            <a:normAutofit fontScale="85000" lnSpcReduction="10000"/>
          </a:bodyPr>
          <a:lstStyle/>
          <a:p>
            <a:r>
              <a:rPr kumimoji="1" lang="zh-CN" altLang="en-US" dirty="0"/>
              <a:t>在合并了主线的最新更改并再次运行本地构建后，如果构建仍然成功（“绿色”），那么就可以相对自信地将我的更改推送到中央仓库的主线了。</a:t>
            </a:r>
            <a:endParaRPr kumimoji="1" lang="en-US" altLang="zh-CN" dirty="0"/>
          </a:p>
          <a:p>
            <a:r>
              <a:rPr kumimoji="1" lang="zh-CN" altLang="en-US" dirty="0"/>
              <a:t>执行 </a:t>
            </a:r>
            <a:r>
              <a:rPr kumimoji="1" lang="en-US" altLang="zh-CN" dirty="0"/>
              <a:t>git push </a:t>
            </a:r>
            <a:r>
              <a:rPr kumimoji="1" lang="zh-CN" altLang="en-US" dirty="0"/>
              <a:t>命令。这次推送会将本地提交（</a:t>
            </a:r>
            <a:r>
              <a:rPr kumimoji="1" lang="en-US" altLang="zh-CN" dirty="0"/>
              <a:t>Commit</a:t>
            </a:r>
            <a:r>
              <a:rPr kumimoji="1" lang="zh-CN" altLang="en-US" dirty="0"/>
              <a:t>）发送到中央仓库，并更新主线。</a:t>
            </a:r>
            <a:endParaRPr kumimoji="1" lang="en-US" altLang="zh-CN" dirty="0"/>
          </a:p>
          <a:p>
            <a:r>
              <a:rPr kumimoji="1" lang="zh-CN" altLang="en-US" dirty="0"/>
              <a:t>通常，推送操作会触发中央 </a:t>
            </a:r>
            <a:r>
              <a:rPr kumimoji="1" lang="en-US" altLang="zh-CN" dirty="0"/>
              <a:t>CI </a:t>
            </a:r>
            <a:r>
              <a:rPr kumimoji="1" lang="zh-CN" altLang="en-US" dirty="0"/>
              <a:t>服务器自动执行一次集成构建。虽然在本地已经构建并测试过，但中央 </a:t>
            </a:r>
            <a:r>
              <a:rPr kumimoji="1" lang="en-US" altLang="zh-CN" dirty="0"/>
              <a:t>CI </a:t>
            </a:r>
            <a:r>
              <a:rPr kumimoji="1" lang="zh-CN" altLang="en-US" dirty="0"/>
              <a:t>构建提供了一个更权威的验证，因为它是在一个干净、独立的环境中进行的，消除了“在我机器上能跑”（</a:t>
            </a:r>
            <a:r>
              <a:rPr kumimoji="1" lang="en-US" altLang="zh-CN" dirty="0"/>
              <a:t>works on my machine</a:t>
            </a:r>
            <a:r>
              <a:rPr kumimoji="1" lang="zh-CN" altLang="en-US" dirty="0"/>
              <a:t>）的问题。推送完成后，我的功能开发告一段落，可以准备下一个任务了。</a:t>
            </a:r>
          </a:p>
        </p:txBody>
      </p:sp>
    </p:spTree>
    <p:extLst>
      <p:ext uri="{BB962C8B-B14F-4D97-AF65-F5344CB8AC3E}">
        <p14:creationId xmlns:p14="http://schemas.microsoft.com/office/powerpoint/2010/main" val="97093374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7AA8-AE18-CE8C-BBE7-C5F55F87F1D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96EC320-BB68-F894-2C0D-C99DACE52D9A}"/>
              </a:ext>
            </a:extLst>
          </p:cNvPr>
          <p:cNvSpPr>
            <a:spLocks noGrp="1"/>
          </p:cNvSpPr>
          <p:nvPr>
            <p:ph type="sldNum" sz="quarter" idx="12"/>
          </p:nvPr>
        </p:nvSpPr>
        <p:spPr/>
        <p:txBody>
          <a:bodyPr/>
          <a:lstStyle/>
          <a:p>
            <a:fld id="{51D91E7F-84B6-4064-9D4E-CC7D244BCA04}" type="slidenum">
              <a:rPr lang="zh-CN" altLang="en-US" smtClean="0"/>
              <a:t>11</a:t>
            </a:fld>
            <a:endParaRPr lang="zh-CN" altLang="en-US"/>
          </a:p>
        </p:txBody>
      </p:sp>
      <p:sp>
        <p:nvSpPr>
          <p:cNvPr id="3" name="文本占位符 2">
            <a:extLst>
              <a:ext uri="{FF2B5EF4-FFF2-40B4-BE49-F238E27FC236}">
                <a16:creationId xmlns:a16="http://schemas.microsoft.com/office/drawing/2014/main" id="{6F4EF5F2-FFD2-4322-3E20-594C53BFA407}"/>
              </a:ext>
            </a:extLst>
          </p:cNvPr>
          <p:cNvSpPr>
            <a:spLocks noGrp="1"/>
          </p:cNvSpPr>
          <p:nvPr>
            <p:ph type="body" sz="quarter" idx="13"/>
          </p:nvPr>
        </p:nvSpPr>
        <p:spPr/>
        <p:txBody>
          <a:bodyPr/>
          <a:lstStyle/>
          <a:p>
            <a:r>
              <a:rPr kumimoji="1" lang="zh-CN" altLang="en-US" dirty="0"/>
              <a:t>持续集成的核心实践 </a:t>
            </a:r>
            <a:r>
              <a:rPr kumimoji="1" lang="en-US" altLang="zh-CN" dirty="0"/>
              <a:t>- </a:t>
            </a:r>
            <a:r>
              <a:rPr kumimoji="1" lang="zh-CN" altLang="en-US" dirty="0"/>
              <a:t>概览</a:t>
            </a:r>
          </a:p>
        </p:txBody>
      </p:sp>
      <p:sp>
        <p:nvSpPr>
          <p:cNvPr id="4" name="内容占位符 3">
            <a:extLst>
              <a:ext uri="{FF2B5EF4-FFF2-40B4-BE49-F238E27FC236}">
                <a16:creationId xmlns:a16="http://schemas.microsoft.com/office/drawing/2014/main" id="{1AE9B77E-A888-8354-B71B-DEADB6134B21}"/>
              </a:ext>
            </a:extLst>
          </p:cNvPr>
          <p:cNvSpPr>
            <a:spLocks noGrp="1"/>
          </p:cNvSpPr>
          <p:nvPr>
            <p:ph idx="1"/>
          </p:nvPr>
        </p:nvSpPr>
        <p:spPr>
          <a:xfrm>
            <a:off x="838200" y="1289956"/>
            <a:ext cx="10515600" cy="5481813"/>
          </a:xfrm>
        </p:spPr>
        <p:txBody>
          <a:bodyPr>
            <a:normAutofit fontScale="70000" lnSpcReduction="20000"/>
          </a:bodyPr>
          <a:lstStyle/>
          <a:p>
            <a:r>
              <a:rPr kumimoji="1" lang="zh-CN" altLang="en-US" dirty="0"/>
              <a:t>实践列表： 为了成功实施持续集成，需要遵循一系列核心实践。这些实践共同构成了 </a:t>
            </a:r>
            <a:r>
              <a:rPr kumimoji="1" lang="en-US" altLang="zh-CN" dirty="0"/>
              <a:t>CI </a:t>
            </a:r>
            <a:r>
              <a:rPr kumimoji="1" lang="zh-CN" altLang="en-US" dirty="0"/>
              <a:t>的基础，确保流程顺畅、有效。关键实践包括：</a:t>
            </a:r>
          </a:p>
          <a:p>
            <a:pPr lvl="1"/>
            <a:r>
              <a:rPr kumimoji="1" lang="zh-CN" altLang="en-US" dirty="0"/>
              <a:t>维护单一的代码库主线 </a:t>
            </a:r>
            <a:r>
              <a:rPr kumimoji="1" lang="en-US" altLang="zh-CN" dirty="0"/>
              <a:t>(Maintain a Single Source Repository / Mainline): </a:t>
            </a:r>
            <a:r>
              <a:rPr kumimoji="1" lang="zh-CN" altLang="en-US" dirty="0"/>
              <a:t>所有开发活动围绕一个共享的主线进行。</a:t>
            </a:r>
          </a:p>
          <a:p>
            <a:pPr lvl="1"/>
            <a:r>
              <a:rPr kumimoji="1" lang="zh-CN" altLang="en-US" dirty="0"/>
              <a:t>自动化构建 </a:t>
            </a:r>
            <a:r>
              <a:rPr kumimoji="1" lang="en-US" altLang="zh-CN" dirty="0"/>
              <a:t>(Automate the Build): </a:t>
            </a:r>
            <a:r>
              <a:rPr kumimoji="1" lang="zh-CN" altLang="en-US" dirty="0"/>
              <a:t>构建过程（编译、打包等）完全自动化，可一键执行。</a:t>
            </a:r>
          </a:p>
          <a:p>
            <a:pPr lvl="1"/>
            <a:r>
              <a:rPr kumimoji="1" lang="zh-CN" altLang="en-US" dirty="0"/>
              <a:t>让构建自测试 </a:t>
            </a:r>
            <a:r>
              <a:rPr kumimoji="1" lang="en-US" altLang="zh-CN" dirty="0"/>
              <a:t>(Make the Build Self-Testing): </a:t>
            </a:r>
            <a:r>
              <a:rPr kumimoji="1" lang="zh-CN" altLang="en-US" dirty="0"/>
              <a:t>构建过程包含自动化测试，验证代码正确性。</a:t>
            </a:r>
          </a:p>
          <a:p>
            <a:pPr lvl="1"/>
            <a:r>
              <a:rPr kumimoji="1" lang="zh-CN" altLang="en-US" dirty="0"/>
              <a:t>每个人每天都向主线提交 </a:t>
            </a:r>
            <a:r>
              <a:rPr kumimoji="1" lang="en-US" altLang="zh-CN" dirty="0"/>
              <a:t>(Everyone Commits To the Mainline Every Day): </a:t>
            </a:r>
            <a:r>
              <a:rPr kumimoji="1" lang="zh-CN" altLang="en-US" dirty="0"/>
              <a:t>频繁集成是 </a:t>
            </a:r>
            <a:r>
              <a:rPr kumimoji="1" lang="en-US" altLang="zh-CN" dirty="0"/>
              <a:t>CI </a:t>
            </a:r>
            <a:r>
              <a:rPr kumimoji="1" lang="zh-CN" altLang="en-US" dirty="0"/>
              <a:t>的核心。</a:t>
            </a:r>
          </a:p>
          <a:p>
            <a:pPr lvl="1"/>
            <a:r>
              <a:rPr kumimoji="1" lang="zh-CN" altLang="en-US" dirty="0"/>
              <a:t>每次主线提交都应触发构建 </a:t>
            </a:r>
            <a:r>
              <a:rPr kumimoji="1" lang="en-US" altLang="zh-CN" dirty="0"/>
              <a:t>(Every Commit Should Build the Mainline): </a:t>
            </a:r>
            <a:r>
              <a:rPr kumimoji="1" lang="zh-CN" altLang="en-US" dirty="0"/>
              <a:t>自动化验证每次集成。</a:t>
            </a:r>
          </a:p>
          <a:p>
            <a:pPr lvl="1"/>
            <a:r>
              <a:rPr kumimoji="1" lang="zh-CN" altLang="en-US" dirty="0"/>
              <a:t>保持构建快速 </a:t>
            </a:r>
            <a:r>
              <a:rPr kumimoji="1" lang="en-US" altLang="zh-CN" dirty="0"/>
              <a:t>(Keep the Build Fast): </a:t>
            </a:r>
            <a:r>
              <a:rPr kumimoji="1" lang="zh-CN" altLang="en-US" dirty="0"/>
              <a:t>快速反馈是关键。</a:t>
            </a:r>
          </a:p>
          <a:p>
            <a:pPr lvl="1"/>
            <a:r>
              <a:rPr kumimoji="1" lang="en-US" altLang="zh-CN" dirty="0"/>
              <a:t>(</a:t>
            </a:r>
            <a:r>
              <a:rPr kumimoji="1" lang="zh-CN" altLang="en-US" dirty="0"/>
              <a:t>隐含实践</a:t>
            </a:r>
            <a:r>
              <a:rPr kumimoji="1" lang="en-US" altLang="zh-CN" dirty="0"/>
              <a:t>) </a:t>
            </a:r>
            <a:r>
              <a:rPr kumimoji="1" lang="zh-CN" altLang="en-US" dirty="0"/>
              <a:t>在类生产环境中测试 </a:t>
            </a:r>
            <a:r>
              <a:rPr kumimoji="1" lang="en-US" altLang="zh-CN" dirty="0"/>
              <a:t>(Test in a Clone of the Production Environment): </a:t>
            </a:r>
            <a:r>
              <a:rPr kumimoji="1" lang="zh-CN" altLang="en-US" dirty="0"/>
              <a:t>确保测试环境的真实性。</a:t>
            </a:r>
          </a:p>
          <a:p>
            <a:pPr lvl="1"/>
            <a:r>
              <a:rPr kumimoji="1" lang="en-US" altLang="zh-CN" dirty="0"/>
              <a:t>(</a:t>
            </a:r>
            <a:r>
              <a:rPr kumimoji="1" lang="zh-CN" altLang="en-US" dirty="0"/>
              <a:t>隐含实践</a:t>
            </a:r>
            <a:r>
              <a:rPr kumimoji="1" lang="en-US" altLang="zh-CN" dirty="0"/>
              <a:t>) </a:t>
            </a:r>
            <a:r>
              <a:rPr kumimoji="1" lang="zh-CN" altLang="en-US" dirty="0"/>
              <a:t>让获取最新可执行文件更容易 </a:t>
            </a:r>
            <a:r>
              <a:rPr kumimoji="1" lang="en-US" altLang="zh-CN" dirty="0"/>
              <a:t>(Make it Easy for Anyone to Get the Latest Executable): </a:t>
            </a:r>
            <a:r>
              <a:rPr kumimoji="1" lang="zh-CN" altLang="en-US" dirty="0"/>
              <a:t>方便测试和部署。</a:t>
            </a:r>
          </a:p>
          <a:p>
            <a:pPr lvl="1"/>
            <a:r>
              <a:rPr kumimoji="1" lang="en-US" altLang="zh-CN" dirty="0"/>
              <a:t>(</a:t>
            </a:r>
            <a:r>
              <a:rPr kumimoji="1" lang="zh-CN" altLang="en-US" dirty="0"/>
              <a:t>隐含实践</a:t>
            </a:r>
            <a:r>
              <a:rPr kumimoji="1" lang="en-US" altLang="zh-CN" dirty="0"/>
              <a:t>) </a:t>
            </a:r>
            <a:r>
              <a:rPr kumimoji="1" lang="zh-CN" altLang="en-US" dirty="0"/>
              <a:t>让每个人都能看到构建状态 </a:t>
            </a:r>
            <a:r>
              <a:rPr kumimoji="1" lang="en-US" altLang="zh-CN" dirty="0"/>
              <a:t>(Everyone can see what's happening / Visibility): </a:t>
            </a:r>
            <a:r>
              <a:rPr kumimoji="1" lang="zh-CN" altLang="en-US" dirty="0"/>
              <a:t>透明化流程。</a:t>
            </a:r>
          </a:p>
          <a:p>
            <a:pPr lvl="1"/>
            <a:r>
              <a:rPr kumimoji="1" lang="zh-CN" altLang="en-US" dirty="0"/>
              <a:t>自动化部署 </a:t>
            </a:r>
            <a:r>
              <a:rPr kumimoji="1" lang="en-US" altLang="zh-CN" dirty="0"/>
              <a:t>(Automate Deployment): </a:t>
            </a:r>
            <a:r>
              <a:rPr kumimoji="1" lang="zh-CN" altLang="en-US" dirty="0"/>
              <a:t>将构建产物部署到测试或生产环境。</a:t>
            </a:r>
          </a:p>
        </p:txBody>
      </p:sp>
    </p:spTree>
    <p:extLst>
      <p:ext uri="{BB962C8B-B14F-4D97-AF65-F5344CB8AC3E}">
        <p14:creationId xmlns:p14="http://schemas.microsoft.com/office/powerpoint/2010/main" val="19188478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07D47-325F-6204-3354-CC14C3C4301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7D624BA-8152-15FB-0122-CF18ACF5BF15}"/>
              </a:ext>
            </a:extLst>
          </p:cNvPr>
          <p:cNvSpPr>
            <a:spLocks noGrp="1"/>
          </p:cNvSpPr>
          <p:nvPr>
            <p:ph type="sldNum" sz="quarter" idx="12"/>
          </p:nvPr>
        </p:nvSpPr>
        <p:spPr/>
        <p:txBody>
          <a:bodyPr/>
          <a:lstStyle/>
          <a:p>
            <a:fld id="{51D91E7F-84B6-4064-9D4E-CC7D244BCA04}" type="slidenum">
              <a:rPr lang="zh-CN" altLang="en-US" smtClean="0"/>
              <a:t>12</a:t>
            </a:fld>
            <a:endParaRPr lang="zh-CN" altLang="en-US"/>
          </a:p>
        </p:txBody>
      </p:sp>
      <p:sp>
        <p:nvSpPr>
          <p:cNvPr id="3" name="文本占位符 2">
            <a:extLst>
              <a:ext uri="{FF2B5EF4-FFF2-40B4-BE49-F238E27FC236}">
                <a16:creationId xmlns:a16="http://schemas.microsoft.com/office/drawing/2014/main" id="{13DA0CDE-07F8-D782-4257-9A2F6F7EF990}"/>
              </a:ext>
            </a:extLst>
          </p:cNvPr>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版本控制与主线 </a:t>
            </a:r>
            <a:r>
              <a:rPr kumimoji="1" lang="en-US" altLang="zh-CN" dirty="0"/>
              <a:t>(</a:t>
            </a:r>
            <a:r>
              <a:rPr kumimoji="1" lang="zh-CN" altLang="en-US" dirty="0"/>
              <a:t>介绍</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411B5E6E-59D8-3138-17C4-AF6FF0AA5D58}"/>
              </a:ext>
            </a:extLst>
          </p:cNvPr>
          <p:cNvSpPr>
            <a:spLocks noGrp="1"/>
          </p:cNvSpPr>
          <p:nvPr>
            <p:ph idx="1"/>
          </p:nvPr>
        </p:nvSpPr>
        <p:spPr/>
        <p:txBody>
          <a:bodyPr>
            <a:normAutofit fontScale="92500" lnSpcReduction="20000"/>
          </a:bodyPr>
          <a:lstStyle/>
          <a:p>
            <a:r>
              <a:rPr kumimoji="1" lang="zh-CN" altLang="en-US" dirty="0"/>
              <a:t>核心原则： 将项目所需的所有东西都纳入版本控制系统（</a:t>
            </a:r>
            <a:r>
              <a:rPr kumimoji="1" lang="en-US" altLang="zh-CN" dirty="0"/>
              <a:t>Version Control System, VCS</a:t>
            </a:r>
            <a:r>
              <a:rPr kumimoji="1" lang="zh-CN" altLang="en-US" dirty="0"/>
              <a:t>），并维护一个单一的、共享的主线（</a:t>
            </a:r>
            <a:r>
              <a:rPr kumimoji="1" lang="en-US" altLang="zh-CN" dirty="0"/>
              <a:t>Mainline / Trunk</a:t>
            </a:r>
            <a:r>
              <a:rPr kumimoji="1" lang="zh-CN" altLang="en-US" dirty="0"/>
              <a:t>）。</a:t>
            </a:r>
            <a:endParaRPr kumimoji="1" lang="en-US" altLang="zh-CN" dirty="0"/>
          </a:p>
          <a:p>
            <a:r>
              <a:rPr kumimoji="1" lang="zh-CN" altLang="en-US" dirty="0"/>
              <a:t>版本控制是持续集成的基石，它允许多个开发者协同工作，轻松获取最新代码，提交自己的更改，并追踪代码库的历史演变。</a:t>
            </a:r>
            <a:endParaRPr kumimoji="1" lang="en-US" altLang="zh-CN" dirty="0"/>
          </a:p>
          <a:p>
            <a:r>
              <a:rPr kumimoji="1" lang="zh-CN" altLang="en-US" dirty="0"/>
              <a:t>了解代码的变更历史对于调试（例如使用 </a:t>
            </a:r>
            <a:r>
              <a:rPr kumimoji="1" lang="en-US" altLang="zh-CN" dirty="0"/>
              <a:t>Diff Debugging</a:t>
            </a:r>
            <a:r>
              <a:rPr kumimoji="1" lang="zh-CN" altLang="en-US" dirty="0"/>
              <a:t>）和理解系统演化非常有帮助。</a:t>
            </a:r>
            <a:endParaRPr kumimoji="1" lang="en-US" altLang="zh-CN" dirty="0"/>
          </a:p>
          <a:p>
            <a:r>
              <a:rPr kumimoji="1" lang="zh-CN" altLang="en-US" dirty="0"/>
              <a:t>目前最流行的版本控制系统是 </a:t>
            </a:r>
            <a:r>
              <a:rPr kumimoji="1" lang="en-US" altLang="zh-CN" dirty="0"/>
              <a:t>Git</a:t>
            </a:r>
            <a:r>
              <a:rPr kumimoji="1" lang="zh-CN" altLang="en-US" dirty="0"/>
              <a:t>。团队需要就如何使用版本控制（特别是分支策略）达成一致，</a:t>
            </a:r>
            <a:r>
              <a:rPr kumimoji="1" lang="en-US" altLang="zh-CN" dirty="0">
                <a:solidFill>
                  <a:srgbClr val="FF0000"/>
                </a:solidFill>
              </a:rPr>
              <a:t>CI </a:t>
            </a:r>
            <a:r>
              <a:rPr kumimoji="1" lang="zh-CN" altLang="en-US" dirty="0">
                <a:solidFill>
                  <a:srgbClr val="FF0000"/>
                </a:solidFill>
              </a:rPr>
              <a:t>强烈推荐基于主线的开发模式</a:t>
            </a:r>
            <a:r>
              <a:rPr kumimoji="1" lang="zh-CN" altLang="en-US" dirty="0"/>
              <a:t>。</a:t>
            </a:r>
          </a:p>
        </p:txBody>
      </p:sp>
    </p:spTree>
    <p:extLst>
      <p:ext uri="{BB962C8B-B14F-4D97-AF65-F5344CB8AC3E}">
        <p14:creationId xmlns:p14="http://schemas.microsoft.com/office/powerpoint/2010/main" val="18928690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9B4AD-357A-40AA-4D5D-2009D1BDB17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8791775-61C5-69C6-FB89-4F6B8B0D3F56}"/>
              </a:ext>
            </a:extLst>
          </p:cNvPr>
          <p:cNvSpPr>
            <a:spLocks noGrp="1"/>
          </p:cNvSpPr>
          <p:nvPr>
            <p:ph type="sldNum" sz="quarter" idx="12"/>
          </p:nvPr>
        </p:nvSpPr>
        <p:spPr/>
        <p:txBody>
          <a:bodyPr/>
          <a:lstStyle/>
          <a:p>
            <a:fld id="{51D91E7F-84B6-4064-9D4E-CC7D244BCA04}" type="slidenum">
              <a:rPr lang="zh-CN" altLang="en-US" smtClean="0"/>
              <a:t>13</a:t>
            </a:fld>
            <a:endParaRPr lang="zh-CN" altLang="en-US"/>
          </a:p>
        </p:txBody>
      </p:sp>
      <p:sp>
        <p:nvSpPr>
          <p:cNvPr id="3" name="文本占位符 2">
            <a:extLst>
              <a:ext uri="{FF2B5EF4-FFF2-40B4-BE49-F238E27FC236}">
                <a16:creationId xmlns:a16="http://schemas.microsoft.com/office/drawing/2014/main" id="{14029DFC-D37D-89EA-5084-3D2D2B2D0C6A}"/>
              </a:ext>
            </a:extLst>
          </p:cNvPr>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版本控制的内容</a:t>
            </a:r>
          </a:p>
        </p:txBody>
      </p:sp>
      <p:sp>
        <p:nvSpPr>
          <p:cNvPr id="4" name="内容占位符 3">
            <a:extLst>
              <a:ext uri="{FF2B5EF4-FFF2-40B4-BE49-F238E27FC236}">
                <a16:creationId xmlns:a16="http://schemas.microsoft.com/office/drawing/2014/main" id="{9511D53B-BDCE-AA15-DC15-9A91BCF9E813}"/>
              </a:ext>
            </a:extLst>
          </p:cNvPr>
          <p:cNvSpPr>
            <a:spLocks noGrp="1"/>
          </p:cNvSpPr>
          <p:nvPr>
            <p:ph idx="1"/>
          </p:nvPr>
        </p:nvSpPr>
        <p:spPr/>
        <p:txBody>
          <a:bodyPr>
            <a:normAutofit fontScale="85000" lnSpcReduction="20000"/>
          </a:bodyPr>
          <a:lstStyle/>
          <a:p>
            <a:r>
              <a:rPr kumimoji="1" lang="zh-CN" altLang="en-US" dirty="0"/>
              <a:t>纳入范围： “将所有东西纳入版本控制”意味着，任何人在获取一个干净的开发环境（例如一台新笔记本电脑）后，仅通过克隆（</a:t>
            </a:r>
            <a:r>
              <a:rPr kumimoji="1" lang="en-US" altLang="zh-CN" dirty="0"/>
              <a:t>Clone</a:t>
            </a:r>
            <a:r>
              <a:rPr kumimoji="1" lang="zh-CN" altLang="en-US" dirty="0"/>
              <a:t>）代码仓库，就应该能够构建、测试并运行整个产品。这通常包括：</a:t>
            </a:r>
            <a:endParaRPr kumimoji="1" lang="en-US" altLang="zh-CN" dirty="0"/>
          </a:p>
          <a:p>
            <a:pPr lvl="1"/>
            <a:r>
              <a:rPr kumimoji="1" lang="zh-CN" altLang="en-US" dirty="0"/>
              <a:t>源代码</a:t>
            </a:r>
          </a:p>
          <a:p>
            <a:pPr lvl="1"/>
            <a:r>
              <a:rPr kumimoji="1" lang="zh-CN" altLang="en-US" dirty="0"/>
              <a:t>测试代码 </a:t>
            </a:r>
            <a:r>
              <a:rPr kumimoji="1" lang="en-US" altLang="zh-CN" dirty="0"/>
              <a:t>(</a:t>
            </a:r>
            <a:r>
              <a:rPr kumimoji="1" lang="zh-CN" altLang="en-US" dirty="0"/>
              <a:t>单元测试、集成测试、端到端测试等</a:t>
            </a:r>
            <a:r>
              <a:rPr kumimoji="1" lang="en-US" altLang="zh-CN" dirty="0"/>
              <a:t>)</a:t>
            </a:r>
          </a:p>
          <a:p>
            <a:pPr lvl="1"/>
            <a:r>
              <a:rPr kumimoji="1" lang="zh-CN" altLang="en-US" dirty="0"/>
              <a:t>数据库模式定义及迁移脚本</a:t>
            </a:r>
          </a:p>
          <a:p>
            <a:pPr lvl="1"/>
            <a:r>
              <a:rPr kumimoji="1" lang="zh-CN" altLang="en-US" dirty="0"/>
              <a:t>配置文件 </a:t>
            </a:r>
            <a:r>
              <a:rPr kumimoji="1" lang="en-US" altLang="zh-CN" dirty="0"/>
              <a:t>(</a:t>
            </a:r>
            <a:r>
              <a:rPr kumimoji="1" lang="zh-CN" altLang="en-US" dirty="0"/>
              <a:t>应用配置、环境配置</a:t>
            </a:r>
            <a:r>
              <a:rPr kumimoji="1" lang="en-US" altLang="zh-CN" dirty="0"/>
              <a:t>)</a:t>
            </a:r>
          </a:p>
          <a:p>
            <a:pPr lvl="1"/>
            <a:r>
              <a:rPr kumimoji="1" lang="zh-CN" altLang="en-US" dirty="0"/>
              <a:t>构建脚本 </a:t>
            </a:r>
            <a:r>
              <a:rPr kumimoji="1" lang="en-US" altLang="zh-CN" dirty="0"/>
              <a:t>(</a:t>
            </a:r>
            <a:r>
              <a:rPr kumimoji="1" lang="en-US" altLang="zh-CN" dirty="0" err="1"/>
              <a:t>Makefile</a:t>
            </a:r>
            <a:r>
              <a:rPr kumimoji="1" lang="en-US" altLang="zh-CN" dirty="0"/>
              <a:t>, Ant, Maven, Gradle, Rake, </a:t>
            </a:r>
            <a:r>
              <a:rPr kumimoji="1" lang="en-US" altLang="zh-CN" dirty="0" err="1"/>
              <a:t>npm</a:t>
            </a:r>
            <a:r>
              <a:rPr kumimoji="1" lang="en-US" altLang="zh-CN" dirty="0"/>
              <a:t> scripts </a:t>
            </a:r>
            <a:r>
              <a:rPr kumimoji="1" lang="zh-CN" altLang="en-US" dirty="0"/>
              <a:t>等</a:t>
            </a:r>
            <a:r>
              <a:rPr kumimoji="1" lang="en-US" altLang="zh-CN" dirty="0"/>
              <a:t>)</a:t>
            </a:r>
          </a:p>
          <a:p>
            <a:pPr lvl="1"/>
            <a:r>
              <a:rPr kumimoji="1" lang="zh-CN" altLang="en-US" dirty="0"/>
              <a:t>安装和部署脚本</a:t>
            </a:r>
          </a:p>
          <a:p>
            <a:pPr lvl="1"/>
            <a:r>
              <a:rPr kumimoji="1" lang="zh-CN" altLang="en-US" dirty="0"/>
              <a:t>项目所需的第三方库的依赖定义 </a:t>
            </a:r>
            <a:r>
              <a:rPr kumimoji="1" lang="en-US" altLang="zh-CN" dirty="0"/>
              <a:t>(</a:t>
            </a:r>
            <a:r>
              <a:rPr kumimoji="1" lang="zh-CN" altLang="en-US" dirty="0"/>
              <a:t>例如 </a:t>
            </a:r>
            <a:r>
              <a:rPr kumimoji="1" lang="en-US" altLang="zh-CN" dirty="0" err="1"/>
              <a:t>pom.xml</a:t>
            </a:r>
            <a:r>
              <a:rPr kumimoji="1" lang="en-US" altLang="zh-CN" dirty="0"/>
              <a:t>, </a:t>
            </a:r>
            <a:r>
              <a:rPr kumimoji="1" lang="en-US" altLang="zh-CN" dirty="0" err="1"/>
              <a:t>package.json</a:t>
            </a:r>
            <a:r>
              <a:rPr kumimoji="1" lang="en-US" altLang="zh-CN" dirty="0"/>
              <a:t>, </a:t>
            </a:r>
            <a:r>
              <a:rPr kumimoji="1" lang="en-US" altLang="zh-CN" dirty="0" err="1"/>
              <a:t>Gemfile</a:t>
            </a:r>
            <a:r>
              <a:rPr kumimoji="1" lang="en-US" altLang="zh-CN" dirty="0"/>
              <a:t>)</a:t>
            </a:r>
          </a:p>
          <a:p>
            <a:pPr lvl="1"/>
            <a:r>
              <a:rPr kumimoji="1" lang="zh-CN" altLang="en-US" dirty="0"/>
              <a:t>有时甚至包括用于构建和运行环境所需的工具链定义（例如 </a:t>
            </a:r>
            <a:r>
              <a:rPr kumimoji="1" lang="en-US" altLang="zh-CN" dirty="0" err="1"/>
              <a:t>Dockerfile</a:t>
            </a:r>
            <a:r>
              <a:rPr kumimoji="1" lang="zh-CN" altLang="en-US" dirty="0"/>
              <a:t>）。</a:t>
            </a:r>
          </a:p>
        </p:txBody>
      </p:sp>
    </p:spTree>
    <p:extLst>
      <p:ext uri="{BB962C8B-B14F-4D97-AF65-F5344CB8AC3E}">
        <p14:creationId xmlns:p14="http://schemas.microsoft.com/office/powerpoint/2010/main" val="137157819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DBE8-9A7C-E4B5-65D7-01EDD806D31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252E3B7-9D0A-EB16-D860-C28B58B2F013}"/>
              </a:ext>
            </a:extLst>
          </p:cNvPr>
          <p:cNvSpPr>
            <a:spLocks noGrp="1"/>
          </p:cNvSpPr>
          <p:nvPr>
            <p:ph type="sldNum" sz="quarter" idx="12"/>
          </p:nvPr>
        </p:nvSpPr>
        <p:spPr/>
        <p:txBody>
          <a:bodyPr/>
          <a:lstStyle/>
          <a:p>
            <a:fld id="{51D91E7F-84B6-4064-9D4E-CC7D244BCA04}" type="slidenum">
              <a:rPr lang="zh-CN" altLang="en-US" smtClean="0"/>
              <a:t>14</a:t>
            </a:fld>
            <a:endParaRPr lang="zh-CN" altLang="en-US"/>
          </a:p>
        </p:txBody>
      </p:sp>
      <p:sp>
        <p:nvSpPr>
          <p:cNvPr id="3" name="文本占位符 2">
            <a:extLst>
              <a:ext uri="{FF2B5EF4-FFF2-40B4-BE49-F238E27FC236}">
                <a16:creationId xmlns:a16="http://schemas.microsoft.com/office/drawing/2014/main" id="{87AE2BDF-2139-2FA9-A7D2-E01D6D60A510}"/>
              </a:ext>
            </a:extLst>
          </p:cNvPr>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处理依赖与构建产物</a:t>
            </a:r>
          </a:p>
        </p:txBody>
      </p:sp>
      <p:sp>
        <p:nvSpPr>
          <p:cNvPr id="4" name="内容占位符 3">
            <a:extLst>
              <a:ext uri="{FF2B5EF4-FFF2-40B4-BE49-F238E27FC236}">
                <a16:creationId xmlns:a16="http://schemas.microsoft.com/office/drawing/2014/main" id="{9462BAFF-1089-CE7E-1A0D-33927425830A}"/>
              </a:ext>
            </a:extLst>
          </p:cNvPr>
          <p:cNvSpPr>
            <a:spLocks noGrp="1"/>
          </p:cNvSpPr>
          <p:nvPr>
            <p:ph idx="1"/>
          </p:nvPr>
        </p:nvSpPr>
        <p:spPr/>
        <p:txBody>
          <a:bodyPr>
            <a:normAutofit fontScale="85000" lnSpcReduction="10000"/>
          </a:bodyPr>
          <a:lstStyle/>
          <a:p>
            <a:r>
              <a:rPr kumimoji="1" lang="zh-CN" altLang="en-US" dirty="0"/>
              <a:t>依赖管理： 并非所有东西都需要直接存储在版本库中，特别是大型二进制文件，如编译器、大型库或测试数据集。可以通过在版本库中存储指向这些资源的链接（例如，指向一个不可变的资产存储库）来实现。构建脚本可以在需要时自动下载这些依赖项的特定版本。关键是确保能够可靠地获取到构建所需的确切版本的依赖。避免使用“最新版本”（</a:t>
            </a:r>
            <a:r>
              <a:rPr kumimoji="1" lang="en-US" altLang="zh-CN" dirty="0"/>
              <a:t>latest</a:t>
            </a:r>
            <a:r>
              <a:rPr kumimoji="1" lang="zh-CN" altLang="en-US" dirty="0"/>
              <a:t>）之类的模糊引用。</a:t>
            </a:r>
          </a:p>
          <a:p>
            <a:r>
              <a:rPr kumimoji="1" lang="zh-CN" altLang="en-US" dirty="0"/>
              <a:t>构建产物： 不应将构建过程产生的任何东西（如编译后的类文件、可执行文件、包）存储在版本控制中。这些构建产物应该是可丢弃的（</a:t>
            </a:r>
            <a:r>
              <a:rPr kumimoji="1" lang="en-US" altLang="zh-CN" dirty="0"/>
              <a:t>disposable</a:t>
            </a:r>
            <a:r>
              <a:rPr kumimoji="1" lang="zh-CN" altLang="en-US" dirty="0"/>
              <a:t>），并且能够通过自动化构建过程随时可靠地重新生成。缓存构建产物以加速后续构建是可以的，但不应将其视为源码的一部分。</a:t>
            </a:r>
          </a:p>
        </p:txBody>
      </p:sp>
    </p:spTree>
    <p:extLst>
      <p:ext uri="{BB962C8B-B14F-4D97-AF65-F5344CB8AC3E}">
        <p14:creationId xmlns:p14="http://schemas.microsoft.com/office/powerpoint/2010/main" val="35221771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D2E9C-6409-7AD1-63F6-3CEB5B81850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DAC997-79D8-106D-EB11-E096D107A019}"/>
              </a:ext>
            </a:extLst>
          </p:cNvPr>
          <p:cNvSpPr>
            <a:spLocks noGrp="1"/>
          </p:cNvSpPr>
          <p:nvPr>
            <p:ph type="sldNum" sz="quarter" idx="12"/>
          </p:nvPr>
        </p:nvSpPr>
        <p:spPr/>
        <p:txBody>
          <a:bodyPr/>
          <a:lstStyle/>
          <a:p>
            <a:fld id="{51D91E7F-84B6-4064-9D4E-CC7D244BCA04}" type="slidenum">
              <a:rPr lang="zh-CN" altLang="en-US" smtClean="0"/>
              <a:t>15</a:t>
            </a:fld>
            <a:endParaRPr lang="zh-CN" altLang="en-US"/>
          </a:p>
        </p:txBody>
      </p:sp>
      <p:sp>
        <p:nvSpPr>
          <p:cNvPr id="3" name="文本占位符 2">
            <a:extLst>
              <a:ext uri="{FF2B5EF4-FFF2-40B4-BE49-F238E27FC236}">
                <a16:creationId xmlns:a16="http://schemas.microsoft.com/office/drawing/2014/main" id="{CADAD5B6-A6EF-1BD0-9659-7DE22C63607F}"/>
              </a:ext>
            </a:extLst>
          </p:cNvPr>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主线 </a:t>
            </a:r>
            <a:r>
              <a:rPr kumimoji="1" lang="en-US" altLang="zh-CN" dirty="0"/>
              <a:t>(Mainline) </a:t>
            </a:r>
            <a:r>
              <a:rPr kumimoji="1" lang="zh-CN" altLang="en-US" dirty="0"/>
              <a:t>的重要性</a:t>
            </a:r>
          </a:p>
        </p:txBody>
      </p:sp>
      <p:sp>
        <p:nvSpPr>
          <p:cNvPr id="4" name="内容占位符 3">
            <a:extLst>
              <a:ext uri="{FF2B5EF4-FFF2-40B4-BE49-F238E27FC236}">
                <a16:creationId xmlns:a16="http://schemas.microsoft.com/office/drawing/2014/main" id="{C4DB343E-5F23-89F9-1B0E-D3A9AE818D73}"/>
              </a:ext>
            </a:extLst>
          </p:cNvPr>
          <p:cNvSpPr>
            <a:spLocks noGrp="1"/>
          </p:cNvSpPr>
          <p:nvPr>
            <p:ph idx="1"/>
          </p:nvPr>
        </p:nvSpPr>
        <p:spPr/>
        <p:txBody>
          <a:bodyPr>
            <a:normAutofit/>
          </a:bodyPr>
          <a:lstStyle/>
          <a:p>
            <a:r>
              <a:rPr kumimoji="1" lang="zh-CN" altLang="en-US" dirty="0"/>
              <a:t>定义与作用： 持续集成依赖于“主线”的存在。主线是代码库中一个单一的、共享的分支，它代表了项目当前的、经过集成的状态，通常是准备部署到生产（或下一个环境）的状态。</a:t>
            </a:r>
            <a:endParaRPr kumimoji="1" lang="en-US" altLang="zh-CN" dirty="0"/>
          </a:p>
          <a:p>
            <a:r>
              <a:rPr kumimoji="1" lang="zh-CN" altLang="en-US" dirty="0"/>
              <a:t>在 </a:t>
            </a:r>
            <a:r>
              <a:rPr kumimoji="1" lang="en-US" altLang="zh-CN" dirty="0"/>
              <a:t>Git </a:t>
            </a:r>
            <a:r>
              <a:rPr kumimoji="1" lang="zh-CN" altLang="en-US" dirty="0"/>
              <a:t>中，这个分支通常被命名为 </a:t>
            </a:r>
            <a:r>
              <a:rPr kumimoji="1" lang="en-US" altLang="zh-CN" dirty="0"/>
              <a:t>main </a:t>
            </a:r>
            <a:r>
              <a:rPr kumimoji="1" lang="zh-CN" altLang="en-US" dirty="0"/>
              <a:t>或（历史上）</a:t>
            </a:r>
            <a:r>
              <a:rPr kumimoji="1" lang="en-US" altLang="zh-CN" dirty="0"/>
              <a:t>master</a:t>
            </a:r>
            <a:r>
              <a:rPr kumimoji="1" lang="zh-CN" altLang="en-US" dirty="0"/>
              <a:t>。所有团队成员都将他们的工作集成到这个主线分支上。它位于中央仓库，开发者需要先将本地主线的更改推送到中央仓库的主线，才算完成集成。</a:t>
            </a:r>
          </a:p>
        </p:txBody>
      </p:sp>
    </p:spTree>
    <p:extLst>
      <p:ext uri="{BB962C8B-B14F-4D97-AF65-F5344CB8AC3E}">
        <p14:creationId xmlns:p14="http://schemas.microsoft.com/office/powerpoint/2010/main" val="40780914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6D59A-550E-F21C-3ED5-C347524D1EC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CC4D07F-8336-738B-BCFC-5F8E1CEAB94E}"/>
              </a:ext>
            </a:extLst>
          </p:cNvPr>
          <p:cNvSpPr>
            <a:spLocks noGrp="1"/>
          </p:cNvSpPr>
          <p:nvPr>
            <p:ph type="sldNum" sz="quarter" idx="12"/>
          </p:nvPr>
        </p:nvSpPr>
        <p:spPr/>
        <p:txBody>
          <a:bodyPr/>
          <a:lstStyle/>
          <a:p>
            <a:fld id="{51D91E7F-84B6-4064-9D4E-CC7D244BCA04}" type="slidenum">
              <a:rPr lang="zh-CN" altLang="en-US" smtClean="0"/>
              <a:t>16</a:t>
            </a:fld>
            <a:endParaRPr lang="zh-CN" altLang="en-US"/>
          </a:p>
        </p:txBody>
      </p:sp>
      <p:sp>
        <p:nvSpPr>
          <p:cNvPr id="3" name="文本占位符 2">
            <a:extLst>
              <a:ext uri="{FF2B5EF4-FFF2-40B4-BE49-F238E27FC236}">
                <a16:creationId xmlns:a16="http://schemas.microsoft.com/office/drawing/2014/main" id="{415874F0-1A0A-A112-806A-B7520BA8D390}"/>
              </a:ext>
            </a:extLst>
          </p:cNvPr>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文本格式优先</a:t>
            </a:r>
          </a:p>
        </p:txBody>
      </p:sp>
      <p:sp>
        <p:nvSpPr>
          <p:cNvPr id="4" name="内容占位符 3">
            <a:extLst>
              <a:ext uri="{FF2B5EF4-FFF2-40B4-BE49-F238E27FC236}">
                <a16:creationId xmlns:a16="http://schemas.microsoft.com/office/drawing/2014/main" id="{6DD6DC7F-0568-E201-998E-801B8DAA76ED}"/>
              </a:ext>
            </a:extLst>
          </p:cNvPr>
          <p:cNvSpPr>
            <a:spLocks noGrp="1"/>
          </p:cNvSpPr>
          <p:nvPr>
            <p:ph idx="1"/>
          </p:nvPr>
        </p:nvSpPr>
        <p:spPr/>
        <p:txBody>
          <a:bodyPr>
            <a:normAutofit fontScale="92500" lnSpcReduction="20000"/>
          </a:bodyPr>
          <a:lstStyle/>
          <a:p>
            <a:r>
              <a:rPr kumimoji="1" lang="zh-CN" altLang="en-US" dirty="0"/>
              <a:t>可读性与可比性： 版本控制系统在处理基于文本的文件时效果最好，因为它们可以轻松地计算和显示版本之间的差异（</a:t>
            </a:r>
            <a:r>
              <a:rPr kumimoji="1" lang="en-US" altLang="zh-CN" dirty="0"/>
              <a:t>diff</a:t>
            </a:r>
            <a:r>
              <a:rPr kumimoji="1" lang="zh-CN" altLang="en-US" dirty="0"/>
              <a:t>）。这对于代码审查、理解变更历史和合并冲突非常有帮助。</a:t>
            </a:r>
            <a:endParaRPr kumimoji="1" lang="en-US" altLang="zh-CN" dirty="0"/>
          </a:p>
          <a:p>
            <a:r>
              <a:rPr kumimoji="1" lang="zh-CN" altLang="en-US" dirty="0"/>
              <a:t>相比之下，大多数版本控制系统不擅长处理二进制文件格式（如某些专有的 </a:t>
            </a:r>
            <a:r>
              <a:rPr kumimoji="1" lang="en-US" altLang="zh-CN" dirty="0"/>
              <a:t>IDE </a:t>
            </a:r>
            <a:r>
              <a:rPr kumimoji="1" lang="zh-CN" altLang="en-US" dirty="0"/>
              <a:t>配置文件、</a:t>
            </a:r>
            <a:r>
              <a:rPr kumimoji="1" lang="en-US" altLang="zh-CN" dirty="0"/>
              <a:t>Word </a:t>
            </a:r>
            <a:r>
              <a:rPr kumimoji="1" lang="zh-CN" altLang="en-US" dirty="0"/>
              <a:t>文档、编译后的代码）。即使能存储二进制文件，通常也无法提供有意义的版本比较。</a:t>
            </a:r>
            <a:endParaRPr kumimoji="1" lang="en-US" altLang="zh-CN" dirty="0"/>
          </a:p>
          <a:p>
            <a:r>
              <a:rPr kumimoji="1" lang="zh-CN" altLang="en-US" dirty="0"/>
              <a:t>因此，在选择工具和数据存储格式时，应尽可能优先选择基于文本的表示形式（如 </a:t>
            </a:r>
            <a:r>
              <a:rPr kumimoji="1" lang="en-US" altLang="zh-CN" dirty="0"/>
              <a:t>XML, JSON, YAML, </a:t>
            </a:r>
            <a:r>
              <a:rPr kumimoji="1" lang="zh-CN" altLang="en-US" dirty="0"/>
              <a:t>纯文本代码），以便更好地利用版本控制系统的能力。</a:t>
            </a:r>
          </a:p>
        </p:txBody>
      </p:sp>
    </p:spTree>
    <p:extLst>
      <p:ext uri="{BB962C8B-B14F-4D97-AF65-F5344CB8AC3E}">
        <p14:creationId xmlns:p14="http://schemas.microsoft.com/office/powerpoint/2010/main" val="25056071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42677-0E94-71FA-CBD7-46926F266FC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8015AB-234C-B500-84C1-C7D8F21646AD}"/>
              </a:ext>
            </a:extLst>
          </p:cNvPr>
          <p:cNvSpPr>
            <a:spLocks noGrp="1"/>
          </p:cNvSpPr>
          <p:nvPr>
            <p:ph type="sldNum" sz="quarter" idx="12"/>
          </p:nvPr>
        </p:nvSpPr>
        <p:spPr/>
        <p:txBody>
          <a:bodyPr/>
          <a:lstStyle/>
          <a:p>
            <a:fld id="{51D91E7F-84B6-4064-9D4E-CC7D244BCA04}" type="slidenum">
              <a:rPr lang="zh-CN" altLang="en-US" smtClean="0"/>
              <a:t>17</a:t>
            </a:fld>
            <a:endParaRPr lang="zh-CN" altLang="en-US"/>
          </a:p>
        </p:txBody>
      </p:sp>
      <p:sp>
        <p:nvSpPr>
          <p:cNvPr id="3" name="文本占位符 2">
            <a:extLst>
              <a:ext uri="{FF2B5EF4-FFF2-40B4-BE49-F238E27FC236}">
                <a16:creationId xmlns:a16="http://schemas.microsoft.com/office/drawing/2014/main" id="{52292D30-F596-9D88-ABA1-8A260BEE8422}"/>
              </a:ext>
            </a:extLst>
          </p:cNvPr>
          <p:cNvSpPr>
            <a:spLocks noGrp="1"/>
          </p:cNvSpPr>
          <p:nvPr>
            <p:ph type="body" sz="quarter" idx="13"/>
          </p:nvPr>
        </p:nvSpPr>
        <p:spPr/>
        <p:txBody>
          <a:bodyPr/>
          <a:lstStyle/>
          <a:p>
            <a:r>
              <a:rPr kumimoji="1" lang="zh-CN" altLang="en-US" dirty="0"/>
              <a:t>实践 </a:t>
            </a:r>
            <a:r>
              <a:rPr kumimoji="1" lang="en-US" altLang="zh-CN" dirty="0"/>
              <a:t>2 - </a:t>
            </a:r>
            <a:r>
              <a:rPr kumimoji="1" lang="zh-CN" altLang="en-US" dirty="0"/>
              <a:t>自动化构建 </a:t>
            </a:r>
            <a:r>
              <a:rPr kumimoji="1" lang="en-US" altLang="zh-CN" dirty="0"/>
              <a:t>(</a:t>
            </a:r>
            <a:r>
              <a:rPr kumimoji="1" lang="zh-CN" altLang="en-US" dirty="0"/>
              <a:t>介绍</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1D0035D5-A0DD-560E-CA59-F6A01AA07B32}"/>
              </a:ext>
            </a:extLst>
          </p:cNvPr>
          <p:cNvSpPr>
            <a:spLocks noGrp="1"/>
          </p:cNvSpPr>
          <p:nvPr>
            <p:ph idx="1"/>
          </p:nvPr>
        </p:nvSpPr>
        <p:spPr/>
        <p:txBody>
          <a:bodyPr>
            <a:normAutofit fontScale="92500" lnSpcReduction="20000"/>
          </a:bodyPr>
          <a:lstStyle/>
          <a:p>
            <a:r>
              <a:rPr kumimoji="1" lang="zh-CN" altLang="en-US" dirty="0"/>
              <a:t>必要性： 将源代码转化为一个可运行的系统可能是一个复杂的过程，涉及编译、代码生成、文件移动、加载数据库模式、打包等等。</a:t>
            </a:r>
            <a:endParaRPr kumimoji="1" lang="en-US" altLang="zh-CN" dirty="0"/>
          </a:p>
          <a:p>
            <a:r>
              <a:rPr kumimoji="1" lang="zh-CN" altLang="en-US" sz="3300" dirty="0">
                <a:solidFill>
                  <a:srgbClr val="FF0000"/>
                </a:solidFill>
              </a:rPr>
              <a:t>在软件开发中，任何可以自动化的重复性任务都应该自动化。</a:t>
            </a:r>
            <a:endParaRPr kumimoji="1" lang="en-US" altLang="zh-CN" sz="3300" dirty="0">
              <a:solidFill>
                <a:srgbClr val="FF0000"/>
              </a:solidFill>
            </a:endParaRPr>
          </a:p>
          <a:p>
            <a:r>
              <a:rPr kumimoji="1" lang="zh-CN" altLang="en-US" dirty="0"/>
              <a:t>要求开发者手动输入奇怪的命令序列或在一系列对话框中点击，不仅浪费时间，而且是滋生错误的温床。</a:t>
            </a:r>
            <a:endParaRPr kumimoji="1" lang="en-US" altLang="zh-CN" dirty="0"/>
          </a:p>
          <a:p>
            <a:r>
              <a:rPr kumimoji="1" lang="zh-CN" altLang="en-US" dirty="0"/>
              <a:t>构建过程的自动化是持续集成的核心要求之一。目标是实现“一键构建”（</a:t>
            </a:r>
            <a:r>
              <a:rPr kumimoji="1" lang="en-US" altLang="zh-CN" dirty="0"/>
              <a:t>Single Command Build</a:t>
            </a:r>
            <a:r>
              <a:rPr kumimoji="1" lang="zh-CN" altLang="en-US" dirty="0"/>
              <a:t>），让任何人都能够通过一个简单的命令就能触发整个构建过程，无需了解其中的复杂细节。</a:t>
            </a:r>
          </a:p>
        </p:txBody>
      </p:sp>
    </p:spTree>
    <p:extLst>
      <p:ext uri="{BB962C8B-B14F-4D97-AF65-F5344CB8AC3E}">
        <p14:creationId xmlns:p14="http://schemas.microsoft.com/office/powerpoint/2010/main" val="359864926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AB6E-3FDD-948E-86C4-8BE717C0E5E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0425F2-CF2E-C75F-A696-8CDC17FC2C06}"/>
              </a:ext>
            </a:extLst>
          </p:cNvPr>
          <p:cNvSpPr>
            <a:spLocks noGrp="1"/>
          </p:cNvSpPr>
          <p:nvPr>
            <p:ph type="sldNum" sz="quarter" idx="12"/>
          </p:nvPr>
        </p:nvSpPr>
        <p:spPr/>
        <p:txBody>
          <a:bodyPr/>
          <a:lstStyle/>
          <a:p>
            <a:fld id="{51D91E7F-84B6-4064-9D4E-CC7D244BCA04}" type="slidenum">
              <a:rPr lang="zh-CN" altLang="en-US" smtClean="0"/>
              <a:t>18</a:t>
            </a:fld>
            <a:endParaRPr lang="zh-CN" altLang="en-US"/>
          </a:p>
        </p:txBody>
      </p:sp>
      <p:sp>
        <p:nvSpPr>
          <p:cNvPr id="3" name="文本占位符 2">
            <a:extLst>
              <a:ext uri="{FF2B5EF4-FFF2-40B4-BE49-F238E27FC236}">
                <a16:creationId xmlns:a16="http://schemas.microsoft.com/office/drawing/2014/main" id="{E44913B3-79F6-0B05-A8A2-6559974E5F25}"/>
              </a:ext>
            </a:extLst>
          </p:cNvPr>
          <p:cNvSpPr>
            <a:spLocks noGrp="1"/>
          </p:cNvSpPr>
          <p:nvPr>
            <p:ph type="body" sz="quarter" idx="13"/>
          </p:nvPr>
        </p:nvSpPr>
        <p:spPr/>
        <p:txBody>
          <a:bodyPr/>
          <a:lstStyle/>
          <a:p>
            <a:r>
              <a:rPr kumimoji="1" lang="zh-CN" altLang="en-US" dirty="0"/>
              <a:t>实践 </a:t>
            </a:r>
            <a:r>
              <a:rPr kumimoji="1" lang="en-US" altLang="zh-CN" dirty="0"/>
              <a:t>2 - </a:t>
            </a:r>
            <a:r>
              <a:rPr kumimoji="1" lang="zh-CN" altLang="en-US" dirty="0"/>
              <a:t>构建工具与脚本</a:t>
            </a:r>
          </a:p>
        </p:txBody>
      </p:sp>
      <p:sp>
        <p:nvSpPr>
          <p:cNvPr id="4" name="内容占位符 3">
            <a:extLst>
              <a:ext uri="{FF2B5EF4-FFF2-40B4-BE49-F238E27FC236}">
                <a16:creationId xmlns:a16="http://schemas.microsoft.com/office/drawing/2014/main" id="{3AAFDF9D-8BE9-FF69-21A4-AE8BE1774AF5}"/>
              </a:ext>
            </a:extLst>
          </p:cNvPr>
          <p:cNvSpPr>
            <a:spLocks noGrp="1"/>
          </p:cNvSpPr>
          <p:nvPr>
            <p:ph idx="1"/>
          </p:nvPr>
        </p:nvSpPr>
        <p:spPr/>
        <p:txBody>
          <a:bodyPr>
            <a:normAutofit fontScale="92500" lnSpcReduction="20000"/>
          </a:bodyPr>
          <a:lstStyle/>
          <a:p>
            <a:r>
              <a:rPr kumimoji="1" lang="zh-CN" altLang="en-US" dirty="0"/>
              <a:t>工具演进： 自动化构建工具已经存在很长时间了。早期的 </a:t>
            </a:r>
            <a:r>
              <a:rPr kumimoji="1" lang="en-US" altLang="zh-CN" dirty="0"/>
              <a:t>Unix </a:t>
            </a:r>
            <a:r>
              <a:rPr kumimoji="1" lang="zh-CN" altLang="en-US" dirty="0"/>
              <a:t>世界有 </a:t>
            </a:r>
            <a:r>
              <a:rPr kumimoji="1" lang="en-US" altLang="zh-CN" dirty="0"/>
              <a:t>make</a:t>
            </a:r>
            <a:r>
              <a:rPr kumimoji="1" lang="zh-CN" altLang="en-US" dirty="0"/>
              <a:t>，</a:t>
            </a:r>
            <a:r>
              <a:rPr kumimoji="1" lang="en-US" altLang="zh-CN" dirty="0"/>
              <a:t>Java </a:t>
            </a:r>
            <a:r>
              <a:rPr kumimoji="1" lang="zh-CN" altLang="en-US" dirty="0"/>
              <a:t>世界经历了 </a:t>
            </a:r>
            <a:r>
              <a:rPr kumimoji="1" lang="en-US" altLang="zh-CN" dirty="0"/>
              <a:t>Ant</a:t>
            </a:r>
            <a:r>
              <a:rPr kumimoji="1" lang="zh-CN" altLang="en-US" dirty="0"/>
              <a:t>、</a:t>
            </a:r>
            <a:r>
              <a:rPr kumimoji="1" lang="en-US" altLang="zh-CN" dirty="0"/>
              <a:t>Maven </a:t>
            </a:r>
            <a:r>
              <a:rPr kumimoji="1" lang="zh-CN" altLang="en-US" dirty="0"/>
              <a:t>到 </a:t>
            </a:r>
            <a:r>
              <a:rPr kumimoji="1" lang="en-US" altLang="zh-CN" dirty="0"/>
              <a:t>Gradle </a:t>
            </a:r>
            <a:r>
              <a:rPr kumimoji="1" lang="zh-CN" altLang="en-US" dirty="0"/>
              <a:t>的演变，</a:t>
            </a:r>
            <a:r>
              <a:rPr kumimoji="1" lang="en-US" altLang="zh-CN" dirty="0"/>
              <a:t>.NET </a:t>
            </a:r>
            <a:r>
              <a:rPr kumimoji="1" lang="zh-CN" altLang="en-US" dirty="0"/>
              <a:t>有 </a:t>
            </a:r>
            <a:r>
              <a:rPr kumimoji="1" lang="en-US" altLang="zh-CN" dirty="0" err="1"/>
              <a:t>NAnt</a:t>
            </a:r>
            <a:r>
              <a:rPr kumimoji="1" lang="en-US" altLang="zh-CN" dirty="0"/>
              <a:t> </a:t>
            </a:r>
            <a:r>
              <a:rPr kumimoji="1" lang="zh-CN" altLang="en-US" dirty="0"/>
              <a:t>和 </a:t>
            </a:r>
            <a:r>
              <a:rPr kumimoji="1" lang="en-US" altLang="zh-CN" dirty="0" err="1"/>
              <a:t>MSBuild</a:t>
            </a:r>
            <a:r>
              <a:rPr kumimoji="1" lang="zh-CN" altLang="en-US" dirty="0"/>
              <a:t>，</a:t>
            </a:r>
            <a:r>
              <a:rPr kumimoji="1" lang="en-US" altLang="zh-CN" dirty="0"/>
              <a:t>Ruby </a:t>
            </a:r>
            <a:r>
              <a:rPr kumimoji="1" lang="zh-CN" altLang="en-US" dirty="0"/>
              <a:t>有 </a:t>
            </a:r>
            <a:r>
              <a:rPr kumimoji="1" lang="en-US" altLang="zh-CN" dirty="0"/>
              <a:t>Rake</a:t>
            </a:r>
            <a:r>
              <a:rPr kumimoji="1" lang="zh-CN" altLang="en-US" dirty="0"/>
              <a:t>，</a:t>
            </a:r>
            <a:r>
              <a:rPr kumimoji="1" lang="en-US" altLang="zh-CN" dirty="0"/>
              <a:t>Node.js </a:t>
            </a:r>
            <a:r>
              <a:rPr kumimoji="1" lang="zh-CN" altLang="en-US" dirty="0"/>
              <a:t>生态有 </a:t>
            </a:r>
            <a:r>
              <a:rPr kumimoji="1" lang="en-US" altLang="zh-CN" dirty="0" err="1"/>
              <a:t>npm</a:t>
            </a:r>
            <a:r>
              <a:rPr kumimoji="1" lang="en-US" altLang="zh-CN" dirty="0"/>
              <a:t>/yarn scripts </a:t>
            </a:r>
            <a:r>
              <a:rPr kumimoji="1" lang="zh-CN" altLang="en-US" dirty="0"/>
              <a:t>和各种构建工具（如 </a:t>
            </a:r>
            <a:r>
              <a:rPr kumimoji="1" lang="en-US" altLang="zh-CN" dirty="0"/>
              <a:t>Webpack, Rollup</a:t>
            </a:r>
            <a:r>
              <a:rPr kumimoji="1" lang="zh-CN" altLang="en-US" dirty="0"/>
              <a:t>）。无论使用哪种工具，关键在于构建脚本本身也应该是项目的一部分，并存储在版本控制中。</a:t>
            </a:r>
          </a:p>
          <a:p>
            <a:r>
              <a:rPr kumimoji="1" lang="zh-CN" altLang="en-US" dirty="0"/>
              <a:t>单一命令原则： 一个重要的衡量标准是：任何人（包括新加入的成员或非开发人员）都应该能够检出代码库后，通过执行一个简单、明确的单一命令，就能完成整个系统的构建过程。例如 </a:t>
            </a:r>
            <a:r>
              <a:rPr kumimoji="1" lang="en-US" altLang="zh-CN" dirty="0"/>
              <a:t>make</a:t>
            </a:r>
            <a:r>
              <a:rPr kumimoji="1" lang="zh-CN" altLang="en-US" dirty="0"/>
              <a:t>、</a:t>
            </a:r>
            <a:r>
              <a:rPr kumimoji="1" lang="en-US" altLang="zh-CN" dirty="0" err="1"/>
              <a:t>mvn</a:t>
            </a:r>
            <a:r>
              <a:rPr kumimoji="1" lang="en-US" altLang="zh-CN" dirty="0"/>
              <a:t> install</a:t>
            </a:r>
            <a:r>
              <a:rPr kumimoji="1" lang="zh-CN" altLang="en-US" dirty="0"/>
              <a:t>、</a:t>
            </a:r>
            <a:r>
              <a:rPr kumimoji="1" lang="en-US" altLang="zh-CN" dirty="0"/>
              <a:t>./</a:t>
            </a:r>
            <a:r>
              <a:rPr kumimoji="1" lang="en-US" altLang="zh-CN" dirty="0" err="1"/>
              <a:t>gradlew</a:t>
            </a:r>
            <a:r>
              <a:rPr kumimoji="1" lang="en-US" altLang="zh-CN" dirty="0"/>
              <a:t> build</a:t>
            </a:r>
            <a:r>
              <a:rPr kumimoji="1" lang="zh-CN" altLang="en-US" dirty="0"/>
              <a:t>、</a:t>
            </a:r>
            <a:r>
              <a:rPr kumimoji="1" lang="en-US" altLang="zh-CN" dirty="0" err="1"/>
              <a:t>npm</a:t>
            </a:r>
            <a:r>
              <a:rPr kumimoji="1" lang="en-US" altLang="zh-CN" dirty="0"/>
              <a:t> run build </a:t>
            </a:r>
            <a:r>
              <a:rPr kumimoji="1" lang="zh-CN" altLang="en-US" dirty="0"/>
              <a:t>等。</a:t>
            </a:r>
          </a:p>
        </p:txBody>
      </p:sp>
    </p:spTree>
    <p:extLst>
      <p:ext uri="{BB962C8B-B14F-4D97-AF65-F5344CB8AC3E}">
        <p14:creationId xmlns:p14="http://schemas.microsoft.com/office/powerpoint/2010/main" val="13329648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2B284-BABF-37B8-79AC-22A957D8EFE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D2BC41-8BC6-CC21-4DC4-CB7E2A76A0CA}"/>
              </a:ext>
            </a:extLst>
          </p:cNvPr>
          <p:cNvSpPr>
            <a:spLocks noGrp="1"/>
          </p:cNvSpPr>
          <p:nvPr>
            <p:ph type="sldNum" sz="quarter" idx="12"/>
          </p:nvPr>
        </p:nvSpPr>
        <p:spPr/>
        <p:txBody>
          <a:bodyPr/>
          <a:lstStyle/>
          <a:p>
            <a:fld id="{51D91E7F-84B6-4064-9D4E-CC7D244BCA04}" type="slidenum">
              <a:rPr lang="zh-CN" altLang="en-US" smtClean="0"/>
              <a:t>19</a:t>
            </a:fld>
            <a:endParaRPr lang="zh-CN" altLang="en-US"/>
          </a:p>
        </p:txBody>
      </p:sp>
      <p:sp>
        <p:nvSpPr>
          <p:cNvPr id="3" name="文本占位符 2">
            <a:extLst>
              <a:ext uri="{FF2B5EF4-FFF2-40B4-BE49-F238E27FC236}">
                <a16:creationId xmlns:a16="http://schemas.microsoft.com/office/drawing/2014/main" id="{911CE2CF-97F3-E6DE-0E08-A83BCFBB4F88}"/>
              </a:ext>
            </a:extLst>
          </p:cNvPr>
          <p:cNvSpPr>
            <a:spLocks noGrp="1"/>
          </p:cNvSpPr>
          <p:nvPr>
            <p:ph type="body" sz="quarter" idx="13"/>
          </p:nvPr>
        </p:nvSpPr>
        <p:spPr/>
        <p:txBody>
          <a:bodyPr/>
          <a:lstStyle/>
          <a:p>
            <a:r>
              <a:rPr kumimoji="1" lang="zh-CN" altLang="en-US" dirty="0"/>
              <a:t>实践 </a:t>
            </a:r>
            <a:r>
              <a:rPr kumimoji="1" lang="en-US" altLang="zh-CN" dirty="0"/>
              <a:t>2 - </a:t>
            </a:r>
            <a:r>
              <a:rPr kumimoji="1" lang="zh-CN" altLang="en-US" dirty="0"/>
              <a:t>构建脚本的依赖管理</a:t>
            </a:r>
          </a:p>
        </p:txBody>
      </p:sp>
      <p:sp>
        <p:nvSpPr>
          <p:cNvPr id="4" name="内容占位符 3">
            <a:extLst>
              <a:ext uri="{FF2B5EF4-FFF2-40B4-BE49-F238E27FC236}">
                <a16:creationId xmlns:a16="http://schemas.microsoft.com/office/drawing/2014/main" id="{67CFA1DA-19DA-E8A5-EA6B-CB72BF99D577}"/>
              </a:ext>
            </a:extLst>
          </p:cNvPr>
          <p:cNvSpPr>
            <a:spLocks noGrp="1"/>
          </p:cNvSpPr>
          <p:nvPr>
            <p:ph idx="1"/>
          </p:nvPr>
        </p:nvSpPr>
        <p:spPr/>
        <p:txBody>
          <a:bodyPr>
            <a:normAutofit fontScale="85000" lnSpcReduction="10000"/>
          </a:bodyPr>
          <a:lstStyle/>
          <a:p>
            <a:r>
              <a:rPr kumimoji="1" lang="zh-CN" altLang="en-US" dirty="0"/>
              <a:t>依赖网络： 大多数现代构建工具都基于依赖网络（</a:t>
            </a:r>
            <a:r>
              <a:rPr kumimoji="1" lang="en-US" altLang="zh-CN" dirty="0"/>
              <a:t>Dependency Network</a:t>
            </a:r>
            <a:r>
              <a:rPr kumimoji="1" lang="zh-CN" altLang="en-US" dirty="0"/>
              <a:t>）的概念工作。</a:t>
            </a:r>
            <a:endParaRPr kumimoji="1" lang="en-US" altLang="zh-CN" dirty="0"/>
          </a:p>
          <a:p>
            <a:r>
              <a:rPr kumimoji="1" lang="zh-CN" altLang="en-US" dirty="0"/>
              <a:t>你可以定义不同的构建任务（</a:t>
            </a:r>
            <a:r>
              <a:rPr kumimoji="1" lang="en-US" altLang="zh-CN" dirty="0"/>
              <a:t>Target/Task</a:t>
            </a:r>
            <a:r>
              <a:rPr kumimoji="1" lang="zh-CN" altLang="en-US" dirty="0"/>
              <a:t>），并声明它们之间的依赖关系。</a:t>
            </a:r>
            <a:endParaRPr kumimoji="1" lang="en-US" altLang="zh-CN" dirty="0"/>
          </a:p>
          <a:p>
            <a:r>
              <a:rPr kumimoji="1" lang="zh-CN" altLang="en-US" dirty="0"/>
              <a:t>例如，“运行测试”任务依赖于“编译代码”任务，“编译代码”任务依赖于源代码文件。当你请求执行某个任务时（如“运行测试”），构建工具会检查其依赖项（“编译代码”），以及依赖项的依赖项（源代码文件）。只有当依赖项（或其更深层次的依赖项）发生变化，或者目标产物不存在时，相应的任务才会被执行。这避免了不必要的重复工作，特别是对于那些耗时较长的任务（如编译大量代码或运行慢速测试），从而提高了构建效率。</a:t>
            </a:r>
          </a:p>
        </p:txBody>
      </p:sp>
    </p:spTree>
    <p:extLst>
      <p:ext uri="{BB962C8B-B14F-4D97-AF65-F5344CB8AC3E}">
        <p14:creationId xmlns:p14="http://schemas.microsoft.com/office/powerpoint/2010/main" val="268922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485A9-7285-0B8C-0D94-84DF26FDF10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7C534E-AF97-276B-ED43-25A615CC0E0F}"/>
              </a:ext>
            </a:extLst>
          </p:cNvPr>
          <p:cNvSpPr>
            <a:spLocks noGrp="1"/>
          </p:cNvSpPr>
          <p:nvPr>
            <p:ph type="sldNum" sz="quarter" idx="12"/>
          </p:nvPr>
        </p:nvSpPr>
        <p:spPr/>
        <p:txBody>
          <a:bodyPr/>
          <a:lstStyle/>
          <a:p>
            <a:fld id="{51D91E7F-84B6-4064-9D4E-CC7D244BCA04}" type="slidenum">
              <a:rPr lang="zh-CN" altLang="en-US" smtClean="0"/>
              <a:t>20</a:t>
            </a:fld>
            <a:endParaRPr lang="zh-CN" altLang="en-US"/>
          </a:p>
        </p:txBody>
      </p:sp>
      <p:sp>
        <p:nvSpPr>
          <p:cNvPr id="3" name="文本占位符 2">
            <a:extLst>
              <a:ext uri="{FF2B5EF4-FFF2-40B4-BE49-F238E27FC236}">
                <a16:creationId xmlns:a16="http://schemas.microsoft.com/office/drawing/2014/main" id="{2F20F2C4-C84C-8F36-3F59-62A2480444D9}"/>
              </a:ext>
            </a:extLst>
          </p:cNvPr>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让构建自测试 </a:t>
            </a:r>
          </a:p>
        </p:txBody>
      </p:sp>
      <p:sp>
        <p:nvSpPr>
          <p:cNvPr id="4" name="内容占位符 3">
            <a:extLst>
              <a:ext uri="{FF2B5EF4-FFF2-40B4-BE49-F238E27FC236}">
                <a16:creationId xmlns:a16="http://schemas.microsoft.com/office/drawing/2014/main" id="{8AC40A4A-54DE-28F2-1A99-CD7F0B7E32C4}"/>
              </a:ext>
            </a:extLst>
          </p:cNvPr>
          <p:cNvSpPr>
            <a:spLocks noGrp="1"/>
          </p:cNvSpPr>
          <p:nvPr>
            <p:ph idx="1"/>
          </p:nvPr>
        </p:nvSpPr>
        <p:spPr/>
        <p:txBody>
          <a:bodyPr>
            <a:normAutofit fontScale="92500"/>
          </a:bodyPr>
          <a:lstStyle/>
          <a:p>
            <a:r>
              <a:rPr kumimoji="1" lang="zh-CN" altLang="en-US" dirty="0"/>
              <a:t>超越编译： 传统的构建主要意味着编译、链接以及生成可执行程序所需的所有步骤。</a:t>
            </a:r>
            <a:endParaRPr kumimoji="1" lang="en-US" altLang="zh-CN" dirty="0"/>
          </a:p>
          <a:p>
            <a:r>
              <a:rPr kumimoji="1" lang="zh-CN" altLang="en-US" dirty="0"/>
              <a:t>然而，一个程序能够成功编译和运行，并不意味着它做了正确的事情。</a:t>
            </a:r>
            <a:endParaRPr kumimoji="1" lang="en-US" altLang="zh-CN" dirty="0"/>
          </a:p>
          <a:p>
            <a:r>
              <a:rPr kumimoji="1" lang="zh-CN" altLang="en-US" dirty="0"/>
              <a:t>现代静态类型语言可以在编译时捕获许多错误，但仍有大量逻辑错误和边界情况可能溜过编译器的检查。</a:t>
            </a:r>
            <a:endParaRPr kumimoji="1" lang="en-US" altLang="zh-CN" dirty="0"/>
          </a:p>
          <a:p>
            <a:r>
              <a:rPr kumimoji="1" lang="zh-CN" altLang="en-US" dirty="0"/>
              <a:t>如果这些错误潜入到快速变化的代码库中，修复它们将变得非常困难。对于持续集成所要求的高频率集成来说，仅仅编译通过是远远不够的。我们需要一种方法来自动验证代码的行为是否符合预期。</a:t>
            </a:r>
          </a:p>
        </p:txBody>
      </p:sp>
    </p:spTree>
    <p:extLst>
      <p:ext uri="{BB962C8B-B14F-4D97-AF65-F5344CB8AC3E}">
        <p14:creationId xmlns:p14="http://schemas.microsoft.com/office/powerpoint/2010/main" val="37453842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07BC8-466B-ED64-E8BF-2D547A3F20C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20B28F6-56BC-3D65-4B57-CCB592B61306}"/>
              </a:ext>
            </a:extLst>
          </p:cNvPr>
          <p:cNvSpPr>
            <a:spLocks noGrp="1"/>
          </p:cNvSpPr>
          <p:nvPr>
            <p:ph type="sldNum" sz="quarter" idx="12"/>
          </p:nvPr>
        </p:nvSpPr>
        <p:spPr/>
        <p:txBody>
          <a:bodyPr/>
          <a:lstStyle/>
          <a:p>
            <a:fld id="{51D91E7F-84B6-4064-9D4E-CC7D244BCA04}" type="slidenum">
              <a:rPr lang="zh-CN" altLang="en-US" smtClean="0"/>
              <a:t>21</a:t>
            </a:fld>
            <a:endParaRPr lang="zh-CN" altLang="en-US"/>
          </a:p>
        </p:txBody>
      </p:sp>
      <p:sp>
        <p:nvSpPr>
          <p:cNvPr id="3" name="文本占位符 2">
            <a:extLst>
              <a:ext uri="{FF2B5EF4-FFF2-40B4-BE49-F238E27FC236}">
                <a16:creationId xmlns:a16="http://schemas.microsoft.com/office/drawing/2014/main" id="{7DD88B60-3C52-CEAD-61E4-C23FD917F436}"/>
              </a:ext>
            </a:extLst>
          </p:cNvPr>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自动化测试的角色</a:t>
            </a:r>
          </a:p>
        </p:txBody>
      </p:sp>
      <p:sp>
        <p:nvSpPr>
          <p:cNvPr id="4" name="内容占位符 3">
            <a:extLst>
              <a:ext uri="{FF2B5EF4-FFF2-40B4-BE49-F238E27FC236}">
                <a16:creationId xmlns:a16="http://schemas.microsoft.com/office/drawing/2014/main" id="{285DEA6C-512C-8DF8-096E-569B6166A314}"/>
              </a:ext>
            </a:extLst>
          </p:cNvPr>
          <p:cNvSpPr>
            <a:spLocks noGrp="1"/>
          </p:cNvSpPr>
          <p:nvPr>
            <p:ph idx="1"/>
          </p:nvPr>
        </p:nvSpPr>
        <p:spPr/>
        <p:txBody>
          <a:bodyPr>
            <a:normAutofit fontScale="92500" lnSpcReduction="20000"/>
          </a:bodyPr>
          <a:lstStyle/>
          <a:p>
            <a:r>
              <a:rPr kumimoji="1" lang="zh-CN" altLang="en-US" dirty="0"/>
              <a:t>核心机制： 在 </a:t>
            </a:r>
            <a:r>
              <a:rPr kumimoji="1" lang="en-US" altLang="zh-CN" dirty="0"/>
              <a:t>CI </a:t>
            </a:r>
            <a:r>
              <a:rPr kumimoji="1" lang="zh-CN" altLang="en-US" dirty="0"/>
              <a:t>中，防止错误进入产品的主要技术手段是一个全面的自动化测试套件。</a:t>
            </a:r>
            <a:endParaRPr kumimoji="1" lang="en-US" altLang="zh-CN" dirty="0"/>
          </a:p>
          <a:p>
            <a:r>
              <a:rPr kumimoji="1" lang="zh-CN" altLang="en-US" dirty="0"/>
              <a:t>这个测试套件应该作为自动化构建过程的一部分来运行。</a:t>
            </a:r>
            <a:endParaRPr kumimoji="1" lang="en-US" altLang="zh-CN" dirty="0"/>
          </a:p>
          <a:p>
            <a:r>
              <a:rPr kumimoji="1" lang="zh-CN" altLang="en-US" dirty="0"/>
              <a:t>每次集成构建时，都会执行这些测试，以尽可能多地冲刷出潜在的缺陷。测试并非完美的，不可能捕获所有错误，但它们能够捕获足够多的常见错误和回归（</a:t>
            </a:r>
            <a:r>
              <a:rPr kumimoji="1" lang="en-US" altLang="zh-CN" dirty="0"/>
              <a:t>Regression</a:t>
            </a:r>
            <a:r>
              <a:rPr kumimoji="1" lang="zh-CN" altLang="en-US" dirty="0"/>
              <a:t>），从而变得非常有用。</a:t>
            </a:r>
            <a:endParaRPr kumimoji="1" lang="en-US" altLang="zh-CN" dirty="0"/>
          </a:p>
          <a:p>
            <a:r>
              <a:rPr kumimoji="1" lang="zh-CN" altLang="en-US" dirty="0"/>
              <a:t>作者将这种包含自动化测试验证的构建称为“自测试构建”（</a:t>
            </a:r>
            <a:r>
              <a:rPr kumimoji="1" lang="en-US" altLang="zh-CN" dirty="0"/>
              <a:t>Self-Testing Build</a:t>
            </a:r>
            <a:r>
              <a:rPr kumimoji="1" lang="zh-CN" altLang="en-US" dirty="0"/>
              <a:t>），灵感来源于早期计算机启动时的自检程序。代码库应该具备自我验证其正确性的能力。</a:t>
            </a:r>
          </a:p>
        </p:txBody>
      </p:sp>
    </p:spTree>
    <p:extLst>
      <p:ext uri="{BB962C8B-B14F-4D97-AF65-F5344CB8AC3E}">
        <p14:creationId xmlns:p14="http://schemas.microsoft.com/office/powerpoint/2010/main" val="345881775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FD8D-7085-4B00-082C-5061C8D3B5A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86BC00D-7F9F-8393-A6C7-C83FA89B8BF7}"/>
              </a:ext>
            </a:extLst>
          </p:cNvPr>
          <p:cNvSpPr>
            <a:spLocks noGrp="1"/>
          </p:cNvSpPr>
          <p:nvPr>
            <p:ph type="sldNum" sz="quarter" idx="12"/>
          </p:nvPr>
        </p:nvSpPr>
        <p:spPr/>
        <p:txBody>
          <a:bodyPr/>
          <a:lstStyle/>
          <a:p>
            <a:fld id="{51D91E7F-84B6-4064-9D4E-CC7D244BCA04}" type="slidenum">
              <a:rPr lang="zh-CN" altLang="en-US" smtClean="0"/>
              <a:t>22</a:t>
            </a:fld>
            <a:endParaRPr lang="zh-CN" altLang="en-US"/>
          </a:p>
        </p:txBody>
      </p:sp>
      <p:sp>
        <p:nvSpPr>
          <p:cNvPr id="3" name="文本占位符 2">
            <a:extLst>
              <a:ext uri="{FF2B5EF4-FFF2-40B4-BE49-F238E27FC236}">
                <a16:creationId xmlns:a16="http://schemas.microsoft.com/office/drawing/2014/main" id="{43EA9DC3-CEF6-006E-0F47-E3D47AD6884E}"/>
              </a:ext>
            </a:extLst>
          </p:cNvPr>
          <p:cNvSpPr>
            <a:spLocks noGrp="1"/>
          </p:cNvSpPr>
          <p:nvPr>
            <p:ph type="body" sz="quarter" idx="13"/>
          </p:nvPr>
        </p:nvSpPr>
        <p:spPr/>
        <p:txBody>
          <a:bodyPr/>
          <a:lstStyle/>
          <a:p>
            <a:r>
              <a:rPr kumimoji="1" lang="zh-CN" altLang="en-US" dirty="0"/>
              <a:t>实践 </a:t>
            </a:r>
            <a:r>
              <a:rPr kumimoji="1" lang="en-US" altLang="zh-CN" dirty="0"/>
              <a:t>3 - </a:t>
            </a:r>
            <a:r>
              <a:rPr kumimoji="1" lang="en-US" altLang="zh-CN" dirty="0" err="1"/>
              <a:t>Xunit</a:t>
            </a:r>
            <a:r>
              <a:rPr kumimoji="1" lang="en-US" altLang="zh-CN" dirty="0"/>
              <a:t> </a:t>
            </a:r>
            <a:r>
              <a:rPr kumimoji="1" lang="zh-CN" altLang="en-US" dirty="0"/>
              <a:t>框架与测试文化</a:t>
            </a:r>
          </a:p>
        </p:txBody>
      </p:sp>
      <p:sp>
        <p:nvSpPr>
          <p:cNvPr id="4" name="内容占位符 3">
            <a:extLst>
              <a:ext uri="{FF2B5EF4-FFF2-40B4-BE49-F238E27FC236}">
                <a16:creationId xmlns:a16="http://schemas.microsoft.com/office/drawing/2014/main" id="{20B9B111-B212-D2F2-5528-D05BEE5C3595}"/>
              </a:ext>
            </a:extLst>
          </p:cNvPr>
          <p:cNvSpPr>
            <a:spLocks noGrp="1"/>
          </p:cNvSpPr>
          <p:nvPr>
            <p:ph idx="1"/>
          </p:nvPr>
        </p:nvSpPr>
        <p:spPr/>
        <p:txBody>
          <a:bodyPr>
            <a:normAutofit fontScale="85000" lnSpcReduction="10000"/>
          </a:bodyPr>
          <a:lstStyle/>
          <a:p>
            <a:r>
              <a:rPr kumimoji="1" lang="zh-CN" altLang="en-US" dirty="0"/>
              <a:t>工具支持： 自动化测试理念的一个重要推动力来自于 </a:t>
            </a:r>
            <a:r>
              <a:rPr kumimoji="1" lang="en-US" altLang="zh-CN" dirty="0"/>
              <a:t>Kent Beck </a:t>
            </a:r>
            <a:r>
              <a:rPr kumimoji="1" lang="zh-CN" altLang="en-US" dirty="0"/>
              <a:t>等人在 </a:t>
            </a:r>
            <a:r>
              <a:rPr kumimoji="1" lang="en-US" altLang="zh-CN" dirty="0"/>
              <a:t>Smalltalk </a:t>
            </a:r>
            <a:r>
              <a:rPr kumimoji="1" lang="zh-CN" altLang="en-US" dirty="0"/>
              <a:t>和 </a:t>
            </a:r>
            <a:r>
              <a:rPr kumimoji="1" lang="en-US" altLang="zh-CN" dirty="0"/>
              <a:t>Java </a:t>
            </a:r>
            <a:r>
              <a:rPr kumimoji="1" lang="zh-CN" altLang="en-US" dirty="0"/>
              <a:t>社区推广的 </a:t>
            </a:r>
            <a:r>
              <a:rPr kumimoji="1" lang="en-US" altLang="zh-CN" dirty="0" err="1"/>
              <a:t>Xunit</a:t>
            </a:r>
            <a:r>
              <a:rPr kumimoji="1" lang="en-US" altLang="zh-CN" dirty="0"/>
              <a:t> </a:t>
            </a:r>
            <a:r>
              <a:rPr kumimoji="1" lang="zh-CN" altLang="en-US" dirty="0"/>
              <a:t>测试框架（如 </a:t>
            </a:r>
            <a:r>
              <a:rPr kumimoji="1" lang="en-US" altLang="zh-CN" dirty="0"/>
              <a:t>JUnit, </a:t>
            </a:r>
            <a:r>
              <a:rPr kumimoji="1" lang="en-US" altLang="zh-CN" dirty="0" err="1"/>
              <a:t>NUnit</a:t>
            </a:r>
            <a:r>
              <a:rPr kumimoji="1" lang="en-US" altLang="zh-CN" dirty="0"/>
              <a:t>, </a:t>
            </a:r>
            <a:r>
              <a:rPr kumimoji="1" lang="en-US" altLang="zh-CN" dirty="0" err="1"/>
              <a:t>PyUnit</a:t>
            </a:r>
            <a:r>
              <a:rPr kumimoji="1" lang="en-US" altLang="zh-CN" dirty="0"/>
              <a:t> </a:t>
            </a:r>
            <a:r>
              <a:rPr kumimoji="1" lang="zh-CN" altLang="en-US" dirty="0"/>
              <a:t>等）。</a:t>
            </a:r>
            <a:endParaRPr kumimoji="1" lang="en-US" altLang="zh-CN" dirty="0"/>
          </a:p>
          <a:p>
            <a:r>
              <a:rPr kumimoji="1" lang="zh-CN" altLang="en-US" dirty="0"/>
              <a:t>这些框架提供了一种轻量级、对程序员友好的机制，使得开发者可以轻松地在编写产品代码的同时编写测试代码。</a:t>
            </a:r>
            <a:endParaRPr kumimoji="1" lang="en-US" altLang="zh-CN" dirty="0"/>
          </a:p>
          <a:p>
            <a:r>
              <a:rPr kumimoji="1" lang="zh-CN" altLang="en-US" dirty="0"/>
              <a:t>它们通常提供图形化的进度条（绿条表示通过，红条表示失败），这催生了诸如“保持构建常绿”（</a:t>
            </a:r>
            <a:r>
              <a:rPr kumimoji="1" lang="en-US" altLang="zh-CN" dirty="0"/>
              <a:t>keeping the build green</a:t>
            </a:r>
            <a:r>
              <a:rPr kumimoji="1" lang="zh-CN" altLang="en-US" dirty="0"/>
              <a:t>）或“红条”（</a:t>
            </a:r>
            <a:r>
              <a:rPr kumimoji="1" lang="en-US" altLang="zh-CN" dirty="0"/>
              <a:t>red-bar</a:t>
            </a:r>
            <a:r>
              <a:rPr kumimoji="1" lang="zh-CN" altLang="en-US" dirty="0"/>
              <a:t>）等术语。</a:t>
            </a:r>
            <a:endParaRPr kumimoji="1" lang="en-US" altLang="zh-CN" dirty="0"/>
          </a:p>
          <a:p>
            <a:r>
              <a:rPr kumimoji="1" lang="zh-CN" altLang="en-US" dirty="0"/>
              <a:t>这些工具的普及极大地促进了单元测试和测试驱动开发（</a:t>
            </a:r>
            <a:r>
              <a:rPr kumimoji="1" lang="en-US" altLang="zh-CN" dirty="0"/>
              <a:t>TDD</a:t>
            </a:r>
            <a:r>
              <a:rPr kumimoji="1" lang="zh-CN" altLang="en-US" dirty="0"/>
              <a:t>）的实践，为实现有效的自测试构建奠定了基础。</a:t>
            </a:r>
          </a:p>
        </p:txBody>
      </p:sp>
    </p:spTree>
    <p:extLst>
      <p:ext uri="{BB962C8B-B14F-4D97-AF65-F5344CB8AC3E}">
        <p14:creationId xmlns:p14="http://schemas.microsoft.com/office/powerpoint/2010/main" val="252276144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D4534-6151-592C-BDC1-EEB56B15A10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A778D9D-06D6-D97B-2E72-6ADE462DFB91}"/>
              </a:ext>
            </a:extLst>
          </p:cNvPr>
          <p:cNvSpPr>
            <a:spLocks noGrp="1"/>
          </p:cNvSpPr>
          <p:nvPr>
            <p:ph type="sldNum" sz="quarter" idx="12"/>
          </p:nvPr>
        </p:nvSpPr>
        <p:spPr/>
        <p:txBody>
          <a:bodyPr/>
          <a:lstStyle/>
          <a:p>
            <a:fld id="{51D91E7F-84B6-4064-9D4E-CC7D244BCA04}" type="slidenum">
              <a:rPr lang="zh-CN" altLang="en-US" smtClean="0"/>
              <a:t>23</a:t>
            </a:fld>
            <a:endParaRPr lang="zh-CN" altLang="en-US"/>
          </a:p>
        </p:txBody>
      </p:sp>
      <p:sp>
        <p:nvSpPr>
          <p:cNvPr id="3" name="文本占位符 2">
            <a:extLst>
              <a:ext uri="{FF2B5EF4-FFF2-40B4-BE49-F238E27FC236}">
                <a16:creationId xmlns:a16="http://schemas.microsoft.com/office/drawing/2014/main" id="{5902A00C-75E0-27A3-3110-6AB3EFA137F1}"/>
              </a:ext>
            </a:extLst>
          </p:cNvPr>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自测试的目标</a:t>
            </a:r>
          </a:p>
        </p:txBody>
      </p:sp>
      <p:sp>
        <p:nvSpPr>
          <p:cNvPr id="4" name="内容占位符 3">
            <a:extLst>
              <a:ext uri="{FF2B5EF4-FFF2-40B4-BE49-F238E27FC236}">
                <a16:creationId xmlns:a16="http://schemas.microsoft.com/office/drawing/2014/main" id="{C9ED7B00-454F-D456-D660-64D57392236F}"/>
              </a:ext>
            </a:extLst>
          </p:cNvPr>
          <p:cNvSpPr>
            <a:spLocks noGrp="1"/>
          </p:cNvSpPr>
          <p:nvPr>
            <p:ph idx="1"/>
          </p:nvPr>
        </p:nvSpPr>
        <p:spPr/>
        <p:txBody>
          <a:bodyPr>
            <a:normAutofit fontScale="92500"/>
          </a:bodyPr>
          <a:lstStyle/>
          <a:p>
            <a:r>
              <a:rPr kumimoji="1" lang="zh-CN" altLang="en-US" dirty="0"/>
              <a:t>信心来源： 自测试构建的目标是，当所有的自动化测试都通过时（即构建是“绿色”的），团队应该有足够的信心认为产品中没有引入重大的、明显的错误。</a:t>
            </a:r>
            <a:endParaRPr kumimoji="1" lang="en-US" altLang="zh-CN" dirty="0"/>
          </a:p>
          <a:p>
            <a:r>
              <a:rPr kumimoji="1" lang="zh-CN" altLang="en-US" dirty="0"/>
              <a:t>一个好的测试套件应该能够捕获大多数常见的编码错误和逻辑缺陷。</a:t>
            </a:r>
            <a:endParaRPr kumimoji="1" lang="en-US" altLang="zh-CN" dirty="0"/>
          </a:p>
          <a:p>
            <a:pPr lvl="1"/>
            <a:r>
              <a:rPr kumimoji="1" lang="zh-CN" altLang="en-US" dirty="0"/>
              <a:t>可以想象有一个“顽皮的小鬼”（</a:t>
            </a:r>
            <a:r>
              <a:rPr kumimoji="1" lang="en-US" altLang="zh-CN" dirty="0"/>
              <a:t>mischievous imp</a:t>
            </a:r>
            <a:r>
              <a:rPr kumimoji="1" lang="zh-CN" altLang="en-US" dirty="0"/>
              <a:t>），它试图对产品代码进行简单的修改（比如注释掉一行代码、反转一个条件判断）。一个健全的测试套件应该能够检测到这些破坏性修改，并导致至少一个测试失败（构建变“红”）。任何测试失败都足以让整个构建失败。</a:t>
            </a:r>
          </a:p>
        </p:txBody>
      </p:sp>
    </p:spTree>
    <p:extLst>
      <p:ext uri="{BB962C8B-B14F-4D97-AF65-F5344CB8AC3E}">
        <p14:creationId xmlns:p14="http://schemas.microsoft.com/office/powerpoint/2010/main" val="380245349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DE57-4BA8-8BAD-32A3-DCF0C0C646F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0534190-1769-33A9-090E-051335113873}"/>
              </a:ext>
            </a:extLst>
          </p:cNvPr>
          <p:cNvSpPr>
            <a:spLocks noGrp="1"/>
          </p:cNvSpPr>
          <p:nvPr>
            <p:ph type="sldNum" sz="quarter" idx="12"/>
          </p:nvPr>
        </p:nvSpPr>
        <p:spPr/>
        <p:txBody>
          <a:bodyPr/>
          <a:lstStyle/>
          <a:p>
            <a:fld id="{51D91E7F-84B6-4064-9D4E-CC7D244BCA04}" type="slidenum">
              <a:rPr lang="zh-CN" altLang="en-US" smtClean="0"/>
              <a:t>24</a:t>
            </a:fld>
            <a:endParaRPr lang="zh-CN" altLang="en-US"/>
          </a:p>
        </p:txBody>
      </p:sp>
      <p:sp>
        <p:nvSpPr>
          <p:cNvPr id="3" name="文本占位符 2">
            <a:extLst>
              <a:ext uri="{FF2B5EF4-FFF2-40B4-BE49-F238E27FC236}">
                <a16:creationId xmlns:a16="http://schemas.microsoft.com/office/drawing/2014/main" id="{85C6D2DA-50C4-CAA3-1302-397641B889E4}"/>
              </a:ext>
            </a:extLst>
          </p:cNvPr>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超越单元测试的验证</a:t>
            </a:r>
          </a:p>
        </p:txBody>
      </p:sp>
      <p:sp>
        <p:nvSpPr>
          <p:cNvPr id="4" name="内容占位符 3">
            <a:extLst>
              <a:ext uri="{FF2B5EF4-FFF2-40B4-BE49-F238E27FC236}">
                <a16:creationId xmlns:a16="http://schemas.microsoft.com/office/drawing/2014/main" id="{0EFA1E02-D362-4BCF-959E-9D3791C574D8}"/>
              </a:ext>
            </a:extLst>
          </p:cNvPr>
          <p:cNvSpPr>
            <a:spLocks noGrp="1"/>
          </p:cNvSpPr>
          <p:nvPr>
            <p:ph idx="1"/>
          </p:nvPr>
        </p:nvSpPr>
        <p:spPr/>
        <p:txBody>
          <a:bodyPr>
            <a:normAutofit fontScale="85000" lnSpcReduction="10000"/>
          </a:bodyPr>
          <a:lstStyle/>
          <a:p>
            <a:r>
              <a:rPr kumimoji="1" lang="zh-CN" altLang="en-US" dirty="0"/>
              <a:t>多层次验证： 虽然单元测试是自测试构建的基础，但自动化验证不应仅限于此。许多编程环境提供了额外的静态和动态分析工具，可以集成到构建验证流程中。</a:t>
            </a:r>
          </a:p>
          <a:p>
            <a:pPr lvl="1"/>
            <a:r>
              <a:rPr kumimoji="1" lang="en-US" altLang="zh-CN" dirty="0"/>
              <a:t>Linter</a:t>
            </a:r>
            <a:r>
              <a:rPr kumimoji="1" lang="zh-CN" altLang="en-US" dirty="0"/>
              <a:t>： 可以检测代码中的不良实践、潜在错误或风格问题。（静态分析工具的最基本形式）</a:t>
            </a:r>
          </a:p>
          <a:p>
            <a:pPr lvl="1"/>
            <a:r>
              <a:rPr kumimoji="1" lang="zh-CN" altLang="en-US" dirty="0"/>
              <a:t>代码格式化检查： 确保代码遵循团队统一的格式规范。</a:t>
            </a:r>
          </a:p>
          <a:p>
            <a:pPr lvl="1"/>
            <a:r>
              <a:rPr kumimoji="1" lang="zh-CN" altLang="en-US" dirty="0"/>
              <a:t>静态分析工具： 可以发现更复杂的代码问题，如潜在的 </a:t>
            </a:r>
            <a:r>
              <a:rPr kumimoji="1" lang="en-US" altLang="zh-CN" dirty="0"/>
              <a:t>Null </a:t>
            </a:r>
            <a:r>
              <a:rPr kumimoji="1" lang="zh-CN" altLang="en-US" dirty="0"/>
              <a:t>指针异常、资源泄漏等。</a:t>
            </a:r>
          </a:p>
          <a:p>
            <a:pPr lvl="1"/>
            <a:r>
              <a:rPr kumimoji="1" lang="zh-CN" altLang="en-US" dirty="0"/>
              <a:t>安全扫描工具： 检测已知的安全漏洞。</a:t>
            </a:r>
          </a:p>
          <a:p>
            <a:pPr lvl="1"/>
            <a:r>
              <a:rPr kumimoji="1" lang="zh-CN" altLang="en-US" dirty="0"/>
              <a:t>覆盖率检查： 衡量测试覆盖了多少代码（但高覆盖率不等于高质量测试）。</a:t>
            </a:r>
          </a:p>
          <a:p>
            <a:r>
              <a:rPr kumimoji="1" lang="zh-CN" altLang="en-US" dirty="0"/>
              <a:t>将这些工具纳入自动化构建流程，可以提供更全面的代码质量保障。</a:t>
            </a:r>
          </a:p>
        </p:txBody>
      </p:sp>
    </p:spTree>
    <p:extLst>
      <p:ext uri="{BB962C8B-B14F-4D97-AF65-F5344CB8AC3E}">
        <p14:creationId xmlns:p14="http://schemas.microsoft.com/office/powerpoint/2010/main" val="57822054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730F-610E-2CF1-2DE3-2815DFA1655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E2639E5-29CC-57F2-869C-74EEEFAD4AE1}"/>
              </a:ext>
            </a:extLst>
          </p:cNvPr>
          <p:cNvSpPr>
            <a:spLocks noGrp="1"/>
          </p:cNvSpPr>
          <p:nvPr>
            <p:ph type="sldNum" sz="quarter" idx="12"/>
          </p:nvPr>
        </p:nvSpPr>
        <p:spPr/>
        <p:txBody>
          <a:bodyPr/>
          <a:lstStyle/>
          <a:p>
            <a:fld id="{51D91E7F-84B6-4064-9D4E-CC7D244BCA04}" type="slidenum">
              <a:rPr lang="zh-CN" altLang="en-US" smtClean="0"/>
              <a:t>25</a:t>
            </a:fld>
            <a:endParaRPr lang="zh-CN" altLang="en-US"/>
          </a:p>
        </p:txBody>
      </p:sp>
      <p:sp>
        <p:nvSpPr>
          <p:cNvPr id="3" name="文本占位符 2">
            <a:extLst>
              <a:ext uri="{FF2B5EF4-FFF2-40B4-BE49-F238E27FC236}">
                <a16:creationId xmlns:a16="http://schemas.microsoft.com/office/drawing/2014/main" id="{CD1967BD-4CAA-339A-DEC3-B78B81FC19D6}"/>
              </a:ext>
            </a:extLst>
          </p:cNvPr>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不完美但有价值的测试</a:t>
            </a:r>
          </a:p>
        </p:txBody>
      </p:sp>
      <p:sp>
        <p:nvSpPr>
          <p:cNvPr id="4" name="内容占位符 3">
            <a:extLst>
              <a:ext uri="{FF2B5EF4-FFF2-40B4-BE49-F238E27FC236}">
                <a16:creationId xmlns:a16="http://schemas.microsoft.com/office/drawing/2014/main" id="{75E04F17-AF36-E771-E3FC-01AD27AD908D}"/>
              </a:ext>
            </a:extLst>
          </p:cNvPr>
          <p:cNvSpPr>
            <a:spLocks noGrp="1"/>
          </p:cNvSpPr>
          <p:nvPr>
            <p:ph idx="1"/>
          </p:nvPr>
        </p:nvSpPr>
        <p:spPr/>
        <p:txBody>
          <a:bodyPr>
            <a:normAutofit lnSpcReduction="10000"/>
          </a:bodyPr>
          <a:lstStyle/>
          <a:p>
            <a:r>
              <a:rPr kumimoji="1" lang="zh-CN" altLang="en-US" dirty="0"/>
              <a:t>务实态度： 追求完美的测试套件（能够捕获所有可能的错误）是一个难以企及的目标。</a:t>
            </a:r>
            <a:endParaRPr kumimoji="1" lang="en-US" altLang="zh-CN" dirty="0"/>
          </a:p>
          <a:p>
            <a:r>
              <a:rPr kumimoji="1" lang="zh-CN" altLang="en-US" dirty="0"/>
              <a:t>即使是一个不完美的测试套件，只要它能够捕获一部分错误，并且被频繁地（在每次构建时）运行，它也</a:t>
            </a:r>
            <a:r>
              <a:rPr kumimoji="1" lang="zh-CN" altLang="en-US" dirty="0">
                <a:solidFill>
                  <a:srgbClr val="FF0000"/>
                </a:solidFill>
              </a:rPr>
              <a:t>比完全没有自动化测试要好得多</a:t>
            </a:r>
            <a:r>
              <a:rPr kumimoji="1" lang="zh-CN" altLang="en-US" dirty="0"/>
              <a:t>。</a:t>
            </a:r>
            <a:endParaRPr kumimoji="1" lang="en-US" altLang="zh-CN" dirty="0"/>
          </a:p>
          <a:p>
            <a:r>
              <a:rPr kumimoji="1" lang="zh-CN" altLang="en-US" dirty="0"/>
              <a:t>关键在于持续投入和改进测试套件，使其随着产品的发展而不断完善。频繁运行的、能发现部分问题的测试，对于维持代码质量和支持 </a:t>
            </a:r>
            <a:r>
              <a:rPr kumimoji="1" lang="en-US" altLang="zh-CN" dirty="0"/>
              <a:t>CI </a:t>
            </a:r>
            <a:r>
              <a:rPr kumimoji="1" lang="zh-CN" altLang="en-US" dirty="0"/>
              <a:t>流程具有巨大的价值。</a:t>
            </a:r>
          </a:p>
        </p:txBody>
      </p:sp>
    </p:spTree>
    <p:extLst>
      <p:ext uri="{BB962C8B-B14F-4D97-AF65-F5344CB8AC3E}">
        <p14:creationId xmlns:p14="http://schemas.microsoft.com/office/powerpoint/2010/main" val="19358162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2FD9C-D020-DA1C-1582-4B55C52B7A6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87F75D1-BAAA-9961-BDEC-F19F900E52CD}"/>
              </a:ext>
            </a:extLst>
          </p:cNvPr>
          <p:cNvSpPr>
            <a:spLocks noGrp="1"/>
          </p:cNvSpPr>
          <p:nvPr>
            <p:ph type="sldNum" sz="quarter" idx="12"/>
          </p:nvPr>
        </p:nvSpPr>
        <p:spPr/>
        <p:txBody>
          <a:bodyPr/>
          <a:lstStyle/>
          <a:p>
            <a:fld id="{51D91E7F-84B6-4064-9D4E-CC7D244BCA04}" type="slidenum">
              <a:rPr lang="zh-CN" altLang="en-US" smtClean="0"/>
              <a:t>26</a:t>
            </a:fld>
            <a:endParaRPr lang="zh-CN" altLang="en-US"/>
          </a:p>
        </p:txBody>
      </p:sp>
      <p:sp>
        <p:nvSpPr>
          <p:cNvPr id="3" name="文本占位符 2">
            <a:extLst>
              <a:ext uri="{FF2B5EF4-FFF2-40B4-BE49-F238E27FC236}">
                <a16:creationId xmlns:a16="http://schemas.microsoft.com/office/drawing/2014/main" id="{8A15DFAC-1155-81B3-F48C-58FDFB84A8E6}"/>
              </a:ext>
            </a:extLst>
          </p:cNvPr>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每个人每天提交到主线 </a:t>
            </a:r>
          </a:p>
        </p:txBody>
      </p:sp>
      <p:sp>
        <p:nvSpPr>
          <p:cNvPr id="4" name="内容占位符 3">
            <a:extLst>
              <a:ext uri="{FF2B5EF4-FFF2-40B4-BE49-F238E27FC236}">
                <a16:creationId xmlns:a16="http://schemas.microsoft.com/office/drawing/2014/main" id="{7FC6A209-711D-0A12-3240-962AED55629C}"/>
              </a:ext>
            </a:extLst>
          </p:cNvPr>
          <p:cNvSpPr>
            <a:spLocks noGrp="1"/>
          </p:cNvSpPr>
          <p:nvPr>
            <p:ph idx="1"/>
          </p:nvPr>
        </p:nvSpPr>
        <p:spPr/>
        <p:txBody>
          <a:bodyPr>
            <a:normAutofit lnSpcReduction="10000"/>
          </a:bodyPr>
          <a:lstStyle/>
          <a:p>
            <a:r>
              <a:rPr kumimoji="1" lang="zh-CN" altLang="en-US" dirty="0"/>
              <a:t>沟通本质： </a:t>
            </a:r>
            <a:r>
              <a:rPr kumimoji="1" lang="en-US" altLang="zh-CN" dirty="0"/>
              <a:t>Kent Beck </a:t>
            </a:r>
            <a:r>
              <a:rPr kumimoji="1" lang="zh-CN" altLang="en-US" dirty="0"/>
              <a:t>指出，集成主要是一种沟通活动。它允许开发者将他们所做的更改告知团队的其他成员。频繁的沟通有助于团队作为一个整体快速地对变化做出反应。在 </a:t>
            </a:r>
            <a:r>
              <a:rPr kumimoji="1" lang="en-US" altLang="zh-CN" dirty="0"/>
              <a:t>CI </a:t>
            </a:r>
            <a:r>
              <a:rPr kumimoji="1" lang="zh-CN" altLang="en-US" dirty="0"/>
              <a:t>的背景下，“沟通”意味着开发者将他们的代码更改集成到共享的主线中。</a:t>
            </a:r>
          </a:p>
          <a:p>
            <a:r>
              <a:rPr kumimoji="1" lang="zh-CN" altLang="en-US" dirty="0"/>
              <a:t>频率要求： “持续”意味着非常频繁。实践中的经验法则是，每个团队成员每天至少向主线提交（并推送）一次他们的代码更改。对于活跃的项目，更常见的是每天多次提交。这种高频率是 </a:t>
            </a:r>
            <a:r>
              <a:rPr kumimoji="1" lang="en-US" altLang="zh-CN" dirty="0"/>
              <a:t>CI </a:t>
            </a:r>
            <a:r>
              <a:rPr kumimoji="1" lang="zh-CN" altLang="en-US" dirty="0"/>
              <a:t>的核心特征。</a:t>
            </a:r>
          </a:p>
        </p:txBody>
      </p:sp>
    </p:spTree>
    <p:extLst>
      <p:ext uri="{BB962C8B-B14F-4D97-AF65-F5344CB8AC3E}">
        <p14:creationId xmlns:p14="http://schemas.microsoft.com/office/powerpoint/2010/main" val="37332349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9B40D-5C16-B147-2B7A-A08F91582A4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9B07E7F-177D-6A0C-5B4A-762A5748231C}"/>
              </a:ext>
            </a:extLst>
          </p:cNvPr>
          <p:cNvSpPr>
            <a:spLocks noGrp="1"/>
          </p:cNvSpPr>
          <p:nvPr>
            <p:ph type="sldNum" sz="quarter" idx="12"/>
          </p:nvPr>
        </p:nvSpPr>
        <p:spPr/>
        <p:txBody>
          <a:bodyPr/>
          <a:lstStyle/>
          <a:p>
            <a:fld id="{51D91E7F-84B6-4064-9D4E-CC7D244BCA04}" type="slidenum">
              <a:rPr lang="zh-CN" altLang="en-US" smtClean="0"/>
              <a:t>27</a:t>
            </a:fld>
            <a:endParaRPr lang="zh-CN" altLang="en-US"/>
          </a:p>
        </p:txBody>
      </p:sp>
      <p:sp>
        <p:nvSpPr>
          <p:cNvPr id="3" name="文本占位符 2">
            <a:extLst>
              <a:ext uri="{FF2B5EF4-FFF2-40B4-BE49-F238E27FC236}">
                <a16:creationId xmlns:a16="http://schemas.microsoft.com/office/drawing/2014/main" id="{6F53A141-D962-DE3A-AACF-DE4EAE5997A3}"/>
              </a:ext>
            </a:extLst>
          </p:cNvPr>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日常集成循环</a:t>
            </a:r>
          </a:p>
        </p:txBody>
      </p:sp>
      <p:sp>
        <p:nvSpPr>
          <p:cNvPr id="4" name="内容占位符 3">
            <a:extLst>
              <a:ext uri="{FF2B5EF4-FFF2-40B4-BE49-F238E27FC236}">
                <a16:creationId xmlns:a16="http://schemas.microsoft.com/office/drawing/2014/main" id="{536142AA-A94A-321D-4559-C50EB16E3713}"/>
              </a:ext>
            </a:extLst>
          </p:cNvPr>
          <p:cNvSpPr>
            <a:spLocks noGrp="1"/>
          </p:cNvSpPr>
          <p:nvPr>
            <p:ph idx="1"/>
          </p:nvPr>
        </p:nvSpPr>
        <p:spPr/>
        <p:txBody>
          <a:bodyPr>
            <a:normAutofit fontScale="92500"/>
          </a:bodyPr>
          <a:lstStyle/>
          <a:p>
            <a:r>
              <a:rPr kumimoji="1" lang="zh-CN" altLang="en-US" dirty="0"/>
              <a:t>开发者工作流： 一个遵循 </a:t>
            </a:r>
            <a:r>
              <a:rPr kumimoji="1" lang="en-US" altLang="zh-CN" dirty="0"/>
              <a:t>CI </a:t>
            </a:r>
            <a:r>
              <a:rPr kumimoji="1" lang="zh-CN" altLang="en-US" dirty="0"/>
              <a:t>实践的开发者的典型日常循环是：</a:t>
            </a:r>
          </a:p>
          <a:p>
            <a:pPr lvl="1"/>
            <a:r>
              <a:rPr kumimoji="1" lang="zh-CN" altLang="en-US" dirty="0"/>
              <a:t>更新： 从主线拉取（</a:t>
            </a:r>
            <a:r>
              <a:rPr kumimoji="1" lang="en-US" altLang="zh-CN" dirty="0"/>
              <a:t>Pull</a:t>
            </a:r>
            <a:r>
              <a:rPr kumimoji="1" lang="zh-CN" altLang="en-US" dirty="0"/>
              <a:t>）最新的代码，更新本地工作副本。</a:t>
            </a:r>
          </a:p>
          <a:p>
            <a:pPr lvl="1"/>
            <a:r>
              <a:rPr kumimoji="1" lang="zh-CN" altLang="en-US" dirty="0"/>
              <a:t>开发： 进行代码修改，实现新功能或修复 </a:t>
            </a:r>
            <a:r>
              <a:rPr kumimoji="1" lang="en-US" altLang="zh-CN" dirty="0"/>
              <a:t>Bug</a:t>
            </a:r>
            <a:r>
              <a:rPr kumimoji="1" lang="zh-CN" altLang="en-US" dirty="0"/>
              <a:t>。</a:t>
            </a:r>
          </a:p>
          <a:p>
            <a:pPr lvl="1"/>
            <a:r>
              <a:rPr kumimoji="1" lang="zh-CN" altLang="en-US" dirty="0"/>
              <a:t>本地构建</a:t>
            </a:r>
            <a:r>
              <a:rPr kumimoji="1" lang="en-US" altLang="zh-CN" dirty="0"/>
              <a:t>/</a:t>
            </a:r>
            <a:r>
              <a:rPr kumimoji="1" lang="zh-CN" altLang="en-US" dirty="0"/>
              <a:t>测试： 在本地运行构建和测试，确保自己的更改是正确的。</a:t>
            </a:r>
          </a:p>
          <a:p>
            <a:pPr lvl="1"/>
            <a:r>
              <a:rPr kumimoji="1" lang="zh-CN" altLang="en-US" dirty="0"/>
              <a:t>再次更新与合并： 在准备提交前，再次从主线拉取最新代码，合并任何冲突。</a:t>
            </a:r>
          </a:p>
          <a:p>
            <a:pPr lvl="1"/>
            <a:r>
              <a:rPr kumimoji="1" lang="zh-CN" altLang="en-US" dirty="0"/>
              <a:t>再次本地构建</a:t>
            </a:r>
            <a:r>
              <a:rPr kumimoji="1" lang="en-US" altLang="zh-CN" dirty="0"/>
              <a:t>/</a:t>
            </a:r>
            <a:r>
              <a:rPr kumimoji="1" lang="zh-CN" altLang="en-US" dirty="0"/>
              <a:t>测试： 确保合并后的代码仍然能够成功构建并通过测试。</a:t>
            </a:r>
          </a:p>
          <a:p>
            <a:pPr lvl="1"/>
            <a:r>
              <a:rPr kumimoji="1" lang="zh-CN" altLang="en-US" dirty="0"/>
              <a:t>提交与推送： 将本地更改提交（</a:t>
            </a:r>
            <a:r>
              <a:rPr kumimoji="1" lang="en-US" altLang="zh-CN" dirty="0"/>
              <a:t>Commit</a:t>
            </a:r>
            <a:r>
              <a:rPr kumimoji="1" lang="zh-CN" altLang="en-US" dirty="0"/>
              <a:t>）到本地仓库，然后推送（</a:t>
            </a:r>
            <a:r>
              <a:rPr kumimoji="1" lang="en-US" altLang="zh-CN" dirty="0"/>
              <a:t>Push</a:t>
            </a:r>
            <a:r>
              <a:rPr kumimoji="1" lang="zh-CN" altLang="en-US" dirty="0"/>
              <a:t>）到中央仓库的主线。</a:t>
            </a:r>
          </a:p>
          <a:p>
            <a:r>
              <a:rPr kumimoji="1" lang="zh-CN" altLang="en-US" dirty="0"/>
              <a:t>这个循环应该每天至少完成一次。</a:t>
            </a:r>
          </a:p>
          <a:p>
            <a:endParaRPr kumimoji="1" lang="zh-CN" altLang="en-US" dirty="0"/>
          </a:p>
        </p:txBody>
      </p:sp>
    </p:spTree>
    <p:extLst>
      <p:ext uri="{BB962C8B-B14F-4D97-AF65-F5344CB8AC3E}">
        <p14:creationId xmlns:p14="http://schemas.microsoft.com/office/powerpoint/2010/main" val="80246963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B5F6A-E419-2FFB-C2D9-ED02A4A9AB6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77DDB12-0F26-2F23-54CC-E03B629439CB}"/>
              </a:ext>
            </a:extLst>
          </p:cNvPr>
          <p:cNvSpPr>
            <a:spLocks noGrp="1"/>
          </p:cNvSpPr>
          <p:nvPr>
            <p:ph type="sldNum" sz="quarter" idx="12"/>
          </p:nvPr>
        </p:nvSpPr>
        <p:spPr/>
        <p:txBody>
          <a:bodyPr/>
          <a:lstStyle/>
          <a:p>
            <a:fld id="{51D91E7F-84B6-4064-9D4E-CC7D244BCA04}" type="slidenum">
              <a:rPr lang="zh-CN" altLang="en-US" smtClean="0"/>
              <a:t>28</a:t>
            </a:fld>
            <a:endParaRPr lang="zh-CN" altLang="en-US"/>
          </a:p>
        </p:txBody>
      </p:sp>
      <p:sp>
        <p:nvSpPr>
          <p:cNvPr id="3" name="文本占位符 2">
            <a:extLst>
              <a:ext uri="{FF2B5EF4-FFF2-40B4-BE49-F238E27FC236}">
                <a16:creationId xmlns:a16="http://schemas.microsoft.com/office/drawing/2014/main" id="{1C2C2FEF-A8F9-7972-AB54-DA07F1ABF742}"/>
              </a:ext>
            </a:extLst>
          </p:cNvPr>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快速发现与解决冲突</a:t>
            </a:r>
          </a:p>
        </p:txBody>
      </p:sp>
      <p:sp>
        <p:nvSpPr>
          <p:cNvPr id="4" name="内容占位符 3">
            <a:extLst>
              <a:ext uri="{FF2B5EF4-FFF2-40B4-BE49-F238E27FC236}">
                <a16:creationId xmlns:a16="http://schemas.microsoft.com/office/drawing/2014/main" id="{98BB391F-BF43-AE0B-40F6-60B8E3E00D0A}"/>
              </a:ext>
            </a:extLst>
          </p:cNvPr>
          <p:cNvSpPr>
            <a:spLocks noGrp="1"/>
          </p:cNvSpPr>
          <p:nvPr>
            <p:ph idx="1"/>
          </p:nvPr>
        </p:nvSpPr>
        <p:spPr/>
        <p:txBody>
          <a:bodyPr>
            <a:normAutofit fontScale="85000" lnSpcReduction="20000"/>
          </a:bodyPr>
          <a:lstStyle/>
          <a:p>
            <a:r>
              <a:rPr kumimoji="1" lang="zh-CN" altLang="en-US" dirty="0"/>
              <a:t>冲突类型： 频繁集成有助于快速发现两类冲突：</a:t>
            </a:r>
          </a:p>
          <a:p>
            <a:r>
              <a:rPr kumimoji="1" lang="zh-CN" altLang="en-US" dirty="0"/>
              <a:t>源代码冲突 </a:t>
            </a:r>
            <a:r>
              <a:rPr kumimoji="1" lang="en-US" altLang="zh-CN" dirty="0"/>
              <a:t>(Source Code Conflicts): </a:t>
            </a:r>
            <a:r>
              <a:rPr kumimoji="1" lang="zh-CN" altLang="en-US" dirty="0"/>
              <a:t>两个开发者修改了同一段代码。版本控制工具通常能检测到这类冲突，并在合并时提示解决。由于每次集成的代码量小，解决这类冲突通常比较容易。</a:t>
            </a:r>
          </a:p>
          <a:p>
            <a:r>
              <a:rPr kumimoji="1" lang="zh-CN" altLang="en-US" dirty="0"/>
              <a:t>语义冲突 </a:t>
            </a:r>
            <a:r>
              <a:rPr kumimoji="1" lang="en-US" altLang="zh-CN" dirty="0"/>
              <a:t>(Semantic Conflicts): </a:t>
            </a:r>
            <a:r>
              <a:rPr kumimoji="1" lang="zh-CN" altLang="en-US" dirty="0"/>
              <a:t>代码在语法上没有冲突，但逻辑上不兼容。例如，一个开发者修改了一个函数的签名或行为，而另一个开发者仍然按照旧的方式调用它。</a:t>
            </a:r>
          </a:p>
          <a:p>
            <a:r>
              <a:rPr kumimoji="1" lang="zh-CN" altLang="en-US" dirty="0">
                <a:solidFill>
                  <a:srgbClr val="FF0000"/>
                </a:solidFill>
              </a:rPr>
              <a:t>快速定位</a:t>
            </a:r>
            <a:r>
              <a:rPr kumimoji="1" lang="zh-CN" altLang="en-US" dirty="0"/>
              <a:t>： 频繁集成使得每次引入的变更集非常小。当集成构建失败时，可以确定问题是由最近几次（甚至最后一次）提交引入的。这极大地缩小了排查范围，使得定位和修复问题变得更加迅速和容易。</a:t>
            </a:r>
          </a:p>
        </p:txBody>
      </p:sp>
    </p:spTree>
    <p:extLst>
      <p:ext uri="{BB962C8B-B14F-4D97-AF65-F5344CB8AC3E}">
        <p14:creationId xmlns:p14="http://schemas.microsoft.com/office/powerpoint/2010/main" val="26196755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404F-BF5A-46B9-8720-CA2505C0A1D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560E1F2-0041-5818-2413-1A5838434BB7}"/>
              </a:ext>
            </a:extLst>
          </p:cNvPr>
          <p:cNvSpPr>
            <a:spLocks noGrp="1"/>
          </p:cNvSpPr>
          <p:nvPr>
            <p:ph type="sldNum" sz="quarter" idx="12"/>
          </p:nvPr>
        </p:nvSpPr>
        <p:spPr/>
        <p:txBody>
          <a:bodyPr/>
          <a:lstStyle/>
          <a:p>
            <a:fld id="{51D91E7F-84B6-4064-9D4E-CC7D244BCA04}" type="slidenum">
              <a:rPr lang="zh-CN" altLang="en-US" smtClean="0"/>
              <a:t>29</a:t>
            </a:fld>
            <a:endParaRPr lang="zh-CN" altLang="en-US"/>
          </a:p>
        </p:txBody>
      </p:sp>
      <p:sp>
        <p:nvSpPr>
          <p:cNvPr id="3" name="文本占位符 2">
            <a:extLst>
              <a:ext uri="{FF2B5EF4-FFF2-40B4-BE49-F238E27FC236}">
                <a16:creationId xmlns:a16="http://schemas.microsoft.com/office/drawing/2014/main" id="{7603143D-B692-863E-930D-8843E072A7FF}"/>
              </a:ext>
            </a:extLst>
          </p:cNvPr>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语义冲突与自测试的重要性</a:t>
            </a:r>
          </a:p>
        </p:txBody>
      </p:sp>
      <p:sp>
        <p:nvSpPr>
          <p:cNvPr id="4" name="内容占位符 3">
            <a:extLst>
              <a:ext uri="{FF2B5EF4-FFF2-40B4-BE49-F238E27FC236}">
                <a16:creationId xmlns:a16="http://schemas.microsoft.com/office/drawing/2014/main" id="{9018E2A1-C71B-AF4D-E214-29D2AA6B0C42}"/>
              </a:ext>
            </a:extLst>
          </p:cNvPr>
          <p:cNvSpPr>
            <a:spLocks noGrp="1"/>
          </p:cNvSpPr>
          <p:nvPr>
            <p:ph idx="1"/>
          </p:nvPr>
        </p:nvSpPr>
        <p:spPr/>
        <p:txBody>
          <a:bodyPr>
            <a:normAutofit fontScale="85000" lnSpcReduction="10000"/>
          </a:bodyPr>
          <a:lstStyle/>
          <a:p>
            <a:r>
              <a:rPr kumimoji="1" lang="zh-CN" altLang="en-US" dirty="0"/>
              <a:t>挑战： 语义冲突比源代码冲突更难处理。版本控制系统无法检测它们。即使是静态类型语言的编译器，也可能无法发现所有语义冲突（例如，函数行为的微妙变化）。</a:t>
            </a:r>
          </a:p>
          <a:p>
            <a:r>
              <a:rPr kumimoji="1" lang="zh-CN" altLang="en-US" dirty="0"/>
              <a:t>解决方案： 自测试构建是检测语义冲突的关键武器。良好的自动化测试套件应该能够覆盖代码的主要行为路径。当一个语义冲突破坏了程序的预期行为时，相关的测试就应该失败，从而在集成构建阶段就暴露问题。结合频繁集成（小变更集）和自测试构建（快速失败），团队可以有效地应对语义冲突带来的挑战。使用 </a:t>
            </a:r>
            <a:r>
              <a:rPr kumimoji="1" lang="en-US" altLang="zh-CN" dirty="0"/>
              <a:t>Diff Debugging </a:t>
            </a:r>
            <a:r>
              <a:rPr kumimoji="1" lang="zh-CN" altLang="en-US" dirty="0"/>
              <a:t>技术，比较最后一次成功构建和当前失败构建之间的代码差异，也有助于定位问题。</a:t>
            </a:r>
          </a:p>
        </p:txBody>
      </p:sp>
    </p:spTree>
    <p:extLst>
      <p:ext uri="{BB962C8B-B14F-4D97-AF65-F5344CB8AC3E}">
        <p14:creationId xmlns:p14="http://schemas.microsoft.com/office/powerpoint/2010/main" val="249298974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E4867-B8FA-D13C-B29B-A357B79337D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10BF774-FCAD-FAF7-F8DD-48DD34C32FDC}"/>
              </a:ext>
            </a:extLst>
          </p:cNvPr>
          <p:cNvSpPr>
            <a:spLocks noGrp="1"/>
          </p:cNvSpPr>
          <p:nvPr>
            <p:ph type="sldNum" sz="quarter" idx="12"/>
          </p:nvPr>
        </p:nvSpPr>
        <p:spPr/>
        <p:txBody>
          <a:bodyPr/>
          <a:lstStyle/>
          <a:p>
            <a:fld id="{51D91E7F-84B6-4064-9D4E-CC7D244BCA04}" type="slidenum">
              <a:rPr lang="zh-CN" altLang="en-US" smtClean="0"/>
              <a:t>30</a:t>
            </a:fld>
            <a:endParaRPr lang="zh-CN" altLang="en-US"/>
          </a:p>
        </p:txBody>
      </p:sp>
      <p:sp>
        <p:nvSpPr>
          <p:cNvPr id="3" name="文本占位符 2">
            <a:extLst>
              <a:ext uri="{FF2B5EF4-FFF2-40B4-BE49-F238E27FC236}">
                <a16:creationId xmlns:a16="http://schemas.microsoft.com/office/drawing/2014/main" id="{2A9899AF-D29E-D70E-6B3A-C83FF85E9FC9}"/>
              </a:ext>
            </a:extLst>
          </p:cNvPr>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每次提交触发主线构建</a:t>
            </a:r>
          </a:p>
        </p:txBody>
      </p:sp>
      <p:sp>
        <p:nvSpPr>
          <p:cNvPr id="4" name="内容占位符 3">
            <a:extLst>
              <a:ext uri="{FF2B5EF4-FFF2-40B4-BE49-F238E27FC236}">
                <a16:creationId xmlns:a16="http://schemas.microsoft.com/office/drawing/2014/main" id="{19979501-0901-178C-8CBE-DFC865BB15A1}"/>
              </a:ext>
            </a:extLst>
          </p:cNvPr>
          <p:cNvSpPr>
            <a:spLocks noGrp="1"/>
          </p:cNvSpPr>
          <p:nvPr>
            <p:ph idx="1"/>
          </p:nvPr>
        </p:nvSpPr>
        <p:spPr/>
        <p:txBody>
          <a:bodyPr>
            <a:normAutofit fontScale="92500"/>
          </a:bodyPr>
          <a:lstStyle/>
          <a:p>
            <a:r>
              <a:rPr kumimoji="1" lang="zh-CN" altLang="en-US" dirty="0"/>
              <a:t>必要性： 尽管要求开发者在推送前进行本地构建，但在实践中，错误仍然可能发生。可能是因为开发者纪律松懈，忘记了更新或构建；也可能是因为开发者的本地环境与中央构建环境存在细微差异。因此，不能完全依赖开发者的自觉性。</a:t>
            </a:r>
          </a:p>
          <a:p>
            <a:r>
              <a:rPr kumimoji="1" lang="zh-CN" altLang="en-US" dirty="0"/>
              <a:t>自动化保障： 需要一种机制来确保每次向主线推送代码时，都会在一致的、独立的环境中自动执行一次完整的集成构建（包括编译和测试）。这通常通过持续集成服务（</a:t>
            </a:r>
            <a:r>
              <a:rPr kumimoji="1" lang="en-US" altLang="zh-CN" dirty="0"/>
              <a:t>CI Service</a:t>
            </a:r>
            <a:r>
              <a:rPr kumimoji="1" lang="zh-CN" altLang="en-US" dirty="0"/>
              <a:t>）来实现。</a:t>
            </a:r>
            <a:r>
              <a:rPr kumimoji="1" lang="en-US" altLang="zh-CN" dirty="0"/>
              <a:t>CI </a:t>
            </a:r>
            <a:r>
              <a:rPr kumimoji="1" lang="zh-CN" altLang="en-US" dirty="0"/>
              <a:t>服务会监控代码仓库的主线分支，一旦检测到新的提交，就会自动触发构建流程。</a:t>
            </a:r>
          </a:p>
        </p:txBody>
      </p:sp>
    </p:spTree>
    <p:extLst>
      <p:ext uri="{BB962C8B-B14F-4D97-AF65-F5344CB8AC3E}">
        <p14:creationId xmlns:p14="http://schemas.microsoft.com/office/powerpoint/2010/main" val="155832869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EDBD6-C9EA-B9F3-C111-B5A8562B72E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87536E7-DF33-26EE-499C-1C699D7C4714}"/>
              </a:ext>
            </a:extLst>
          </p:cNvPr>
          <p:cNvSpPr>
            <a:spLocks noGrp="1"/>
          </p:cNvSpPr>
          <p:nvPr>
            <p:ph type="sldNum" sz="quarter" idx="12"/>
          </p:nvPr>
        </p:nvSpPr>
        <p:spPr/>
        <p:txBody>
          <a:bodyPr/>
          <a:lstStyle/>
          <a:p>
            <a:fld id="{51D91E7F-84B6-4064-9D4E-CC7D244BCA04}" type="slidenum">
              <a:rPr lang="zh-CN" altLang="en-US" smtClean="0"/>
              <a:t>31</a:t>
            </a:fld>
            <a:endParaRPr lang="zh-CN" altLang="en-US"/>
          </a:p>
        </p:txBody>
      </p:sp>
      <p:sp>
        <p:nvSpPr>
          <p:cNvPr id="3" name="文本占位符 2">
            <a:extLst>
              <a:ext uri="{FF2B5EF4-FFF2-40B4-BE49-F238E27FC236}">
                <a16:creationId xmlns:a16="http://schemas.microsoft.com/office/drawing/2014/main" id="{B837A4EF-1958-92DC-4BC6-033ACF2C4311}"/>
              </a:ext>
            </a:extLst>
          </p:cNvPr>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持续集成服务 </a:t>
            </a:r>
            <a:r>
              <a:rPr kumimoji="1" lang="en-US" altLang="zh-CN" dirty="0"/>
              <a:t>(CI Service)</a:t>
            </a:r>
            <a:endParaRPr kumimoji="1" lang="zh-CN" altLang="en-US" dirty="0"/>
          </a:p>
        </p:txBody>
      </p:sp>
      <p:sp>
        <p:nvSpPr>
          <p:cNvPr id="4" name="内容占位符 3">
            <a:extLst>
              <a:ext uri="{FF2B5EF4-FFF2-40B4-BE49-F238E27FC236}">
                <a16:creationId xmlns:a16="http://schemas.microsoft.com/office/drawing/2014/main" id="{E2A0CF22-6400-A992-0909-A94D72F22F56}"/>
              </a:ext>
            </a:extLst>
          </p:cNvPr>
          <p:cNvSpPr>
            <a:spLocks noGrp="1"/>
          </p:cNvSpPr>
          <p:nvPr>
            <p:ph idx="1"/>
          </p:nvPr>
        </p:nvSpPr>
        <p:spPr/>
        <p:txBody>
          <a:bodyPr>
            <a:normAutofit fontScale="85000" lnSpcReduction="20000"/>
          </a:bodyPr>
          <a:lstStyle/>
          <a:p>
            <a:r>
              <a:rPr kumimoji="1" lang="zh-CN" altLang="en-US" dirty="0"/>
              <a:t>角色与功能： </a:t>
            </a:r>
            <a:r>
              <a:rPr kumimoji="1" lang="en-US" altLang="zh-CN" dirty="0"/>
              <a:t>CI </a:t>
            </a:r>
            <a:r>
              <a:rPr kumimoji="1" lang="zh-CN" altLang="en-US" dirty="0"/>
              <a:t>服务（如 </a:t>
            </a:r>
            <a:r>
              <a:rPr kumimoji="1" lang="en-US" altLang="zh-CN" dirty="0"/>
              <a:t>Jenkins, GitLab CI, GitHub Actions, </a:t>
            </a:r>
            <a:r>
              <a:rPr kumimoji="1" lang="en-US" altLang="zh-CN" dirty="0" err="1"/>
              <a:t>CircleCI</a:t>
            </a:r>
            <a:r>
              <a:rPr kumimoji="1" lang="en-US" altLang="zh-CN" dirty="0"/>
              <a:t>, Travis CI, Azure Pipelines </a:t>
            </a:r>
            <a:r>
              <a:rPr kumimoji="1" lang="zh-CN" altLang="en-US" dirty="0"/>
              <a:t>等）是实现自动化主线构建的关键工具。它们通常具备以下功能：</a:t>
            </a:r>
          </a:p>
          <a:p>
            <a:pPr lvl="1"/>
            <a:r>
              <a:rPr kumimoji="1" lang="zh-CN" altLang="en-US" dirty="0"/>
              <a:t>监控版本控制仓库，检测新的提交。</a:t>
            </a:r>
          </a:p>
          <a:p>
            <a:pPr lvl="1"/>
            <a:r>
              <a:rPr kumimoji="1" lang="zh-CN" altLang="en-US" dirty="0"/>
              <a:t>自动从仓库检出最新的主线代码。</a:t>
            </a:r>
          </a:p>
          <a:p>
            <a:pPr lvl="1"/>
            <a:r>
              <a:rPr kumimoji="1" lang="zh-CN" altLang="en-US" dirty="0"/>
              <a:t>在一个干净、预配置的环境中执行构建脚本（包括编译、测试、打包等）。</a:t>
            </a:r>
          </a:p>
          <a:p>
            <a:pPr lvl="1"/>
            <a:r>
              <a:rPr kumimoji="1" lang="zh-CN" altLang="en-US" dirty="0"/>
              <a:t>记录构建过程的日志。</a:t>
            </a:r>
          </a:p>
          <a:p>
            <a:pPr lvl="1"/>
            <a:r>
              <a:rPr kumimoji="1" lang="zh-CN" altLang="en-US" dirty="0"/>
              <a:t>报告构建结果（成功或失败）。</a:t>
            </a:r>
          </a:p>
          <a:p>
            <a:pPr lvl="1"/>
            <a:r>
              <a:rPr kumimoji="1" lang="zh-CN" altLang="en-US" dirty="0"/>
              <a:t>通过邮件、即时消息或其他方式通知团队构建结果，尤其是失败的构建。</a:t>
            </a:r>
          </a:p>
          <a:p>
            <a:r>
              <a:rPr kumimoji="1" lang="zh-CN" altLang="en-US" dirty="0"/>
              <a:t>虽然理论上可以在没有专用 </a:t>
            </a:r>
            <a:r>
              <a:rPr kumimoji="1" lang="en-US" altLang="zh-CN" dirty="0"/>
              <a:t>CI </a:t>
            </a:r>
            <a:r>
              <a:rPr kumimoji="1" lang="zh-CN" altLang="en-US" dirty="0"/>
              <a:t>服务的情况下手动或通过脚本实现类似功能，但 </a:t>
            </a:r>
            <a:r>
              <a:rPr kumimoji="1" lang="en-US" altLang="zh-CN" dirty="0"/>
              <a:t>CI </a:t>
            </a:r>
            <a:r>
              <a:rPr kumimoji="1" lang="zh-CN" altLang="en-US" dirty="0"/>
              <a:t>服务提供了更方便、更可靠、更易于管理的解决方案。</a:t>
            </a:r>
          </a:p>
        </p:txBody>
      </p:sp>
    </p:spTree>
    <p:extLst>
      <p:ext uri="{BB962C8B-B14F-4D97-AF65-F5344CB8AC3E}">
        <p14:creationId xmlns:p14="http://schemas.microsoft.com/office/powerpoint/2010/main" val="13363592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AB89-161F-45BC-54C4-0426DA59BDC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A2ED8B-4E5F-B1EC-0EF2-0388582824E6}"/>
              </a:ext>
            </a:extLst>
          </p:cNvPr>
          <p:cNvSpPr>
            <a:spLocks noGrp="1"/>
          </p:cNvSpPr>
          <p:nvPr>
            <p:ph type="sldNum" sz="quarter" idx="12"/>
          </p:nvPr>
        </p:nvSpPr>
        <p:spPr/>
        <p:txBody>
          <a:bodyPr/>
          <a:lstStyle/>
          <a:p>
            <a:fld id="{51D91E7F-84B6-4064-9D4E-CC7D244BCA04}" type="slidenum">
              <a:rPr lang="zh-CN" altLang="en-US" smtClean="0"/>
              <a:t>32</a:t>
            </a:fld>
            <a:endParaRPr lang="zh-CN" altLang="en-US"/>
          </a:p>
        </p:txBody>
      </p:sp>
      <p:sp>
        <p:nvSpPr>
          <p:cNvPr id="3" name="文本占位符 2">
            <a:extLst>
              <a:ext uri="{FF2B5EF4-FFF2-40B4-BE49-F238E27FC236}">
                <a16:creationId xmlns:a16="http://schemas.microsoft.com/office/drawing/2014/main" id="{F4FFD2B7-83D9-D132-6406-CF2587A90BBF}"/>
              </a:ext>
            </a:extLst>
          </p:cNvPr>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立即修复失败的构建</a:t>
            </a:r>
          </a:p>
        </p:txBody>
      </p:sp>
      <p:sp>
        <p:nvSpPr>
          <p:cNvPr id="4" name="内容占位符 3">
            <a:extLst>
              <a:ext uri="{FF2B5EF4-FFF2-40B4-BE49-F238E27FC236}">
                <a16:creationId xmlns:a16="http://schemas.microsoft.com/office/drawing/2014/main" id="{C5389F5C-BCA6-C7B4-5472-26ADEE5DECF0}"/>
              </a:ext>
            </a:extLst>
          </p:cNvPr>
          <p:cNvSpPr>
            <a:spLocks noGrp="1"/>
          </p:cNvSpPr>
          <p:nvPr>
            <p:ph idx="1"/>
          </p:nvPr>
        </p:nvSpPr>
        <p:spPr/>
        <p:txBody>
          <a:bodyPr>
            <a:normAutofit lnSpcReduction="10000"/>
          </a:bodyPr>
          <a:lstStyle/>
          <a:p>
            <a:r>
              <a:rPr kumimoji="1" lang="zh-CN" altLang="en-US" dirty="0"/>
              <a:t>最高优先级： 保持主线构建健康（“绿色”）是整个团队的责任。如果集成构建失败了（变“红”），那么修复这个失败的构建应该是团队当前的最高优先级任务。</a:t>
            </a:r>
            <a:endParaRPr kumimoji="1" lang="en-US" altLang="zh-CN" dirty="0"/>
          </a:p>
          <a:p>
            <a:r>
              <a:rPr kumimoji="1" lang="en-US" altLang="zh-CN" dirty="0"/>
              <a:t>Kent Beck </a:t>
            </a:r>
            <a:r>
              <a:rPr kumimoji="1" lang="zh-CN" altLang="en-US" dirty="0"/>
              <a:t>有句名言：“如果主线构建坏了，谁也别想回家”（</a:t>
            </a:r>
            <a:r>
              <a:rPr kumimoji="1" lang="en-US" altLang="zh-CN" dirty="0"/>
              <a:t>Nobody should go home while the mainline build is broken</a:t>
            </a:r>
            <a:r>
              <a:rPr kumimoji="1" lang="zh-CN" altLang="en-US" dirty="0"/>
              <a:t>）。这意味着团队需要立即停下手中的其他工作，集中精力找出问题原因并修复它。一个失败的构建会阻塞后续的集成和开发进度，必须尽快解决。</a:t>
            </a:r>
          </a:p>
        </p:txBody>
      </p:sp>
    </p:spTree>
    <p:extLst>
      <p:ext uri="{BB962C8B-B14F-4D97-AF65-F5344CB8AC3E}">
        <p14:creationId xmlns:p14="http://schemas.microsoft.com/office/powerpoint/2010/main" val="15544734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433B6-7FD3-BBE1-A4CA-9182CEDFACA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0FBC581-4D08-0A9C-118C-5EF3163CD136}"/>
              </a:ext>
            </a:extLst>
          </p:cNvPr>
          <p:cNvSpPr>
            <a:spLocks noGrp="1"/>
          </p:cNvSpPr>
          <p:nvPr>
            <p:ph type="sldNum" sz="quarter" idx="12"/>
          </p:nvPr>
        </p:nvSpPr>
        <p:spPr/>
        <p:txBody>
          <a:bodyPr/>
          <a:lstStyle/>
          <a:p>
            <a:fld id="{51D91E7F-84B6-4064-9D4E-CC7D244BCA04}" type="slidenum">
              <a:rPr lang="zh-CN" altLang="en-US" smtClean="0"/>
              <a:t>33</a:t>
            </a:fld>
            <a:endParaRPr lang="zh-CN" altLang="en-US"/>
          </a:p>
        </p:txBody>
      </p:sp>
      <p:sp>
        <p:nvSpPr>
          <p:cNvPr id="3" name="文本占位符 2">
            <a:extLst>
              <a:ext uri="{FF2B5EF4-FFF2-40B4-BE49-F238E27FC236}">
                <a16:creationId xmlns:a16="http://schemas.microsoft.com/office/drawing/2014/main" id="{D8C2908E-6501-CCBC-8C91-18CBF05315D0}"/>
              </a:ext>
            </a:extLst>
          </p:cNvPr>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如何修复失败的构建</a:t>
            </a:r>
          </a:p>
        </p:txBody>
      </p:sp>
      <p:sp>
        <p:nvSpPr>
          <p:cNvPr id="4" name="内容占位符 3">
            <a:extLst>
              <a:ext uri="{FF2B5EF4-FFF2-40B4-BE49-F238E27FC236}">
                <a16:creationId xmlns:a16="http://schemas.microsoft.com/office/drawing/2014/main" id="{5925A937-EA79-7CCE-9AAB-2D2370E9D132}"/>
              </a:ext>
            </a:extLst>
          </p:cNvPr>
          <p:cNvSpPr>
            <a:spLocks noGrp="1"/>
          </p:cNvSpPr>
          <p:nvPr>
            <p:ph idx="1"/>
          </p:nvPr>
        </p:nvSpPr>
        <p:spPr/>
        <p:txBody>
          <a:bodyPr>
            <a:normAutofit fontScale="77500" lnSpcReduction="20000"/>
          </a:bodyPr>
          <a:lstStyle/>
          <a:p>
            <a:r>
              <a:rPr kumimoji="1" lang="zh-CN" altLang="en-US" dirty="0"/>
              <a:t>首选方案：恢复 </a:t>
            </a:r>
            <a:r>
              <a:rPr kumimoji="1" lang="en-US" altLang="zh-CN" dirty="0"/>
              <a:t>(Revert): </a:t>
            </a:r>
            <a:r>
              <a:rPr kumimoji="1" lang="zh-CN" altLang="en-US" dirty="0"/>
              <a:t>修复构建失败的最快、最安全的方法通常是直接恢复（</a:t>
            </a:r>
            <a:r>
              <a:rPr kumimoji="1" lang="en-US" altLang="zh-CN" dirty="0"/>
              <a:t>Revert</a:t>
            </a:r>
            <a:r>
              <a:rPr kumimoji="1" lang="zh-CN" altLang="en-US" dirty="0"/>
              <a:t>）导致失败的那个提交。版本控制系统（如 </a:t>
            </a:r>
            <a:r>
              <a:rPr kumimoji="1" lang="en-US" altLang="zh-CN" dirty="0"/>
              <a:t>Git</a:t>
            </a:r>
            <a:r>
              <a:rPr kumimoji="1" lang="zh-CN" altLang="en-US" dirty="0"/>
              <a:t>）提供了简单的命令来撤销某个提交的影响，同时保留该提交的历史记录。恢复操作可以让主线立即回到上一个已知的健康状态，从而解除对其他团队成员的阻塞，让他们可以继续工作。</a:t>
            </a:r>
          </a:p>
          <a:p>
            <a:r>
              <a:rPr kumimoji="1" lang="zh-CN" altLang="en-US" dirty="0"/>
              <a:t>后续处理： 导致问题的开发者可以在他们本地修复代码（基于恢复后的主线），经过充分测试后再重新尝试集成。</a:t>
            </a:r>
          </a:p>
          <a:p>
            <a:r>
              <a:rPr kumimoji="1" lang="zh-CN" altLang="en-US" dirty="0"/>
              <a:t>其他策略： 有时问题可能非常简单且明显，可以直接在主线上快速修复并提交。另一种策略是“门禁提交”（</a:t>
            </a:r>
            <a:r>
              <a:rPr kumimoji="1" lang="en-US" altLang="zh-CN" dirty="0"/>
              <a:t>Gated Check-in</a:t>
            </a:r>
            <a:r>
              <a:rPr kumimoji="1" lang="zh-CN" altLang="en-US" dirty="0"/>
              <a:t>）或“待定头”（</a:t>
            </a:r>
            <a:r>
              <a:rPr kumimoji="1" lang="en-US" altLang="zh-CN" dirty="0"/>
              <a:t>Pending Head</a:t>
            </a:r>
            <a:r>
              <a:rPr kumimoji="1" lang="zh-CN" altLang="en-US" dirty="0"/>
              <a:t>），即提交先进入一个临时区域进行构建验证，通过后才自动合并到主线。但这可能增加流程复杂性。对于高效团队，直接提交</a:t>
            </a:r>
            <a:r>
              <a:rPr kumimoji="1" lang="en-US" altLang="zh-CN" dirty="0"/>
              <a:t>+</a:t>
            </a:r>
            <a:r>
              <a:rPr kumimoji="1" lang="zh-CN" altLang="en-US" dirty="0"/>
              <a:t>快速修复</a:t>
            </a:r>
            <a:r>
              <a:rPr kumimoji="1" lang="en-US" altLang="zh-CN" dirty="0"/>
              <a:t>/</a:t>
            </a:r>
            <a:r>
              <a:rPr kumimoji="1" lang="zh-CN" altLang="en-US" dirty="0"/>
              <a:t>恢复通常效果更好。</a:t>
            </a:r>
          </a:p>
        </p:txBody>
      </p:sp>
    </p:spTree>
    <p:extLst>
      <p:ext uri="{BB962C8B-B14F-4D97-AF65-F5344CB8AC3E}">
        <p14:creationId xmlns:p14="http://schemas.microsoft.com/office/powerpoint/2010/main" val="18273795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993F0-FA47-BFCB-F8B6-0BAEA13ADD2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185472-E4D6-50E3-F977-859AAB731D9B}"/>
              </a:ext>
            </a:extLst>
          </p:cNvPr>
          <p:cNvSpPr>
            <a:spLocks noGrp="1"/>
          </p:cNvSpPr>
          <p:nvPr>
            <p:ph type="sldNum" sz="quarter" idx="12"/>
          </p:nvPr>
        </p:nvSpPr>
        <p:spPr/>
        <p:txBody>
          <a:bodyPr/>
          <a:lstStyle/>
          <a:p>
            <a:fld id="{51D91E7F-84B6-4064-9D4E-CC7D244BCA04}" type="slidenum">
              <a:rPr lang="zh-CN" altLang="en-US" smtClean="0"/>
              <a:t>34</a:t>
            </a:fld>
            <a:endParaRPr lang="zh-CN" altLang="en-US"/>
          </a:p>
        </p:txBody>
      </p:sp>
      <p:sp>
        <p:nvSpPr>
          <p:cNvPr id="3" name="文本占位符 2">
            <a:extLst>
              <a:ext uri="{FF2B5EF4-FFF2-40B4-BE49-F238E27FC236}">
                <a16:creationId xmlns:a16="http://schemas.microsoft.com/office/drawing/2014/main" id="{1445AE68-1DC6-1C6B-6461-CED1353412DC}"/>
              </a:ext>
            </a:extLst>
          </p:cNvPr>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保持构建快速 </a:t>
            </a:r>
            <a:r>
              <a:rPr kumimoji="1" lang="en-US" altLang="zh-CN" dirty="0"/>
              <a:t>(</a:t>
            </a:r>
            <a:r>
              <a:rPr kumimoji="1" lang="zh-CN" altLang="en-US" dirty="0"/>
              <a:t>重要性</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583610B4-4465-0913-7A6B-2726E4AA8E8F}"/>
              </a:ext>
            </a:extLst>
          </p:cNvPr>
          <p:cNvSpPr>
            <a:spLocks noGrp="1"/>
          </p:cNvSpPr>
          <p:nvPr>
            <p:ph idx="1"/>
          </p:nvPr>
        </p:nvSpPr>
        <p:spPr/>
        <p:txBody>
          <a:bodyPr>
            <a:normAutofit fontScale="92500" lnSpcReduction="20000"/>
          </a:bodyPr>
          <a:lstStyle/>
          <a:p>
            <a:r>
              <a:rPr kumimoji="1" lang="zh-CN" altLang="en-US" dirty="0"/>
              <a:t>反馈速度是关键： 持续集成的核心价值在于提供快速反馈。如果构建过程需要花费很长时间（例如几十分钟甚至几小时），那么反馈周期就会被拉长，</a:t>
            </a:r>
            <a:r>
              <a:rPr kumimoji="1" lang="en-US" altLang="zh-CN" dirty="0"/>
              <a:t>CI </a:t>
            </a:r>
            <a:r>
              <a:rPr kumimoji="1" lang="zh-CN" altLang="en-US" dirty="0"/>
              <a:t>的效果就会大打折扣。开发者在提交代码后无法立即得到验证结果，可能会转而去做其他事情，打断了心流。当构建最终失败时，他们需要重新回忆之前的上下文，修复问题的成本也更高。缓慢的构建是扼杀 </a:t>
            </a:r>
            <a:r>
              <a:rPr kumimoji="1" lang="en-US" altLang="zh-CN" dirty="0"/>
              <a:t>CI </a:t>
            </a:r>
            <a:r>
              <a:rPr kumimoji="1" lang="zh-CN" altLang="en-US" dirty="0"/>
              <a:t>活力的主要因素之一。</a:t>
            </a:r>
          </a:p>
          <a:p>
            <a:r>
              <a:rPr kumimoji="1" lang="zh-CN" altLang="en-US" dirty="0"/>
              <a:t>目标时间： 一个经常被引用的经验法则是，主提交构建（</a:t>
            </a:r>
            <a:r>
              <a:rPr kumimoji="1" lang="en-US" altLang="zh-CN" dirty="0"/>
              <a:t>Commit Build</a:t>
            </a:r>
            <a:r>
              <a:rPr kumimoji="1" lang="zh-CN" altLang="en-US" dirty="0"/>
              <a:t>，即验证每次提交的核心构建）应该在十分钟内完成。这被认为是开发者注意力可以容忍的上限。</a:t>
            </a:r>
          </a:p>
        </p:txBody>
      </p:sp>
    </p:spTree>
    <p:extLst>
      <p:ext uri="{BB962C8B-B14F-4D97-AF65-F5344CB8AC3E}">
        <p14:creationId xmlns:p14="http://schemas.microsoft.com/office/powerpoint/2010/main" val="34615613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0DF33-0344-68A4-8CC9-7297DC585AC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FD5CE7C-893F-3923-D271-97E3AFEFB9CD}"/>
              </a:ext>
            </a:extLst>
          </p:cNvPr>
          <p:cNvSpPr>
            <a:spLocks noGrp="1"/>
          </p:cNvSpPr>
          <p:nvPr>
            <p:ph type="sldNum" sz="quarter" idx="12"/>
          </p:nvPr>
        </p:nvSpPr>
        <p:spPr/>
        <p:txBody>
          <a:bodyPr/>
          <a:lstStyle/>
          <a:p>
            <a:fld id="{51D91E7F-84B6-4064-9D4E-CC7D244BCA04}" type="slidenum">
              <a:rPr lang="zh-CN" altLang="en-US" smtClean="0"/>
              <a:t>35</a:t>
            </a:fld>
            <a:endParaRPr lang="zh-CN" altLang="en-US"/>
          </a:p>
        </p:txBody>
      </p:sp>
      <p:sp>
        <p:nvSpPr>
          <p:cNvPr id="3" name="文本占位符 2">
            <a:extLst>
              <a:ext uri="{FF2B5EF4-FFF2-40B4-BE49-F238E27FC236}">
                <a16:creationId xmlns:a16="http://schemas.microsoft.com/office/drawing/2014/main" id="{05F6AAC1-9B5F-B816-24B3-F974A91612F0}"/>
              </a:ext>
            </a:extLst>
          </p:cNvPr>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应对慢速测试：构建流水线</a:t>
            </a:r>
          </a:p>
        </p:txBody>
      </p:sp>
      <p:sp>
        <p:nvSpPr>
          <p:cNvPr id="4" name="内容占位符 3">
            <a:extLst>
              <a:ext uri="{FF2B5EF4-FFF2-40B4-BE49-F238E27FC236}">
                <a16:creationId xmlns:a16="http://schemas.microsoft.com/office/drawing/2014/main" id="{2AAD9030-9451-95ED-A0F3-6F520534F1CA}"/>
              </a:ext>
            </a:extLst>
          </p:cNvPr>
          <p:cNvSpPr>
            <a:spLocks noGrp="1"/>
          </p:cNvSpPr>
          <p:nvPr>
            <p:ph idx="1"/>
          </p:nvPr>
        </p:nvSpPr>
        <p:spPr/>
        <p:txBody>
          <a:bodyPr>
            <a:normAutofit fontScale="92500"/>
          </a:bodyPr>
          <a:lstStyle/>
          <a:p>
            <a:r>
              <a:rPr kumimoji="1" lang="zh-CN" altLang="en-US" dirty="0"/>
              <a:t>主要瓶颈： 对于许多企业级应用来说，自动化构建的主要时间瓶颈通常在于测试，特别是那些需要与外部服务（如数据库、第三方 </a:t>
            </a:r>
            <a:r>
              <a:rPr kumimoji="1" lang="en-US" altLang="zh-CN" dirty="0"/>
              <a:t>API</a:t>
            </a:r>
            <a:r>
              <a:rPr kumimoji="1" lang="zh-CN" altLang="en-US" dirty="0"/>
              <a:t>）交互的集成测试或端到端测试。这些测试运行起来比较慢。</a:t>
            </a:r>
          </a:p>
          <a:p>
            <a:r>
              <a:rPr kumimoji="1" lang="zh-CN" altLang="en-US" dirty="0"/>
              <a:t>解决方案：构建流水线 </a:t>
            </a:r>
            <a:r>
              <a:rPr kumimoji="1" lang="en-US" altLang="zh-CN" dirty="0"/>
              <a:t>(Deployment Pipeline): </a:t>
            </a:r>
            <a:r>
              <a:rPr kumimoji="1" lang="zh-CN" altLang="en-US" dirty="0"/>
              <a:t>为了在保证测试覆盖率的同时实现快速反馈，可以引入构建流水线的概念。流水线将整个构建和验证过程分解为多个阶段（</a:t>
            </a:r>
            <a:r>
              <a:rPr kumimoji="1" lang="en-US" altLang="zh-CN" dirty="0"/>
              <a:t>Stage</a:t>
            </a:r>
            <a:r>
              <a:rPr kumimoji="1" lang="zh-CN" altLang="en-US" dirty="0"/>
              <a:t>）。第一个阶段是“提交阶段”（</a:t>
            </a:r>
            <a:r>
              <a:rPr kumimoji="1" lang="en-US" altLang="zh-CN" dirty="0"/>
              <a:t>Commit Stage</a:t>
            </a:r>
            <a:r>
              <a:rPr kumimoji="1" lang="zh-CN" altLang="en-US" dirty="0"/>
              <a:t>）或“提交构建”（</a:t>
            </a:r>
            <a:r>
              <a:rPr kumimoji="1" lang="en-US" altLang="zh-CN" dirty="0"/>
              <a:t>Commit Build</a:t>
            </a:r>
            <a:r>
              <a:rPr kumimoji="1" lang="zh-CN" altLang="en-US" dirty="0"/>
              <a:t>），它专注于提供最快的反馈。后续阶段则运行更全面但更慢的测试。</a:t>
            </a:r>
          </a:p>
        </p:txBody>
      </p:sp>
    </p:spTree>
    <p:extLst>
      <p:ext uri="{BB962C8B-B14F-4D97-AF65-F5344CB8AC3E}">
        <p14:creationId xmlns:p14="http://schemas.microsoft.com/office/powerpoint/2010/main" val="33338329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705B7-22B7-72DD-9EB9-276070C45A8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BB0BBAB-9263-38DE-43E8-398EA4BF1063}"/>
              </a:ext>
            </a:extLst>
          </p:cNvPr>
          <p:cNvSpPr>
            <a:spLocks noGrp="1"/>
          </p:cNvSpPr>
          <p:nvPr>
            <p:ph type="sldNum" sz="quarter" idx="12"/>
          </p:nvPr>
        </p:nvSpPr>
        <p:spPr/>
        <p:txBody>
          <a:bodyPr/>
          <a:lstStyle/>
          <a:p>
            <a:fld id="{51D91E7F-84B6-4064-9D4E-CC7D244BCA04}" type="slidenum">
              <a:rPr lang="zh-CN" altLang="en-US" smtClean="0"/>
              <a:t>36</a:t>
            </a:fld>
            <a:endParaRPr lang="zh-CN" altLang="en-US"/>
          </a:p>
        </p:txBody>
      </p:sp>
      <p:sp>
        <p:nvSpPr>
          <p:cNvPr id="3" name="文本占位符 2">
            <a:extLst>
              <a:ext uri="{FF2B5EF4-FFF2-40B4-BE49-F238E27FC236}">
                <a16:creationId xmlns:a16="http://schemas.microsoft.com/office/drawing/2014/main" id="{A3B6003E-33D8-468A-00E5-DD54FA30F1F9}"/>
              </a:ext>
            </a:extLst>
          </p:cNvPr>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流水线：提交阶段 </a:t>
            </a:r>
            <a:r>
              <a:rPr kumimoji="1" lang="en-US" altLang="zh-CN" dirty="0"/>
              <a:t>(Commit Stage)</a:t>
            </a:r>
            <a:endParaRPr kumimoji="1" lang="zh-CN" altLang="en-US" dirty="0"/>
          </a:p>
        </p:txBody>
      </p:sp>
      <p:sp>
        <p:nvSpPr>
          <p:cNvPr id="4" name="内容占位符 3">
            <a:extLst>
              <a:ext uri="{FF2B5EF4-FFF2-40B4-BE49-F238E27FC236}">
                <a16:creationId xmlns:a16="http://schemas.microsoft.com/office/drawing/2014/main" id="{84441468-DE23-659C-4A94-BD6C34D8AA36}"/>
              </a:ext>
            </a:extLst>
          </p:cNvPr>
          <p:cNvSpPr>
            <a:spLocks noGrp="1"/>
          </p:cNvSpPr>
          <p:nvPr>
            <p:ph idx="1"/>
          </p:nvPr>
        </p:nvSpPr>
        <p:spPr>
          <a:xfrm>
            <a:off x="838200" y="1289956"/>
            <a:ext cx="10515600" cy="5270108"/>
          </a:xfrm>
        </p:spPr>
        <p:txBody>
          <a:bodyPr>
            <a:normAutofit fontScale="85000" lnSpcReduction="20000"/>
          </a:bodyPr>
          <a:lstStyle/>
          <a:p>
            <a:r>
              <a:rPr kumimoji="1" lang="zh-CN" altLang="en-US" dirty="0"/>
              <a:t>目标： 提交阶段是构建流水线的第一阶段，也是 </a:t>
            </a:r>
            <a:r>
              <a:rPr kumimoji="1" lang="en-US" altLang="zh-CN" dirty="0"/>
              <a:t>CI </a:t>
            </a:r>
            <a:r>
              <a:rPr kumimoji="1" lang="zh-CN" altLang="en-US" dirty="0"/>
              <a:t>循环的核心。它的主要目标是在尽可能短的时间内（理想情况下十分钟内）为开发者的提交提供反馈。</a:t>
            </a:r>
          </a:p>
          <a:p>
            <a:r>
              <a:rPr kumimoji="1" lang="zh-CN" altLang="en-US" dirty="0"/>
              <a:t>内容： 这个阶段通常包括：</a:t>
            </a:r>
          </a:p>
          <a:p>
            <a:pPr lvl="1"/>
            <a:r>
              <a:rPr kumimoji="1" lang="zh-CN" altLang="en-US" dirty="0"/>
              <a:t>编译代码。</a:t>
            </a:r>
          </a:p>
          <a:p>
            <a:pPr lvl="1"/>
            <a:r>
              <a:rPr kumimoji="1" lang="zh-CN" altLang="en-US" dirty="0"/>
              <a:t>运行快速的单元测试 </a:t>
            </a:r>
            <a:r>
              <a:rPr kumimoji="1" lang="en-US" altLang="zh-CN" dirty="0"/>
              <a:t>(Unit Tests)</a:t>
            </a:r>
            <a:r>
              <a:rPr kumimoji="1" lang="zh-CN" altLang="en-US" dirty="0"/>
              <a:t>。这些测试通常不涉及 </a:t>
            </a:r>
            <a:r>
              <a:rPr kumimoji="1" lang="en-US" altLang="zh-CN" dirty="0"/>
              <a:t>I/O </a:t>
            </a:r>
            <a:r>
              <a:rPr kumimoji="1" lang="zh-CN" altLang="en-US" dirty="0"/>
              <a:t>操作，并且可以使用测试替身（</a:t>
            </a:r>
            <a:r>
              <a:rPr kumimoji="1" lang="en-US" altLang="zh-CN" dirty="0"/>
              <a:t>Test Doubles</a:t>
            </a:r>
            <a:r>
              <a:rPr kumimoji="1" lang="zh-CN" altLang="en-US" dirty="0"/>
              <a:t>，如 </a:t>
            </a:r>
            <a:r>
              <a:rPr kumimoji="1" lang="en-US" altLang="zh-CN" dirty="0"/>
              <a:t>Mock, Stub, Fake</a:t>
            </a:r>
            <a:r>
              <a:rPr kumimoji="1" lang="zh-CN" altLang="en-US" dirty="0"/>
              <a:t>）来隔离被测单元，避免与慢速依赖项交互。</a:t>
            </a:r>
          </a:p>
          <a:p>
            <a:pPr lvl="1"/>
            <a:r>
              <a:rPr kumimoji="1" lang="zh-CN" altLang="en-US" dirty="0"/>
              <a:t>可能包括一些快速的静态分析检查（如 </a:t>
            </a:r>
            <a:r>
              <a:rPr kumimoji="1" lang="en-US" altLang="zh-CN" dirty="0"/>
              <a:t>Linter</a:t>
            </a:r>
            <a:r>
              <a:rPr kumimoji="1" lang="zh-CN" altLang="en-US" dirty="0"/>
              <a:t>）。</a:t>
            </a:r>
          </a:p>
          <a:p>
            <a:r>
              <a:rPr kumimoji="1" lang="zh-CN" altLang="en-US" dirty="0"/>
              <a:t>反馈： 如果提交阶段失败，开发者会立即收到通知，并需要优先修复。只有通过了提交阶段，代码才被认为初步集成成功，可以进入流水线的下一阶段。</a:t>
            </a:r>
          </a:p>
        </p:txBody>
      </p:sp>
    </p:spTree>
    <p:extLst>
      <p:ext uri="{BB962C8B-B14F-4D97-AF65-F5344CB8AC3E}">
        <p14:creationId xmlns:p14="http://schemas.microsoft.com/office/powerpoint/2010/main" val="20259124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DBB2-E62C-3792-97B2-45EAE6E9351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6FC97B9-31DA-CBBD-5F7F-2F15AC982EAF}"/>
              </a:ext>
            </a:extLst>
          </p:cNvPr>
          <p:cNvSpPr>
            <a:spLocks noGrp="1"/>
          </p:cNvSpPr>
          <p:nvPr>
            <p:ph type="sldNum" sz="quarter" idx="12"/>
          </p:nvPr>
        </p:nvSpPr>
        <p:spPr/>
        <p:txBody>
          <a:bodyPr/>
          <a:lstStyle/>
          <a:p>
            <a:fld id="{51D91E7F-84B6-4064-9D4E-CC7D244BCA04}" type="slidenum">
              <a:rPr lang="zh-CN" altLang="en-US" smtClean="0"/>
              <a:t>37</a:t>
            </a:fld>
            <a:endParaRPr lang="zh-CN" altLang="en-US"/>
          </a:p>
        </p:txBody>
      </p:sp>
      <p:sp>
        <p:nvSpPr>
          <p:cNvPr id="3" name="文本占位符 2">
            <a:extLst>
              <a:ext uri="{FF2B5EF4-FFF2-40B4-BE49-F238E27FC236}">
                <a16:creationId xmlns:a16="http://schemas.microsoft.com/office/drawing/2014/main" id="{4485AD46-F826-3F3A-39DE-A6E42FD3628D}"/>
              </a:ext>
            </a:extLst>
          </p:cNvPr>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流水线：后续阶段与优化</a:t>
            </a:r>
          </a:p>
        </p:txBody>
      </p:sp>
      <p:sp>
        <p:nvSpPr>
          <p:cNvPr id="4" name="内容占位符 3">
            <a:extLst>
              <a:ext uri="{FF2B5EF4-FFF2-40B4-BE49-F238E27FC236}">
                <a16:creationId xmlns:a16="http://schemas.microsoft.com/office/drawing/2014/main" id="{0D421E67-B08A-826F-F84D-2E9C6FF7AF31}"/>
              </a:ext>
            </a:extLst>
          </p:cNvPr>
          <p:cNvSpPr>
            <a:spLocks noGrp="1"/>
          </p:cNvSpPr>
          <p:nvPr>
            <p:ph idx="1"/>
          </p:nvPr>
        </p:nvSpPr>
        <p:spPr>
          <a:xfrm>
            <a:off x="838200" y="1289956"/>
            <a:ext cx="10515600" cy="5568044"/>
          </a:xfrm>
        </p:spPr>
        <p:txBody>
          <a:bodyPr>
            <a:normAutofit fontScale="77500" lnSpcReduction="20000"/>
          </a:bodyPr>
          <a:lstStyle/>
          <a:p>
            <a:r>
              <a:rPr kumimoji="1" lang="zh-CN" altLang="en-US" dirty="0"/>
              <a:t>后续阶段 </a:t>
            </a:r>
            <a:r>
              <a:rPr kumimoji="1" lang="en-US" altLang="zh-CN" dirty="0"/>
              <a:t>(Secondary Stages): </a:t>
            </a:r>
            <a:r>
              <a:rPr kumimoji="1" lang="zh-CN" altLang="en-US" dirty="0"/>
              <a:t>流水线的后续阶段运行那些更慢、更全面的测试，例如：</a:t>
            </a:r>
          </a:p>
          <a:p>
            <a:pPr lvl="1"/>
            <a:r>
              <a:rPr kumimoji="1" lang="zh-CN" altLang="en-US" dirty="0"/>
              <a:t>集成测试 </a:t>
            </a:r>
            <a:r>
              <a:rPr kumimoji="1" lang="en-US" altLang="zh-CN" dirty="0"/>
              <a:t>(Integration Tests)</a:t>
            </a:r>
            <a:r>
              <a:rPr kumimoji="1" lang="zh-CN" altLang="en-US" dirty="0"/>
              <a:t>：测试模块之间的交互，可能涉及真实的数据库或外部服务（或更逼真的测试替身）。</a:t>
            </a:r>
          </a:p>
          <a:p>
            <a:pPr lvl="1"/>
            <a:r>
              <a:rPr kumimoji="1" lang="zh-CN" altLang="en-US" dirty="0"/>
              <a:t>端到端测试 </a:t>
            </a:r>
            <a:r>
              <a:rPr kumimoji="1" lang="en-US" altLang="zh-CN" dirty="0"/>
              <a:t>(End-to-End Tests)</a:t>
            </a:r>
            <a:r>
              <a:rPr kumimoji="1" lang="zh-CN" altLang="en-US" dirty="0"/>
              <a:t>：通过用户界面或 </a:t>
            </a:r>
            <a:r>
              <a:rPr kumimoji="1" lang="en-US" altLang="zh-CN" dirty="0"/>
              <a:t>API </a:t>
            </a:r>
            <a:r>
              <a:rPr kumimoji="1" lang="zh-CN" altLang="en-US" dirty="0"/>
              <a:t>模拟真实用户场景，验证整个系统的行为。</a:t>
            </a:r>
          </a:p>
          <a:p>
            <a:pPr lvl="1"/>
            <a:r>
              <a:rPr kumimoji="1" lang="zh-CN" altLang="en-US" dirty="0"/>
              <a:t>性能测试、安全扫描等。</a:t>
            </a:r>
          </a:p>
          <a:p>
            <a:r>
              <a:rPr kumimoji="1" lang="zh-CN" altLang="en-US" dirty="0"/>
              <a:t>处理失败： 后续阶段的失败虽然也需要尽快修复，但通常不会像提交阶段失败那样“停止一切”（</a:t>
            </a:r>
            <a:r>
              <a:rPr kumimoji="1" lang="en-US" altLang="zh-CN" dirty="0"/>
              <a:t>stop-the-line</a:t>
            </a:r>
            <a:r>
              <a:rPr kumimoji="1" lang="zh-CN" altLang="en-US" dirty="0"/>
              <a:t>）。团队会致力于尽快修复这些问题，但可能不会阻塞主线的提交。</a:t>
            </a:r>
          </a:p>
          <a:p>
            <a:r>
              <a:rPr kumimoji="1" lang="zh-CN" altLang="en-US" dirty="0"/>
              <a:t>优化： 可以利用并行化（</a:t>
            </a:r>
            <a:r>
              <a:rPr kumimoji="1" lang="en-US" altLang="zh-CN" dirty="0"/>
              <a:t>Parallelism</a:t>
            </a:r>
            <a:r>
              <a:rPr kumimoji="1" lang="zh-CN" altLang="en-US" dirty="0"/>
              <a:t>）和分布式构建（</a:t>
            </a:r>
            <a:r>
              <a:rPr kumimoji="1" lang="en-US" altLang="zh-CN" dirty="0"/>
              <a:t>Multiple Machines</a:t>
            </a:r>
            <a:r>
              <a:rPr kumimoji="1" lang="zh-CN" altLang="en-US" dirty="0"/>
              <a:t>）来加速后续阶段的执行。云计算平台尤其适合动态扩展构建服务器资源。定期审视测试策略，确保慢速测试的价值与其成本相匹配。</a:t>
            </a:r>
          </a:p>
        </p:txBody>
      </p:sp>
    </p:spTree>
    <p:extLst>
      <p:ext uri="{BB962C8B-B14F-4D97-AF65-F5344CB8AC3E}">
        <p14:creationId xmlns:p14="http://schemas.microsoft.com/office/powerpoint/2010/main" val="15323662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B79B-F60E-76E8-D677-A5AA821540B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2A15E5E-59B7-CFDB-CC38-2ACA7A1017DB}"/>
              </a:ext>
            </a:extLst>
          </p:cNvPr>
          <p:cNvSpPr>
            <a:spLocks noGrp="1"/>
          </p:cNvSpPr>
          <p:nvPr>
            <p:ph type="sldNum" sz="quarter" idx="12"/>
          </p:nvPr>
        </p:nvSpPr>
        <p:spPr/>
        <p:txBody>
          <a:bodyPr/>
          <a:lstStyle/>
          <a:p>
            <a:fld id="{51D91E7F-84B6-4064-9D4E-CC7D244BCA04}" type="slidenum">
              <a:rPr lang="zh-CN" altLang="en-US" smtClean="0"/>
              <a:t>38</a:t>
            </a:fld>
            <a:endParaRPr lang="zh-CN" altLang="en-US"/>
          </a:p>
        </p:txBody>
      </p:sp>
      <p:sp>
        <p:nvSpPr>
          <p:cNvPr id="3" name="文本占位符 2">
            <a:extLst>
              <a:ext uri="{FF2B5EF4-FFF2-40B4-BE49-F238E27FC236}">
                <a16:creationId xmlns:a16="http://schemas.microsoft.com/office/drawing/2014/main" id="{F0B154C1-5CD1-AAA0-4CCF-EFE77E65205B}"/>
              </a:ext>
            </a:extLst>
          </p:cNvPr>
          <p:cNvSpPr>
            <a:spLocks noGrp="1"/>
          </p:cNvSpPr>
          <p:nvPr>
            <p:ph type="body" sz="quarter" idx="13"/>
          </p:nvPr>
        </p:nvSpPr>
        <p:spPr/>
        <p:txBody>
          <a:bodyPr/>
          <a:lstStyle/>
          <a:p>
            <a:r>
              <a:rPr kumimoji="1" lang="zh-CN" altLang="en-US" dirty="0"/>
              <a:t>实践 </a:t>
            </a:r>
            <a:r>
              <a:rPr kumimoji="1" lang="en-US" altLang="zh-CN" dirty="0"/>
              <a:t>- </a:t>
            </a:r>
            <a:r>
              <a:rPr kumimoji="1" lang="zh-CN" altLang="en-US" dirty="0"/>
              <a:t>隐藏未完成的工作 </a:t>
            </a:r>
            <a:r>
              <a:rPr kumimoji="1" lang="en-US" altLang="zh-CN" dirty="0"/>
              <a:t>(</a:t>
            </a:r>
            <a:r>
              <a:rPr kumimoji="1" lang="zh-CN" altLang="en-US" dirty="0"/>
              <a:t>挑战</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6411A442-8961-7373-B587-4B125D1BAE7F}"/>
              </a:ext>
            </a:extLst>
          </p:cNvPr>
          <p:cNvSpPr>
            <a:spLocks noGrp="1"/>
          </p:cNvSpPr>
          <p:nvPr>
            <p:ph idx="1"/>
          </p:nvPr>
        </p:nvSpPr>
        <p:spPr/>
        <p:txBody>
          <a:bodyPr>
            <a:normAutofit lnSpcReduction="10000"/>
          </a:bodyPr>
          <a:lstStyle/>
          <a:p>
            <a:r>
              <a:rPr kumimoji="1" lang="en-US" altLang="zh-CN" dirty="0"/>
              <a:t>CI </a:t>
            </a:r>
            <a:r>
              <a:rPr kumimoji="1" lang="zh-CN" altLang="en-US" dirty="0"/>
              <a:t>的要求： 持续集成要求开发者频繁地（每天至少一次）将代码集成到主线，即使他们正在开发的功能尚未完全完成。这意味着主线上可能随时包含一些未完成的、尚未准备好面向用户发布的代码。</a:t>
            </a:r>
          </a:p>
          <a:p>
            <a:r>
              <a:rPr kumimoji="1" lang="zh-CN" altLang="en-US" dirty="0"/>
              <a:t>挑战： 如何在主线包含未完成功能代码的同时，确保主线始终处于可部署（</a:t>
            </a:r>
            <a:r>
              <a:rPr kumimoji="1" lang="en-US" altLang="zh-CN" dirty="0"/>
              <a:t>deployable</a:t>
            </a:r>
            <a:r>
              <a:rPr kumimoji="1" lang="zh-CN" altLang="en-US" dirty="0"/>
              <a:t>）甚至可发布（</a:t>
            </a:r>
            <a:r>
              <a:rPr kumimoji="1" lang="en-US" altLang="zh-CN" dirty="0"/>
              <a:t>releasable</a:t>
            </a:r>
            <a:r>
              <a:rPr kumimoji="1" lang="zh-CN" altLang="en-US" dirty="0"/>
              <a:t>）的状态？我们不能让未完成或未充分测试的功能影响到生产环境的稳定性和用户体验。需要一种机制来隔离或隐藏这些正在开发中的功能。</a:t>
            </a:r>
          </a:p>
        </p:txBody>
      </p:sp>
    </p:spTree>
    <p:extLst>
      <p:ext uri="{BB962C8B-B14F-4D97-AF65-F5344CB8AC3E}">
        <p14:creationId xmlns:p14="http://schemas.microsoft.com/office/powerpoint/2010/main" val="165903454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7DF4-7B3C-5DBA-79FA-D6A94842CDD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B8BA26-7E19-1DA7-3467-7A1BF677324C}"/>
              </a:ext>
            </a:extLst>
          </p:cNvPr>
          <p:cNvSpPr>
            <a:spLocks noGrp="1"/>
          </p:cNvSpPr>
          <p:nvPr>
            <p:ph type="sldNum" sz="quarter" idx="12"/>
          </p:nvPr>
        </p:nvSpPr>
        <p:spPr/>
        <p:txBody>
          <a:bodyPr/>
          <a:lstStyle/>
          <a:p>
            <a:fld id="{51D91E7F-84B6-4064-9D4E-CC7D244BCA04}" type="slidenum">
              <a:rPr lang="zh-CN" altLang="en-US" smtClean="0"/>
              <a:t>39</a:t>
            </a:fld>
            <a:endParaRPr lang="zh-CN" altLang="en-US"/>
          </a:p>
        </p:txBody>
      </p:sp>
      <p:sp>
        <p:nvSpPr>
          <p:cNvPr id="3" name="文本占位符 2">
            <a:extLst>
              <a:ext uri="{FF2B5EF4-FFF2-40B4-BE49-F238E27FC236}">
                <a16:creationId xmlns:a16="http://schemas.microsoft.com/office/drawing/2014/main" id="{81A661B4-CFDC-1DB1-9792-05EF27BA3D31}"/>
              </a:ext>
            </a:extLst>
          </p:cNvPr>
          <p:cNvSpPr>
            <a:spLocks noGrp="1"/>
          </p:cNvSpPr>
          <p:nvPr>
            <p:ph type="body" sz="quarter" idx="13"/>
          </p:nvPr>
        </p:nvSpPr>
        <p:spPr/>
        <p:txBody>
          <a:bodyPr/>
          <a:lstStyle/>
          <a:p>
            <a:r>
              <a:rPr kumimoji="1" lang="zh-CN" altLang="en-US" dirty="0"/>
              <a:t>实践 </a:t>
            </a:r>
            <a:r>
              <a:rPr kumimoji="1" lang="en-US" altLang="zh-CN" dirty="0"/>
              <a:t>- </a:t>
            </a:r>
            <a:r>
              <a:rPr kumimoji="1" lang="zh-CN" altLang="en-US" dirty="0"/>
              <a:t>隐藏未完成的工作 </a:t>
            </a:r>
            <a:r>
              <a:rPr kumimoji="1" lang="en-US" altLang="zh-CN" dirty="0"/>
              <a:t>(</a:t>
            </a:r>
            <a:r>
              <a:rPr kumimoji="1" lang="zh-CN" altLang="en-US" dirty="0"/>
              <a:t>技术</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4C56D472-A1DD-11E3-D640-EF68BEC1B1B6}"/>
              </a:ext>
            </a:extLst>
          </p:cNvPr>
          <p:cNvSpPr>
            <a:spLocks noGrp="1"/>
          </p:cNvSpPr>
          <p:nvPr>
            <p:ph idx="1"/>
          </p:nvPr>
        </p:nvSpPr>
        <p:spPr/>
        <p:txBody>
          <a:bodyPr>
            <a:normAutofit fontScale="92500" lnSpcReduction="10000"/>
          </a:bodyPr>
          <a:lstStyle/>
          <a:p>
            <a:r>
              <a:rPr kumimoji="1" lang="zh-CN" altLang="en-US" dirty="0"/>
              <a:t>常用技术： 团队采用多种技术来管理主线上的未完成功能：</a:t>
            </a:r>
          </a:p>
          <a:p>
            <a:pPr lvl="1"/>
            <a:r>
              <a:rPr kumimoji="1" lang="zh-CN" altLang="en-US" dirty="0"/>
              <a:t>特征开关</a:t>
            </a:r>
            <a:r>
              <a:rPr kumimoji="1" lang="en-US" altLang="zh-CN" dirty="0"/>
              <a:t>/</a:t>
            </a:r>
            <a:r>
              <a:rPr kumimoji="1" lang="zh-CN" altLang="en-US" dirty="0"/>
              <a:t>特征标志 </a:t>
            </a:r>
            <a:r>
              <a:rPr kumimoji="1" lang="en-US" altLang="zh-CN" dirty="0"/>
              <a:t>(Feature Toggles / Feature Flags): </a:t>
            </a:r>
            <a:r>
              <a:rPr kumimoji="1" lang="zh-CN" altLang="en-US" dirty="0"/>
              <a:t>在代码中加入配置开关，可以动态地启用或禁用某个功能模块。未完成的功能默认是禁用的，只有在特定环境（如测试环境）或对特定用户（如内部测试人员）才启用。这是最常用和灵活的技术之一。</a:t>
            </a:r>
          </a:p>
          <a:p>
            <a:pPr lvl="1"/>
            <a:r>
              <a:rPr kumimoji="1" lang="zh-CN" altLang="en-US" dirty="0"/>
              <a:t>按抽象分支 </a:t>
            </a:r>
            <a:r>
              <a:rPr kumimoji="1" lang="en-US" altLang="zh-CN" dirty="0"/>
              <a:t>(Branch by Abstraction): </a:t>
            </a:r>
            <a:r>
              <a:rPr kumimoji="1" lang="zh-CN" altLang="en-US" dirty="0"/>
              <a:t>在进行较大规模重构或替换系统某一部分时，可以引入一个抽象层，使得新旧实现可以并存。通过配置或抽象工厂来选择使用哪个实现，逐步将依赖切换到新实现上，完成后再移除旧实现和抽象层。</a:t>
            </a:r>
          </a:p>
          <a:p>
            <a:pPr lvl="1"/>
            <a:r>
              <a:rPr kumimoji="1" lang="zh-CN" altLang="en-US" dirty="0"/>
              <a:t>黑启动</a:t>
            </a:r>
            <a:r>
              <a:rPr kumimoji="1" lang="en-US" altLang="zh-CN" dirty="0"/>
              <a:t>/</a:t>
            </a:r>
            <a:r>
              <a:rPr kumimoji="1" lang="zh-CN" altLang="en-US" dirty="0"/>
              <a:t>暗启动 </a:t>
            </a:r>
            <a:r>
              <a:rPr kumimoji="1" lang="en-US" altLang="zh-CN" dirty="0"/>
              <a:t>(Dark Launching): </a:t>
            </a:r>
            <a:r>
              <a:rPr kumimoji="1" lang="zh-CN" altLang="en-US" dirty="0"/>
              <a:t>将新功能部署到生产环境，但不暴露给最终用户，只在内部进行监控和测试。</a:t>
            </a:r>
          </a:p>
        </p:txBody>
      </p:sp>
    </p:spTree>
    <p:extLst>
      <p:ext uri="{BB962C8B-B14F-4D97-AF65-F5344CB8AC3E}">
        <p14:creationId xmlns:p14="http://schemas.microsoft.com/office/powerpoint/2010/main" val="14935953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65A8B-D6F0-CAC9-B49F-36317D00AAC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147DAD2-571B-93B1-C9A1-1A60E26F855C}"/>
              </a:ext>
            </a:extLst>
          </p:cNvPr>
          <p:cNvSpPr>
            <a:spLocks noGrp="1"/>
          </p:cNvSpPr>
          <p:nvPr>
            <p:ph type="sldNum" sz="quarter" idx="12"/>
          </p:nvPr>
        </p:nvSpPr>
        <p:spPr/>
        <p:txBody>
          <a:bodyPr/>
          <a:lstStyle/>
          <a:p>
            <a:fld id="{51D91E7F-84B6-4064-9D4E-CC7D244BCA04}" type="slidenum">
              <a:rPr lang="zh-CN" altLang="en-US" smtClean="0"/>
              <a:t>40</a:t>
            </a:fld>
            <a:endParaRPr lang="zh-CN" altLang="en-US"/>
          </a:p>
        </p:txBody>
      </p:sp>
      <p:sp>
        <p:nvSpPr>
          <p:cNvPr id="3" name="文本占位符 2">
            <a:extLst>
              <a:ext uri="{FF2B5EF4-FFF2-40B4-BE49-F238E27FC236}">
                <a16:creationId xmlns:a16="http://schemas.microsoft.com/office/drawing/2014/main" id="{FC0E0498-046D-1C1D-92EE-D3B2879D8D9C}"/>
              </a:ext>
            </a:extLst>
          </p:cNvPr>
          <p:cNvSpPr>
            <a:spLocks noGrp="1"/>
          </p:cNvSpPr>
          <p:nvPr>
            <p:ph type="body" sz="quarter" idx="13"/>
          </p:nvPr>
        </p:nvSpPr>
        <p:spPr/>
        <p:txBody>
          <a:bodyPr/>
          <a:lstStyle/>
          <a:p>
            <a:r>
              <a:rPr kumimoji="1" lang="zh-CN" altLang="en-US" dirty="0"/>
              <a:t>持续集成的好处 </a:t>
            </a:r>
            <a:r>
              <a:rPr kumimoji="1" lang="en-US" altLang="zh-CN" dirty="0"/>
              <a:t>(1) - </a:t>
            </a:r>
            <a:r>
              <a:rPr kumimoji="1" lang="zh-CN" altLang="en-US" dirty="0"/>
              <a:t>降低风险</a:t>
            </a:r>
          </a:p>
        </p:txBody>
      </p:sp>
      <p:sp>
        <p:nvSpPr>
          <p:cNvPr id="4" name="内容占位符 3">
            <a:extLst>
              <a:ext uri="{FF2B5EF4-FFF2-40B4-BE49-F238E27FC236}">
                <a16:creationId xmlns:a16="http://schemas.microsoft.com/office/drawing/2014/main" id="{0BB13D69-59A4-B49C-3D15-9C8FE0E1CD46}"/>
              </a:ext>
            </a:extLst>
          </p:cNvPr>
          <p:cNvSpPr>
            <a:spLocks noGrp="1"/>
          </p:cNvSpPr>
          <p:nvPr>
            <p:ph idx="1"/>
          </p:nvPr>
        </p:nvSpPr>
        <p:spPr/>
        <p:txBody>
          <a:bodyPr>
            <a:normAutofit fontScale="85000" lnSpcReduction="10000"/>
          </a:bodyPr>
          <a:lstStyle/>
          <a:p>
            <a:r>
              <a:rPr kumimoji="1" lang="zh-CN" altLang="en-US" dirty="0"/>
              <a:t>减少集成风险： 频繁的小规模集成取代了传统模式下的大规模、一次性集成。这使得合并冲突更容易解决，因为每次冲突涉及的代码量更少。</a:t>
            </a:r>
          </a:p>
          <a:p>
            <a:r>
              <a:rPr kumimoji="1" lang="zh-CN" altLang="en-US" dirty="0"/>
              <a:t>快速发现错误： 自动化构建和测试可以在集成后几分钟内就发现编译错误、测试失败或语义冲突。问题发现得越早，修复成本就越低。</a:t>
            </a:r>
          </a:p>
          <a:p>
            <a:r>
              <a:rPr kumimoji="1" lang="zh-CN" altLang="en-US" dirty="0"/>
              <a:t>更容易定位错误： 由于每次集成引入的更改量很小，当构建失败时，可以快速将问题范围缩小到最近一次或几次提交，大大简化了调试过程。这避免了在数周或数月积累的代码中大海捞针般地寻找错误。</a:t>
            </a:r>
          </a:p>
          <a:p>
            <a:r>
              <a:rPr kumimoji="1" lang="zh-CN" altLang="en-US" dirty="0"/>
              <a:t>减少“集成地狱”： 告别项目后期漫长而痛苦的集成阶段，让集成成为日常开发的一部分，而非一个令人生畏的里程碑。</a:t>
            </a:r>
          </a:p>
        </p:txBody>
      </p:sp>
    </p:spTree>
    <p:extLst>
      <p:ext uri="{BB962C8B-B14F-4D97-AF65-F5344CB8AC3E}">
        <p14:creationId xmlns:p14="http://schemas.microsoft.com/office/powerpoint/2010/main" val="17770340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B95CD-D927-98C0-CF16-8765CB1F29E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0D9F720-753B-2AFC-8D66-5227059108D1}"/>
              </a:ext>
            </a:extLst>
          </p:cNvPr>
          <p:cNvSpPr>
            <a:spLocks noGrp="1"/>
          </p:cNvSpPr>
          <p:nvPr>
            <p:ph type="sldNum" sz="quarter" idx="12"/>
          </p:nvPr>
        </p:nvSpPr>
        <p:spPr/>
        <p:txBody>
          <a:bodyPr/>
          <a:lstStyle/>
          <a:p>
            <a:fld id="{51D91E7F-84B6-4064-9D4E-CC7D244BCA04}" type="slidenum">
              <a:rPr lang="zh-CN" altLang="en-US" smtClean="0"/>
              <a:t>41</a:t>
            </a:fld>
            <a:endParaRPr lang="zh-CN" altLang="en-US"/>
          </a:p>
        </p:txBody>
      </p:sp>
      <p:sp>
        <p:nvSpPr>
          <p:cNvPr id="3" name="文本占位符 2">
            <a:extLst>
              <a:ext uri="{FF2B5EF4-FFF2-40B4-BE49-F238E27FC236}">
                <a16:creationId xmlns:a16="http://schemas.microsoft.com/office/drawing/2014/main" id="{2B42A161-E972-BE78-199C-C431A80FF534}"/>
              </a:ext>
            </a:extLst>
          </p:cNvPr>
          <p:cNvSpPr>
            <a:spLocks noGrp="1"/>
          </p:cNvSpPr>
          <p:nvPr>
            <p:ph type="body" sz="quarter" idx="13"/>
          </p:nvPr>
        </p:nvSpPr>
        <p:spPr/>
        <p:txBody>
          <a:bodyPr/>
          <a:lstStyle/>
          <a:p>
            <a:r>
              <a:rPr kumimoji="1" lang="zh-CN" altLang="en-US" dirty="0"/>
              <a:t>持续集成的好处 </a:t>
            </a:r>
            <a:r>
              <a:rPr kumimoji="1" lang="en-US" altLang="zh-CN" dirty="0"/>
              <a:t>(2) - </a:t>
            </a:r>
            <a:r>
              <a:rPr kumimoji="1" lang="zh-CN" altLang="en-US" dirty="0"/>
              <a:t>促进改进与发布</a:t>
            </a:r>
          </a:p>
        </p:txBody>
      </p:sp>
      <p:sp>
        <p:nvSpPr>
          <p:cNvPr id="4" name="内容占位符 3">
            <a:extLst>
              <a:ext uri="{FF2B5EF4-FFF2-40B4-BE49-F238E27FC236}">
                <a16:creationId xmlns:a16="http://schemas.microsoft.com/office/drawing/2014/main" id="{2EC4A469-4EAE-3BA4-D9C9-4F850CEABD5A}"/>
              </a:ext>
            </a:extLst>
          </p:cNvPr>
          <p:cNvSpPr>
            <a:spLocks noGrp="1"/>
          </p:cNvSpPr>
          <p:nvPr>
            <p:ph idx="1"/>
          </p:nvPr>
        </p:nvSpPr>
        <p:spPr/>
        <p:txBody>
          <a:bodyPr>
            <a:normAutofit fontScale="77500" lnSpcReduction="20000"/>
          </a:bodyPr>
          <a:lstStyle/>
          <a:p>
            <a:r>
              <a:rPr kumimoji="1" lang="zh-CN" altLang="en-US" dirty="0"/>
              <a:t>鼓励并支持重构： 有了快速、可靠的自动化测试作为安全网，开发者更有信心进行代码重构，以改善设计、消除重复、提高可维护性。</a:t>
            </a:r>
            <a:r>
              <a:rPr kumimoji="1" lang="en-US" altLang="zh-CN" dirty="0"/>
              <a:t>CI </a:t>
            </a:r>
            <a:r>
              <a:rPr kumimoji="1" lang="zh-CN" altLang="en-US" dirty="0"/>
              <a:t>使得重构成为一种持续的活动，有助于保持代码库的健康。</a:t>
            </a:r>
          </a:p>
          <a:p>
            <a:r>
              <a:rPr kumimoji="1" lang="zh-CN" altLang="en-US" dirty="0"/>
              <a:t>提高代码质量： 自动化测试和静态分析工具的持续运行，有助于及早发现并修复缺陷和不良实践，从而提升整体代码质量。</a:t>
            </a:r>
          </a:p>
          <a:p>
            <a:r>
              <a:rPr kumimoji="1" lang="zh-CN" altLang="en-US" dirty="0"/>
              <a:t>更频繁、更可靠的发布： 由于主线代码始终处于接近可发布的状态，并且经过了持续的自动化验证，团队可以更频繁、更自信地进行软件发布。发布不再是一个高风险、低频率的事件。</a:t>
            </a:r>
          </a:p>
          <a:p>
            <a:r>
              <a:rPr kumimoji="1" lang="zh-CN" altLang="en-US" dirty="0"/>
              <a:t>发布成为业务决策： 当技术上的发布障碍被移除后，“何时发布”更多地取决于业务需求和市场时机，而不是技术团队能否准备好一个版本。这与持续交付（</a:t>
            </a:r>
            <a:r>
              <a:rPr kumimoji="1" lang="en-US" altLang="zh-CN" dirty="0"/>
              <a:t>Continuous Delivery</a:t>
            </a:r>
            <a:r>
              <a:rPr kumimoji="1" lang="zh-CN" altLang="en-US" dirty="0"/>
              <a:t>）的理念紧密相连。</a:t>
            </a:r>
          </a:p>
          <a:p>
            <a:endParaRPr kumimoji="1" lang="zh-CN" altLang="en-US" dirty="0"/>
          </a:p>
        </p:txBody>
      </p:sp>
    </p:spTree>
    <p:extLst>
      <p:ext uri="{BB962C8B-B14F-4D97-AF65-F5344CB8AC3E}">
        <p14:creationId xmlns:p14="http://schemas.microsoft.com/office/powerpoint/2010/main" val="25797235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D256F-FC2E-AADF-46A2-69E539EE33E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F21532-CB5E-4567-BB71-42AF2345FEA2}"/>
              </a:ext>
            </a:extLst>
          </p:cNvPr>
          <p:cNvSpPr>
            <a:spLocks noGrp="1"/>
          </p:cNvSpPr>
          <p:nvPr>
            <p:ph type="sldNum" sz="quarter" idx="12"/>
          </p:nvPr>
        </p:nvSpPr>
        <p:spPr/>
        <p:txBody>
          <a:bodyPr/>
          <a:lstStyle/>
          <a:p>
            <a:fld id="{51D91E7F-84B6-4064-9D4E-CC7D244BCA04}" type="slidenum">
              <a:rPr lang="zh-CN" altLang="en-US" smtClean="0"/>
              <a:t>42</a:t>
            </a:fld>
            <a:endParaRPr lang="zh-CN" altLang="en-US"/>
          </a:p>
        </p:txBody>
      </p:sp>
      <p:sp>
        <p:nvSpPr>
          <p:cNvPr id="3" name="文本占位符 2">
            <a:extLst>
              <a:ext uri="{FF2B5EF4-FFF2-40B4-BE49-F238E27FC236}">
                <a16:creationId xmlns:a16="http://schemas.microsoft.com/office/drawing/2014/main" id="{8D61E5C1-DC06-1E4B-7A58-F4F4ADCE151F}"/>
              </a:ext>
            </a:extLst>
          </p:cNvPr>
          <p:cNvSpPr>
            <a:spLocks noGrp="1"/>
          </p:cNvSpPr>
          <p:nvPr>
            <p:ph type="body" sz="quarter" idx="13"/>
          </p:nvPr>
        </p:nvSpPr>
        <p:spPr/>
        <p:txBody>
          <a:bodyPr/>
          <a:lstStyle/>
          <a:p>
            <a:r>
              <a:rPr kumimoji="1" lang="en-US" altLang="zh-CN" dirty="0"/>
              <a:t>CI </a:t>
            </a:r>
            <a:r>
              <a:rPr kumimoji="1" lang="zh-CN" altLang="en-US" dirty="0"/>
              <a:t>与特性分支 </a:t>
            </a:r>
            <a:r>
              <a:rPr kumimoji="1" lang="en-US" altLang="zh-CN" dirty="0"/>
              <a:t>(Feature Branching)</a:t>
            </a:r>
            <a:endParaRPr kumimoji="1" lang="zh-CN" altLang="en-US" dirty="0"/>
          </a:p>
        </p:txBody>
      </p:sp>
      <p:sp>
        <p:nvSpPr>
          <p:cNvPr id="4" name="内容占位符 3">
            <a:extLst>
              <a:ext uri="{FF2B5EF4-FFF2-40B4-BE49-F238E27FC236}">
                <a16:creationId xmlns:a16="http://schemas.microsoft.com/office/drawing/2014/main" id="{6EDD5CDE-FB01-EC1F-39A1-05118CF0A0F4}"/>
              </a:ext>
            </a:extLst>
          </p:cNvPr>
          <p:cNvSpPr>
            <a:spLocks noGrp="1"/>
          </p:cNvSpPr>
          <p:nvPr>
            <p:ph idx="1"/>
          </p:nvPr>
        </p:nvSpPr>
        <p:spPr/>
        <p:txBody>
          <a:bodyPr>
            <a:normAutofit fontScale="92500" lnSpcReduction="20000"/>
          </a:bodyPr>
          <a:lstStyle/>
          <a:p>
            <a:r>
              <a:rPr kumimoji="1" lang="zh-CN" altLang="en-US" dirty="0"/>
              <a:t>关系辨析： 严格来说，持续集成与长期存在的特性分支（</a:t>
            </a:r>
            <a:r>
              <a:rPr kumimoji="1" lang="en-US" altLang="zh-CN" dirty="0"/>
              <a:t>Feature Branching</a:t>
            </a:r>
            <a:r>
              <a:rPr kumimoji="1" lang="zh-CN" altLang="en-US" dirty="0"/>
              <a:t>，即开发者在独立分支上工作数天、数周甚至数月）是互斥的开发模式。</a:t>
            </a:r>
            <a:r>
              <a:rPr kumimoji="1" lang="en-US" altLang="zh-CN" dirty="0"/>
              <a:t>CI </a:t>
            </a:r>
            <a:r>
              <a:rPr kumimoji="1" lang="zh-CN" altLang="en-US" dirty="0"/>
              <a:t>的核心在于持续地将工作集成到主线。如果在特性分支上运行 </a:t>
            </a:r>
            <a:r>
              <a:rPr kumimoji="1" lang="en-US" altLang="zh-CN" dirty="0"/>
              <a:t>CI </a:t>
            </a:r>
            <a:r>
              <a:rPr kumimoji="1" lang="zh-CN" altLang="en-US" dirty="0"/>
              <a:t>工具（例如，每次提交到特性分支时触发构建和测试），那只是“特性分支上的自动化构建”，而不是真正的持续集成。</a:t>
            </a:r>
          </a:p>
          <a:p>
            <a:r>
              <a:rPr kumimoji="1" lang="zh-CN" altLang="en-US" dirty="0"/>
              <a:t>兼容性： 短暂的、生命周期不超过一天的特性分支（或个人任务分支）与 </a:t>
            </a:r>
            <a:r>
              <a:rPr kumimoji="1" lang="en-US" altLang="zh-CN" dirty="0"/>
              <a:t>CI </a:t>
            </a:r>
            <a:r>
              <a:rPr kumimoji="1" lang="zh-CN" altLang="en-US" dirty="0"/>
              <a:t>是兼容的，前提是这些分支最终会频繁地（每天至少一次）合并回主线，并且合并前后的主线都经过了 </a:t>
            </a:r>
            <a:r>
              <a:rPr kumimoji="1" lang="en-US" altLang="zh-CN" dirty="0"/>
              <a:t>CI </a:t>
            </a:r>
            <a:r>
              <a:rPr kumimoji="1" lang="zh-CN" altLang="en-US" dirty="0"/>
              <a:t>验证。关键在于集成的频率和目标（主线）。</a:t>
            </a:r>
          </a:p>
        </p:txBody>
      </p:sp>
    </p:spTree>
    <p:extLst>
      <p:ext uri="{BB962C8B-B14F-4D97-AF65-F5344CB8AC3E}">
        <p14:creationId xmlns:p14="http://schemas.microsoft.com/office/powerpoint/2010/main" val="23601002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F8F3E-74E9-B7CC-9805-2D82273ADFD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C8C0CCA-BD21-0359-08E7-7BE6B4EE7E6F}"/>
              </a:ext>
            </a:extLst>
          </p:cNvPr>
          <p:cNvSpPr>
            <a:spLocks noGrp="1"/>
          </p:cNvSpPr>
          <p:nvPr>
            <p:ph type="sldNum" sz="quarter" idx="12"/>
          </p:nvPr>
        </p:nvSpPr>
        <p:spPr/>
        <p:txBody>
          <a:bodyPr/>
          <a:lstStyle/>
          <a:p>
            <a:fld id="{51D91E7F-84B6-4064-9D4E-CC7D244BCA04}" type="slidenum">
              <a:rPr lang="zh-CN" altLang="en-US" smtClean="0"/>
              <a:t>43</a:t>
            </a:fld>
            <a:endParaRPr lang="zh-CN" altLang="en-US"/>
          </a:p>
        </p:txBody>
      </p:sp>
      <p:sp>
        <p:nvSpPr>
          <p:cNvPr id="3" name="文本占位符 2">
            <a:extLst>
              <a:ext uri="{FF2B5EF4-FFF2-40B4-BE49-F238E27FC236}">
                <a16:creationId xmlns:a16="http://schemas.microsoft.com/office/drawing/2014/main" id="{3AC1F77B-9E29-26B4-E237-17AB5BD98DD2}"/>
              </a:ext>
            </a:extLst>
          </p:cNvPr>
          <p:cNvSpPr>
            <a:spLocks noGrp="1"/>
          </p:cNvSpPr>
          <p:nvPr>
            <p:ph type="body" sz="quarter" idx="13"/>
          </p:nvPr>
        </p:nvSpPr>
        <p:spPr/>
        <p:txBody>
          <a:bodyPr/>
          <a:lstStyle/>
          <a:p>
            <a:r>
              <a:rPr kumimoji="1" lang="en-US" altLang="zh-CN" dirty="0"/>
              <a:t>CI </a:t>
            </a:r>
            <a:r>
              <a:rPr kumimoji="1" lang="zh-CN" altLang="en-US" dirty="0"/>
              <a:t>与持续交付 </a:t>
            </a:r>
            <a:r>
              <a:rPr kumimoji="1" lang="en-US" altLang="zh-CN" dirty="0"/>
              <a:t>(Continuous Delivery, CD)</a:t>
            </a:r>
            <a:endParaRPr kumimoji="1" lang="zh-CN" altLang="en-US" dirty="0"/>
          </a:p>
        </p:txBody>
      </p:sp>
      <p:sp>
        <p:nvSpPr>
          <p:cNvPr id="4" name="内容占位符 3">
            <a:extLst>
              <a:ext uri="{FF2B5EF4-FFF2-40B4-BE49-F238E27FC236}">
                <a16:creationId xmlns:a16="http://schemas.microsoft.com/office/drawing/2014/main" id="{5846FC64-53C7-8F43-A037-8A132A562626}"/>
              </a:ext>
            </a:extLst>
          </p:cNvPr>
          <p:cNvSpPr>
            <a:spLocks noGrp="1"/>
          </p:cNvSpPr>
          <p:nvPr>
            <p:ph idx="1"/>
          </p:nvPr>
        </p:nvSpPr>
        <p:spPr/>
        <p:txBody>
          <a:bodyPr>
            <a:normAutofit fontScale="92500"/>
          </a:bodyPr>
          <a:lstStyle/>
          <a:p>
            <a:r>
              <a:rPr kumimoji="1" lang="zh-CN" altLang="en-US" dirty="0"/>
              <a:t>关系与区别：</a:t>
            </a:r>
          </a:p>
          <a:p>
            <a:pPr lvl="1"/>
            <a:r>
              <a:rPr kumimoji="1" lang="zh-CN" altLang="en-US" dirty="0"/>
              <a:t>持续集成 </a:t>
            </a:r>
            <a:r>
              <a:rPr kumimoji="1" lang="en-US" altLang="zh-CN" dirty="0"/>
              <a:t>(CI): </a:t>
            </a:r>
            <a:r>
              <a:rPr kumimoji="1" lang="zh-CN" altLang="en-US" dirty="0"/>
              <a:t>关注点在于开发者将代码更改频繁集成到版本控制系统的主线，并通过自动化构建和测试进行验证。其目标是确保主线代码始终处于健康、可工作、已集成的状态。</a:t>
            </a:r>
            <a:r>
              <a:rPr kumimoji="1" lang="en-US" altLang="zh-CN" dirty="0"/>
              <a:t>CI </a:t>
            </a:r>
            <a:r>
              <a:rPr kumimoji="1" lang="zh-CN" altLang="en-US" dirty="0"/>
              <a:t>主要发生在开发环境中。</a:t>
            </a:r>
          </a:p>
          <a:p>
            <a:pPr lvl="1"/>
            <a:r>
              <a:rPr kumimoji="1" lang="zh-CN" altLang="en-US" dirty="0"/>
              <a:t>持续交付 </a:t>
            </a:r>
            <a:r>
              <a:rPr kumimoji="1" lang="en-US" altLang="zh-CN" dirty="0"/>
              <a:t>(CD): </a:t>
            </a:r>
            <a:r>
              <a:rPr kumimoji="1" lang="zh-CN" altLang="en-US" dirty="0"/>
              <a:t>是 </a:t>
            </a:r>
            <a:r>
              <a:rPr kumimoji="1" lang="en-US" altLang="zh-CN" dirty="0"/>
              <a:t>CI </a:t>
            </a:r>
            <a:r>
              <a:rPr kumimoji="1" lang="zh-CN" altLang="en-US" dirty="0"/>
              <a:t>的自然延伸。它确保了通过 </a:t>
            </a:r>
            <a:r>
              <a:rPr kumimoji="1" lang="en-US" altLang="zh-CN" dirty="0"/>
              <a:t>CI </a:t>
            </a:r>
            <a:r>
              <a:rPr kumimoji="1" lang="zh-CN" altLang="en-US" dirty="0"/>
              <a:t>验证的主线代码，能够通过一系列自动化的后续步骤（如更全面的测试、部署到类生产环境、准备发布包），使得任何版本的主线代码都可以被部署到生产环境。</a:t>
            </a:r>
            <a:r>
              <a:rPr kumimoji="1" lang="en-US" altLang="zh-CN" dirty="0"/>
              <a:t>CD </a:t>
            </a:r>
            <a:r>
              <a:rPr kumimoji="1" lang="zh-CN" altLang="en-US" dirty="0"/>
              <a:t>的目标是让发布到生产成为一个低风险、可按需进行的常规活动，通常是一个业务决策。</a:t>
            </a:r>
          </a:p>
          <a:p>
            <a:pPr lvl="1"/>
            <a:r>
              <a:rPr kumimoji="1" lang="zh-CN" altLang="en-US" dirty="0"/>
              <a:t>关系： </a:t>
            </a:r>
            <a:r>
              <a:rPr kumimoji="1" lang="en-US" altLang="zh-CN" dirty="0"/>
              <a:t>CI </a:t>
            </a:r>
            <a:r>
              <a:rPr kumimoji="1" lang="zh-CN" altLang="en-US" dirty="0"/>
              <a:t>是实现 </a:t>
            </a:r>
            <a:r>
              <a:rPr kumimoji="1" lang="en-US" altLang="zh-CN" dirty="0"/>
              <a:t>CD </a:t>
            </a:r>
            <a:r>
              <a:rPr kumimoji="1" lang="zh-CN" altLang="en-US" dirty="0"/>
              <a:t>的必要前提。没有有效的 </a:t>
            </a:r>
            <a:r>
              <a:rPr kumimoji="1" lang="en-US" altLang="zh-CN" dirty="0"/>
              <a:t>CI</a:t>
            </a:r>
            <a:r>
              <a:rPr kumimoji="1" lang="zh-CN" altLang="en-US" dirty="0"/>
              <a:t>，就无法可靠地进行 </a:t>
            </a:r>
            <a:r>
              <a:rPr kumimoji="1" lang="en-US" altLang="zh-CN" dirty="0"/>
              <a:t>CD</a:t>
            </a:r>
            <a:r>
              <a:rPr kumimoji="1" lang="zh-CN" altLang="en-US" dirty="0"/>
              <a:t>。</a:t>
            </a:r>
          </a:p>
        </p:txBody>
      </p:sp>
    </p:spTree>
    <p:extLst>
      <p:ext uri="{BB962C8B-B14F-4D97-AF65-F5344CB8AC3E}">
        <p14:creationId xmlns:p14="http://schemas.microsoft.com/office/powerpoint/2010/main" val="168258550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5281F-F70B-B59F-F8E5-89A523A0C61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837546-AED5-2BF8-D5F6-0F3710DEC6D8}"/>
              </a:ext>
            </a:extLst>
          </p:cNvPr>
          <p:cNvSpPr>
            <a:spLocks noGrp="1"/>
          </p:cNvSpPr>
          <p:nvPr>
            <p:ph type="sldNum" sz="quarter" idx="12"/>
          </p:nvPr>
        </p:nvSpPr>
        <p:spPr/>
        <p:txBody>
          <a:bodyPr/>
          <a:lstStyle/>
          <a:p>
            <a:fld id="{51D91E7F-84B6-4064-9D4E-CC7D244BCA04}" type="slidenum">
              <a:rPr lang="zh-CN" altLang="en-US" smtClean="0"/>
              <a:t>44</a:t>
            </a:fld>
            <a:endParaRPr lang="zh-CN" altLang="en-US"/>
          </a:p>
        </p:txBody>
      </p:sp>
      <p:sp>
        <p:nvSpPr>
          <p:cNvPr id="3" name="文本占位符 2">
            <a:extLst>
              <a:ext uri="{FF2B5EF4-FFF2-40B4-BE49-F238E27FC236}">
                <a16:creationId xmlns:a16="http://schemas.microsoft.com/office/drawing/2014/main" id="{4000A1DE-B1BF-7514-AB43-24987DA5DF8F}"/>
              </a:ext>
            </a:extLst>
          </p:cNvPr>
          <p:cNvSpPr>
            <a:spLocks noGrp="1"/>
          </p:cNvSpPr>
          <p:nvPr>
            <p:ph type="body" sz="quarter" idx="13"/>
          </p:nvPr>
        </p:nvSpPr>
        <p:spPr/>
        <p:txBody>
          <a:bodyPr/>
          <a:lstStyle/>
          <a:p>
            <a:r>
              <a:rPr kumimoji="1" lang="zh-CN" altLang="en-US" dirty="0"/>
              <a:t>持续部署 </a:t>
            </a:r>
            <a:r>
              <a:rPr kumimoji="1" lang="en-US" altLang="zh-CN" dirty="0"/>
              <a:t>(Continuous Deployment)</a:t>
            </a:r>
            <a:endParaRPr kumimoji="1" lang="zh-CN" altLang="en-US" dirty="0"/>
          </a:p>
        </p:txBody>
      </p:sp>
      <p:sp>
        <p:nvSpPr>
          <p:cNvPr id="4" name="内容占位符 3">
            <a:extLst>
              <a:ext uri="{FF2B5EF4-FFF2-40B4-BE49-F238E27FC236}">
                <a16:creationId xmlns:a16="http://schemas.microsoft.com/office/drawing/2014/main" id="{730D5CCB-C83C-6E89-970D-1781E85095BA}"/>
              </a:ext>
            </a:extLst>
          </p:cNvPr>
          <p:cNvSpPr>
            <a:spLocks noGrp="1"/>
          </p:cNvSpPr>
          <p:nvPr>
            <p:ph idx="1"/>
          </p:nvPr>
        </p:nvSpPr>
        <p:spPr/>
        <p:txBody>
          <a:bodyPr>
            <a:normAutofit fontScale="85000" lnSpcReduction="20000"/>
          </a:bodyPr>
          <a:lstStyle/>
          <a:p>
            <a:r>
              <a:rPr kumimoji="1" lang="zh-CN" altLang="en-US" dirty="0"/>
              <a:t>定义： 持续部署是持续交付的更进一步。在持续交付中，每次主线构建通过所有自动化测试和验证后，软件处于可发布状态，但最终部署到生产环境通常还需要一次手动触发（例如，业务人员点击按钮）。而在持续部署中，这个手动触发步骤也被自动化了：只要主线构建成功通过了部署流水线中的所有阶段（包括所有自动化测试和检查），它就会自动被部署到生产环境中，无需人工干预。</a:t>
            </a:r>
          </a:p>
          <a:p>
            <a:r>
              <a:rPr kumimoji="1" lang="zh-CN" altLang="en-US" dirty="0"/>
              <a:t>总结：</a:t>
            </a:r>
          </a:p>
          <a:p>
            <a:pPr lvl="1"/>
            <a:r>
              <a:rPr kumimoji="1" lang="en-US" altLang="zh-CN" dirty="0"/>
              <a:t>CI: </a:t>
            </a:r>
            <a:r>
              <a:rPr kumimoji="1" lang="zh-CN" altLang="en-US" dirty="0"/>
              <a:t>代码集成到主线并通过初始验证。</a:t>
            </a:r>
          </a:p>
          <a:p>
            <a:pPr lvl="1"/>
            <a:r>
              <a:rPr kumimoji="1" lang="en-US" altLang="zh-CN" dirty="0"/>
              <a:t>CD: CI </a:t>
            </a:r>
            <a:r>
              <a:rPr kumimoji="1" lang="zh-CN" altLang="en-US" dirty="0"/>
              <a:t>产物可随时按需部署到生产。</a:t>
            </a:r>
          </a:p>
          <a:p>
            <a:pPr lvl="1"/>
            <a:r>
              <a:rPr kumimoji="1" lang="en-US" altLang="zh-CN" dirty="0"/>
              <a:t>Continuous Deployment: CD </a:t>
            </a:r>
            <a:r>
              <a:rPr kumimoji="1" lang="zh-CN" altLang="en-US" dirty="0"/>
              <a:t>产物自动部署到生产。</a:t>
            </a:r>
          </a:p>
        </p:txBody>
      </p:sp>
    </p:spTree>
    <p:extLst>
      <p:ext uri="{BB962C8B-B14F-4D97-AF65-F5344CB8AC3E}">
        <p14:creationId xmlns:p14="http://schemas.microsoft.com/office/powerpoint/2010/main" val="34224361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54088-DCE5-04CF-24E5-9444D62E114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3148A5C-977B-271E-C8E1-958897F158F9}"/>
              </a:ext>
            </a:extLst>
          </p:cNvPr>
          <p:cNvSpPr>
            <a:spLocks noGrp="1"/>
          </p:cNvSpPr>
          <p:nvPr>
            <p:ph type="sldNum" sz="quarter" idx="12"/>
          </p:nvPr>
        </p:nvSpPr>
        <p:spPr/>
        <p:txBody>
          <a:bodyPr/>
          <a:lstStyle/>
          <a:p>
            <a:fld id="{51D91E7F-84B6-4064-9D4E-CC7D244BCA04}" type="slidenum">
              <a:rPr lang="zh-CN" altLang="en-US" smtClean="0"/>
              <a:t>45</a:t>
            </a:fld>
            <a:endParaRPr lang="zh-CN" altLang="en-US"/>
          </a:p>
        </p:txBody>
      </p:sp>
      <p:sp>
        <p:nvSpPr>
          <p:cNvPr id="3" name="文本占位符 2">
            <a:extLst>
              <a:ext uri="{FF2B5EF4-FFF2-40B4-BE49-F238E27FC236}">
                <a16:creationId xmlns:a16="http://schemas.microsoft.com/office/drawing/2014/main" id="{C69C2B09-53CF-DFCB-0774-FE04D4DCEBC8}"/>
              </a:ext>
            </a:extLst>
          </p:cNvPr>
          <p:cNvSpPr>
            <a:spLocks noGrp="1"/>
          </p:cNvSpPr>
          <p:nvPr>
            <p:ph type="body" sz="quarter" idx="13"/>
          </p:nvPr>
        </p:nvSpPr>
        <p:spPr/>
        <p:txBody>
          <a:bodyPr/>
          <a:lstStyle/>
          <a:p>
            <a:r>
              <a:rPr kumimoji="1" lang="en-US" altLang="zh-CN" dirty="0"/>
              <a:t>CI </a:t>
            </a:r>
            <a:r>
              <a:rPr kumimoji="1" lang="zh-CN" altLang="en-US" dirty="0"/>
              <a:t>与拉取请求 </a:t>
            </a:r>
            <a:r>
              <a:rPr kumimoji="1" lang="en-US" altLang="zh-CN" dirty="0"/>
              <a:t>(Pull Requests) </a:t>
            </a:r>
            <a:r>
              <a:rPr kumimoji="1" lang="zh-CN" altLang="en-US" dirty="0"/>
              <a:t>及代码评审</a:t>
            </a:r>
          </a:p>
        </p:txBody>
      </p:sp>
      <p:sp>
        <p:nvSpPr>
          <p:cNvPr id="4" name="内容占位符 3">
            <a:extLst>
              <a:ext uri="{FF2B5EF4-FFF2-40B4-BE49-F238E27FC236}">
                <a16:creationId xmlns:a16="http://schemas.microsoft.com/office/drawing/2014/main" id="{F004DE72-64A5-6D79-9159-E317F5FEEE02}"/>
              </a:ext>
            </a:extLst>
          </p:cNvPr>
          <p:cNvSpPr>
            <a:spLocks noGrp="1"/>
          </p:cNvSpPr>
          <p:nvPr>
            <p:ph idx="1"/>
          </p:nvPr>
        </p:nvSpPr>
        <p:spPr>
          <a:xfrm>
            <a:off x="838200" y="1289956"/>
            <a:ext cx="10515600" cy="5270108"/>
          </a:xfrm>
        </p:spPr>
        <p:txBody>
          <a:bodyPr>
            <a:normAutofit fontScale="77500" lnSpcReduction="20000"/>
          </a:bodyPr>
          <a:lstStyle/>
          <a:p>
            <a:r>
              <a:rPr kumimoji="1" lang="zh-CN" altLang="en-US" dirty="0"/>
              <a:t>挑战： 拉取请求（</a:t>
            </a:r>
            <a:r>
              <a:rPr kumimoji="1" lang="en-US" altLang="zh-CN" dirty="0"/>
              <a:t>Pull Requests, PRs</a:t>
            </a:r>
            <a:r>
              <a:rPr kumimoji="1" lang="zh-CN" altLang="en-US" dirty="0"/>
              <a:t>），尤其是在需要前置代码评审（</a:t>
            </a:r>
            <a:r>
              <a:rPr kumimoji="1" lang="en-US" altLang="zh-CN" dirty="0"/>
              <a:t>Pre-integration Code Review</a:t>
            </a:r>
            <a:r>
              <a:rPr kumimoji="1" lang="zh-CN" altLang="en-US" dirty="0"/>
              <a:t>）才能合并到主线的流程中，可能会给 </a:t>
            </a:r>
            <a:r>
              <a:rPr kumimoji="1" lang="en-US" altLang="zh-CN" dirty="0"/>
              <a:t>CI </a:t>
            </a:r>
            <a:r>
              <a:rPr kumimoji="1" lang="zh-CN" altLang="en-US" dirty="0"/>
              <a:t>带来挑战。评审过程可能需要时间（等待评审者、讨论反馈），这会延迟代码集成到主线的时间，从而打破 </a:t>
            </a:r>
            <a:r>
              <a:rPr kumimoji="1" lang="en-US" altLang="zh-CN" dirty="0"/>
              <a:t>CI </a:t>
            </a:r>
            <a:r>
              <a:rPr kumimoji="1" lang="zh-CN" altLang="en-US" dirty="0"/>
              <a:t>所强调的快速反馈循环（几分钟或几小时 </a:t>
            </a:r>
            <a:r>
              <a:rPr kumimoji="1" lang="en-US" altLang="zh-CN" dirty="0"/>
              <a:t>vs. </a:t>
            </a:r>
            <a:r>
              <a:rPr kumimoji="1" lang="zh-CN" altLang="en-US" dirty="0"/>
              <a:t>数小时或数天）。</a:t>
            </a:r>
          </a:p>
          <a:p>
            <a:r>
              <a:rPr kumimoji="1" lang="en-US" altLang="zh-CN" dirty="0"/>
              <a:t>CI </a:t>
            </a:r>
            <a:r>
              <a:rPr kumimoji="1" lang="zh-CN" altLang="en-US" dirty="0"/>
              <a:t>团队的实践：</a:t>
            </a:r>
          </a:p>
          <a:p>
            <a:pPr lvl="1"/>
            <a:r>
              <a:rPr kumimoji="1" lang="zh-CN" altLang="en-US" dirty="0"/>
              <a:t>结对编程 </a:t>
            </a:r>
            <a:r>
              <a:rPr kumimoji="1" lang="en-US" altLang="zh-CN" dirty="0"/>
              <a:t>(Pair Programming): </a:t>
            </a:r>
            <a:r>
              <a:rPr kumimoji="1" lang="zh-CN" altLang="en-US" dirty="0"/>
              <a:t>代码在编写时就进行了实时的、持续的评审，无需后续的异步评审。</a:t>
            </a:r>
          </a:p>
          <a:p>
            <a:pPr lvl="1"/>
            <a:r>
              <a:rPr kumimoji="1" lang="zh-CN" altLang="en-US" dirty="0"/>
              <a:t>集成后评审 </a:t>
            </a:r>
            <a:r>
              <a:rPr kumimoji="1" lang="en-US" altLang="zh-CN" dirty="0"/>
              <a:t>(Post-integration Review): </a:t>
            </a:r>
            <a:r>
              <a:rPr kumimoji="1" lang="zh-CN" altLang="en-US" dirty="0"/>
              <a:t>先将代码集成到主线，再进行评审。如果发现问题，通过后续提交修复。这保证了集成频率，但需要快速响应评审反馈。</a:t>
            </a:r>
          </a:p>
          <a:p>
            <a:pPr lvl="1"/>
            <a:r>
              <a:rPr kumimoji="1" lang="zh-CN" altLang="en-US" dirty="0"/>
              <a:t>分类： 对不同类型的更改采用不同策略，并非所有更改都需要阻塞式的预评审。</a:t>
            </a:r>
          </a:p>
          <a:p>
            <a:pPr lvl="1"/>
            <a:r>
              <a:rPr kumimoji="1" lang="zh-CN" altLang="en-US" dirty="0"/>
              <a:t>优化评审流程： 确保评审者及时响应，评审关注点明确。对于紧密协作的全职团队，需要重新评估是否所有更改都需要重量级的 </a:t>
            </a:r>
            <a:r>
              <a:rPr kumimoji="1" lang="en-US" altLang="zh-CN" dirty="0"/>
              <a:t>PR </a:t>
            </a:r>
            <a:r>
              <a:rPr kumimoji="1" lang="zh-CN" altLang="en-US" dirty="0"/>
              <a:t>流程。</a:t>
            </a:r>
          </a:p>
        </p:txBody>
      </p:sp>
    </p:spTree>
    <p:extLst>
      <p:ext uri="{BB962C8B-B14F-4D97-AF65-F5344CB8AC3E}">
        <p14:creationId xmlns:p14="http://schemas.microsoft.com/office/powerpoint/2010/main" val="29155468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24FC-8F6C-F1CD-9B93-C9BA999B2F4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A36162C-5C1F-BE87-D37F-A6F7FC8F1FEC}"/>
              </a:ext>
            </a:extLst>
          </p:cNvPr>
          <p:cNvSpPr>
            <a:spLocks noGrp="1"/>
          </p:cNvSpPr>
          <p:nvPr>
            <p:ph type="sldNum" sz="quarter" idx="12"/>
          </p:nvPr>
        </p:nvSpPr>
        <p:spPr/>
        <p:txBody>
          <a:bodyPr/>
          <a:lstStyle/>
          <a:p>
            <a:fld id="{51D91E7F-84B6-4064-9D4E-CC7D244BCA04}" type="slidenum">
              <a:rPr lang="zh-CN" altLang="en-US" smtClean="0"/>
              <a:t>46</a:t>
            </a:fld>
            <a:endParaRPr lang="zh-CN" altLang="en-US"/>
          </a:p>
        </p:txBody>
      </p:sp>
      <p:sp>
        <p:nvSpPr>
          <p:cNvPr id="3" name="文本占位符 2">
            <a:extLst>
              <a:ext uri="{FF2B5EF4-FFF2-40B4-BE49-F238E27FC236}">
                <a16:creationId xmlns:a16="http://schemas.microsoft.com/office/drawing/2014/main" id="{3737DF73-D35B-743A-84AD-0C4C6839758A}"/>
              </a:ext>
            </a:extLst>
          </p:cNvPr>
          <p:cNvSpPr>
            <a:spLocks noGrp="1"/>
          </p:cNvSpPr>
          <p:nvPr>
            <p:ph type="body" sz="quarter" idx="13"/>
          </p:nvPr>
        </p:nvSpPr>
        <p:spPr/>
        <p:txBody>
          <a:bodyPr/>
          <a:lstStyle/>
          <a:p>
            <a:r>
              <a:rPr kumimoji="1" lang="en-US" altLang="zh-CN" dirty="0"/>
              <a:t>CI </a:t>
            </a:r>
            <a:r>
              <a:rPr kumimoji="1" lang="zh-CN" altLang="en-US" dirty="0"/>
              <a:t>与数据库管理</a:t>
            </a:r>
          </a:p>
        </p:txBody>
      </p:sp>
      <p:sp>
        <p:nvSpPr>
          <p:cNvPr id="4" name="内容占位符 3">
            <a:extLst>
              <a:ext uri="{FF2B5EF4-FFF2-40B4-BE49-F238E27FC236}">
                <a16:creationId xmlns:a16="http://schemas.microsoft.com/office/drawing/2014/main" id="{AC264D51-2E03-3FF7-DDC3-204C2655AA5F}"/>
              </a:ext>
            </a:extLst>
          </p:cNvPr>
          <p:cNvSpPr>
            <a:spLocks noGrp="1"/>
          </p:cNvSpPr>
          <p:nvPr>
            <p:ph idx="1"/>
          </p:nvPr>
        </p:nvSpPr>
        <p:spPr>
          <a:xfrm>
            <a:off x="632926" y="1201174"/>
            <a:ext cx="10515600" cy="5205470"/>
          </a:xfrm>
        </p:spPr>
        <p:txBody>
          <a:bodyPr>
            <a:normAutofit fontScale="85000" lnSpcReduction="20000"/>
          </a:bodyPr>
          <a:lstStyle/>
          <a:p>
            <a:r>
              <a:rPr kumimoji="1" lang="zh-CN" altLang="en-US" dirty="0"/>
              <a:t>挑战： 数据库模式（</a:t>
            </a:r>
            <a:r>
              <a:rPr kumimoji="1" lang="en-US" altLang="zh-CN" dirty="0"/>
              <a:t>Schema</a:t>
            </a:r>
            <a:r>
              <a:rPr kumimoji="1" lang="zh-CN" altLang="en-US" dirty="0"/>
              <a:t>）的变更和测试数据的管理是 </a:t>
            </a:r>
            <a:r>
              <a:rPr kumimoji="1" lang="en-US" altLang="zh-CN" dirty="0"/>
              <a:t>CI </a:t>
            </a:r>
            <a:r>
              <a:rPr kumimoji="1" lang="zh-CN" altLang="en-US" dirty="0"/>
              <a:t>中的一个常见挑战。如何确保应用程序代码与其依赖的数据库结构保持同步？如何在自动化测试中使用合适的数据库状态？如何处理生产数据库的迁移？</a:t>
            </a:r>
          </a:p>
          <a:p>
            <a:r>
              <a:rPr kumimoji="1" lang="zh-CN" altLang="en-US" dirty="0"/>
              <a:t>解决方案：进化式数据库设计 </a:t>
            </a:r>
            <a:r>
              <a:rPr kumimoji="1" lang="en-US" altLang="zh-CN" dirty="0"/>
              <a:t>(Evolutionary Database Design):</a:t>
            </a:r>
          </a:p>
          <a:p>
            <a:pPr lvl="1"/>
            <a:r>
              <a:rPr kumimoji="1" lang="zh-CN" altLang="en-US" dirty="0"/>
              <a:t>版本化迁移脚本： 使用一系列小的、版本控制的数据库迁移脚本来管理数据库模式和数据的变更。每个脚本代表一次原子性的变更。</a:t>
            </a:r>
          </a:p>
          <a:p>
            <a:pPr lvl="1"/>
            <a:r>
              <a:rPr kumimoji="1" lang="zh-CN" altLang="en-US" dirty="0"/>
              <a:t>自动化迁移： 将运行这些迁移脚本的过程集成到自动化构建和部署流程中。可以根据需要将数据库迁移到任何特定版本。</a:t>
            </a:r>
          </a:p>
          <a:p>
            <a:pPr lvl="1"/>
            <a:r>
              <a:rPr kumimoji="1" lang="zh-CN" altLang="en-US" dirty="0"/>
              <a:t>与代码同步： 迁移脚本与应用程序代码一起存储在版本控制中，确保代码与其依赖的数据库结构始终匹配。</a:t>
            </a:r>
          </a:p>
          <a:p>
            <a:pPr lvl="1"/>
            <a:r>
              <a:rPr kumimoji="1" lang="zh-CN" altLang="en-US" dirty="0"/>
              <a:t>适用于各环境： 这些脚本可以应用于开发、测试和生产环境的数据库，实现一致的数据库状态管理。常用的工具有 </a:t>
            </a:r>
            <a:r>
              <a:rPr kumimoji="1" lang="en-US" altLang="zh-CN" dirty="0"/>
              <a:t>Flyway</a:t>
            </a:r>
            <a:r>
              <a:rPr kumimoji="1" lang="zh-CN" altLang="en-US" dirty="0"/>
              <a:t>、</a:t>
            </a:r>
            <a:r>
              <a:rPr kumimoji="1" lang="en-US" altLang="zh-CN" dirty="0"/>
              <a:t>Liquibase </a:t>
            </a:r>
            <a:r>
              <a:rPr kumimoji="1" lang="zh-CN" altLang="en-US" dirty="0"/>
              <a:t>等。</a:t>
            </a:r>
          </a:p>
        </p:txBody>
      </p:sp>
    </p:spTree>
    <p:extLst>
      <p:ext uri="{BB962C8B-B14F-4D97-AF65-F5344CB8AC3E}">
        <p14:creationId xmlns:p14="http://schemas.microsoft.com/office/powerpoint/2010/main" val="121814884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F6E2D-7F1C-F809-4EEB-2C29F19F771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58A7D22-F1A3-C15A-83BF-51D0A63B4896}"/>
              </a:ext>
            </a:extLst>
          </p:cNvPr>
          <p:cNvSpPr>
            <a:spLocks noGrp="1"/>
          </p:cNvSpPr>
          <p:nvPr>
            <p:ph type="sldNum" sz="quarter" idx="12"/>
          </p:nvPr>
        </p:nvSpPr>
        <p:spPr/>
        <p:txBody>
          <a:bodyPr/>
          <a:lstStyle/>
          <a:p>
            <a:fld id="{51D91E7F-84B6-4064-9D4E-CC7D244BCA04}" type="slidenum">
              <a:rPr lang="zh-CN" altLang="en-US" smtClean="0"/>
              <a:t>47</a:t>
            </a:fld>
            <a:endParaRPr lang="zh-CN" altLang="en-US"/>
          </a:p>
        </p:txBody>
      </p:sp>
      <p:sp>
        <p:nvSpPr>
          <p:cNvPr id="3" name="文本占位符 2">
            <a:extLst>
              <a:ext uri="{FF2B5EF4-FFF2-40B4-BE49-F238E27FC236}">
                <a16:creationId xmlns:a16="http://schemas.microsoft.com/office/drawing/2014/main" id="{CEA0BA13-EF81-F1EF-F349-AA8EAA45966E}"/>
              </a:ext>
            </a:extLst>
          </p:cNvPr>
          <p:cNvSpPr>
            <a:spLocks noGrp="1"/>
          </p:cNvSpPr>
          <p:nvPr>
            <p:ph type="body" sz="quarter" idx="13"/>
          </p:nvPr>
        </p:nvSpPr>
        <p:spPr/>
        <p:txBody>
          <a:bodyPr/>
          <a:lstStyle/>
          <a:p>
            <a:r>
              <a:rPr kumimoji="1" lang="zh-CN" altLang="en-US" dirty="0"/>
              <a:t>总结思考 </a:t>
            </a:r>
            <a:r>
              <a:rPr kumimoji="1" lang="en-US" altLang="zh-CN" dirty="0"/>
              <a:t>(1)</a:t>
            </a:r>
            <a:endParaRPr kumimoji="1" lang="zh-CN" altLang="en-US" dirty="0"/>
          </a:p>
        </p:txBody>
      </p:sp>
      <p:sp>
        <p:nvSpPr>
          <p:cNvPr id="4" name="内容占位符 3">
            <a:extLst>
              <a:ext uri="{FF2B5EF4-FFF2-40B4-BE49-F238E27FC236}">
                <a16:creationId xmlns:a16="http://schemas.microsoft.com/office/drawing/2014/main" id="{78E46922-2338-0C4A-3435-1A83A18ECEBF}"/>
              </a:ext>
            </a:extLst>
          </p:cNvPr>
          <p:cNvSpPr>
            <a:spLocks noGrp="1"/>
          </p:cNvSpPr>
          <p:nvPr>
            <p:ph idx="1"/>
          </p:nvPr>
        </p:nvSpPr>
        <p:spPr/>
        <p:txBody>
          <a:bodyPr>
            <a:normAutofit lnSpcReduction="10000"/>
          </a:bodyPr>
          <a:lstStyle/>
          <a:p>
            <a:r>
              <a:rPr kumimoji="1" lang="zh-CN" altLang="en-US" dirty="0"/>
              <a:t>核心价值： </a:t>
            </a:r>
            <a:endParaRPr kumimoji="1" lang="en-US" altLang="zh-CN" dirty="0"/>
          </a:p>
          <a:p>
            <a:pPr lvl="1"/>
            <a:r>
              <a:rPr kumimoji="1" lang="zh-CN" altLang="en-US" dirty="0"/>
              <a:t>大多数软件开发工作实际上是在修改现有的代码。</a:t>
            </a:r>
            <a:endParaRPr kumimoji="1" lang="en-US" altLang="zh-CN" dirty="0"/>
          </a:p>
          <a:p>
            <a:pPr lvl="1"/>
            <a:r>
              <a:rPr kumimoji="1" lang="zh-CN" altLang="en-US" dirty="0"/>
              <a:t>向一个代码库添加新功能的成本和响应时间，在很大程度上取决于该代码库的健康状况。</a:t>
            </a:r>
            <a:endParaRPr kumimoji="1" lang="en-US" altLang="zh-CN" dirty="0"/>
          </a:p>
          <a:p>
            <a:pPr lvl="1"/>
            <a:r>
              <a:rPr kumimoji="1" lang="zh-CN" altLang="en-US" dirty="0"/>
              <a:t>一个混乱、难以理解的代码库（即“遗留代码”或“技术债严重”的代码库）会使得修改变得缓慢、昂贵且充满风险。</a:t>
            </a:r>
            <a:endParaRPr kumimoji="1" lang="en-US" altLang="zh-CN" dirty="0"/>
          </a:p>
          <a:p>
            <a:pPr lvl="1"/>
            <a:r>
              <a:rPr kumimoji="1" lang="zh-CN" altLang="en-US" dirty="0"/>
              <a:t>为了将混乱程度降至最低，团队需要能够定期地、安全地重构代码，调整其结构以反映不断变化的需求，并融入从开发过程中学到的经验教训。</a:t>
            </a:r>
            <a:endParaRPr kumimoji="1" lang="en-US" altLang="zh-CN" dirty="0"/>
          </a:p>
          <a:p>
            <a:pPr lvl="1"/>
            <a:r>
              <a:rPr kumimoji="1" lang="zh-CN" altLang="en-US" dirty="0">
                <a:solidFill>
                  <a:srgbClr val="FF0000"/>
                </a:solidFill>
              </a:rPr>
              <a:t>持续集成是实现这一目标的关键支撑。</a:t>
            </a:r>
          </a:p>
        </p:txBody>
      </p:sp>
    </p:spTree>
    <p:extLst>
      <p:ext uri="{BB962C8B-B14F-4D97-AF65-F5344CB8AC3E}">
        <p14:creationId xmlns:p14="http://schemas.microsoft.com/office/powerpoint/2010/main" val="119675711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F1F44-FC20-ED80-0569-449ABAC1A3E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E73755-6688-57BE-F3EE-19FA70054E0F}"/>
              </a:ext>
            </a:extLst>
          </p:cNvPr>
          <p:cNvSpPr>
            <a:spLocks noGrp="1"/>
          </p:cNvSpPr>
          <p:nvPr>
            <p:ph type="sldNum" sz="quarter" idx="12"/>
          </p:nvPr>
        </p:nvSpPr>
        <p:spPr/>
        <p:txBody>
          <a:bodyPr/>
          <a:lstStyle/>
          <a:p>
            <a:fld id="{51D91E7F-84B6-4064-9D4E-CC7D244BCA04}" type="slidenum">
              <a:rPr lang="zh-CN" altLang="en-US" smtClean="0"/>
              <a:t>48</a:t>
            </a:fld>
            <a:endParaRPr lang="zh-CN" altLang="en-US"/>
          </a:p>
        </p:txBody>
      </p:sp>
      <p:sp>
        <p:nvSpPr>
          <p:cNvPr id="3" name="文本占位符 2">
            <a:extLst>
              <a:ext uri="{FF2B5EF4-FFF2-40B4-BE49-F238E27FC236}">
                <a16:creationId xmlns:a16="http://schemas.microsoft.com/office/drawing/2014/main" id="{145600A6-1B01-097C-C457-70540EDBA281}"/>
              </a:ext>
            </a:extLst>
          </p:cNvPr>
          <p:cNvSpPr>
            <a:spLocks noGrp="1"/>
          </p:cNvSpPr>
          <p:nvPr>
            <p:ph type="body" sz="quarter" idx="13"/>
          </p:nvPr>
        </p:nvSpPr>
        <p:spPr/>
        <p:txBody>
          <a:bodyPr/>
          <a:lstStyle/>
          <a:p>
            <a:r>
              <a:rPr kumimoji="1" lang="zh-CN" altLang="en-US" dirty="0"/>
              <a:t>总结思考 </a:t>
            </a:r>
            <a:r>
              <a:rPr kumimoji="1" lang="en-US" altLang="zh-CN" dirty="0"/>
              <a:t>(2)</a:t>
            </a:r>
            <a:endParaRPr kumimoji="1" lang="zh-CN" altLang="en-US" dirty="0"/>
          </a:p>
        </p:txBody>
      </p:sp>
      <p:sp>
        <p:nvSpPr>
          <p:cNvPr id="4" name="内容占位符 3">
            <a:extLst>
              <a:ext uri="{FF2B5EF4-FFF2-40B4-BE49-F238E27FC236}">
                <a16:creationId xmlns:a16="http://schemas.microsoft.com/office/drawing/2014/main" id="{005AD25E-ABBB-1A4F-0EDE-E3D0A89E0395}"/>
              </a:ext>
            </a:extLst>
          </p:cNvPr>
          <p:cNvSpPr>
            <a:spLocks noGrp="1"/>
          </p:cNvSpPr>
          <p:nvPr>
            <p:ph idx="1"/>
          </p:nvPr>
        </p:nvSpPr>
        <p:spPr/>
        <p:txBody>
          <a:bodyPr>
            <a:normAutofit fontScale="92500" lnSpcReduction="20000"/>
          </a:bodyPr>
          <a:lstStyle/>
          <a:p>
            <a:r>
              <a:rPr kumimoji="1" lang="en-US" altLang="zh-CN" dirty="0"/>
              <a:t>CI </a:t>
            </a:r>
            <a:r>
              <a:rPr kumimoji="1" lang="zh-CN" altLang="en-US" dirty="0"/>
              <a:t>的生态位： 持续集成对于维持一个健康的、可持续发展的软件产品至关重要，因为它是支持这种进化式设计（</a:t>
            </a:r>
            <a:r>
              <a:rPr kumimoji="1" lang="en-US" altLang="zh-CN" dirty="0"/>
              <a:t>Evolutionary Design</a:t>
            </a:r>
            <a:r>
              <a:rPr kumimoji="1" lang="zh-CN" altLang="en-US" dirty="0"/>
              <a:t>）生态系统的关键组成部分。</a:t>
            </a:r>
            <a:endParaRPr kumimoji="1" lang="en-US" altLang="zh-CN" dirty="0"/>
          </a:p>
          <a:p>
            <a:r>
              <a:rPr kumimoji="1" lang="zh-CN" altLang="en-US" dirty="0"/>
              <a:t>它与自测试代码（</a:t>
            </a:r>
            <a:r>
              <a:rPr kumimoji="1" lang="en-US" altLang="zh-CN" dirty="0"/>
              <a:t>Self-Testing Code</a:t>
            </a:r>
            <a:r>
              <a:rPr kumimoji="1" lang="zh-CN" altLang="en-US" dirty="0"/>
              <a:t>）相辅相成并相互依赖：没有可靠的自动化测试，频繁集成是危险的；没有频繁集成，自动化测试的价值也会打折扣。</a:t>
            </a:r>
            <a:endParaRPr kumimoji="1" lang="en-US" altLang="zh-CN" dirty="0"/>
          </a:p>
          <a:p>
            <a:r>
              <a:rPr kumimoji="1" lang="en-US" altLang="zh-CN" dirty="0"/>
              <a:t>CI </a:t>
            </a:r>
            <a:r>
              <a:rPr kumimoji="1" lang="zh-CN" altLang="en-US" dirty="0"/>
              <a:t>和自测试共同构成了安全进行代码重构（</a:t>
            </a:r>
            <a:r>
              <a:rPr kumimoji="1" lang="en-US" altLang="zh-CN" dirty="0"/>
              <a:t>Refactoring</a:t>
            </a:r>
            <a:r>
              <a:rPr kumimoji="1" lang="zh-CN" altLang="en-US" dirty="0"/>
              <a:t>）的基础。</a:t>
            </a:r>
            <a:endParaRPr kumimoji="1" lang="en-US" altLang="zh-CN" dirty="0"/>
          </a:p>
          <a:p>
            <a:r>
              <a:rPr kumimoji="1" lang="zh-CN" altLang="en-US" dirty="0"/>
              <a:t>这些源于极限编程（</a:t>
            </a:r>
            <a:r>
              <a:rPr kumimoji="1" lang="en-US" altLang="zh-CN" dirty="0"/>
              <a:t>Extreme Programming, XP</a:t>
            </a:r>
            <a:r>
              <a:rPr kumimoji="1" lang="zh-CN" altLang="en-US" dirty="0"/>
              <a:t>）的技术实践，能够使团队具备持续改进产品、快速响应变化、抓住市场机遇的能力。</a:t>
            </a:r>
          </a:p>
        </p:txBody>
      </p:sp>
    </p:spTree>
    <p:extLst>
      <p:ext uri="{BB962C8B-B14F-4D97-AF65-F5344CB8AC3E}">
        <p14:creationId xmlns:p14="http://schemas.microsoft.com/office/powerpoint/2010/main" val="405523795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230</TotalTime>
  <Words>7724</Words>
  <Application>Microsoft Macintosh PowerPoint</Application>
  <PresentationFormat>宽屏</PresentationFormat>
  <Paragraphs>300</Paragraphs>
  <Slides>50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50</vt:i4>
      </vt:variant>
    </vt:vector>
  </HeadingPairs>
  <TitlesOfParts>
    <vt:vector size="57" baseType="lpstr">
      <vt:lpstr>等线</vt:lpstr>
      <vt:lpstr>Arial</vt:lpstr>
      <vt:lpstr>Calibri</vt:lpstr>
      <vt:lpstr>Open Sans</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lastModifiedBy>栋 邵</cp:lastModifiedBy>
  <cp:revision>69</cp:revision>
  <dcterms:created xsi:type="dcterms:W3CDTF">2025-03-31T12:13:21Z</dcterms:created>
  <dcterms:modified xsi:type="dcterms:W3CDTF">2025-04-03T05:41:54Z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