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37" r:id="rId2"/>
    <p:sldId id="344" r:id="rId3"/>
    <p:sldId id="360" r:id="rId4"/>
    <p:sldId id="361" r:id="rId5"/>
    <p:sldId id="362" r:id="rId6"/>
    <p:sldId id="363" r:id="rId7"/>
    <p:sldId id="364" r:id="rId8"/>
    <p:sldId id="373" r:id="rId9"/>
    <p:sldId id="374" r:id="rId10"/>
    <p:sldId id="365" r:id="rId11"/>
    <p:sldId id="450" r:id="rId12"/>
    <p:sldId id="451" r:id="rId13"/>
    <p:sldId id="452" r:id="rId14"/>
    <p:sldId id="375" r:id="rId15"/>
    <p:sldId id="376" r:id="rId16"/>
    <p:sldId id="377" r:id="rId17"/>
    <p:sldId id="378" r:id="rId18"/>
    <p:sldId id="372" r:id="rId19"/>
    <p:sldId id="379" r:id="rId20"/>
    <p:sldId id="380" r:id="rId21"/>
    <p:sldId id="381" r:id="rId22"/>
    <p:sldId id="382" r:id="rId23"/>
    <p:sldId id="34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uel Garcia" initials="S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857"/>
    <a:srgbClr val="000000"/>
    <a:srgbClr val="2C78BD"/>
    <a:srgbClr val="FEB813"/>
    <a:srgbClr val="870078"/>
    <a:srgbClr val="6A005F"/>
    <a:srgbClr val="760068"/>
    <a:srgbClr val="500048"/>
    <a:srgbClr val="A2008F"/>
    <a:srgbClr val="C00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815" autoAdjust="0"/>
    <p:restoredTop sz="78045" autoAdjust="0"/>
  </p:normalViewPr>
  <p:slideViewPr>
    <p:cSldViewPr snapToGrid="0" showGuides="1">
      <p:cViewPr varScale="1">
        <p:scale>
          <a:sx n="110" d="100"/>
          <a:sy n="110" d="100"/>
        </p:scale>
        <p:origin x="200" y="56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7D45F-9B06-4FD6-B80D-63AF92FC02D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F7F3-BE4C-4D86-9918-24458AE0A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F98C7-9395-4E9A-96EC-DE4C39432AA7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64DB0-CCE3-4363-801A-A01AADC639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11208694" y="6320412"/>
            <a:ext cx="575959" cy="537587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49" y="6406644"/>
            <a:ext cx="1390651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0768" y="120576"/>
            <a:ext cx="657379" cy="653562"/>
            <a:chOff x="10920675" y="2008140"/>
            <a:chExt cx="576000" cy="576000"/>
          </a:xfrm>
        </p:grpSpPr>
        <p:sp>
          <p:nvSpPr>
            <p:cNvPr id="14" name="矩形 13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 wrap="square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 baseline="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8200" y="1289956"/>
            <a:ext cx="10515600" cy="4887007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/>
            </a:lvl1pPr>
            <a:lvl2pPr marL="685800" indent="-228600">
              <a:buFont typeface="Wingdings" panose="05000000000000000000" pitchFamily="2" charset="2"/>
              <a:buChar char="n"/>
              <a:defRPr/>
            </a:lvl2pPr>
            <a:lvl3pPr marL="1143000" indent="-228600">
              <a:buFont typeface="Wingdings" panose="05000000000000000000" pitchFamily="2" charset="2"/>
              <a:buChar char="u"/>
              <a:defRPr/>
            </a:lvl3pPr>
            <a:lvl4pPr marL="1600200" indent="-228600">
              <a:buFont typeface="Wingdings" panose="05000000000000000000" pitchFamily="2" charset="2"/>
              <a:buChar char="Ø"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2697654"/>
            <a:ext cx="12192000" cy="1462692"/>
            <a:chOff x="0" y="2878638"/>
            <a:chExt cx="9144000" cy="1034852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2878638"/>
              <a:ext cx="9144000" cy="729343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934299" y="1892024"/>
            <a:ext cx="693020" cy="653562"/>
            <a:chOff x="10920675" y="2008140"/>
            <a:chExt cx="576000" cy="576000"/>
          </a:xfrm>
        </p:grpSpPr>
        <p:sp>
          <p:nvSpPr>
            <p:cNvPr id="11" name="矩形 10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4" name="Freeform 5"/>
          <p:cNvSpPr>
            <a:spLocks noEditPoints="1"/>
          </p:cNvSpPr>
          <p:nvPr userDrawn="1"/>
        </p:nvSpPr>
        <p:spPr bwMode="auto">
          <a:xfrm>
            <a:off x="11026467" y="2954360"/>
            <a:ext cx="600852" cy="516114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62" y="2429346"/>
            <a:ext cx="1596121" cy="1999307"/>
          </a:xfrm>
          <a:prstGeom prst="rect">
            <a:avLst/>
          </a:prstGeom>
        </p:spPr>
      </p:pic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2587484" y="2695225"/>
            <a:ext cx="8438981" cy="10308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1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587484" y="3738042"/>
            <a:ext cx="8438981" cy="422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2"/>
          </p:nvPr>
        </p:nvSpPr>
        <p:spPr>
          <a:xfrm>
            <a:off x="6658709" y="4846566"/>
            <a:ext cx="5148903" cy="91440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3216275" cy="6858000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0" y="3152001"/>
            <a:ext cx="3216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000" b="1" dirty="0">
                <a:solidFill>
                  <a:schemeClr val="bg1"/>
                </a:solidFill>
                <a:cs typeface="Times New Roman" panose="02020603050405020304" pitchFamily="18" charset="0"/>
              </a:rPr>
              <a:t>CONTENTS</a:t>
            </a:r>
            <a:endParaRPr lang="zh-CN" altLang="en-US" sz="30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851038"/>
            <a:ext cx="12192000" cy="875445"/>
            <a:chOff x="0" y="3019996"/>
            <a:chExt cx="9144000" cy="893494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019996"/>
              <a:ext cx="9144000" cy="587986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9" y="629102"/>
            <a:ext cx="1051611" cy="132178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054413" y="2828835"/>
            <a:ext cx="40831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rgbClr val="6A005F"/>
                </a:solidFill>
              </a:rPr>
              <a:t>THANKS</a:t>
            </a:r>
            <a:endParaRPr lang="zh-CN" altLang="en-US" sz="7200" b="1" dirty="0">
              <a:solidFill>
                <a:srgbClr val="6A005F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27" y="6036473"/>
            <a:ext cx="1508760" cy="47798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868" y="5977892"/>
            <a:ext cx="2161309" cy="595143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1875440" y="851037"/>
            <a:ext cx="9844611" cy="57610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1875440" y="1427146"/>
            <a:ext cx="9844611" cy="2993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/>
          </p:nvPr>
        </p:nvSpPr>
        <p:spPr>
          <a:xfrm>
            <a:off x="3373886" y="4589847"/>
            <a:ext cx="5444225" cy="10833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6A005F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ACE84-866A-C549-9C7F-F20C55C69120}" type="datetime1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altLang="zh-CN"/>
              <a:t>Dong Shao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800" kern="1200" baseline="0">
          <a:solidFill>
            <a:srgbClr val="6A005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 baseline="0">
          <a:solidFill>
            <a:srgbClr val="6A005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rgbClr val="6A005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 baseline="0">
          <a:solidFill>
            <a:srgbClr val="6A005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 baseline="0">
          <a:solidFill>
            <a:srgbClr val="6A00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TDD</a:t>
            </a:r>
            <a:r>
              <a:rPr lang="zh-CN" altLang="en-US" dirty="0"/>
              <a:t>、</a:t>
            </a:r>
            <a:r>
              <a:rPr lang="zh-CN" altLang="en-US"/>
              <a:t>敏捷设计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敏捷测试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我们将在编码前逐分钟编写测试。我们会永久保留这些测试，并经常一起运行它们。我们还会从客户的角度推导出测试。</a:t>
            </a:r>
            <a:endParaRPr lang="en-US" altLang="zh-CN" b="0" i="0" dirty="0">
              <a:effectLst/>
              <a:latin typeface="Inter"/>
            </a:endParaRPr>
          </a:p>
          <a:p>
            <a:r>
              <a:rPr kumimoji="1" lang="zh-CN" altLang="en-US" dirty="0">
                <a:latin typeface="Inter"/>
              </a:rPr>
              <a:t>测试应当是</a:t>
            </a:r>
            <a:r>
              <a:rPr kumimoji="1" lang="zh-CN" altLang="en-US" dirty="0">
                <a:solidFill>
                  <a:srgbClr val="FF0000"/>
                </a:solidFill>
                <a:latin typeface="Inter"/>
              </a:rPr>
              <a:t>独立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Inter"/>
              </a:rPr>
              <a:t>且自动的</a:t>
            </a:r>
            <a:endParaRPr lang="en-US" altLang="zh-CN" b="0" i="0" dirty="0">
              <a:solidFill>
                <a:srgbClr val="FF0000"/>
              </a:solidFill>
              <a:effectLst/>
              <a:latin typeface="Inter"/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首先，每个测试都不会与其他测试相互影响。</a:t>
            </a: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这些测试是自动化的。</a:t>
            </a:r>
          </a:p>
          <a:p>
            <a:pPr lvl="2"/>
            <a:r>
              <a:rPr kumimoji="1" lang="zh-CN" altLang="en-US" dirty="0">
                <a:solidFill>
                  <a:schemeClr val="tx1"/>
                </a:solidFill>
              </a:rPr>
              <a:t>当压力增大、人们工作过度、人的判断力开始失效时，测试的价值就体现出来了。所以测试必须是自动化的，能够对系统的运行状况给出明确的通过 </a:t>
            </a:r>
            <a:r>
              <a:rPr kumimoji="1" lang="en-US" altLang="zh-CN" dirty="0">
                <a:solidFill>
                  <a:schemeClr val="tx1"/>
                </a:solidFill>
              </a:rPr>
              <a:t>/ </a:t>
            </a:r>
            <a:r>
              <a:rPr kumimoji="1" lang="zh-CN" altLang="en-US" dirty="0">
                <a:solidFill>
                  <a:schemeClr val="tx1"/>
                </a:solidFill>
              </a:rPr>
              <a:t>不通过的指示。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08298-BA0C-CCD1-9CF8-96D1C5DAC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C97057-532A-BF73-8A70-DA7DA787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038D64-5D4C-F04A-6721-29C12C76B6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做有价值的测试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C750C6-16F5-C9B8-7AF6-9FBD791E3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你应该测试那些可能会出问题的东西。</a:t>
            </a:r>
          </a:p>
          <a:p>
            <a:r>
              <a:rPr kumimoji="1" lang="zh-CN" altLang="en-US" dirty="0"/>
              <a:t>测试就像是一场赌博。</a:t>
            </a:r>
          </a:p>
          <a:p>
            <a:pPr lvl="1"/>
            <a:r>
              <a:rPr kumimoji="1" lang="zh-CN" altLang="en-US" dirty="0"/>
              <a:t>测试能带来回报的一种情况是，你本以为不会通过的测试居然通过了。</a:t>
            </a:r>
          </a:p>
          <a:p>
            <a:r>
              <a:rPr kumimoji="1" lang="zh-CN" altLang="en-US" dirty="0"/>
              <a:t>你只应该编写那些能带来回报的测试。</a:t>
            </a:r>
          </a:p>
        </p:txBody>
      </p:sp>
    </p:spTree>
    <p:extLst>
      <p:ext uri="{BB962C8B-B14F-4D97-AF65-F5344CB8AC3E}">
        <p14:creationId xmlns:p14="http://schemas.microsoft.com/office/powerpoint/2010/main" val="38173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1BCC-E1D1-5A9B-5A35-D700984A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65909D-8698-702E-2081-962136C5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D2CD96-1DE2-EEAB-9FEC-3815E46562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程序员测试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DEB8C7-F0D3-9B66-5926-7D9059A37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如果某个方法的接口哪怕有一点不清晰，那么在编写该方法之前先编写一个测试。</a:t>
            </a:r>
          </a:p>
          <a:p>
            <a:r>
              <a:rPr kumimoji="1" lang="zh-CN" altLang="en-US" dirty="0"/>
              <a:t>如果接口清晰，但你觉得实现过程哪怕有一点复杂，那么在编写该方法之前先编写一个测试。</a:t>
            </a:r>
          </a:p>
          <a:p>
            <a:r>
              <a:rPr kumimoji="1" lang="zh-CN" altLang="en-US" dirty="0"/>
              <a:t>如果你想到代码在某种特殊情况下应按预期运行，那么编写一个测试来描述这种情况。</a:t>
            </a:r>
          </a:p>
          <a:p>
            <a:r>
              <a:rPr kumimoji="1" lang="zh-CN" altLang="en-US" dirty="0"/>
              <a:t>如果你之后发现了一个问题，那么编写一个测试来隔离这个问题。</a:t>
            </a:r>
          </a:p>
          <a:p>
            <a:r>
              <a:rPr kumimoji="1" lang="zh-CN" altLang="en-US" dirty="0"/>
              <a:t>如果你准备重构一些代码，却不确定其预期行为，且针对该行为方面还没有测试，那么先编写一个测试。</a:t>
            </a:r>
          </a:p>
        </p:txBody>
      </p:sp>
    </p:spTree>
    <p:extLst>
      <p:ext uri="{BB962C8B-B14F-4D97-AF65-F5344CB8AC3E}">
        <p14:creationId xmlns:p14="http://schemas.microsoft.com/office/powerpoint/2010/main" val="203761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4397E-A50C-59C4-7C69-B5091A44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1D85A6-1394-53C9-CBE3-70C5231D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63A051-B81D-1F4C-41F1-600DFB9118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33863F-D852-C009-52BC-91674F889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程序员逐个方法地编写测试。</a:t>
            </a:r>
          </a:p>
          <a:p>
            <a:r>
              <a:rPr kumimoji="1" lang="zh-CN" altLang="en-US" dirty="0"/>
              <a:t>程序员编写的单元测试始终以 </a:t>
            </a:r>
            <a:r>
              <a:rPr kumimoji="1" lang="en-US" altLang="zh-CN" dirty="0"/>
              <a:t>100% </a:t>
            </a:r>
            <a:r>
              <a:rPr kumimoji="1" lang="zh-CN" altLang="en-US" dirty="0"/>
              <a:t>的通过率运行。</a:t>
            </a:r>
          </a:p>
          <a:p>
            <a:r>
              <a:rPr kumimoji="1" lang="zh-CN" altLang="en-US" dirty="0"/>
              <a:t>由于程序员控制着单元测试的编写和执行，他们能够使测试完全保持同步。</a:t>
            </a:r>
          </a:p>
        </p:txBody>
      </p:sp>
    </p:spTree>
    <p:extLst>
      <p:ext uri="{BB962C8B-B14F-4D97-AF65-F5344CB8AC3E}">
        <p14:creationId xmlns:p14="http://schemas.microsoft.com/office/powerpoint/2010/main" val="325367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6FDE-A3CD-0296-BF2C-AD2974390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ADB5E5C-6DA5-312E-CD31-2B9F0E6C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B7C0FD-B0EE-33C1-1D2F-CA41ADCBBE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客户测试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354950-EE4A-E947-8AF6-D3683DE48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客户逐个故事地编写测试。</a:t>
            </a:r>
          </a:p>
          <a:p>
            <a:r>
              <a:rPr kumimoji="1" lang="zh-CN" altLang="en-US" dirty="0"/>
              <a:t>他们需要问自己的问题是：“在我确信这个故事完成之前，需要检查哪些内容？” 他们想出的每个场景都会转化为一个测试，在这种情况下是一个功能测试。</a:t>
            </a:r>
            <a:endParaRPr kumimoji="1" lang="en-US" altLang="zh-CN" dirty="0"/>
          </a:p>
          <a:p>
            <a:r>
              <a:rPr kumimoji="1" lang="zh-CN" altLang="en-US" dirty="0"/>
              <a:t>功能测试并非总是能 </a:t>
            </a:r>
            <a:r>
              <a:rPr kumimoji="1" lang="en-US" altLang="zh-CN" dirty="0"/>
              <a:t>100% </a:t>
            </a:r>
            <a:r>
              <a:rPr kumimoji="1" lang="zh-CN" altLang="en-US" dirty="0"/>
              <a:t>正常运行。</a:t>
            </a:r>
          </a:p>
          <a:p>
            <a:r>
              <a:rPr kumimoji="1" lang="zh-CN" altLang="en-US" dirty="0"/>
              <a:t>客户通常无法自行编写功能测试。</a:t>
            </a:r>
          </a:p>
          <a:p>
            <a:r>
              <a:rPr kumimoji="1" lang="zh-CN" altLang="en-US" dirty="0"/>
              <a:t>这就是为什么无论规模大小，极限编程（</a:t>
            </a:r>
            <a:r>
              <a:rPr kumimoji="1" lang="en-US" altLang="zh-CN" dirty="0"/>
              <a:t>XP</a:t>
            </a:r>
            <a:r>
              <a:rPr kumimoji="1" lang="zh-CN" altLang="en-US" dirty="0"/>
              <a:t>）团队至少要有一名专职测试人员。</a:t>
            </a:r>
          </a:p>
        </p:txBody>
      </p:sp>
    </p:spTree>
    <p:extLst>
      <p:ext uri="{BB962C8B-B14F-4D97-AF65-F5344CB8AC3E}">
        <p14:creationId xmlns:p14="http://schemas.microsoft.com/office/powerpoint/2010/main" val="134685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C267F-ECAC-FAB5-FC06-323F6043A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A12404-B1E3-E673-D958-C5C84318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3869BF-8753-9F80-F82C-2926F5C4E0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其他可能的测试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EE3242-6216-EC10-2834-4CF0D184C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并行测试 </a:t>
            </a:r>
            <a:r>
              <a:rPr kumimoji="1" lang="en-US" altLang="zh-CN" dirty="0"/>
              <a:t>—— </a:t>
            </a:r>
            <a:r>
              <a:rPr kumimoji="1" lang="zh-CN" altLang="en-US" dirty="0"/>
              <a:t>一种旨在证明新系统的运行与旧系统完全一致的测试。</a:t>
            </a:r>
          </a:p>
          <a:p>
            <a:r>
              <a:rPr kumimoji="1" lang="zh-CN" altLang="en-US" dirty="0"/>
              <a:t>压力测试 </a:t>
            </a:r>
            <a:r>
              <a:rPr kumimoji="1" lang="en-US" altLang="zh-CN" dirty="0"/>
              <a:t>—— </a:t>
            </a:r>
            <a:r>
              <a:rPr kumimoji="1" lang="zh-CN" altLang="en-US" dirty="0"/>
              <a:t>一种旨在模拟可能出现的最恶劣负载情况的测试。压力测试适用于性能特征不易预测的复杂系统。</a:t>
            </a:r>
          </a:p>
          <a:p>
            <a:r>
              <a:rPr kumimoji="1" lang="zh-CN" altLang="en-US" dirty="0"/>
              <a:t>随机测试 </a:t>
            </a:r>
            <a:r>
              <a:rPr kumimoji="1" lang="en-US" altLang="zh-CN" dirty="0"/>
              <a:t>—— </a:t>
            </a:r>
            <a:r>
              <a:rPr kumimoji="1" lang="zh-CN" altLang="en-US" dirty="0"/>
              <a:t>一种旨在确保系统在面对无意义输入时能合理响应的测试。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298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DE373-E4DA-A438-D8D5-EAC6A861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E632CD-D9F6-A8E4-3B71-B628D5B9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E567B9-8128-6F7F-2A03-381E05FB6D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TDD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D7FDBD-267E-FAF7-77BC-52F461358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/>
            <a:r>
              <a:rPr lang="zh-CN" altLang="en-US" b="0" i="0" u="none" strike="noStrike" dirty="0">
                <a:effectLst/>
              </a:rPr>
              <a:t>通过</a:t>
            </a:r>
            <a:r>
              <a:rPr lang="zh-CN" altLang="en-US" b="1" i="0" u="none" strike="noStrike" dirty="0">
                <a:effectLst/>
                <a:latin typeface="inherit"/>
              </a:rPr>
              <a:t>先写测试再写实现</a:t>
            </a:r>
            <a:r>
              <a:rPr lang="zh-CN" altLang="en-US" b="0" i="0" u="none" strike="noStrike" dirty="0">
                <a:effectLst/>
              </a:rPr>
              <a:t>的逆向流程驱动代码设计：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✅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三阶段循环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：红（失败测试）→ 绿（通过实现）→ 重构（优化代码）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🎯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终极目标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：创建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可测试、可维护、最小化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的代码</a:t>
            </a:r>
            <a:endParaRPr lang="en-US" altLang="zh-CN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algn="l" fontAlgn="base"/>
            <a:r>
              <a:rPr lang="en-US" altLang="zh-CN" b="1" i="0" u="none" strike="noStrike" dirty="0">
                <a:effectLst/>
              </a:rPr>
              <a:t>2. ​</a:t>
            </a:r>
            <a:r>
              <a:rPr lang="zh-CN" altLang="en-US" b="1" i="0" u="none" strike="noStrike" dirty="0">
                <a:effectLst/>
                <a:latin typeface="inherit"/>
              </a:rPr>
              <a:t>标准流程（红绿重构循环）​</a:t>
            </a:r>
            <a:endParaRPr lang="zh-CN" altLang="en-US" b="1" i="0" u="none" strike="noStrike" dirty="0">
              <a:effectLst/>
            </a:endParaRPr>
          </a:p>
          <a:p>
            <a:pPr lvl="1" fontAlgn="base"/>
            <a:r>
              <a:rPr lang="en-US" altLang="zh-CN" b="0" i="0" u="none" strike="noStrike" dirty="0">
                <a:effectLst/>
              </a:rPr>
              <a:t>1️⃣ ​</a:t>
            </a:r>
            <a:r>
              <a:rPr lang="zh-CN" altLang="en-US" b="1" i="0" u="none" strike="noStrike" dirty="0">
                <a:effectLst/>
                <a:latin typeface="inherit"/>
              </a:rPr>
              <a:t>编写失败测试</a:t>
            </a:r>
            <a:r>
              <a:rPr lang="zh-CN" altLang="en-US" b="0" i="0" u="none" strike="noStrike" dirty="0">
                <a:effectLst/>
              </a:rPr>
              <a:t>：仅定义接口与预期行为（如</a:t>
            </a:r>
            <a:r>
              <a:rPr lang="en-US" altLang="zh-CN" b="0" i="0" u="none" strike="noStrike" dirty="0">
                <a:effectLst/>
              </a:rPr>
              <a:t>add(2,3)</a:t>
            </a:r>
            <a:r>
              <a:rPr lang="zh-CN" altLang="en-US" b="0" i="0" u="none" strike="noStrike" dirty="0">
                <a:effectLst/>
              </a:rPr>
              <a:t>应返回</a:t>
            </a:r>
            <a:r>
              <a:rPr lang="en-US" altLang="zh-CN" b="0" i="0" u="none" strike="noStrike" dirty="0">
                <a:effectLst/>
              </a:rPr>
              <a:t>5</a:t>
            </a:r>
            <a:r>
              <a:rPr lang="zh-CN" altLang="en-US" b="0" i="0" u="none" strike="noStrike" dirty="0">
                <a:effectLst/>
              </a:rPr>
              <a:t>）</a:t>
            </a:r>
            <a:br>
              <a:rPr lang="zh-CN" altLang="en-US" b="0" i="0" u="none" strike="noStrike" dirty="0">
                <a:effectLst/>
              </a:rPr>
            </a:br>
            <a:r>
              <a:rPr lang="en-US" altLang="zh-CN" b="0" i="0" u="none" strike="noStrike" dirty="0">
                <a:effectLst/>
              </a:rPr>
              <a:t>2️⃣ ​</a:t>
            </a:r>
            <a:r>
              <a:rPr lang="zh-CN" altLang="en-US" b="1" i="0" u="none" strike="noStrike" dirty="0">
                <a:effectLst/>
                <a:latin typeface="inherit"/>
              </a:rPr>
              <a:t>快速实现通过</a:t>
            </a:r>
            <a:r>
              <a:rPr lang="zh-CN" altLang="en-US" b="0" i="0" u="none" strike="noStrike" dirty="0">
                <a:effectLst/>
              </a:rPr>
              <a:t>：用最简单代码让测试变绿（如</a:t>
            </a:r>
            <a:r>
              <a:rPr lang="en-US" altLang="zh-CN" b="0" i="0" u="none" strike="noStrike" dirty="0">
                <a:effectLst/>
              </a:rPr>
              <a:t>return 5</a:t>
            </a:r>
            <a:r>
              <a:rPr lang="zh-CN" altLang="en-US" b="0" i="0" u="none" strike="noStrike" dirty="0">
                <a:effectLst/>
              </a:rPr>
              <a:t>硬编码）</a:t>
            </a:r>
            <a:br>
              <a:rPr lang="zh-CN" altLang="en-US" b="0" i="0" u="none" strike="noStrike" dirty="0">
                <a:effectLst/>
              </a:rPr>
            </a:br>
            <a:r>
              <a:rPr lang="en-US" altLang="zh-CN" b="0" i="0" u="none" strike="noStrike" dirty="0">
                <a:effectLst/>
              </a:rPr>
              <a:t>3️⃣ ​</a:t>
            </a:r>
            <a:r>
              <a:rPr lang="zh-CN" altLang="en-US" b="1" i="0" u="none" strike="noStrike" dirty="0">
                <a:effectLst/>
                <a:latin typeface="inherit"/>
              </a:rPr>
              <a:t>逐步泛化</a:t>
            </a:r>
            <a:r>
              <a:rPr lang="zh-CN" altLang="en-US" b="0" i="0" u="none" strike="noStrike" dirty="0">
                <a:effectLst/>
              </a:rPr>
              <a:t>：补充更多测试案例，消除硬编码（如增加</a:t>
            </a:r>
            <a:r>
              <a:rPr lang="en-US" altLang="zh-CN" b="0" i="0" u="none" strike="noStrike" dirty="0">
                <a:effectLst/>
              </a:rPr>
              <a:t>add(4,5)</a:t>
            </a:r>
            <a:r>
              <a:rPr lang="zh-CN" altLang="en-US" b="0" i="0" u="none" strike="noStrike" dirty="0">
                <a:effectLst/>
              </a:rPr>
              <a:t>测试）</a:t>
            </a:r>
            <a:br>
              <a:rPr lang="zh-CN" altLang="en-US" b="0" i="0" u="none" strike="noStrike" dirty="0">
                <a:effectLst/>
              </a:rPr>
            </a:br>
            <a:r>
              <a:rPr lang="en-US" altLang="zh-CN" b="0" i="0" u="none" strike="noStrike" dirty="0">
                <a:effectLst/>
              </a:rPr>
              <a:t>4️⃣ ​</a:t>
            </a:r>
            <a:r>
              <a:rPr lang="zh-CN" altLang="en-US" b="1" i="0" u="none" strike="noStrike" dirty="0">
                <a:effectLst/>
                <a:latin typeface="inherit"/>
              </a:rPr>
              <a:t>持续重构</a:t>
            </a:r>
            <a:r>
              <a:rPr lang="zh-CN" altLang="en-US" b="0" i="0" u="none" strike="noStrike" dirty="0">
                <a:effectLst/>
              </a:rPr>
              <a:t>：在测试保护下优化代码结构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836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3B0A0-5C53-5138-21DE-59468FE9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2F0777-6DB5-C611-9D18-6E7CB9A3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BBD311-0C97-1B42-7A48-B1C54FCA82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992CED-48C6-5FBE-05B0-A4C7EE234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fontAlgn="base"/>
            <a:r>
              <a:rPr lang="zh-CN" altLang="en-US" b="1" i="0" u="none" strike="noStrike" dirty="0">
                <a:effectLst/>
                <a:latin typeface="inherit"/>
              </a:rPr>
              <a:t>核心价值</a:t>
            </a:r>
            <a:endParaRPr lang="zh-CN" altLang="en-US" b="1" i="0" u="none" strike="noStrike" dirty="0">
              <a:effectLst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🛡️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缺陷预防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：每行代码都有对应测试，减少回归错误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🧩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设计引导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：迫使开发者先思考接口而非实现细节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📉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降低耦合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：天然产生模块化、可测试的代码结构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📚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活的文档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：测试用例显式描述系统行为</a:t>
            </a:r>
            <a:endParaRPr lang="en-US" altLang="zh-CN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algn="l" fontAlgn="base"/>
            <a:r>
              <a:rPr lang="zh-CN" altLang="en-US" b="1" i="0" u="none" strike="noStrike" dirty="0">
                <a:effectLst/>
                <a:latin typeface="inherit"/>
              </a:rPr>
              <a:t>挑战与对策</a:t>
            </a:r>
            <a:endParaRPr lang="zh-CN" altLang="en-US" b="1" i="0" u="none" strike="noStrike" dirty="0">
              <a:effectLst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⚠️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学习曲线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：需掌握测试框架（如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JUnit/</a:t>
            </a:r>
            <a:r>
              <a:rPr lang="en-US" altLang="zh-CN" b="0" i="0" u="none" strike="noStrike" dirty="0" err="1">
                <a:effectLst/>
                <a:latin typeface="inherit"/>
                <a:ea typeface="PingFang SC" panose="020B0400000000000000" pitchFamily="34" charset="-122"/>
              </a:rPr>
              <a:t>pytest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）和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Mock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技术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🕒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初期耗时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20-30%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额外时间成本（长期维护成本下降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50%+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E31857"/>
                </a:solidFill>
                <a:effectLst/>
                <a:latin typeface="inherit"/>
                <a:ea typeface="PingFang SC" panose="020B0400000000000000" pitchFamily="34" charset="-122"/>
              </a:rPr>
              <a:t>"</a:t>
            </a:r>
            <a:r>
              <a:rPr lang="zh-CN" altLang="en-US" b="0" i="0" u="none" strike="noStrike" dirty="0">
                <a:solidFill>
                  <a:srgbClr val="E31857"/>
                </a:solidFill>
                <a:effectLst/>
                <a:latin typeface="inherit"/>
                <a:ea typeface="PingFang SC" panose="020B0400000000000000" pitchFamily="34" charset="-122"/>
              </a:rPr>
              <a:t>测试不是质量保证部门的工作，而是设计工具</a:t>
            </a:r>
            <a:r>
              <a:rPr lang="en-US" altLang="zh-CN" b="0" i="0" u="none" strike="noStrike" dirty="0">
                <a:solidFill>
                  <a:srgbClr val="E31857"/>
                </a:solidFill>
                <a:effectLst/>
                <a:latin typeface="inherit"/>
                <a:ea typeface="PingFang SC" panose="020B0400000000000000" pitchFamily="34" charset="-122"/>
              </a:rPr>
              <a:t>"</a:t>
            </a:r>
            <a:endParaRPr lang="zh-CN" altLang="en-US" b="0" i="0" u="none" strike="noStrike" dirty="0">
              <a:solidFill>
                <a:srgbClr val="E31857"/>
              </a:solidFill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586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AE4B-F182-B50D-E287-EF24AAA1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FBAF4C-8AF2-FDAE-203C-4C3F2D41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E8EBCD-7F13-095B-7D32-CFC4361FCC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113270"/>
            <a:ext cx="10321616" cy="954107"/>
          </a:xfrm>
        </p:spPr>
        <p:txBody>
          <a:bodyPr/>
          <a:lstStyle/>
          <a:p>
            <a:r>
              <a:rPr kumimoji="1" lang="en-US" altLang="zh-CN" dirty="0"/>
              <a:t>Is Design Dead?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sz="2400" dirty="0"/>
              <a:t>Extreme Programming and the Evolution of Software Design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C4EB1A-CE66-BE24-F0A4-7D11D78D7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b="0" i="0" dirty="0">
                <a:effectLst/>
                <a:latin typeface="Inter"/>
              </a:rPr>
              <a:t>对于许多只是短暂接触过极限编程的人来说，极限编程似乎意味着软件设计的消亡。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不仅许多设计活动被嘲笑为 “前期大设计”，而且诸如统一建模语言（</a:t>
            </a:r>
            <a:r>
              <a:rPr lang="en-US" altLang="zh-CN" b="0" i="0" dirty="0">
                <a:effectLst/>
                <a:latin typeface="Inter"/>
              </a:rPr>
              <a:t>UML</a:t>
            </a:r>
            <a:r>
              <a:rPr lang="zh-CN" altLang="en-US" b="0" i="0" dirty="0">
                <a:effectLst/>
                <a:latin typeface="Inter"/>
              </a:rPr>
              <a:t>）、灵活框架，甚至设计模式等设计技术都被淡化，甚至完全被忽视。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事实上，极限编程涉及大量的设计工作，但它采用的方式与传统的软件流程有所不同。</a:t>
            </a:r>
            <a:endParaRPr lang="en-US" altLang="zh-CN" b="0" i="0" dirty="0">
              <a:effectLst/>
              <a:latin typeface="Inter"/>
            </a:endParaRPr>
          </a:p>
          <a:p>
            <a:pPr lvl="1"/>
            <a:r>
              <a:rPr lang="zh-CN" altLang="en-US" b="0" i="0" dirty="0">
                <a:effectLst/>
                <a:latin typeface="Inter"/>
              </a:rPr>
              <a:t>极限编程通过一些实践，让演进式设计这一概念重焕生机，使演进成为一种可行的设计策略。</a:t>
            </a:r>
            <a:endParaRPr lang="en-US" altLang="zh-CN" b="0" i="0" dirty="0">
              <a:effectLst/>
              <a:latin typeface="Inter"/>
            </a:endParaRPr>
          </a:p>
          <a:p>
            <a:pPr lvl="1"/>
            <a:r>
              <a:rPr lang="zh-CN" altLang="en-US" b="0" i="0" dirty="0">
                <a:effectLst/>
                <a:latin typeface="Inter"/>
              </a:rPr>
              <a:t>它也带来了新的挑战，要求设计师掌握新的技能，比如如何进行简单设计、如何通过重构保持设计的简洁，以及如何以演进的方式运用设计模式。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5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3FC4-32B1-DD62-7413-D60FDD39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8756A9-39F0-3844-5F25-29A3F72E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F97899-7CF0-F541-864B-FAD4CA48A7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计划设计与演进式设计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7B7774-5FA8-62A1-06AC-D16DD04FF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设计是为了长期轻松修改软件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zh-CN" altLang="en-US" dirty="0"/>
              <a:t>演进式设计：系统设计随实现过程逐渐生长。</a:t>
            </a:r>
            <a:r>
              <a:rPr kumimoji="1" lang="en-US" altLang="zh-CN" dirty="0"/>
              <a:t>Code-fix</a:t>
            </a:r>
          </a:p>
          <a:p>
            <a:r>
              <a:rPr kumimoji="1" lang="zh-CN" altLang="en-US" dirty="0"/>
              <a:t>计划设计</a:t>
            </a:r>
            <a:r>
              <a:rPr kumimoji="1" lang="en-US" altLang="zh-CN" dirty="0"/>
              <a:t>:</a:t>
            </a:r>
            <a:r>
              <a:rPr kumimoji="1" lang="zh-CN" altLang="en-US" dirty="0"/>
              <a:t>理念源自其他工程领域</a:t>
            </a:r>
            <a:r>
              <a:rPr kumimoji="1" lang="en-US" altLang="zh-CN" dirty="0"/>
              <a:t>.</a:t>
            </a:r>
          </a:p>
          <a:p>
            <a:pPr lvl="1"/>
            <a:r>
              <a:rPr kumimoji="1" lang="zh-CN" altLang="en-US" dirty="0"/>
              <a:t>建造狗屋时，你可以随便找些木头拼出大致形状；但建造摩天大楼时，这种方式会导致中途倒塌。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软件的计划：设计师提前思考重大问题。他们无需编码，因为其工作是设计而非构建。因此他们可以使用</a:t>
            </a:r>
            <a:r>
              <a:rPr kumimoji="1" lang="en-US" altLang="zh-CN" dirty="0"/>
              <a:t>UML</a:t>
            </a:r>
            <a:r>
              <a:rPr kumimoji="1" lang="zh-CN" altLang="en-US" dirty="0"/>
              <a:t>等设计技术，摆脱编程细节，在更抽象层面工作。设计完成后可转交给另一团队（甚至公司）构建。由于设计师从宏观视角思考，他们能避免导致软件熵增的战术决策。程序员遵循设计方向，只要遵从设计，就能构建良好系统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51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5C6B1-865A-DE35-536D-012ADAC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3F7739-2DBF-AA6C-D0C7-01986F8B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209CD9-311F-74CC-BB09-FD5AFB5141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B6B4B7-3648-4777-3FE3-83F544EEE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计划设计方法在许多方面优于“编码</a:t>
            </a:r>
            <a:r>
              <a:rPr kumimoji="1" lang="en-US" altLang="zh-CN" dirty="0"/>
              <a:t>-</a:t>
            </a:r>
            <a:r>
              <a:rPr kumimoji="1" lang="zh-CN" altLang="en-US" dirty="0"/>
              <a:t>修复”式演进设计，但也有缺陷：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编程时必然遇到设计未考虑的问题：临时修改，熵增。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文化冲突：设计师因技能经验被选中，但忙于设计导致编码时间减少；失去程序员的尊重。</a:t>
            </a:r>
          </a:p>
        </p:txBody>
      </p:sp>
    </p:spTree>
    <p:extLst>
      <p:ext uri="{BB962C8B-B14F-4D97-AF65-F5344CB8AC3E}">
        <p14:creationId xmlns:p14="http://schemas.microsoft.com/office/powerpoint/2010/main" val="261869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7AD9D-2DAF-DAC8-CC81-EA0869E0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890B99-E166-A0EC-B647-A47B7D17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E60C65-9DF0-271F-B70B-994E0DD0C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XP</a:t>
            </a:r>
            <a:r>
              <a:rPr kumimoji="1" lang="zh-CN" altLang="en-US" dirty="0"/>
              <a:t>的赋能实践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F0F0C0-9357-546D-C259-6A2216417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CN" dirty="0"/>
              <a:t>XP</a:t>
            </a:r>
            <a:r>
              <a:rPr kumimoji="1" lang="zh-CN" altLang="en-US" dirty="0"/>
              <a:t>倡导演进式设计而非计划设计。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随意的设计决策和软件熵增会使演进式设计无法奏效。</a:t>
            </a:r>
            <a:endParaRPr kumimoji="1" lang="en-US" altLang="zh-C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XP</a:t>
            </a: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的突破性假设：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通过实践</a:t>
            </a:r>
            <a:r>
              <a:rPr lang="en-US" altLang="zh-CN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"</a:t>
            </a: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压平</a:t>
            </a:r>
            <a:r>
              <a:rPr lang="en-US" altLang="zh-CN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"</a:t>
            </a: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变更曲线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核心使能实践的三位一体：</a:t>
            </a:r>
            <a:r>
              <a:rPr lang="en-US" altLang="zh-CN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Testing → Continuous Integration → Refactoring</a:t>
            </a:r>
            <a:endParaRPr lang="zh-CN" altLang="en-US" b="0" i="0" u="none" strike="noStrike" dirty="0"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r>
              <a:rPr kumimoji="1" lang="zh-CN" altLang="en-US" dirty="0"/>
              <a:t>赋能实践的核心是</a:t>
            </a:r>
            <a:r>
              <a:rPr kumimoji="1" lang="zh-CN" altLang="en-US" dirty="0">
                <a:solidFill>
                  <a:srgbClr val="FF0000"/>
                </a:solidFill>
              </a:rPr>
              <a:t>测试</a:t>
            </a:r>
            <a:r>
              <a:rPr kumimoji="1" lang="zh-CN" altLang="en-US" dirty="0"/>
              <a:t>和</a:t>
            </a:r>
            <a:r>
              <a:rPr kumimoji="1" lang="zh-CN" altLang="en-US" dirty="0">
                <a:solidFill>
                  <a:srgbClr val="FF0000"/>
                </a:solidFill>
              </a:rPr>
              <a:t>持续集成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没有测试提供的安全保障，</a:t>
            </a:r>
            <a:r>
              <a:rPr kumimoji="1" lang="en-US" altLang="zh-CN" dirty="0"/>
              <a:t>XP</a:t>
            </a:r>
            <a:r>
              <a:rPr kumimoji="1" lang="zh-CN" altLang="en-US" dirty="0"/>
              <a:t>的其他部分无法实施。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持续集成保持团队同步，让你能放心修改而无需担心集成问题。</a:t>
            </a:r>
            <a:endParaRPr kumimoji="1" lang="en-US" altLang="zh-CN" dirty="0"/>
          </a:p>
          <a:p>
            <a:r>
              <a:rPr kumimoji="1" lang="en-US" altLang="zh-CN" dirty="0"/>
              <a:t>Jim Highsmith</a:t>
            </a:r>
            <a:r>
              <a:rPr kumimoji="1" lang="zh-CN" altLang="en-US" dirty="0"/>
              <a:t>在其</a:t>
            </a:r>
            <a:r>
              <a:rPr kumimoji="1" lang="en-US" altLang="zh-CN" dirty="0"/>
              <a:t>XP</a:t>
            </a:r>
            <a:r>
              <a:rPr kumimoji="1" lang="zh-CN" altLang="en-US" dirty="0"/>
              <a:t>总结中用天平作类比：一端是计划设计，另一端是重构。传统方法中计划设计占主导，因为假设后期无法修改；当变更成本降低时，更多设计可通过后期重构完成。</a:t>
            </a:r>
          </a:p>
        </p:txBody>
      </p:sp>
    </p:spTree>
    <p:extLst>
      <p:ext uri="{BB962C8B-B14F-4D97-AF65-F5344CB8AC3E}">
        <p14:creationId xmlns:p14="http://schemas.microsoft.com/office/powerpoint/2010/main" val="391736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1BF2-8FA7-8F51-01AD-14C5CA42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7D0A56-8AA4-0C81-16C5-72C85893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83445B-AD88-FB8C-9106-41BF13777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简单设计的四大准则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5432EF-42AF-27A6-5DC8-B78868AB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通过所有测试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消除重复</a:t>
            </a:r>
            <a:endParaRPr lang="en-US" altLang="zh-CN" b="0" i="0" u="none" strike="noStrike" dirty="0"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清晰表达意图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最小化元素数量</a:t>
            </a: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var(--monospace)"/>
              </a:rPr>
              <a:t> </a:t>
            </a:r>
            <a:br>
              <a:rPr lang="zh-CN" altLang="en-US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035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387D-25F1-89C7-66F9-6112A9E5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E8A477-34CF-19DC-AA57-C9D758AE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C3C9BA-1152-EAB4-52D5-804E08A672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YAGNI</a:t>
            </a:r>
            <a:r>
              <a:rPr kumimoji="1" lang="zh-CN" altLang="en-US" dirty="0"/>
              <a:t>（</a:t>
            </a:r>
            <a:r>
              <a:rPr kumimoji="1" lang="en-US" altLang="zh-CN" dirty="0"/>
              <a:t>"You aren't </a:t>
            </a:r>
            <a:r>
              <a:rPr kumimoji="1" lang="en-US" altLang="zh-CN" dirty="0" err="1"/>
              <a:t>gonna</a:t>
            </a:r>
            <a:r>
              <a:rPr kumimoji="1" lang="en-US" altLang="zh-CN" dirty="0"/>
              <a:t> need it"</a:t>
            </a:r>
            <a:r>
              <a:rPr kumimoji="1" lang="zh-CN" altLang="en-US" dirty="0"/>
              <a:t>）原则的经济学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372C0F2-EE59-67D0-E84E-F73992CD5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184" y="1320541"/>
            <a:ext cx="9779000" cy="1803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F6451C-68D2-99F3-170C-39447CCAB5B3}"/>
              </a:ext>
            </a:extLst>
          </p:cNvPr>
          <p:cNvSpPr txBox="1"/>
          <p:nvPr/>
        </p:nvSpPr>
        <p:spPr>
          <a:xfrm>
            <a:off x="1032184" y="3734059"/>
            <a:ext cx="95114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3200" b="1" i="0" u="none" strike="noStrike" dirty="0">
                <a:effectLst/>
                <a:latin typeface="inherit"/>
              </a:rPr>
              <a:t>数据实证</a:t>
            </a:r>
            <a:r>
              <a:rPr lang="zh-CN" altLang="en-US" sz="3200" b="0" i="0" u="none" strike="noStrike" dirty="0">
                <a:effectLst/>
              </a:rPr>
              <a:t>：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超前开发功能的</a:t>
            </a:r>
            <a:r>
              <a:rPr lang="zh-CN" altLang="en-US" sz="3200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实际使用率</a:t>
            </a:r>
            <a:r>
              <a:rPr lang="en-US" altLang="zh-CN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&lt;20%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每行</a:t>
            </a:r>
            <a:r>
              <a:rPr lang="en-US" altLang="zh-CN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"</a:t>
            </a: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预留代码</a:t>
            </a:r>
            <a:r>
              <a:rPr lang="en-US" altLang="zh-CN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"</a:t>
            </a: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的</a:t>
            </a:r>
            <a:r>
              <a:rPr lang="zh-CN" altLang="en-US" sz="3200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年维护成本</a:t>
            </a: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≈</a:t>
            </a:r>
            <a:r>
              <a:rPr lang="en-US" altLang="zh-CN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$4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41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062C-157A-5803-0635-322D55F78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BE8517-4156-CB31-4D8F-FA15EFF6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058DFE-D666-16C3-15BD-164F8D91E3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/>
          <a:lstStyle/>
          <a:p>
            <a:r>
              <a:rPr lang="zh-CN" altLang="en-US" b="1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⚖️ 边际成本陷阱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AFCA26-B205-95F2-A7FB-69C24BCDF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effectLst/>
                <a:latin typeface="inherit"/>
              </a:rPr>
              <a:t>假设开发某功能的当前成本为</a:t>
            </a:r>
            <a:r>
              <a:rPr lang="en-US" altLang="zh-CN" b="0" dirty="0">
                <a:effectLst/>
                <a:latin typeface="inherit"/>
              </a:rPr>
              <a:t>C</a:t>
            </a:r>
            <a:br>
              <a:rPr lang="en-US" altLang="zh-CN" dirty="0">
                <a:latin typeface="inherit"/>
              </a:rPr>
            </a:br>
            <a:r>
              <a:rPr lang="en-US" altLang="zh-CN" b="0" dirty="0">
                <a:effectLst/>
                <a:latin typeface="inherit"/>
              </a:rPr>
              <a:t> </a:t>
            </a:r>
            <a:r>
              <a:rPr lang="zh-CN" altLang="en-US" dirty="0"/>
              <a:t>若提前</a:t>
            </a:r>
            <a:r>
              <a:rPr lang="en-US" altLang="zh-CN" dirty="0"/>
              <a:t>N</a:t>
            </a:r>
            <a:r>
              <a:rPr lang="zh-CN" altLang="en-US" dirty="0"/>
              <a:t>个周期开发： 总成本 </a:t>
            </a:r>
            <a:r>
              <a:rPr lang="en-US" altLang="zh-CN" dirty="0"/>
              <a:t>= C × (1 + </a:t>
            </a:r>
            <a:r>
              <a:rPr lang="zh-CN" altLang="en-US" dirty="0"/>
              <a:t>维护率</a:t>
            </a:r>
            <a:r>
              <a:rPr lang="en-US" altLang="zh-CN" dirty="0"/>
              <a:t>)^N </a:t>
            </a:r>
            <a:br>
              <a:rPr lang="en-US" altLang="zh-CN" dirty="0"/>
            </a:br>
            <a:r>
              <a:rPr lang="zh-CN" altLang="en-US" dirty="0"/>
              <a:t>而实际需求出现时的成本可能仅为</a:t>
            </a:r>
            <a:r>
              <a:rPr lang="en-US" altLang="zh-CN" dirty="0"/>
              <a:t>C×0.7</a:t>
            </a:r>
            <a:r>
              <a:rPr lang="zh-CN" altLang="en-US" dirty="0"/>
              <a:t>（技术演进） </a:t>
            </a:r>
            <a:endParaRPr lang="en-US" altLang="zh-CN" dirty="0"/>
          </a:p>
          <a:p>
            <a:r>
              <a:rPr lang="zh-CN" altLang="en-US" b="0" i="1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案例</a:t>
            </a:r>
            <a:r>
              <a:rPr lang="zh-CN" altLang="en-US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：某支付系统提前开发加密货币接口，</a:t>
            </a:r>
            <a:r>
              <a:rPr lang="en-US" altLang="zh-CN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r>
              <a:rPr lang="zh-CN" altLang="en-US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年后实际需求出现时需重构，总成本增加</a:t>
            </a:r>
            <a:r>
              <a:rPr lang="en-US" altLang="zh-CN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230%</a:t>
            </a:r>
          </a:p>
          <a:p>
            <a:r>
              <a:rPr kumimoji="1" lang="zh-CN" altLang="en-US" dirty="0"/>
              <a:t>程序员成本：</a:t>
            </a:r>
            <a:r>
              <a:rPr kumimoji="1" lang="en-US" altLang="zh-CN" dirty="0"/>
              <a:t>120 </a:t>
            </a:r>
            <a:r>
              <a:rPr kumimoji="1" lang="zh-CN" altLang="en-US" dirty="0"/>
              <a:t>美元</a:t>
            </a:r>
            <a:r>
              <a:rPr kumimoji="1" lang="en-US" altLang="zh-CN" dirty="0"/>
              <a:t>/</a:t>
            </a:r>
            <a:r>
              <a:rPr kumimoji="1" lang="zh-CN" altLang="en-US" dirty="0"/>
              <a:t>小时（硅谷）</a:t>
            </a:r>
          </a:p>
        </p:txBody>
      </p:sp>
    </p:spTree>
    <p:extLst>
      <p:ext uri="{BB962C8B-B14F-4D97-AF65-F5344CB8AC3E}">
        <p14:creationId xmlns:p14="http://schemas.microsoft.com/office/powerpoint/2010/main" val="75491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1C25-0754-606A-EBD3-72C939F2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B0ADBF-303A-8AF1-530F-E9E3CDF9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64ECC6-EECE-7F76-E3AE-0A9A84E531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/>
          <a:lstStyle/>
          <a:p>
            <a:r>
              <a:rPr lang="zh-CN" altLang="en-US" b="1" i="0" u="none" strike="noStrike" dirty="0">
                <a:effectLst/>
                <a:latin typeface="inherit"/>
              </a:rPr>
              <a:t>决策框架（成本验证矩阵）​</a:t>
            </a:r>
            <a:endParaRPr lang="zh-CN" altLang="en-US" b="1" i="0" u="none" strike="noStrike" dirty="0">
              <a:effectLst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BA6969-CE1F-BCB2-D88C-CBE00B251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5"/>
            <a:ext cx="10515600" cy="548181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b="0" dirty="0">
                <a:effectLst/>
                <a:latin typeface="inherit"/>
              </a:rPr>
              <a:t>是否开发 </a:t>
            </a:r>
            <a:r>
              <a:rPr lang="en-US" altLang="zh-CN" b="0" dirty="0">
                <a:effectLst/>
                <a:latin typeface="inherit"/>
              </a:rPr>
              <a:t>= </a:t>
            </a:r>
            <a:br>
              <a:rPr lang="en-US" altLang="zh-CN" dirty="0">
                <a:latin typeface="inherit"/>
              </a:rPr>
            </a:br>
            <a:r>
              <a:rPr lang="en-US" altLang="zh-CN" b="0" dirty="0">
                <a:effectLst/>
                <a:latin typeface="inherit"/>
              </a:rPr>
              <a:t>[</a:t>
            </a:r>
            <a:r>
              <a:rPr lang="zh-CN" altLang="en-US" b="0" dirty="0">
                <a:effectLst/>
                <a:latin typeface="inherit"/>
              </a:rPr>
              <a:t>当前需求强度</a:t>
            </a:r>
            <a:r>
              <a:rPr lang="en-US" altLang="zh-CN" b="0" dirty="0">
                <a:effectLst/>
                <a:latin typeface="inherit"/>
              </a:rPr>
              <a:t>] </a:t>
            </a:r>
            <a:r>
              <a:rPr lang="en-US" altLang="zh-CN" dirty="0"/>
              <a:t>× [</a:t>
            </a:r>
            <a:r>
              <a:rPr lang="zh-CN" altLang="en-US" dirty="0"/>
              <a:t>功能存活率预测</a:t>
            </a:r>
            <a:r>
              <a:rPr lang="en-US" altLang="zh-CN" dirty="0"/>
              <a:t>] ÷ [</a:t>
            </a:r>
            <a:r>
              <a:rPr lang="zh-CN" altLang="en-US" dirty="0"/>
              <a:t>技术贬值因子</a:t>
            </a:r>
            <a:r>
              <a:rPr lang="en-US" altLang="zh-CN" dirty="0"/>
              <a:t>] </a:t>
            </a:r>
            <a:br>
              <a:rPr lang="en-US" altLang="zh-CN" dirty="0"/>
            </a:br>
            <a:r>
              <a:rPr lang="en-US" altLang="zh-CN" dirty="0"/>
              <a:t>&gt; </a:t>
            </a:r>
            <a:r>
              <a:rPr lang="zh-CN" altLang="en-US" dirty="0"/>
              <a:t>经济阈值（建议≥</a:t>
            </a:r>
            <a:r>
              <a:rPr lang="en-US" altLang="zh-CN" dirty="0"/>
              <a:t>1.5</a:t>
            </a:r>
            <a:r>
              <a:rPr lang="zh-CN" altLang="en-US" dirty="0"/>
              <a:t>） </a:t>
            </a:r>
            <a:endParaRPr lang="en-US" altLang="zh-CN" dirty="0"/>
          </a:p>
          <a:p>
            <a:pPr algn="l" fontAlgn="base"/>
            <a:r>
              <a:rPr lang="zh-CN" altLang="en-US" b="1" i="0" u="none" strike="noStrike" dirty="0">
                <a:effectLst/>
                <a:latin typeface="inherit"/>
              </a:rPr>
              <a:t>行业实践证据</a:t>
            </a:r>
            <a:endParaRPr lang="zh-CN" altLang="en-US" b="1" i="0" u="none" strike="noStrike" dirty="0">
              <a:effectLst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AWS Lambda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诞生过程：初期拒绝预置扩展机制，通过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150+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次按需迭代达成市场契合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腾讯微信支付：红包功能初期仅用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300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行代码实现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MVP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，避免设计通用支付路由系统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inherit"/>
                <a:ea typeface="PingFang SC" panose="020B0400000000000000" pitchFamily="34" charset="-122"/>
              </a:rPr>
              <a:t>抗辩案例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Linux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内核调度器因未预留实时性支持，导致后期重构成本激增</a:t>
            </a:r>
            <a:endParaRPr lang="en-US" altLang="zh-CN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FF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YAGNI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不是反对设计，而是要求用经济学证据驱动每行代码的投资决策。​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11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0F1A-E53E-5064-5CD8-A442D287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51C8F0-A965-B4B4-781D-FDD88ED1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AD45BA-3DF4-ACE2-3850-B5448AC54D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重构的纪律性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A205D0-72CB-783D-BFAE-B2368B26A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在不改变代码外部可见行为的前提下，​</a:t>
            </a:r>
            <a:r>
              <a:rPr lang="zh-CN" altLang="en-US" b="1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持续优化代码内部结构</a:t>
            </a:r>
            <a:r>
              <a:rPr lang="zh-CN" altLang="en-US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的技术。</a:t>
            </a:r>
            <a:endParaRPr lang="en-US" altLang="zh-CN" b="0" i="0" u="none" strike="noStrike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🧩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提升可读性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：使代码更易理解（如重命名变量、拆分复杂函数）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🛠️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降低维护成本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：消除代码异味（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Code Smells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），例如重复代码、过长方法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🚀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支持演化式设计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：通过小步改进适应需求变化，避免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"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大设计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"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工具：</a:t>
            </a:r>
            <a:endParaRPr lang="en-US" altLang="zh-CN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🔍 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IDE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自动化重构：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IntelliJ/Eclipse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的提取方法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/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变量等快捷操作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✅ 测试框架：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JUnit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（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Java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）、</a:t>
            </a:r>
            <a:r>
              <a:rPr lang="en-US" altLang="zh-CN" b="0" i="0" u="none" strike="noStrike" dirty="0" err="1">
                <a:effectLst/>
                <a:latin typeface="inherit"/>
                <a:ea typeface="PingFang SC" panose="020B0400000000000000" pitchFamily="34" charset="-122"/>
              </a:rPr>
              <a:t>pytest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（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Python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）等快速验证行为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📉 代码质量扫描：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SonarQube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检测重复代码、圈复杂度等异味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E31857"/>
                </a:solidFill>
                <a:effectLst/>
                <a:latin typeface="PT Serif" panose="020A0603040505020204" pitchFamily="18" charset="0"/>
              </a:rPr>
              <a:t>与临时调整的本质区别：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E31857"/>
                </a:solidFill>
                <a:effectLst/>
                <a:latin typeface="PT Serif" panose="020A0603040505020204" pitchFamily="18" charset="0"/>
              </a:rPr>
              <a:t>测试保护下的安全重构</a:t>
            </a:r>
            <a:endParaRPr lang="en-US" altLang="zh-CN" b="0" i="0" u="none" strike="noStrike" dirty="0">
              <a:solidFill>
                <a:srgbClr val="E31857"/>
              </a:solidFill>
              <a:effectLst/>
              <a:latin typeface="PT Serif" panose="020A060304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E31857"/>
                </a:solidFill>
                <a:effectLst/>
                <a:latin typeface="PT Serif" panose="020A0603040505020204" pitchFamily="18" charset="0"/>
              </a:rPr>
              <a:t>重构不是推倒重写，而是让代码随时间越变越优雅的持续艺术。​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84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449F6-2F13-3DF8-E3A4-5B14C5C5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99654A-125D-4175-8AB7-1123F717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670865-1309-BC99-DF26-4EB5F50911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生长式架构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AC7140-739F-ED26-EAFE-88AE6B8E1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软件架构指系统的核心元素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难以修改的部分，是其余部分的基础。</a:t>
            </a:r>
            <a:endParaRPr kumimoji="1" lang="en-US" altLang="zh-CN" dirty="0"/>
          </a:p>
          <a:p>
            <a:r>
              <a:rPr kumimoji="1" lang="zh-CN" altLang="en-US" dirty="0"/>
              <a:t>最激进的</a:t>
            </a:r>
            <a:r>
              <a:rPr kumimoji="1" lang="en-US" altLang="zh-CN" dirty="0"/>
              <a:t>XP</a:t>
            </a:r>
            <a:r>
              <a:rPr kumimoji="1" lang="zh-CN" altLang="en-US" dirty="0"/>
              <a:t>实践者（</a:t>
            </a:r>
            <a:r>
              <a:rPr kumimoji="1" lang="en-US" altLang="zh-CN" dirty="0"/>
              <a:t>Kent Beck</a:t>
            </a:r>
            <a:r>
              <a:rPr kumimoji="1" lang="zh-CN" altLang="en-US" dirty="0"/>
              <a:t>、</a:t>
            </a:r>
            <a:r>
              <a:rPr kumimoji="1" lang="en-US" altLang="zh-CN" dirty="0"/>
              <a:t>Ron Jeffries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Bob Martin</a:t>
            </a:r>
            <a:r>
              <a:rPr kumimoji="1" lang="zh-CN" altLang="en-US" dirty="0"/>
              <a:t>）确实越来越避免前期架构设计：在真正需要前不引入数据库，先用文件后期重构。</a:t>
            </a:r>
            <a:endParaRPr kumimoji="1" lang="en-US" altLang="zh-CN" dirty="0"/>
          </a:p>
          <a:p>
            <a:r>
              <a:rPr kumimoji="1" lang="en-US" altLang="zh-CN" dirty="0"/>
              <a:t>Martin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Fowler</a:t>
            </a:r>
            <a:r>
              <a:rPr kumimoji="1" lang="zh-CN" altLang="en-US" dirty="0"/>
              <a:t>建议：</a:t>
            </a:r>
            <a:r>
              <a:rPr kumimoji="1" lang="zh-CN" altLang="en-US" dirty="0">
                <a:solidFill>
                  <a:srgbClr val="FF0000"/>
                </a:solidFill>
              </a:rPr>
              <a:t>评估可能架构。</a:t>
            </a:r>
            <a:r>
              <a:rPr kumimoji="1" lang="zh-CN" altLang="en-US" dirty="0"/>
              <a:t>若预期海量多用户数据，首日就用数据库；若复杂业务逻辑，引入领域模型。但遵从</a:t>
            </a:r>
            <a:r>
              <a:rPr kumimoji="1" lang="en-US" altLang="zh-CN" dirty="0"/>
              <a:t>YAGNI</a:t>
            </a:r>
            <a:r>
              <a:rPr kumimoji="1" lang="zh-CN" altLang="en-US" dirty="0"/>
              <a:t>，存疑时倾向简单。随时准备简化未增价值的架构部分。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21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56DD6-CF11-79B6-2A18-118583DD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1A242D-DA83-7EB9-2201-E03F901F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D15049-E224-A806-AB95-7AE9C11F3A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UML</a:t>
            </a:r>
            <a:r>
              <a:rPr kumimoji="1" lang="zh-CN" altLang="en-US" dirty="0"/>
              <a:t>与</a:t>
            </a:r>
            <a:r>
              <a:rPr kumimoji="1" lang="en-US" altLang="zh-CN" dirty="0"/>
              <a:t>XP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7CAF1-170C-E1A2-94E1-12D48A1B1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“有用则用”</a:t>
            </a:r>
            <a:endParaRPr kumimoji="1" lang="en-US" altLang="zh-CN" dirty="0"/>
          </a:p>
          <a:p>
            <a:r>
              <a:rPr kumimoji="1" lang="zh-CN" altLang="en-US" dirty="0"/>
              <a:t>目标为沟通。选择重要内容，忽略次要。图表无需全面，代码才是全面信息源。</a:t>
            </a:r>
            <a:endParaRPr kumimoji="1" lang="en-US" altLang="zh-CN" dirty="0"/>
          </a:p>
          <a:p>
            <a:r>
              <a:rPr kumimoji="1" lang="zh-CN" altLang="en-US" dirty="0"/>
              <a:t>编码前可以用图表探索设计。但需：</a:t>
            </a:r>
          </a:p>
          <a:p>
            <a:pPr lvl="1"/>
            <a:r>
              <a:rPr kumimoji="1" lang="en-US" altLang="zh-CN" dirty="0"/>
              <a:t>- </a:t>
            </a:r>
            <a:r>
              <a:rPr kumimoji="1" lang="zh-CN" altLang="en-US" dirty="0"/>
              <a:t>保持简短</a:t>
            </a:r>
          </a:p>
          <a:p>
            <a:pPr lvl="1"/>
            <a:r>
              <a:rPr kumimoji="1" lang="en-US" altLang="zh-CN" dirty="0"/>
              <a:t>- </a:t>
            </a:r>
            <a:r>
              <a:rPr kumimoji="1" lang="zh-CN" altLang="en-US" dirty="0"/>
              <a:t>不解决所有细节</a:t>
            </a:r>
          </a:p>
          <a:p>
            <a:pPr lvl="1"/>
            <a:r>
              <a:rPr kumimoji="1" lang="en-US" altLang="zh-CN" dirty="0"/>
              <a:t>- </a:t>
            </a:r>
            <a:r>
              <a:rPr kumimoji="1" lang="zh-CN" altLang="en-US" dirty="0"/>
              <a:t>视设计为草图而非终稿</a:t>
            </a:r>
          </a:p>
        </p:txBody>
      </p:sp>
    </p:spTree>
    <p:extLst>
      <p:ext uri="{BB962C8B-B14F-4D97-AF65-F5344CB8AC3E}">
        <p14:creationId xmlns:p14="http://schemas.microsoft.com/office/powerpoint/2010/main" val="343383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DE780-66E9-F098-DBE8-09DCD8CC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2DBD48-45D2-B721-AC1A-EB8CC397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719783-3042-1886-EAD8-5730DECC64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可逆性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EB93E9-6B6B-2B5F-490F-DA937859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通过</a:t>
            </a:r>
            <a:r>
              <a:rPr kumimoji="1" lang="zh-CN" altLang="en-US" dirty="0">
                <a:solidFill>
                  <a:srgbClr val="FF0000"/>
                </a:solidFill>
              </a:rPr>
              <a:t>降低流程中的不可逆性</a:t>
            </a:r>
            <a:r>
              <a:rPr kumimoji="1" lang="zh-CN" altLang="en-US" dirty="0"/>
              <a:t>来应对复杂性。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决策的不可逆性是复杂性的主要来源。如果能轻松改变决策，就无需执着于</a:t>
            </a:r>
            <a:r>
              <a:rPr kumimoji="1" lang="en-US" altLang="zh-CN" dirty="0"/>
              <a:t>"</a:t>
            </a:r>
            <a:r>
              <a:rPr kumimoji="1" lang="zh-CN" altLang="en-US" dirty="0"/>
              <a:t>一次性做对</a:t>
            </a:r>
            <a:r>
              <a:rPr kumimoji="1" lang="en-US" altLang="zh-CN" dirty="0"/>
              <a:t>"——</a:t>
            </a:r>
            <a:r>
              <a:rPr kumimoji="1" lang="zh-CN" altLang="en-US" dirty="0"/>
              <a:t>这极大简化了问题。对演进式设计的启示在于：设计师需要思考如何避免决策的不可逆性。与其试图现在就做出完美决策，不如寻找方法将决策推迟（以获得更多信息），或让决策在未来能被轻松逆转。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敏捷方法重视版本控制系。</a:t>
            </a:r>
          </a:p>
        </p:txBody>
      </p:sp>
    </p:spTree>
    <p:extLst>
      <p:ext uri="{BB962C8B-B14F-4D97-AF65-F5344CB8AC3E}">
        <p14:creationId xmlns:p14="http://schemas.microsoft.com/office/powerpoint/2010/main" val="291066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6E3A-ED1E-90A6-6FCC-28776E04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B1A77E-6139-9035-4199-CC140700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D61DE0-C3D7-702E-CF73-C1AC0130F9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所以，设计已死？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2D3407-F017-E6CB-7797-C2EFEE1E2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绝非如此，但</a:t>
            </a:r>
            <a:r>
              <a:rPr lang="zh-CN" altLang="en-US" b="1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设计的本质已然改变</a:t>
            </a: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。</a:t>
            </a:r>
            <a:r>
              <a:rPr lang="en-US" altLang="zh-CN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XP</a:t>
            </a: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设计需要以下技能：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持续保持代码清晰简洁的渴望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通过重构自信改进代码的能力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精通模式（</a:t>
            </a:r>
            <a:r>
              <a:rPr lang="en-US" altLang="zh-CN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design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 </a:t>
            </a:r>
            <a:r>
              <a:rPr lang="en-US" altLang="zh-CN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pattern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）：不仅理解解决方案，更懂应用时机与演进路径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预见变化的眼光：知晓今日决策终将改变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运用代码、图表及最重要的</a:t>
            </a:r>
            <a:r>
              <a:rPr lang="en-US" altLang="zh-CN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——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对话，向相关人员传达设计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r>
              <a:rPr kumimoji="1" lang="zh-CN" altLang="en-US" dirty="0"/>
              <a:t>这是很难的技能组合，但优秀设计向来艰难。</a:t>
            </a:r>
            <a:r>
              <a:rPr kumimoji="1" lang="en-US" altLang="zh-CN" dirty="0"/>
              <a:t>XP</a:t>
            </a:r>
            <a:r>
              <a:rPr kumimoji="1" lang="zh-CN" altLang="en-US" dirty="0"/>
              <a:t>并未使其变易。但</a:t>
            </a:r>
            <a:r>
              <a:rPr kumimoji="1" lang="en-US" altLang="zh-CN" dirty="0"/>
              <a:t>XP</a:t>
            </a:r>
            <a:r>
              <a:rPr kumimoji="1" lang="zh-CN" altLang="en-US" dirty="0"/>
              <a:t>确实提供了思考有效设计的新视角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它让演进式设计重获新生。</a:t>
            </a:r>
          </a:p>
        </p:txBody>
      </p:sp>
    </p:spTree>
    <p:extLst>
      <p:ext uri="{BB962C8B-B14F-4D97-AF65-F5344CB8AC3E}">
        <p14:creationId xmlns:p14="http://schemas.microsoft.com/office/powerpoint/2010/main" val="4922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南大紫">
      <a:dk1>
        <a:srgbClr val="6A005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lides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</Template>
  <TotalTime>266</TotalTime>
  <Words>2102</Words>
  <Application>Microsoft Macintosh PowerPoint</Application>
  <PresentationFormat>宽屏</PresentationFormat>
  <Paragraphs>147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等线</vt:lpstr>
      <vt:lpstr>inherit</vt:lpstr>
      <vt:lpstr>Inter</vt:lpstr>
      <vt:lpstr>PingFang SC</vt:lpstr>
      <vt:lpstr>var(--monospace)</vt:lpstr>
      <vt:lpstr>Arial</vt:lpstr>
      <vt:lpstr>Calibri</vt:lpstr>
      <vt:lpstr>PT Serif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栋 邵</dc:creator>
  <dc:description>第一PPT模板网-WWW.1PPT.COM</dc:description>
  <cp:lastModifiedBy>栋 邵</cp:lastModifiedBy>
  <cp:revision>44</cp:revision>
  <dcterms:created xsi:type="dcterms:W3CDTF">2025-03-18T05:39:07Z</dcterms:created>
  <dcterms:modified xsi:type="dcterms:W3CDTF">2025-03-31T13:13:00Z</dcterms:modified>
  <cp:category>第一PPT模板网-WWW.1PPT.COM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AC13F161FBC3290550F89F62C78629F4</vt:lpwstr>
  </property>
  <property fmtid="{D5CDD505-2E9C-101B-9397-08002B2CF9AE}" pid="3" name="KSOProductBuildVer">
    <vt:lpwstr>2052-4.1.1.6613</vt:lpwstr>
  </property>
</Properties>
</file>