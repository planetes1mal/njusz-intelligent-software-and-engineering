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32"/>
  </p:notesMasterIdLst>
  <p:handoutMasterIdLst>
    <p:handoutMasterId r:id="rId33"/>
  </p:handoutMasterIdLst>
  <p:sldIdLst>
    <p:sldId id="337" r:id="rId2"/>
    <p:sldId id="338" r:id="rId3"/>
    <p:sldId id="358" r:id="rId4"/>
    <p:sldId id="359" r:id="rId5"/>
    <p:sldId id="360" r:id="rId6"/>
    <p:sldId id="362" r:id="rId7"/>
    <p:sldId id="370" r:id="rId8"/>
    <p:sldId id="372" r:id="rId9"/>
    <p:sldId id="257" r:id="rId10"/>
    <p:sldId id="371" r:id="rId11"/>
    <p:sldId id="365" r:id="rId12"/>
    <p:sldId id="363" r:id="rId13"/>
    <p:sldId id="364" r:id="rId14"/>
    <p:sldId id="361" r:id="rId15"/>
    <p:sldId id="366" r:id="rId16"/>
    <p:sldId id="367" r:id="rId17"/>
    <p:sldId id="368" r:id="rId18"/>
    <p:sldId id="369" r:id="rId19"/>
    <p:sldId id="351" r:id="rId20"/>
    <p:sldId id="352" r:id="rId21"/>
    <p:sldId id="341" r:id="rId22"/>
    <p:sldId id="343" r:id="rId23"/>
    <p:sldId id="344" r:id="rId24"/>
    <p:sldId id="345" r:id="rId25"/>
    <p:sldId id="346" r:id="rId26"/>
    <p:sldId id="353" r:id="rId27"/>
    <p:sldId id="342" r:id="rId28"/>
    <p:sldId id="373" r:id="rId29"/>
    <p:sldId id="374" r:id="rId30"/>
    <p:sldId id="375"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7"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muel Garcia" initials="SG" lastIdx="1" clrIdx="0">
    <p:extLst>
      <p:ext uri="{19B8F6BF-5375-455C-9EA6-DF929625EA0E}">
        <p15:presenceInfo xmlns:p15="http://schemas.microsoft.com/office/powerpoint/2012/main" userId="a1f7796647ec1a4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ED7D31"/>
    <a:srgbClr val="870078"/>
    <a:srgbClr val="6A005F"/>
    <a:srgbClr val="760068"/>
    <a:srgbClr val="500048"/>
    <a:srgbClr val="A2008F"/>
    <a:srgbClr val="C000A9"/>
    <a:srgbClr val="ECECEC"/>
    <a:srgbClr val="DB6B9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5050" autoAdjust="0"/>
    <p:restoredTop sz="78045" autoAdjust="0"/>
  </p:normalViewPr>
  <p:slideViewPr>
    <p:cSldViewPr snapToGrid="0" showGuides="1">
      <p:cViewPr varScale="1">
        <p:scale>
          <a:sx n="156" d="100"/>
          <a:sy n="156" d="100"/>
        </p:scale>
        <p:origin x="200" y="488"/>
      </p:cViewPr>
      <p:guideLst>
        <p:guide orient="horz" pos="2160"/>
        <p:guide pos="3817"/>
      </p:guideLst>
    </p:cSldViewPr>
  </p:slideViewPr>
  <p:notesTextViewPr>
    <p:cViewPr>
      <p:scale>
        <a:sx n="1" d="1"/>
        <a:sy n="1" d="1"/>
      </p:scale>
      <p:origin x="0" y="0"/>
    </p:cViewPr>
  </p:notesTextViewPr>
  <p:sorterViewPr>
    <p:cViewPr>
      <p:scale>
        <a:sx n="120" d="100"/>
        <a:sy n="120" d="100"/>
      </p:scale>
      <p:origin x="0" y="0"/>
    </p:cViewPr>
  </p:sorterViewPr>
  <p:notesViewPr>
    <p:cSldViewPr snapToGrid="0">
      <p:cViewPr varScale="1">
        <p:scale>
          <a:sx n="72" d="100"/>
          <a:sy n="72" d="100"/>
        </p:scale>
        <p:origin x="3012" y="5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905509AF-FFFE-40E2-ACCC-D94A42824C7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29924B17-223D-462C-A63A-C3C56A006AA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57D45F-9B06-4FD6-B80D-63AF92FC02D4}" type="datetimeFigureOut">
              <a:rPr lang="zh-CN" altLang="en-US" smtClean="0"/>
              <a:t>2025/4/7</a:t>
            </a:fld>
            <a:endParaRPr lang="zh-CN" altLang="en-US"/>
          </a:p>
        </p:txBody>
      </p:sp>
      <p:sp>
        <p:nvSpPr>
          <p:cNvPr id="4" name="页脚占位符 3">
            <a:extLst>
              <a:ext uri="{FF2B5EF4-FFF2-40B4-BE49-F238E27FC236}">
                <a16:creationId xmlns:a16="http://schemas.microsoft.com/office/drawing/2014/main" id="{7F2CCF11-9C79-4761-9F00-C8870F6164D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E17934F1-5308-4C99-BEF9-29253D9CE9E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B33F7F3-BE4C-4D86-9918-24458AE0A277}" type="slidenum">
              <a:rPr lang="zh-CN" altLang="en-US" smtClean="0"/>
              <a:t>‹#›</a:t>
            </a:fld>
            <a:endParaRPr lang="zh-CN" altLang="en-US"/>
          </a:p>
        </p:txBody>
      </p:sp>
    </p:spTree>
    <p:extLst>
      <p:ext uri="{BB962C8B-B14F-4D97-AF65-F5344CB8AC3E}">
        <p14:creationId xmlns:p14="http://schemas.microsoft.com/office/powerpoint/2010/main" val="42335247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2F98C7-9395-4E9A-96EC-DE4C39432AA7}" type="datetimeFigureOut">
              <a:rPr lang="zh-CN" altLang="en-US" smtClean="0"/>
              <a:t>2025/4/7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464DB0-CCE3-4363-801A-A01AADC6398D}" type="slidenum">
              <a:rPr lang="zh-CN" altLang="en-US" smtClean="0"/>
              <a:t>‹#›</a:t>
            </a:fld>
            <a:endParaRPr lang="zh-CN" altLang="en-US"/>
          </a:p>
        </p:txBody>
      </p:sp>
    </p:spTree>
    <p:extLst>
      <p:ext uri="{BB962C8B-B14F-4D97-AF65-F5344CB8AC3E}">
        <p14:creationId xmlns:p14="http://schemas.microsoft.com/office/powerpoint/2010/main" val="393043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02F5587D-B701-47A6-9BDF-1CF70E9C3A25}"/>
              </a:ext>
            </a:extLst>
          </p:cNvPr>
          <p:cNvGrpSpPr/>
          <p:nvPr userDrawn="1"/>
        </p:nvGrpSpPr>
        <p:grpSpPr>
          <a:xfrm>
            <a:off x="0" y="2697654"/>
            <a:ext cx="12192000" cy="1462692"/>
            <a:chOff x="0" y="2878638"/>
            <a:chExt cx="9144000" cy="1034852"/>
          </a:xfrm>
        </p:grpSpPr>
        <p:sp>
          <p:nvSpPr>
            <p:cNvPr id="7" name="矩形 6">
              <a:extLst>
                <a:ext uri="{FF2B5EF4-FFF2-40B4-BE49-F238E27FC236}">
                  <a16:creationId xmlns:a16="http://schemas.microsoft.com/office/drawing/2014/main" id="{0A7AE3D4-882D-4CF2-99CC-B3EAE1501DEB}"/>
                </a:ext>
              </a:extLst>
            </p:cNvPr>
            <p:cNvSpPr/>
            <p:nvPr/>
          </p:nvSpPr>
          <p:spPr>
            <a:xfrm>
              <a:off x="0" y="3607982"/>
              <a:ext cx="9144000" cy="305508"/>
            </a:xfrm>
            <a:prstGeom prst="rect">
              <a:avLst/>
            </a:prstGeom>
            <a:solidFill>
              <a:srgbClr val="453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DDD7D486-5E05-4837-85D8-AB48A7786FD7}"/>
                </a:ext>
              </a:extLst>
            </p:cNvPr>
            <p:cNvSpPr/>
            <p:nvPr/>
          </p:nvSpPr>
          <p:spPr>
            <a:xfrm>
              <a:off x="0" y="2878638"/>
              <a:ext cx="9144000" cy="729343"/>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grpSp>
        <p:nvGrpSpPr>
          <p:cNvPr id="10" name="组合 9">
            <a:extLst>
              <a:ext uri="{FF2B5EF4-FFF2-40B4-BE49-F238E27FC236}">
                <a16:creationId xmlns:a16="http://schemas.microsoft.com/office/drawing/2014/main" id="{8C327EC4-773E-4C98-8E0F-B33211CFDC5C}"/>
              </a:ext>
            </a:extLst>
          </p:cNvPr>
          <p:cNvGrpSpPr/>
          <p:nvPr userDrawn="1"/>
        </p:nvGrpSpPr>
        <p:grpSpPr>
          <a:xfrm>
            <a:off x="10936195" y="1892024"/>
            <a:ext cx="871416" cy="653562"/>
            <a:chOff x="10920675" y="2008140"/>
            <a:chExt cx="576000" cy="576000"/>
          </a:xfrm>
        </p:grpSpPr>
        <p:sp>
          <p:nvSpPr>
            <p:cNvPr id="11" name="矩形 10">
              <a:extLst>
                <a:ext uri="{FF2B5EF4-FFF2-40B4-BE49-F238E27FC236}">
                  <a16:creationId xmlns:a16="http://schemas.microsoft.com/office/drawing/2014/main" id="{83D4E437-87CB-4894-979E-12775BBB47E0}"/>
                </a:ext>
              </a:extLst>
            </p:cNvPr>
            <p:cNvSpPr/>
            <p:nvPr/>
          </p:nvSpPr>
          <p:spPr>
            <a:xfrm>
              <a:off x="11172675" y="2260140"/>
              <a:ext cx="324000" cy="324000"/>
            </a:xfrm>
            <a:prstGeom prst="rect">
              <a:avLst/>
            </a:prstGeom>
            <a:solidFill>
              <a:srgbClr val="8700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矩形 11">
              <a:extLst>
                <a:ext uri="{FF2B5EF4-FFF2-40B4-BE49-F238E27FC236}">
                  <a16:creationId xmlns:a16="http://schemas.microsoft.com/office/drawing/2014/main" id="{39B116C8-24A0-4BBD-8CD7-C662CC1E9E1C}"/>
                </a:ext>
              </a:extLst>
            </p:cNvPr>
            <p:cNvSpPr/>
            <p:nvPr/>
          </p:nvSpPr>
          <p:spPr>
            <a:xfrm>
              <a:off x="10920675" y="2008140"/>
              <a:ext cx="252000" cy="252000"/>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14" name="Freeform 5">
            <a:extLst>
              <a:ext uri="{FF2B5EF4-FFF2-40B4-BE49-F238E27FC236}">
                <a16:creationId xmlns:a16="http://schemas.microsoft.com/office/drawing/2014/main" id="{C2988B88-4A90-4ADF-A871-450AF3376611}"/>
              </a:ext>
            </a:extLst>
          </p:cNvPr>
          <p:cNvSpPr>
            <a:spLocks noEditPoints="1"/>
          </p:cNvSpPr>
          <p:nvPr userDrawn="1"/>
        </p:nvSpPr>
        <p:spPr bwMode="auto">
          <a:xfrm>
            <a:off x="11026468" y="2954360"/>
            <a:ext cx="781145" cy="516114"/>
          </a:xfrm>
          <a:custGeom>
            <a:avLst/>
            <a:gdLst>
              <a:gd name="T0" fmla="*/ 17 w 68"/>
              <a:gd name="T1" fmla="*/ 26 h 60"/>
              <a:gd name="T2" fmla="*/ 33 w 68"/>
              <a:gd name="T3" fmla="*/ 31 h 60"/>
              <a:gd name="T4" fmla="*/ 33 w 68"/>
              <a:gd name="T5" fmla="*/ 31 h 60"/>
              <a:gd name="T6" fmla="*/ 49 w 68"/>
              <a:gd name="T7" fmla="*/ 26 h 60"/>
              <a:gd name="T8" fmla="*/ 34 w 68"/>
              <a:gd name="T9" fmla="*/ 18 h 60"/>
              <a:gd name="T10" fmla="*/ 59 w 68"/>
              <a:gd name="T11" fmla="*/ 16 h 60"/>
              <a:gd name="T12" fmla="*/ 55 w 68"/>
              <a:gd name="T13" fmla="*/ 23 h 60"/>
              <a:gd name="T14" fmla="*/ 56 w 68"/>
              <a:gd name="T15" fmla="*/ 15 h 60"/>
              <a:gd name="T16" fmla="*/ 56 w 68"/>
              <a:gd name="T17" fmla="*/ 12 h 60"/>
              <a:gd name="T18" fmla="*/ 52 w 68"/>
              <a:gd name="T19" fmla="*/ 23 h 60"/>
              <a:gd name="T20" fmla="*/ 68 w 68"/>
              <a:gd name="T21" fmla="*/ 32 h 60"/>
              <a:gd name="T22" fmla="*/ 68 w 68"/>
              <a:gd name="T23" fmla="*/ 34 h 60"/>
              <a:gd name="T24" fmla="*/ 67 w 68"/>
              <a:gd name="T25" fmla="*/ 34 h 60"/>
              <a:gd name="T26" fmla="*/ 29 w 68"/>
              <a:gd name="T27" fmla="*/ 50 h 60"/>
              <a:gd name="T28" fmla="*/ 68 w 68"/>
              <a:gd name="T29" fmla="*/ 45 h 60"/>
              <a:gd name="T30" fmla="*/ 30 w 68"/>
              <a:gd name="T31" fmla="*/ 60 h 60"/>
              <a:gd name="T32" fmla="*/ 28 w 68"/>
              <a:gd name="T33" fmla="*/ 59 h 60"/>
              <a:gd name="T34" fmla="*/ 3 w 68"/>
              <a:gd name="T35" fmla="*/ 25 h 60"/>
              <a:gd name="T36" fmla="*/ 14 w 68"/>
              <a:gd name="T37" fmla="*/ 23 h 60"/>
              <a:gd name="T38" fmla="*/ 1 w 68"/>
              <a:gd name="T39" fmla="*/ 10 h 60"/>
              <a:gd name="T40" fmla="*/ 32 w 68"/>
              <a:gd name="T41" fmla="*/ 0 h 60"/>
              <a:gd name="T42" fmla="*/ 65 w 68"/>
              <a:gd name="T43" fmla="*/ 9 h 60"/>
              <a:gd name="T44" fmla="*/ 59 w 68"/>
              <a:gd name="T45" fmla="*/ 14 h 60"/>
              <a:gd name="T46" fmla="*/ 59 w 68"/>
              <a:gd name="T47" fmla="*/ 16 h 60"/>
              <a:gd name="T48" fmla="*/ 58 w 68"/>
              <a:gd name="T49" fmla="*/ 9 h 60"/>
              <a:gd name="T50" fmla="*/ 33 w 68"/>
              <a:gd name="T51" fmla="*/ 4 h 60"/>
              <a:gd name="T52" fmla="*/ 33 w 68"/>
              <a:gd name="T53" fmla="*/ 8 h 60"/>
              <a:gd name="T54" fmla="*/ 54 w 68"/>
              <a:gd name="T55" fmla="*/ 10 h 60"/>
              <a:gd name="T56" fmla="*/ 32 w 68"/>
              <a:gd name="T57" fmla="*/ 53 h 60"/>
              <a:gd name="T58" fmla="*/ 67 w 68"/>
              <a:gd name="T59" fmla="*/ 42 h 60"/>
              <a:gd name="T60" fmla="*/ 32 w 68"/>
              <a:gd name="T61" fmla="*/ 49 h 60"/>
              <a:gd name="T62" fmla="*/ 67 w 68"/>
              <a:gd name="T63" fmla="*/ 40 h 60"/>
              <a:gd name="T64" fmla="*/ 32 w 68"/>
              <a:gd name="T65" fmla="*/ 49 h 60"/>
              <a:gd name="T66" fmla="*/ 32 w 68"/>
              <a:gd name="T67" fmla="*/ 47 h 60"/>
              <a:gd name="T68" fmla="*/ 67 w 68"/>
              <a:gd name="T69" fmla="*/ 3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8" h="60">
                <a:moveTo>
                  <a:pt x="17" y="14"/>
                </a:moveTo>
                <a:cubicBezTo>
                  <a:pt x="17" y="26"/>
                  <a:pt x="17" y="26"/>
                  <a:pt x="17" y="26"/>
                </a:cubicBezTo>
                <a:cubicBezTo>
                  <a:pt x="17" y="26"/>
                  <a:pt x="18" y="27"/>
                  <a:pt x="18" y="27"/>
                </a:cubicBezTo>
                <a:cubicBezTo>
                  <a:pt x="22" y="28"/>
                  <a:pt x="29" y="31"/>
                  <a:pt x="33" y="31"/>
                </a:cubicBezTo>
                <a:cubicBezTo>
                  <a:pt x="33" y="31"/>
                  <a:pt x="33" y="31"/>
                  <a:pt x="33" y="31"/>
                </a:cubicBezTo>
                <a:cubicBezTo>
                  <a:pt x="33" y="31"/>
                  <a:pt x="33" y="31"/>
                  <a:pt x="33" y="31"/>
                </a:cubicBezTo>
                <a:cubicBezTo>
                  <a:pt x="36" y="31"/>
                  <a:pt x="39" y="30"/>
                  <a:pt x="41" y="30"/>
                </a:cubicBezTo>
                <a:cubicBezTo>
                  <a:pt x="45" y="29"/>
                  <a:pt x="47" y="27"/>
                  <a:pt x="49" y="26"/>
                </a:cubicBezTo>
                <a:cubicBezTo>
                  <a:pt x="49" y="14"/>
                  <a:pt x="49" y="14"/>
                  <a:pt x="49" y="14"/>
                </a:cubicBezTo>
                <a:cubicBezTo>
                  <a:pt x="34" y="18"/>
                  <a:pt x="34" y="18"/>
                  <a:pt x="34" y="18"/>
                </a:cubicBezTo>
                <a:cubicBezTo>
                  <a:pt x="17" y="14"/>
                  <a:pt x="17" y="14"/>
                  <a:pt x="17" y="14"/>
                </a:cubicBezTo>
                <a:close/>
                <a:moveTo>
                  <a:pt x="59" y="16"/>
                </a:moveTo>
                <a:cubicBezTo>
                  <a:pt x="61" y="23"/>
                  <a:pt x="61" y="23"/>
                  <a:pt x="61" y="23"/>
                </a:cubicBezTo>
                <a:cubicBezTo>
                  <a:pt x="59" y="25"/>
                  <a:pt x="57" y="25"/>
                  <a:pt x="55" y="23"/>
                </a:cubicBezTo>
                <a:cubicBezTo>
                  <a:pt x="56" y="16"/>
                  <a:pt x="56" y="16"/>
                  <a:pt x="56" y="16"/>
                </a:cubicBezTo>
                <a:cubicBezTo>
                  <a:pt x="56" y="16"/>
                  <a:pt x="56" y="16"/>
                  <a:pt x="56" y="15"/>
                </a:cubicBezTo>
                <a:cubicBezTo>
                  <a:pt x="56" y="15"/>
                  <a:pt x="56" y="14"/>
                  <a:pt x="56" y="14"/>
                </a:cubicBezTo>
                <a:cubicBezTo>
                  <a:pt x="56" y="12"/>
                  <a:pt x="56" y="12"/>
                  <a:pt x="56" y="12"/>
                </a:cubicBezTo>
                <a:cubicBezTo>
                  <a:pt x="52" y="13"/>
                  <a:pt x="52" y="13"/>
                  <a:pt x="52" y="13"/>
                </a:cubicBezTo>
                <a:cubicBezTo>
                  <a:pt x="52" y="23"/>
                  <a:pt x="52" y="23"/>
                  <a:pt x="52" y="23"/>
                </a:cubicBezTo>
                <a:cubicBezTo>
                  <a:pt x="68" y="30"/>
                  <a:pt x="68" y="30"/>
                  <a:pt x="68" y="30"/>
                </a:cubicBezTo>
                <a:cubicBezTo>
                  <a:pt x="68" y="32"/>
                  <a:pt x="68" y="32"/>
                  <a:pt x="68" y="32"/>
                </a:cubicBezTo>
                <a:cubicBezTo>
                  <a:pt x="68" y="34"/>
                  <a:pt x="68" y="34"/>
                  <a:pt x="68" y="34"/>
                </a:cubicBezTo>
                <a:cubicBezTo>
                  <a:pt x="68" y="34"/>
                  <a:pt x="68" y="34"/>
                  <a:pt x="68" y="34"/>
                </a:cubicBezTo>
                <a:cubicBezTo>
                  <a:pt x="68" y="34"/>
                  <a:pt x="68" y="34"/>
                  <a:pt x="68" y="34"/>
                </a:cubicBezTo>
                <a:cubicBezTo>
                  <a:pt x="67" y="34"/>
                  <a:pt x="67" y="34"/>
                  <a:pt x="67" y="34"/>
                </a:cubicBezTo>
                <a:cubicBezTo>
                  <a:pt x="30" y="44"/>
                  <a:pt x="30" y="44"/>
                  <a:pt x="30" y="44"/>
                </a:cubicBezTo>
                <a:cubicBezTo>
                  <a:pt x="29" y="46"/>
                  <a:pt x="29" y="48"/>
                  <a:pt x="29" y="50"/>
                </a:cubicBezTo>
                <a:cubicBezTo>
                  <a:pt x="29" y="52"/>
                  <a:pt x="29" y="54"/>
                  <a:pt x="30" y="56"/>
                </a:cubicBezTo>
                <a:cubicBezTo>
                  <a:pt x="68" y="45"/>
                  <a:pt x="68" y="45"/>
                  <a:pt x="68" y="45"/>
                </a:cubicBezTo>
                <a:cubicBezTo>
                  <a:pt x="68" y="48"/>
                  <a:pt x="68" y="48"/>
                  <a:pt x="68" y="48"/>
                </a:cubicBezTo>
                <a:cubicBezTo>
                  <a:pt x="30" y="60"/>
                  <a:pt x="30" y="60"/>
                  <a:pt x="30" y="60"/>
                </a:cubicBezTo>
                <a:cubicBezTo>
                  <a:pt x="29" y="60"/>
                  <a:pt x="29" y="60"/>
                  <a:pt x="29" y="60"/>
                </a:cubicBezTo>
                <a:cubicBezTo>
                  <a:pt x="28" y="59"/>
                  <a:pt x="28" y="59"/>
                  <a:pt x="28" y="59"/>
                </a:cubicBezTo>
                <a:cubicBezTo>
                  <a:pt x="3" y="38"/>
                  <a:pt x="3" y="38"/>
                  <a:pt x="3" y="38"/>
                </a:cubicBezTo>
                <a:cubicBezTo>
                  <a:pt x="2" y="34"/>
                  <a:pt x="1" y="30"/>
                  <a:pt x="3" y="25"/>
                </a:cubicBezTo>
                <a:cubicBezTo>
                  <a:pt x="3" y="25"/>
                  <a:pt x="3" y="25"/>
                  <a:pt x="3" y="25"/>
                </a:cubicBezTo>
                <a:cubicBezTo>
                  <a:pt x="14" y="23"/>
                  <a:pt x="14" y="23"/>
                  <a:pt x="14" y="23"/>
                </a:cubicBezTo>
                <a:cubicBezTo>
                  <a:pt x="14" y="13"/>
                  <a:pt x="14" y="13"/>
                  <a:pt x="14" y="13"/>
                </a:cubicBezTo>
                <a:cubicBezTo>
                  <a:pt x="1" y="10"/>
                  <a:pt x="1" y="10"/>
                  <a:pt x="1" y="10"/>
                </a:cubicBezTo>
                <a:cubicBezTo>
                  <a:pt x="0" y="8"/>
                  <a:pt x="0" y="8"/>
                  <a:pt x="0" y="8"/>
                </a:cubicBezTo>
                <a:cubicBezTo>
                  <a:pt x="32" y="0"/>
                  <a:pt x="32" y="0"/>
                  <a:pt x="32" y="0"/>
                </a:cubicBezTo>
                <a:cubicBezTo>
                  <a:pt x="65" y="7"/>
                  <a:pt x="65" y="7"/>
                  <a:pt x="65" y="7"/>
                </a:cubicBezTo>
                <a:cubicBezTo>
                  <a:pt x="65" y="9"/>
                  <a:pt x="65" y="9"/>
                  <a:pt x="65" y="9"/>
                </a:cubicBezTo>
                <a:cubicBezTo>
                  <a:pt x="59" y="11"/>
                  <a:pt x="59" y="11"/>
                  <a:pt x="59" y="11"/>
                </a:cubicBezTo>
                <a:cubicBezTo>
                  <a:pt x="59" y="14"/>
                  <a:pt x="59" y="14"/>
                  <a:pt x="59" y="14"/>
                </a:cubicBezTo>
                <a:cubicBezTo>
                  <a:pt x="59" y="14"/>
                  <a:pt x="59" y="15"/>
                  <a:pt x="59" y="15"/>
                </a:cubicBezTo>
                <a:cubicBezTo>
                  <a:pt x="59" y="16"/>
                  <a:pt x="59" y="16"/>
                  <a:pt x="59" y="16"/>
                </a:cubicBezTo>
                <a:close/>
                <a:moveTo>
                  <a:pt x="54" y="10"/>
                </a:moveTo>
                <a:cubicBezTo>
                  <a:pt x="58" y="9"/>
                  <a:pt x="58" y="9"/>
                  <a:pt x="58" y="9"/>
                </a:cubicBezTo>
                <a:cubicBezTo>
                  <a:pt x="36" y="5"/>
                  <a:pt x="36" y="5"/>
                  <a:pt x="36" y="5"/>
                </a:cubicBezTo>
                <a:cubicBezTo>
                  <a:pt x="36" y="4"/>
                  <a:pt x="34" y="4"/>
                  <a:pt x="33" y="4"/>
                </a:cubicBezTo>
                <a:cubicBezTo>
                  <a:pt x="31" y="4"/>
                  <a:pt x="29" y="5"/>
                  <a:pt x="29" y="6"/>
                </a:cubicBezTo>
                <a:cubicBezTo>
                  <a:pt x="29" y="7"/>
                  <a:pt x="31" y="8"/>
                  <a:pt x="33" y="8"/>
                </a:cubicBezTo>
                <a:cubicBezTo>
                  <a:pt x="34" y="8"/>
                  <a:pt x="35" y="8"/>
                  <a:pt x="36" y="7"/>
                </a:cubicBezTo>
                <a:cubicBezTo>
                  <a:pt x="54" y="10"/>
                  <a:pt x="54" y="10"/>
                  <a:pt x="54" y="10"/>
                </a:cubicBezTo>
                <a:close/>
                <a:moveTo>
                  <a:pt x="32" y="52"/>
                </a:moveTo>
                <a:cubicBezTo>
                  <a:pt x="32" y="53"/>
                  <a:pt x="32" y="53"/>
                  <a:pt x="32" y="53"/>
                </a:cubicBezTo>
                <a:cubicBezTo>
                  <a:pt x="67" y="43"/>
                  <a:pt x="67" y="43"/>
                  <a:pt x="67" y="43"/>
                </a:cubicBezTo>
                <a:cubicBezTo>
                  <a:pt x="67" y="42"/>
                  <a:pt x="67" y="42"/>
                  <a:pt x="67" y="42"/>
                </a:cubicBezTo>
                <a:cubicBezTo>
                  <a:pt x="32" y="52"/>
                  <a:pt x="32" y="52"/>
                  <a:pt x="32" y="52"/>
                </a:cubicBezTo>
                <a:close/>
                <a:moveTo>
                  <a:pt x="32" y="49"/>
                </a:moveTo>
                <a:cubicBezTo>
                  <a:pt x="32" y="49"/>
                  <a:pt x="32" y="49"/>
                  <a:pt x="32" y="49"/>
                </a:cubicBezTo>
                <a:cubicBezTo>
                  <a:pt x="67" y="40"/>
                  <a:pt x="67" y="40"/>
                  <a:pt x="67" y="40"/>
                </a:cubicBezTo>
                <a:cubicBezTo>
                  <a:pt x="67" y="39"/>
                  <a:pt x="67" y="39"/>
                  <a:pt x="67" y="39"/>
                </a:cubicBezTo>
                <a:cubicBezTo>
                  <a:pt x="32" y="49"/>
                  <a:pt x="32" y="49"/>
                  <a:pt x="32" y="49"/>
                </a:cubicBezTo>
                <a:close/>
                <a:moveTo>
                  <a:pt x="31" y="46"/>
                </a:moveTo>
                <a:cubicBezTo>
                  <a:pt x="32" y="47"/>
                  <a:pt x="32" y="47"/>
                  <a:pt x="32" y="47"/>
                </a:cubicBezTo>
                <a:cubicBezTo>
                  <a:pt x="67" y="37"/>
                  <a:pt x="67" y="37"/>
                  <a:pt x="67" y="37"/>
                </a:cubicBezTo>
                <a:cubicBezTo>
                  <a:pt x="67" y="36"/>
                  <a:pt x="67" y="36"/>
                  <a:pt x="67" y="36"/>
                </a:cubicBezTo>
                <a:lnTo>
                  <a:pt x="31" y="46"/>
                </a:ln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zh-CN" altLang="en-US" sz="1350"/>
          </a:p>
        </p:txBody>
      </p:sp>
      <p:pic>
        <p:nvPicPr>
          <p:cNvPr id="15" name="图片 14">
            <a:extLst>
              <a:ext uri="{FF2B5EF4-FFF2-40B4-BE49-F238E27FC236}">
                <a16:creationId xmlns:a16="http://schemas.microsoft.com/office/drawing/2014/main" id="{468CC903-6DE0-459A-95C1-049A8040508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391" y="2393518"/>
            <a:ext cx="2203095" cy="2070964"/>
          </a:xfrm>
          <a:prstGeom prst="rect">
            <a:avLst/>
          </a:prstGeom>
        </p:spPr>
      </p:pic>
      <p:sp>
        <p:nvSpPr>
          <p:cNvPr id="20" name="文本占位符 19">
            <a:extLst>
              <a:ext uri="{FF2B5EF4-FFF2-40B4-BE49-F238E27FC236}">
                <a16:creationId xmlns:a16="http://schemas.microsoft.com/office/drawing/2014/main" id="{C8E742C2-4C77-4BC4-81DD-1CD74674ADAD}"/>
              </a:ext>
            </a:extLst>
          </p:cNvPr>
          <p:cNvSpPr>
            <a:spLocks noGrp="1"/>
          </p:cNvSpPr>
          <p:nvPr>
            <p:ph type="body" sz="quarter" idx="10"/>
          </p:nvPr>
        </p:nvSpPr>
        <p:spPr>
          <a:xfrm>
            <a:off x="2587484" y="2695225"/>
            <a:ext cx="8438981" cy="1030876"/>
          </a:xfrm>
        </p:spPr>
        <p:txBody>
          <a:bodyPr anchor="ctr"/>
          <a:lstStyle>
            <a:lvl1pPr marL="0" indent="0" algn="ctr">
              <a:lnSpc>
                <a:spcPct val="100000"/>
              </a:lnSpc>
              <a:spcBef>
                <a:spcPts val="0"/>
              </a:spcBef>
              <a:buNone/>
              <a:defRPr b="1" i="0" baseline="0">
                <a:solidFill>
                  <a:schemeClr val="bg1"/>
                </a:solidFill>
              </a:defRPr>
            </a:lvl1pPr>
          </a:lstStyle>
          <a:p>
            <a:pPr lvl="0"/>
            <a:r>
              <a:rPr lang="zh-CN" altLang="en-US"/>
              <a:t>单击此处编辑母版文本样式</a:t>
            </a:r>
          </a:p>
        </p:txBody>
      </p:sp>
      <p:sp>
        <p:nvSpPr>
          <p:cNvPr id="21" name="文本占位符 19">
            <a:extLst>
              <a:ext uri="{FF2B5EF4-FFF2-40B4-BE49-F238E27FC236}">
                <a16:creationId xmlns:a16="http://schemas.microsoft.com/office/drawing/2014/main" id="{1FA1953B-8F2C-40AD-8C5C-48FAE3EA9C2F}"/>
              </a:ext>
            </a:extLst>
          </p:cNvPr>
          <p:cNvSpPr>
            <a:spLocks noGrp="1"/>
          </p:cNvSpPr>
          <p:nvPr>
            <p:ph type="body" sz="quarter" idx="11"/>
          </p:nvPr>
        </p:nvSpPr>
        <p:spPr>
          <a:xfrm>
            <a:off x="2587484" y="3738042"/>
            <a:ext cx="8438981" cy="422304"/>
          </a:xfrm>
        </p:spPr>
        <p:txBody>
          <a:bodyPr anchor="ctr">
            <a:normAutofit/>
          </a:bodyPr>
          <a:lstStyle>
            <a:lvl1pPr marL="0" indent="0" algn="ctr">
              <a:lnSpc>
                <a:spcPct val="100000"/>
              </a:lnSpc>
              <a:spcBef>
                <a:spcPts val="0"/>
              </a:spcBef>
              <a:buNone/>
              <a:defRPr sz="1800" baseline="0">
                <a:solidFill>
                  <a:schemeClr val="bg1"/>
                </a:solidFill>
              </a:defRPr>
            </a:lvl1pPr>
          </a:lstStyle>
          <a:p>
            <a:pPr lvl="0"/>
            <a:r>
              <a:rPr lang="zh-CN" altLang="en-US"/>
              <a:t>单击此处编辑母版文本样式</a:t>
            </a:r>
          </a:p>
        </p:txBody>
      </p:sp>
      <p:sp>
        <p:nvSpPr>
          <p:cNvPr id="23" name="文本占位符 22">
            <a:extLst>
              <a:ext uri="{FF2B5EF4-FFF2-40B4-BE49-F238E27FC236}">
                <a16:creationId xmlns:a16="http://schemas.microsoft.com/office/drawing/2014/main" id="{E37B7F2C-140B-4685-B249-88A44AF89B94}"/>
              </a:ext>
            </a:extLst>
          </p:cNvPr>
          <p:cNvSpPr>
            <a:spLocks noGrp="1"/>
          </p:cNvSpPr>
          <p:nvPr>
            <p:ph type="body" sz="quarter" idx="12"/>
          </p:nvPr>
        </p:nvSpPr>
        <p:spPr>
          <a:xfrm>
            <a:off x="6658710" y="4846566"/>
            <a:ext cx="5148903" cy="914400"/>
          </a:xfrm>
        </p:spPr>
        <p:txBody>
          <a:bodyPr>
            <a:normAutofit/>
          </a:bodyPr>
          <a:lstStyle>
            <a:lvl1pPr marL="0" indent="0" algn="r">
              <a:lnSpc>
                <a:spcPct val="100000"/>
              </a:lnSpc>
              <a:spcBef>
                <a:spcPts val="0"/>
              </a:spcBef>
              <a:buNone/>
              <a:defRPr sz="1800"/>
            </a:lvl1pPr>
          </a:lstStyle>
          <a:p>
            <a:pPr lvl="0"/>
            <a:r>
              <a:rPr lang="zh-CN" altLang="en-US"/>
              <a:t>单击此处编辑母版文本样式</a:t>
            </a:r>
          </a:p>
        </p:txBody>
      </p:sp>
    </p:spTree>
    <p:extLst>
      <p:ext uri="{BB962C8B-B14F-4D97-AF65-F5344CB8AC3E}">
        <p14:creationId xmlns:p14="http://schemas.microsoft.com/office/powerpoint/2010/main" val="2519862808"/>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EFE7E6B7-3C6C-44F1-8926-6943659CCEA4}"/>
              </a:ext>
            </a:extLst>
          </p:cNvPr>
          <p:cNvSpPr/>
          <p:nvPr userDrawn="1"/>
        </p:nvSpPr>
        <p:spPr>
          <a:xfrm>
            <a:off x="1" y="0"/>
            <a:ext cx="3216275" cy="6858000"/>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文本框 7">
            <a:extLst>
              <a:ext uri="{FF2B5EF4-FFF2-40B4-BE49-F238E27FC236}">
                <a16:creationId xmlns:a16="http://schemas.microsoft.com/office/drawing/2014/main" id="{06EE6259-E7D4-400A-871B-2D1524D79AD7}"/>
              </a:ext>
            </a:extLst>
          </p:cNvPr>
          <p:cNvSpPr txBox="1"/>
          <p:nvPr userDrawn="1"/>
        </p:nvSpPr>
        <p:spPr>
          <a:xfrm>
            <a:off x="1" y="3152001"/>
            <a:ext cx="3216275" cy="553998"/>
          </a:xfrm>
          <a:prstGeom prst="rect">
            <a:avLst/>
          </a:prstGeom>
          <a:noFill/>
        </p:spPr>
        <p:txBody>
          <a:bodyPr wrap="square" rtlCol="0">
            <a:spAutoFit/>
          </a:bodyPr>
          <a:lstStyle/>
          <a:p>
            <a:pPr algn="r"/>
            <a:r>
              <a:rPr lang="en-US" altLang="zh-CN" sz="3000" b="1" dirty="0">
                <a:solidFill>
                  <a:schemeClr val="bg1"/>
                </a:solidFill>
                <a:cs typeface="Times New Roman" panose="02020603050405020304" pitchFamily="18" charset="0"/>
              </a:rPr>
              <a:t>CONTENTS</a:t>
            </a:r>
            <a:endParaRPr lang="zh-CN" altLang="en-US" sz="3000" b="1" dirty="0">
              <a:solidFill>
                <a:schemeClr val="bg1"/>
              </a:solidFill>
              <a:cs typeface="Times New Roman" panose="02020603050405020304" pitchFamily="18" charset="0"/>
            </a:endParaRPr>
          </a:p>
        </p:txBody>
      </p:sp>
    </p:spTree>
    <p:extLst>
      <p:ext uri="{BB962C8B-B14F-4D97-AF65-F5344CB8AC3E}">
        <p14:creationId xmlns:p14="http://schemas.microsoft.com/office/powerpoint/2010/main" val="5725351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致谢">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536DB670-CFDC-4880-8AA7-89F432C1C1CA}"/>
              </a:ext>
            </a:extLst>
          </p:cNvPr>
          <p:cNvGrpSpPr/>
          <p:nvPr userDrawn="1"/>
        </p:nvGrpSpPr>
        <p:grpSpPr>
          <a:xfrm>
            <a:off x="0" y="851040"/>
            <a:ext cx="12192000" cy="875445"/>
            <a:chOff x="0" y="3019996"/>
            <a:chExt cx="9144000" cy="893494"/>
          </a:xfrm>
        </p:grpSpPr>
        <p:sp>
          <p:nvSpPr>
            <p:cNvPr id="7" name="矩形 6">
              <a:extLst>
                <a:ext uri="{FF2B5EF4-FFF2-40B4-BE49-F238E27FC236}">
                  <a16:creationId xmlns:a16="http://schemas.microsoft.com/office/drawing/2014/main" id="{668BE3B9-B20B-40B1-A5A6-92DDEA014C38}"/>
                </a:ext>
              </a:extLst>
            </p:cNvPr>
            <p:cNvSpPr/>
            <p:nvPr/>
          </p:nvSpPr>
          <p:spPr>
            <a:xfrm>
              <a:off x="0" y="3607982"/>
              <a:ext cx="9144000" cy="305508"/>
            </a:xfrm>
            <a:prstGeom prst="rect">
              <a:avLst/>
            </a:prstGeom>
            <a:solidFill>
              <a:srgbClr val="453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979557C9-7F7B-4C4F-BE66-2F4181DB3464}"/>
                </a:ext>
              </a:extLst>
            </p:cNvPr>
            <p:cNvSpPr/>
            <p:nvPr/>
          </p:nvSpPr>
          <p:spPr>
            <a:xfrm>
              <a:off x="0" y="3019996"/>
              <a:ext cx="9144000" cy="587986"/>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pic>
        <p:nvPicPr>
          <p:cNvPr id="11" name="图片 10">
            <a:extLst>
              <a:ext uri="{FF2B5EF4-FFF2-40B4-BE49-F238E27FC236}">
                <a16:creationId xmlns:a16="http://schemas.microsoft.com/office/drawing/2014/main" id="{30674F78-93EF-43BD-A5A8-F7D35E40504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1949" y="629104"/>
            <a:ext cx="1403491" cy="1319317"/>
          </a:xfrm>
          <a:prstGeom prst="rect">
            <a:avLst/>
          </a:prstGeom>
        </p:spPr>
      </p:pic>
      <p:sp>
        <p:nvSpPr>
          <p:cNvPr id="13" name="文本框 12">
            <a:extLst>
              <a:ext uri="{FF2B5EF4-FFF2-40B4-BE49-F238E27FC236}">
                <a16:creationId xmlns:a16="http://schemas.microsoft.com/office/drawing/2014/main" id="{631D5ABF-0E5D-45CB-848F-0FB98DEC69B3}"/>
              </a:ext>
            </a:extLst>
          </p:cNvPr>
          <p:cNvSpPr txBox="1"/>
          <p:nvPr userDrawn="1"/>
        </p:nvSpPr>
        <p:spPr>
          <a:xfrm>
            <a:off x="3373889" y="2828838"/>
            <a:ext cx="4083169" cy="1200329"/>
          </a:xfrm>
          <a:prstGeom prst="rect">
            <a:avLst/>
          </a:prstGeom>
          <a:noFill/>
        </p:spPr>
        <p:txBody>
          <a:bodyPr wrap="none" rtlCol="0">
            <a:spAutoFit/>
          </a:bodyPr>
          <a:lstStyle/>
          <a:p>
            <a:r>
              <a:rPr lang="en-US" altLang="zh-CN" sz="7200" b="1" dirty="0">
                <a:solidFill>
                  <a:srgbClr val="6A005F"/>
                </a:solidFill>
              </a:rPr>
              <a:t>THANKS</a:t>
            </a:r>
            <a:endParaRPr lang="zh-CN" altLang="en-US" sz="7200" b="1">
              <a:solidFill>
                <a:srgbClr val="6A005F"/>
              </a:solidFill>
            </a:endParaRPr>
          </a:p>
        </p:txBody>
      </p:sp>
      <p:pic>
        <p:nvPicPr>
          <p:cNvPr id="14" name="图片 13">
            <a:extLst>
              <a:ext uri="{FF2B5EF4-FFF2-40B4-BE49-F238E27FC236}">
                <a16:creationId xmlns:a16="http://schemas.microsoft.com/office/drawing/2014/main" id="{4AD96919-7610-4274-927B-A156B061ACE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373887" y="6006963"/>
            <a:ext cx="2011676" cy="479804"/>
          </a:xfrm>
          <a:prstGeom prst="rect">
            <a:avLst/>
          </a:prstGeom>
        </p:spPr>
      </p:pic>
      <p:pic>
        <p:nvPicPr>
          <p:cNvPr id="15" name="图片 14">
            <a:extLst>
              <a:ext uri="{FF2B5EF4-FFF2-40B4-BE49-F238E27FC236}">
                <a16:creationId xmlns:a16="http://schemas.microsoft.com/office/drawing/2014/main" id="{E6578465-E45B-4B60-9831-8E99926FD92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877187" y="5943185"/>
            <a:ext cx="2940924" cy="607365"/>
          </a:xfrm>
          <a:prstGeom prst="rect">
            <a:avLst/>
          </a:prstGeom>
        </p:spPr>
      </p:pic>
      <p:sp>
        <p:nvSpPr>
          <p:cNvPr id="17" name="文本占位符 16">
            <a:extLst>
              <a:ext uri="{FF2B5EF4-FFF2-40B4-BE49-F238E27FC236}">
                <a16:creationId xmlns:a16="http://schemas.microsoft.com/office/drawing/2014/main" id="{7CAD0D83-6F0F-4622-A213-C0F29F6129BA}"/>
              </a:ext>
            </a:extLst>
          </p:cNvPr>
          <p:cNvSpPr>
            <a:spLocks noGrp="1"/>
          </p:cNvSpPr>
          <p:nvPr>
            <p:ph type="body" sz="quarter" idx="10"/>
          </p:nvPr>
        </p:nvSpPr>
        <p:spPr>
          <a:xfrm>
            <a:off x="1875441" y="851037"/>
            <a:ext cx="9844611" cy="576108"/>
          </a:xfrm>
        </p:spPr>
        <p:txBody>
          <a:bodyPr anchor="ctr">
            <a:normAutofit/>
          </a:bodyPr>
          <a:lstStyle>
            <a:lvl1pPr marL="0" indent="0" algn="ctr">
              <a:lnSpc>
                <a:spcPct val="100000"/>
              </a:lnSpc>
              <a:spcBef>
                <a:spcPts val="0"/>
              </a:spcBef>
              <a:buNone/>
              <a:defRPr sz="2000" b="1" i="0" baseline="0">
                <a:solidFill>
                  <a:schemeClr val="bg1"/>
                </a:solidFill>
              </a:defRPr>
            </a:lvl1pPr>
          </a:lstStyle>
          <a:p>
            <a:pPr lvl="0"/>
            <a:r>
              <a:rPr lang="zh-CN" altLang="en-US"/>
              <a:t>单击此处编辑母版文本样式</a:t>
            </a:r>
          </a:p>
        </p:txBody>
      </p:sp>
      <p:sp>
        <p:nvSpPr>
          <p:cNvPr id="18" name="文本占位符 16">
            <a:extLst>
              <a:ext uri="{FF2B5EF4-FFF2-40B4-BE49-F238E27FC236}">
                <a16:creationId xmlns:a16="http://schemas.microsoft.com/office/drawing/2014/main" id="{59972E42-2C14-4B6D-82F9-E172BA48491D}"/>
              </a:ext>
            </a:extLst>
          </p:cNvPr>
          <p:cNvSpPr>
            <a:spLocks noGrp="1"/>
          </p:cNvSpPr>
          <p:nvPr>
            <p:ph type="body" sz="quarter" idx="11"/>
          </p:nvPr>
        </p:nvSpPr>
        <p:spPr>
          <a:xfrm>
            <a:off x="1875441" y="1427148"/>
            <a:ext cx="9844611" cy="299337"/>
          </a:xfrm>
        </p:spPr>
        <p:txBody>
          <a:bodyPr anchor="ctr">
            <a:noAutofit/>
          </a:bodyPr>
          <a:lstStyle>
            <a:lvl1pPr marL="0" indent="0" algn="ctr">
              <a:lnSpc>
                <a:spcPct val="100000"/>
              </a:lnSpc>
              <a:spcBef>
                <a:spcPts val="0"/>
              </a:spcBef>
              <a:buNone/>
              <a:defRPr sz="1600" b="0" i="0" baseline="0">
                <a:solidFill>
                  <a:schemeClr val="bg1"/>
                </a:solidFill>
              </a:defRPr>
            </a:lvl1pPr>
          </a:lstStyle>
          <a:p>
            <a:pPr lvl="0"/>
            <a:r>
              <a:rPr lang="zh-CN" altLang="en-US"/>
              <a:t>单击此处编辑母版文本样式</a:t>
            </a:r>
          </a:p>
        </p:txBody>
      </p:sp>
      <p:sp>
        <p:nvSpPr>
          <p:cNvPr id="20" name="文本占位符 19">
            <a:extLst>
              <a:ext uri="{FF2B5EF4-FFF2-40B4-BE49-F238E27FC236}">
                <a16:creationId xmlns:a16="http://schemas.microsoft.com/office/drawing/2014/main" id="{3ACFB697-F9E4-456B-9D6B-777FA0C9CA28}"/>
              </a:ext>
            </a:extLst>
          </p:cNvPr>
          <p:cNvSpPr>
            <a:spLocks noGrp="1"/>
          </p:cNvSpPr>
          <p:nvPr>
            <p:ph type="body" sz="quarter" idx="12"/>
          </p:nvPr>
        </p:nvSpPr>
        <p:spPr>
          <a:xfrm>
            <a:off x="3373888" y="4589849"/>
            <a:ext cx="5444225" cy="1083341"/>
          </a:xfrm>
        </p:spPr>
        <p:txBody>
          <a:bodyPr>
            <a:normAutofit/>
          </a:bodyPr>
          <a:lstStyle>
            <a:lvl1pPr marL="0" indent="0">
              <a:lnSpc>
                <a:spcPct val="100000"/>
              </a:lnSpc>
              <a:spcBef>
                <a:spcPts val="0"/>
              </a:spcBef>
              <a:buNone/>
              <a:defRPr sz="1600">
                <a:solidFill>
                  <a:srgbClr val="6A005F"/>
                </a:solidFill>
              </a:defRPr>
            </a:lvl1pPr>
          </a:lstStyle>
          <a:p>
            <a:pPr lvl="0"/>
            <a:r>
              <a:rPr lang="zh-CN" altLang="en-US"/>
              <a:t>单击此处编辑母版文本样式</a:t>
            </a:r>
          </a:p>
        </p:txBody>
      </p:sp>
    </p:spTree>
    <p:extLst>
      <p:ext uri="{BB962C8B-B14F-4D97-AF65-F5344CB8AC3E}">
        <p14:creationId xmlns:p14="http://schemas.microsoft.com/office/powerpoint/2010/main" val="128587273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74685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2598EF33-2619-2146-8372-28C65DFAD46C}" type="datetimeFigureOut">
              <a:rPr kumimoji="1" lang="zh-CN" altLang="en-US" smtClean="0"/>
              <a:t>2025/4/7</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4D1FD872-5D71-BD4B-86C8-57CDF6D45626}" type="slidenum">
              <a:rPr kumimoji="1" lang="zh-CN" altLang="en-US" smtClean="0"/>
              <a:t>‹#›</a:t>
            </a:fld>
            <a:endParaRPr kumimoji="1" lang="zh-CN" altLang="en-US"/>
          </a:p>
        </p:txBody>
      </p:sp>
    </p:spTree>
    <p:extLst>
      <p:ext uri="{BB962C8B-B14F-4D97-AF65-F5344CB8AC3E}">
        <p14:creationId xmlns:p14="http://schemas.microsoft.com/office/powerpoint/2010/main" val="237507368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838200" y="6356354"/>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A4C821-51AF-415E-BF5B-CDCDE3466362}" type="datetime1">
              <a:rPr lang="zh-CN" altLang="en-US" smtClean="0"/>
              <a:t>2025/4/7</a:t>
            </a:fld>
            <a:endParaRPr lang="zh-CN" altLang="en-US"/>
          </a:p>
        </p:txBody>
      </p:sp>
      <p:sp>
        <p:nvSpPr>
          <p:cNvPr id="5" name="Footer Placeholder 4"/>
          <p:cNvSpPr>
            <a:spLocks noGrp="1"/>
          </p:cNvSpPr>
          <p:nvPr>
            <p:ph type="ftr" sz="quarter" idx="3"/>
          </p:nvPr>
        </p:nvSpPr>
        <p:spPr>
          <a:xfrm>
            <a:off x="4038600" y="6356354"/>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4"/>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D91E7F-84B6-4064-9D4E-CC7D244BCA04}" type="slidenum">
              <a:rPr lang="zh-CN" altLang="en-US" smtClean="0"/>
              <a:t>‹#›</a:t>
            </a:fld>
            <a:endParaRPr lang="zh-CN" altLang="en-US"/>
          </a:p>
        </p:txBody>
      </p:sp>
    </p:spTree>
    <p:extLst>
      <p:ext uri="{BB962C8B-B14F-4D97-AF65-F5344CB8AC3E}">
        <p14:creationId xmlns:p14="http://schemas.microsoft.com/office/powerpoint/2010/main" val="4265643295"/>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58" r:id="rId4"/>
    <p:sldLayoutId id="2147483667" r:id="rId5"/>
  </p:sldLayoutIdLst>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0"/>
        </a:spcBef>
        <a:buFont typeface="Arial" panose="020B0604020202020204" pitchFamily="34" charset="0"/>
        <a:buChar char="•"/>
        <a:defRPr sz="2800" kern="1200" baseline="0">
          <a:solidFill>
            <a:srgbClr val="6A005F"/>
          </a:solidFill>
          <a:latin typeface="+mn-lt"/>
          <a:ea typeface="+mn-ea"/>
          <a:cs typeface="+mn-cs"/>
        </a:defRPr>
      </a:lvl1pPr>
      <a:lvl2pPr marL="685800" indent="-228600" algn="l" defTabSz="914400" rtl="0" eaLnBrk="1" latinLnBrk="0" hangingPunct="1">
        <a:lnSpc>
          <a:spcPct val="150000"/>
        </a:lnSpc>
        <a:spcBef>
          <a:spcPts val="0"/>
        </a:spcBef>
        <a:buFont typeface="Arial" panose="020B0604020202020204" pitchFamily="34" charset="0"/>
        <a:buChar char="•"/>
        <a:defRPr sz="2400" kern="1200" baseline="0">
          <a:solidFill>
            <a:srgbClr val="6A005F"/>
          </a:solidFill>
          <a:latin typeface="+mn-lt"/>
          <a:ea typeface="+mn-ea"/>
          <a:cs typeface="+mn-cs"/>
        </a:defRPr>
      </a:lvl2pPr>
      <a:lvl3pPr marL="1143000" indent="-228600" algn="l" defTabSz="914400" rtl="0" eaLnBrk="1" latinLnBrk="0" hangingPunct="1">
        <a:lnSpc>
          <a:spcPct val="150000"/>
        </a:lnSpc>
        <a:spcBef>
          <a:spcPts val="0"/>
        </a:spcBef>
        <a:buFont typeface="Arial" panose="020B0604020202020204" pitchFamily="34" charset="0"/>
        <a:buChar char="•"/>
        <a:defRPr sz="2000" kern="1200" baseline="0">
          <a:solidFill>
            <a:srgbClr val="6A005F"/>
          </a:solidFill>
          <a:latin typeface="+mn-lt"/>
          <a:ea typeface="+mn-ea"/>
          <a:cs typeface="+mn-cs"/>
        </a:defRPr>
      </a:lvl3pPr>
      <a:lvl4pPr marL="1600200" indent="-228600" algn="l" defTabSz="914400" rtl="0" eaLnBrk="1" latinLnBrk="0" hangingPunct="1">
        <a:lnSpc>
          <a:spcPct val="150000"/>
        </a:lnSpc>
        <a:spcBef>
          <a:spcPts val="0"/>
        </a:spcBef>
        <a:buFont typeface="Arial" panose="020B0604020202020204" pitchFamily="34" charset="0"/>
        <a:buChar char="•"/>
        <a:defRPr sz="1800" kern="1200" baseline="0">
          <a:solidFill>
            <a:srgbClr val="6A005F"/>
          </a:solidFill>
          <a:latin typeface="+mn-lt"/>
          <a:ea typeface="+mn-ea"/>
          <a:cs typeface="+mn-cs"/>
        </a:defRPr>
      </a:lvl4pPr>
      <a:lvl5pPr marL="2057400" indent="-228600" algn="l" defTabSz="914400" rtl="0" eaLnBrk="1" latinLnBrk="0" hangingPunct="1">
        <a:lnSpc>
          <a:spcPct val="150000"/>
        </a:lnSpc>
        <a:spcBef>
          <a:spcPts val="0"/>
        </a:spcBef>
        <a:buFont typeface="Arial" panose="020B0604020202020204" pitchFamily="34" charset="0"/>
        <a:buChar char="•"/>
        <a:defRPr sz="1800" kern="1200" baseline="0">
          <a:solidFill>
            <a:srgbClr val="6A005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E531CCC4-D95C-4C5E-8FD5-1902F736DADA}"/>
              </a:ext>
            </a:extLst>
          </p:cNvPr>
          <p:cNvSpPr>
            <a:spLocks noGrp="1"/>
          </p:cNvSpPr>
          <p:nvPr>
            <p:ph type="body" sz="quarter" idx="10"/>
          </p:nvPr>
        </p:nvSpPr>
        <p:spPr/>
        <p:txBody>
          <a:bodyPr/>
          <a:lstStyle/>
          <a:p>
            <a:r>
              <a:rPr lang="zh-CN" altLang="en-US"/>
              <a:t>敏捷概述</a:t>
            </a:r>
            <a:endParaRPr lang="zh-CN" altLang="en-US" dirty="0"/>
          </a:p>
        </p:txBody>
      </p:sp>
      <p:sp>
        <p:nvSpPr>
          <p:cNvPr id="3" name="文本占位符 2">
            <a:extLst>
              <a:ext uri="{FF2B5EF4-FFF2-40B4-BE49-F238E27FC236}">
                <a16:creationId xmlns:a16="http://schemas.microsoft.com/office/drawing/2014/main" id="{C08E6DD4-4E1A-43BB-9B28-41495532409A}"/>
              </a:ext>
            </a:extLst>
          </p:cNvPr>
          <p:cNvSpPr>
            <a:spLocks noGrp="1"/>
          </p:cNvSpPr>
          <p:nvPr>
            <p:ph type="body" sz="quarter" idx="11"/>
          </p:nvPr>
        </p:nvSpPr>
        <p:spPr/>
        <p:txBody>
          <a:bodyPr/>
          <a:lstStyle/>
          <a:p>
            <a:r>
              <a:rPr lang="zh-CN" altLang="en-US" dirty="0"/>
              <a:t>邵栋</a:t>
            </a:r>
          </a:p>
        </p:txBody>
      </p:sp>
      <p:sp>
        <p:nvSpPr>
          <p:cNvPr id="4" name="文本占位符 3">
            <a:extLst>
              <a:ext uri="{FF2B5EF4-FFF2-40B4-BE49-F238E27FC236}">
                <a16:creationId xmlns:a16="http://schemas.microsoft.com/office/drawing/2014/main" id="{6A6A544F-EB24-4231-B2C1-5DC05D9E2B88}"/>
              </a:ext>
            </a:extLst>
          </p:cNvPr>
          <p:cNvSpPr>
            <a:spLocks noGrp="1"/>
          </p:cNvSpPr>
          <p:nvPr>
            <p:ph type="body" sz="quarter" idx="12"/>
          </p:nvPr>
        </p:nvSpPr>
        <p:spPr/>
        <p:txBody>
          <a:bodyPr/>
          <a:lstStyle/>
          <a:p>
            <a:endParaRPr lang="zh-CN" altLang="en-US" dirty="0"/>
          </a:p>
        </p:txBody>
      </p:sp>
    </p:spTree>
    <p:extLst>
      <p:ext uri="{BB962C8B-B14F-4D97-AF65-F5344CB8AC3E}">
        <p14:creationId xmlns:p14="http://schemas.microsoft.com/office/powerpoint/2010/main" val="64004229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8BF3EFFE-C3D0-4496-A94A-6A339E6826AB}"/>
              </a:ext>
            </a:extLst>
          </p:cNvPr>
          <p:cNvGrpSpPr/>
          <p:nvPr/>
        </p:nvGrpSpPr>
        <p:grpSpPr>
          <a:xfrm>
            <a:off x="4295852" y="2213225"/>
            <a:ext cx="2814632" cy="755934"/>
            <a:chOff x="3381452" y="1483360"/>
            <a:chExt cx="2814632" cy="755934"/>
          </a:xfrm>
        </p:grpSpPr>
        <p:sp>
          <p:nvSpPr>
            <p:cNvPr id="3" name="文本框 2">
              <a:extLst>
                <a:ext uri="{FF2B5EF4-FFF2-40B4-BE49-F238E27FC236}">
                  <a16:creationId xmlns:a16="http://schemas.microsoft.com/office/drawing/2014/main" id="{F00E9980-2EFD-4218-89EE-F93E8CF94B14}"/>
                </a:ext>
              </a:extLst>
            </p:cNvPr>
            <p:cNvSpPr txBox="1"/>
            <p:nvPr/>
          </p:nvSpPr>
          <p:spPr>
            <a:xfrm>
              <a:off x="4137386" y="1599716"/>
              <a:ext cx="2058698" cy="523220"/>
            </a:xfrm>
            <a:prstGeom prst="rect">
              <a:avLst/>
            </a:prstGeom>
            <a:noFill/>
          </p:spPr>
          <p:txBody>
            <a:bodyPr wrap="square" rtlCol="0">
              <a:spAutoFit/>
            </a:bodyPr>
            <a:lstStyle/>
            <a:p>
              <a:r>
                <a:rPr lang="zh-CN" altLang="en-US" sz="2800" b="1" dirty="0">
                  <a:solidFill>
                    <a:schemeClr val="bg2">
                      <a:lumMod val="10000"/>
                    </a:schemeClr>
                  </a:solidFill>
                </a:rPr>
                <a:t>项目成功？</a:t>
              </a:r>
            </a:p>
          </p:txBody>
        </p:sp>
        <p:grpSp>
          <p:nvGrpSpPr>
            <p:cNvPr id="4" name="组合 3">
              <a:extLst>
                <a:ext uri="{FF2B5EF4-FFF2-40B4-BE49-F238E27FC236}">
                  <a16:creationId xmlns:a16="http://schemas.microsoft.com/office/drawing/2014/main" id="{3716C50E-1416-45DA-85B8-8876D2D1E389}"/>
                </a:ext>
              </a:extLst>
            </p:cNvPr>
            <p:cNvGrpSpPr/>
            <p:nvPr/>
          </p:nvGrpSpPr>
          <p:grpSpPr>
            <a:xfrm>
              <a:off x="3381452" y="1483360"/>
              <a:ext cx="755934" cy="755934"/>
              <a:chOff x="3381452" y="1483360"/>
              <a:chExt cx="755934" cy="755934"/>
            </a:xfrm>
          </p:grpSpPr>
          <p:sp>
            <p:nvSpPr>
              <p:cNvPr id="5" name="文本框 4">
                <a:extLst>
                  <a:ext uri="{FF2B5EF4-FFF2-40B4-BE49-F238E27FC236}">
                    <a16:creationId xmlns:a16="http://schemas.microsoft.com/office/drawing/2014/main" id="{A18F4DDF-B0D1-4658-936D-D1F3189DE647}"/>
                  </a:ext>
                </a:extLst>
              </p:cNvPr>
              <p:cNvSpPr txBox="1"/>
              <p:nvPr/>
            </p:nvSpPr>
            <p:spPr>
              <a:xfrm>
                <a:off x="3381452" y="1568939"/>
                <a:ext cx="755934" cy="584775"/>
              </a:xfrm>
              <a:prstGeom prst="rect">
                <a:avLst/>
              </a:prstGeom>
              <a:noFill/>
              <a:ln>
                <a:noFill/>
              </a:ln>
            </p:spPr>
            <p:txBody>
              <a:bodyPr wrap="square" rtlCol="0" anchor="ctr" anchorCtr="0">
                <a:spAutoFit/>
              </a:bodyPr>
              <a:lstStyle/>
              <a:p>
                <a:pPr algn="ctr"/>
                <a:r>
                  <a:rPr lang="en-US" altLang="zh-CN" sz="3200" b="1" dirty="0">
                    <a:solidFill>
                      <a:srgbClr val="9E008F"/>
                    </a:solidFill>
                    <a:latin typeface="+mn-ea"/>
                  </a:rPr>
                  <a:t>01</a:t>
                </a:r>
              </a:p>
            </p:txBody>
          </p:sp>
          <p:sp>
            <p:nvSpPr>
              <p:cNvPr id="6" name="矩形 5">
                <a:extLst>
                  <a:ext uri="{FF2B5EF4-FFF2-40B4-BE49-F238E27FC236}">
                    <a16:creationId xmlns:a16="http://schemas.microsoft.com/office/drawing/2014/main" id="{DAFF779D-A41F-4A97-9697-818401E8566F}"/>
                  </a:ext>
                </a:extLst>
              </p:cNvPr>
              <p:cNvSpPr/>
              <p:nvPr/>
            </p:nvSpPr>
            <p:spPr>
              <a:xfrm>
                <a:off x="3381452" y="1483360"/>
                <a:ext cx="755934" cy="755934"/>
              </a:xfrm>
              <a:prstGeom prst="rect">
                <a:avLst/>
              </a:prstGeom>
              <a:noFill/>
              <a:ln>
                <a:solidFill>
                  <a:srgbClr val="6A00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grpSp>
      <p:grpSp>
        <p:nvGrpSpPr>
          <p:cNvPr id="7" name="组合 6">
            <a:extLst>
              <a:ext uri="{FF2B5EF4-FFF2-40B4-BE49-F238E27FC236}">
                <a16:creationId xmlns:a16="http://schemas.microsoft.com/office/drawing/2014/main" id="{F6EC3325-3BB8-4717-9677-BFAFCE40229D}"/>
              </a:ext>
            </a:extLst>
          </p:cNvPr>
          <p:cNvGrpSpPr/>
          <p:nvPr/>
        </p:nvGrpSpPr>
        <p:grpSpPr>
          <a:xfrm>
            <a:off x="7467288" y="2213225"/>
            <a:ext cx="2814632" cy="755934"/>
            <a:chOff x="3381452" y="1483360"/>
            <a:chExt cx="2814632" cy="755934"/>
          </a:xfrm>
        </p:grpSpPr>
        <p:sp>
          <p:nvSpPr>
            <p:cNvPr id="8" name="文本框 7">
              <a:extLst>
                <a:ext uri="{FF2B5EF4-FFF2-40B4-BE49-F238E27FC236}">
                  <a16:creationId xmlns:a16="http://schemas.microsoft.com/office/drawing/2014/main" id="{9694E7D4-89BC-4250-AFAB-B44B115E61D2}"/>
                </a:ext>
              </a:extLst>
            </p:cNvPr>
            <p:cNvSpPr txBox="1"/>
            <p:nvPr/>
          </p:nvSpPr>
          <p:spPr>
            <a:xfrm>
              <a:off x="4137386" y="1615648"/>
              <a:ext cx="2058698" cy="523220"/>
            </a:xfrm>
            <a:prstGeom prst="rect">
              <a:avLst/>
            </a:prstGeom>
            <a:noFill/>
          </p:spPr>
          <p:txBody>
            <a:bodyPr wrap="square" rtlCol="0">
              <a:spAutoFit/>
            </a:bodyPr>
            <a:lstStyle/>
            <a:p>
              <a:r>
                <a:rPr lang="zh-CN" altLang="en-US" sz="2800" b="1" dirty="0">
                  <a:solidFill>
                    <a:srgbClr val="000000"/>
                  </a:solidFill>
                </a:rPr>
                <a:t>敏捷历史</a:t>
              </a:r>
            </a:p>
          </p:txBody>
        </p:sp>
        <p:grpSp>
          <p:nvGrpSpPr>
            <p:cNvPr id="9" name="组合 8">
              <a:extLst>
                <a:ext uri="{FF2B5EF4-FFF2-40B4-BE49-F238E27FC236}">
                  <a16:creationId xmlns:a16="http://schemas.microsoft.com/office/drawing/2014/main" id="{F1F287EE-C187-4928-B9C5-1DA850173827}"/>
                </a:ext>
              </a:extLst>
            </p:cNvPr>
            <p:cNvGrpSpPr/>
            <p:nvPr/>
          </p:nvGrpSpPr>
          <p:grpSpPr>
            <a:xfrm>
              <a:off x="3381452" y="1483360"/>
              <a:ext cx="755934" cy="755934"/>
              <a:chOff x="3381452" y="1483360"/>
              <a:chExt cx="755934" cy="755934"/>
            </a:xfrm>
          </p:grpSpPr>
          <p:sp>
            <p:nvSpPr>
              <p:cNvPr id="10" name="文本框 9">
                <a:extLst>
                  <a:ext uri="{FF2B5EF4-FFF2-40B4-BE49-F238E27FC236}">
                    <a16:creationId xmlns:a16="http://schemas.microsoft.com/office/drawing/2014/main" id="{8D6604EE-07E2-4154-9D49-37E881CF24B5}"/>
                  </a:ext>
                </a:extLst>
              </p:cNvPr>
              <p:cNvSpPr txBox="1"/>
              <p:nvPr/>
            </p:nvSpPr>
            <p:spPr>
              <a:xfrm>
                <a:off x="3381452" y="1568939"/>
                <a:ext cx="755934" cy="584775"/>
              </a:xfrm>
              <a:prstGeom prst="rect">
                <a:avLst/>
              </a:prstGeom>
              <a:noFill/>
              <a:ln>
                <a:noFill/>
              </a:ln>
            </p:spPr>
            <p:txBody>
              <a:bodyPr wrap="square" rtlCol="0" anchor="ctr" anchorCtr="0">
                <a:spAutoFit/>
              </a:bodyPr>
              <a:lstStyle/>
              <a:p>
                <a:pPr algn="ctr"/>
                <a:r>
                  <a:rPr lang="en-US" altLang="zh-CN" sz="3200" b="1" dirty="0">
                    <a:solidFill>
                      <a:srgbClr val="9E008F"/>
                    </a:solidFill>
                    <a:latin typeface="+mn-ea"/>
                  </a:rPr>
                  <a:t>02</a:t>
                </a:r>
              </a:p>
            </p:txBody>
          </p:sp>
          <p:sp>
            <p:nvSpPr>
              <p:cNvPr id="11" name="矩形 10">
                <a:extLst>
                  <a:ext uri="{FF2B5EF4-FFF2-40B4-BE49-F238E27FC236}">
                    <a16:creationId xmlns:a16="http://schemas.microsoft.com/office/drawing/2014/main" id="{A2B7EF47-B852-4532-BB7A-B59B9E8504F4}"/>
                  </a:ext>
                </a:extLst>
              </p:cNvPr>
              <p:cNvSpPr/>
              <p:nvPr/>
            </p:nvSpPr>
            <p:spPr>
              <a:xfrm>
                <a:off x="3381452" y="1483360"/>
                <a:ext cx="755934" cy="755934"/>
              </a:xfrm>
              <a:prstGeom prst="rect">
                <a:avLst/>
              </a:prstGeom>
              <a:noFill/>
              <a:ln>
                <a:solidFill>
                  <a:srgbClr val="6A00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grpSp>
      <p:grpSp>
        <p:nvGrpSpPr>
          <p:cNvPr id="12" name="组合 11">
            <a:extLst>
              <a:ext uri="{FF2B5EF4-FFF2-40B4-BE49-F238E27FC236}">
                <a16:creationId xmlns:a16="http://schemas.microsoft.com/office/drawing/2014/main" id="{38B6CC76-284A-4E86-B1B8-028BBA10092C}"/>
              </a:ext>
            </a:extLst>
          </p:cNvPr>
          <p:cNvGrpSpPr/>
          <p:nvPr/>
        </p:nvGrpSpPr>
        <p:grpSpPr>
          <a:xfrm>
            <a:off x="4295852" y="3788015"/>
            <a:ext cx="2844364" cy="755934"/>
            <a:chOff x="3381452" y="1483360"/>
            <a:chExt cx="2844364" cy="755934"/>
          </a:xfrm>
        </p:grpSpPr>
        <p:sp>
          <p:nvSpPr>
            <p:cNvPr id="13" name="文本框 12">
              <a:extLst>
                <a:ext uri="{FF2B5EF4-FFF2-40B4-BE49-F238E27FC236}">
                  <a16:creationId xmlns:a16="http://schemas.microsoft.com/office/drawing/2014/main" id="{5F3DAC33-26C3-4832-8099-C6B92B9BCF28}"/>
                </a:ext>
              </a:extLst>
            </p:cNvPr>
            <p:cNvSpPr txBox="1"/>
            <p:nvPr/>
          </p:nvSpPr>
          <p:spPr>
            <a:xfrm>
              <a:off x="4167118" y="1568939"/>
              <a:ext cx="2058698" cy="523220"/>
            </a:xfrm>
            <a:prstGeom prst="rect">
              <a:avLst/>
            </a:prstGeom>
            <a:noFill/>
          </p:spPr>
          <p:txBody>
            <a:bodyPr wrap="square" rtlCol="0">
              <a:spAutoFit/>
            </a:bodyPr>
            <a:lstStyle/>
            <a:p>
              <a:r>
                <a:rPr lang="zh-CN" altLang="en-US" sz="2800" b="1" dirty="0">
                  <a:solidFill>
                    <a:srgbClr val="000000"/>
                  </a:solidFill>
                </a:rPr>
                <a:t>知识体系</a:t>
              </a:r>
            </a:p>
          </p:txBody>
        </p:sp>
        <p:grpSp>
          <p:nvGrpSpPr>
            <p:cNvPr id="14" name="组合 13">
              <a:extLst>
                <a:ext uri="{FF2B5EF4-FFF2-40B4-BE49-F238E27FC236}">
                  <a16:creationId xmlns:a16="http://schemas.microsoft.com/office/drawing/2014/main" id="{F9892664-45D1-4BD0-87B1-3CF5608594B1}"/>
                </a:ext>
              </a:extLst>
            </p:cNvPr>
            <p:cNvGrpSpPr/>
            <p:nvPr/>
          </p:nvGrpSpPr>
          <p:grpSpPr>
            <a:xfrm>
              <a:off x="3381452" y="1483360"/>
              <a:ext cx="755934" cy="755934"/>
              <a:chOff x="3381452" y="1483360"/>
              <a:chExt cx="755934" cy="755934"/>
            </a:xfrm>
          </p:grpSpPr>
          <p:sp>
            <p:nvSpPr>
              <p:cNvPr id="15" name="文本框 14">
                <a:extLst>
                  <a:ext uri="{FF2B5EF4-FFF2-40B4-BE49-F238E27FC236}">
                    <a16:creationId xmlns:a16="http://schemas.microsoft.com/office/drawing/2014/main" id="{A21F38D6-4D95-4B08-9A49-DE8E66252DBE}"/>
                  </a:ext>
                </a:extLst>
              </p:cNvPr>
              <p:cNvSpPr txBox="1"/>
              <p:nvPr/>
            </p:nvSpPr>
            <p:spPr>
              <a:xfrm>
                <a:off x="3381452" y="1568939"/>
                <a:ext cx="755934" cy="584775"/>
              </a:xfrm>
              <a:prstGeom prst="rect">
                <a:avLst/>
              </a:prstGeom>
              <a:noFill/>
              <a:ln>
                <a:noFill/>
              </a:ln>
            </p:spPr>
            <p:txBody>
              <a:bodyPr wrap="square" rtlCol="0" anchor="ctr" anchorCtr="0">
                <a:spAutoFit/>
              </a:bodyPr>
              <a:lstStyle/>
              <a:p>
                <a:pPr algn="ctr"/>
                <a:r>
                  <a:rPr lang="en-US" altLang="zh-CN" sz="3200" b="1" dirty="0">
                    <a:solidFill>
                      <a:srgbClr val="9E008F"/>
                    </a:solidFill>
                    <a:latin typeface="+mn-ea"/>
                  </a:rPr>
                  <a:t>03</a:t>
                </a:r>
              </a:p>
            </p:txBody>
          </p:sp>
          <p:sp>
            <p:nvSpPr>
              <p:cNvPr id="16" name="矩形 15">
                <a:extLst>
                  <a:ext uri="{FF2B5EF4-FFF2-40B4-BE49-F238E27FC236}">
                    <a16:creationId xmlns:a16="http://schemas.microsoft.com/office/drawing/2014/main" id="{E831259F-38DD-4731-98AC-4D00B2F2C325}"/>
                  </a:ext>
                </a:extLst>
              </p:cNvPr>
              <p:cNvSpPr/>
              <p:nvPr/>
            </p:nvSpPr>
            <p:spPr>
              <a:xfrm>
                <a:off x="3381452" y="1483360"/>
                <a:ext cx="755934" cy="755934"/>
              </a:xfrm>
              <a:prstGeom prst="rect">
                <a:avLst/>
              </a:prstGeom>
              <a:noFill/>
              <a:ln>
                <a:solidFill>
                  <a:srgbClr val="6A00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grpSp>
      <p:grpSp>
        <p:nvGrpSpPr>
          <p:cNvPr id="17" name="组合 16">
            <a:extLst>
              <a:ext uri="{FF2B5EF4-FFF2-40B4-BE49-F238E27FC236}">
                <a16:creationId xmlns:a16="http://schemas.microsoft.com/office/drawing/2014/main" id="{7A60A187-8394-48B5-811E-89C4D91568ED}"/>
              </a:ext>
            </a:extLst>
          </p:cNvPr>
          <p:cNvGrpSpPr/>
          <p:nvPr/>
        </p:nvGrpSpPr>
        <p:grpSpPr>
          <a:xfrm>
            <a:off x="7467288" y="3788015"/>
            <a:ext cx="2814632" cy="755934"/>
            <a:chOff x="3381452" y="1483360"/>
            <a:chExt cx="2814632" cy="755934"/>
          </a:xfrm>
        </p:grpSpPr>
        <p:sp>
          <p:nvSpPr>
            <p:cNvPr id="18" name="文本框 17">
              <a:extLst>
                <a:ext uri="{FF2B5EF4-FFF2-40B4-BE49-F238E27FC236}">
                  <a16:creationId xmlns:a16="http://schemas.microsoft.com/office/drawing/2014/main" id="{98341AA0-7F24-4B24-94DA-6C882EA81800}"/>
                </a:ext>
              </a:extLst>
            </p:cNvPr>
            <p:cNvSpPr txBox="1"/>
            <p:nvPr/>
          </p:nvSpPr>
          <p:spPr>
            <a:xfrm>
              <a:off x="4137386" y="1599716"/>
              <a:ext cx="2058698" cy="523220"/>
            </a:xfrm>
            <a:prstGeom prst="rect">
              <a:avLst/>
            </a:prstGeom>
            <a:noFill/>
          </p:spPr>
          <p:txBody>
            <a:bodyPr wrap="square" rtlCol="0">
              <a:spAutoFit/>
            </a:bodyPr>
            <a:lstStyle/>
            <a:p>
              <a:r>
                <a:rPr lang="zh-CN" altLang="en-US" sz="2800" b="1" dirty="0">
                  <a:solidFill>
                    <a:srgbClr val="000000"/>
                  </a:solidFill>
                </a:rPr>
                <a:t>敏捷宣言</a:t>
              </a:r>
            </a:p>
          </p:txBody>
        </p:sp>
        <p:grpSp>
          <p:nvGrpSpPr>
            <p:cNvPr id="19" name="组合 18">
              <a:extLst>
                <a:ext uri="{FF2B5EF4-FFF2-40B4-BE49-F238E27FC236}">
                  <a16:creationId xmlns:a16="http://schemas.microsoft.com/office/drawing/2014/main" id="{47503618-FE0E-44CC-BF78-C7CCC23C82CC}"/>
                </a:ext>
              </a:extLst>
            </p:cNvPr>
            <p:cNvGrpSpPr/>
            <p:nvPr/>
          </p:nvGrpSpPr>
          <p:grpSpPr>
            <a:xfrm>
              <a:off x="3381452" y="1483360"/>
              <a:ext cx="755934" cy="755934"/>
              <a:chOff x="3381452" y="1483360"/>
              <a:chExt cx="755934" cy="755934"/>
            </a:xfrm>
          </p:grpSpPr>
          <p:sp>
            <p:nvSpPr>
              <p:cNvPr id="20" name="文本框 19">
                <a:extLst>
                  <a:ext uri="{FF2B5EF4-FFF2-40B4-BE49-F238E27FC236}">
                    <a16:creationId xmlns:a16="http://schemas.microsoft.com/office/drawing/2014/main" id="{584E6C30-3A6A-4243-BF22-8376B6FD66B3}"/>
                  </a:ext>
                </a:extLst>
              </p:cNvPr>
              <p:cNvSpPr txBox="1"/>
              <p:nvPr/>
            </p:nvSpPr>
            <p:spPr>
              <a:xfrm>
                <a:off x="3381452" y="1568939"/>
                <a:ext cx="755934" cy="584775"/>
              </a:xfrm>
              <a:prstGeom prst="rect">
                <a:avLst/>
              </a:prstGeom>
              <a:noFill/>
              <a:ln>
                <a:noFill/>
              </a:ln>
            </p:spPr>
            <p:txBody>
              <a:bodyPr wrap="square" rtlCol="0" anchor="ctr" anchorCtr="0">
                <a:spAutoFit/>
              </a:bodyPr>
              <a:lstStyle/>
              <a:p>
                <a:pPr algn="ctr"/>
                <a:r>
                  <a:rPr lang="en-US" altLang="zh-CN" sz="3200" b="1" dirty="0">
                    <a:solidFill>
                      <a:srgbClr val="9E008F"/>
                    </a:solidFill>
                    <a:latin typeface="+mn-ea"/>
                  </a:rPr>
                  <a:t>04</a:t>
                </a:r>
              </a:p>
            </p:txBody>
          </p:sp>
          <p:sp>
            <p:nvSpPr>
              <p:cNvPr id="21" name="矩形 20">
                <a:extLst>
                  <a:ext uri="{FF2B5EF4-FFF2-40B4-BE49-F238E27FC236}">
                    <a16:creationId xmlns:a16="http://schemas.microsoft.com/office/drawing/2014/main" id="{58991DB1-6C57-43F2-8C3D-26030BFDCBC3}"/>
                  </a:ext>
                </a:extLst>
              </p:cNvPr>
              <p:cNvSpPr/>
              <p:nvPr/>
            </p:nvSpPr>
            <p:spPr>
              <a:xfrm>
                <a:off x="3381452" y="1483360"/>
                <a:ext cx="755934" cy="755934"/>
              </a:xfrm>
              <a:prstGeom prst="rect">
                <a:avLst/>
              </a:prstGeom>
              <a:noFill/>
              <a:ln>
                <a:solidFill>
                  <a:srgbClr val="6A00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grpSp>
    </p:spTree>
    <p:extLst>
      <p:ext uri="{BB962C8B-B14F-4D97-AF65-F5344CB8AC3E}">
        <p14:creationId xmlns:p14="http://schemas.microsoft.com/office/powerpoint/2010/main" val="232873394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884517-1710-FC4A-8E1D-217251B20269}"/>
              </a:ext>
            </a:extLst>
          </p:cNvPr>
          <p:cNvSpPr>
            <a:spLocks noGrp="1"/>
          </p:cNvSpPr>
          <p:nvPr>
            <p:ph type="title"/>
          </p:nvPr>
        </p:nvSpPr>
        <p:spPr/>
        <p:txBody>
          <a:bodyPr>
            <a:normAutofit/>
          </a:bodyPr>
          <a:lstStyle/>
          <a:p>
            <a:r>
              <a:rPr kumimoji="1" lang="zh-CN" altLang="en-US" dirty="0"/>
              <a:t>为什么敏捷与精益出现在软件开发行业？</a:t>
            </a:r>
          </a:p>
        </p:txBody>
      </p:sp>
      <p:sp>
        <p:nvSpPr>
          <p:cNvPr id="3" name="内容占位符 2">
            <a:extLst>
              <a:ext uri="{FF2B5EF4-FFF2-40B4-BE49-F238E27FC236}">
                <a16:creationId xmlns:a16="http://schemas.microsoft.com/office/drawing/2014/main" id="{753BFECF-7C45-FD41-9640-10D2998004BF}"/>
              </a:ext>
            </a:extLst>
          </p:cNvPr>
          <p:cNvSpPr>
            <a:spLocks noGrp="1"/>
          </p:cNvSpPr>
          <p:nvPr>
            <p:ph idx="1"/>
          </p:nvPr>
        </p:nvSpPr>
        <p:spPr/>
        <p:txBody>
          <a:bodyPr>
            <a:normAutofit/>
          </a:bodyPr>
          <a:lstStyle/>
          <a:p>
            <a:r>
              <a:rPr kumimoji="1" lang="zh-CN" altLang="en-US" dirty="0"/>
              <a:t>软件开发本质属性：复杂性、一致性、可变性、不可见性。</a:t>
            </a:r>
          </a:p>
          <a:p>
            <a:r>
              <a:rPr kumimoji="1" lang="zh-CN" altLang="en-US" dirty="0"/>
              <a:t>敏捷与精益本质上是帮助我们处理软件开发的复杂性、可变性。</a:t>
            </a:r>
          </a:p>
          <a:p>
            <a:pPr lvl="1"/>
            <a:r>
              <a:rPr kumimoji="1" lang="zh-CN" altLang="en-US" dirty="0"/>
              <a:t>敏捷的本质，是承认软件开发的复杂性。而且承认，这种复杂性，达到了这样一种程度：“无法通过足够充分的前期准备，而消除后续的风险。甚至于，前期准备得越是充分，后续的风险越大。”</a:t>
            </a:r>
          </a:p>
          <a:p>
            <a:pPr lvl="1"/>
            <a:r>
              <a:rPr kumimoji="1" lang="zh-CN" altLang="en-US" dirty="0"/>
              <a:t>敏捷软件开发是当前应对模糊需求、快速变化需求的最佳方式。</a:t>
            </a:r>
          </a:p>
          <a:p>
            <a:pPr lvl="1"/>
            <a:endParaRPr kumimoji="1" lang="zh-CN" altLang="en-US" dirty="0"/>
          </a:p>
          <a:p>
            <a:endParaRPr kumimoji="1" lang="zh-CN" altLang="en-US" dirty="0"/>
          </a:p>
        </p:txBody>
      </p:sp>
      <p:sp>
        <p:nvSpPr>
          <p:cNvPr id="4" name="灯片编号占位符 3">
            <a:extLst>
              <a:ext uri="{FF2B5EF4-FFF2-40B4-BE49-F238E27FC236}">
                <a16:creationId xmlns:a16="http://schemas.microsoft.com/office/drawing/2014/main" id="{A7A614F8-5629-EF46-88A2-8C646060CE8C}"/>
              </a:ext>
            </a:extLst>
          </p:cNvPr>
          <p:cNvSpPr>
            <a:spLocks noGrp="1"/>
          </p:cNvSpPr>
          <p:nvPr>
            <p:ph type="sldNum" sz="quarter" idx="12"/>
          </p:nvPr>
        </p:nvSpPr>
        <p:spPr/>
        <p:txBody>
          <a:bodyPr/>
          <a:lstStyle/>
          <a:p>
            <a:fld id="{4D1FD872-5D71-BD4B-86C8-57CDF6D45626}" type="slidenum">
              <a:rPr kumimoji="1" lang="zh-CN" altLang="en-US" smtClean="0"/>
              <a:t>3</a:t>
            </a:fld>
            <a:endParaRPr kumimoji="1" lang="zh-CN" altLang="en-US"/>
          </a:p>
        </p:txBody>
      </p:sp>
    </p:spTree>
    <p:extLst>
      <p:ext uri="{BB962C8B-B14F-4D97-AF65-F5344CB8AC3E}">
        <p14:creationId xmlns:p14="http://schemas.microsoft.com/office/powerpoint/2010/main" val="18677795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884517-1710-FC4A-8E1D-217251B20269}"/>
              </a:ext>
            </a:extLst>
          </p:cNvPr>
          <p:cNvSpPr>
            <a:spLocks noGrp="1"/>
          </p:cNvSpPr>
          <p:nvPr>
            <p:ph type="title"/>
          </p:nvPr>
        </p:nvSpPr>
        <p:spPr/>
        <p:txBody>
          <a:bodyPr/>
          <a:lstStyle/>
          <a:p>
            <a:r>
              <a:rPr kumimoji="1" lang="zh-CN" altLang="en-US" dirty="0"/>
              <a:t>敏捷软件开发很流行</a:t>
            </a:r>
          </a:p>
        </p:txBody>
      </p:sp>
      <p:sp>
        <p:nvSpPr>
          <p:cNvPr id="3" name="内容占位符 2">
            <a:extLst>
              <a:ext uri="{FF2B5EF4-FFF2-40B4-BE49-F238E27FC236}">
                <a16:creationId xmlns:a16="http://schemas.microsoft.com/office/drawing/2014/main" id="{753BFECF-7C45-FD41-9640-10D2998004BF}"/>
              </a:ext>
            </a:extLst>
          </p:cNvPr>
          <p:cNvSpPr>
            <a:spLocks noGrp="1"/>
          </p:cNvSpPr>
          <p:nvPr>
            <p:ph idx="1"/>
          </p:nvPr>
        </p:nvSpPr>
        <p:spPr/>
        <p:txBody>
          <a:bodyPr>
            <a:normAutofit/>
          </a:bodyPr>
          <a:lstStyle/>
          <a:p>
            <a:r>
              <a:rPr kumimoji="1" lang="zh-CN" altLang="en-US" dirty="0"/>
              <a:t>公司：</a:t>
            </a:r>
          </a:p>
          <a:p>
            <a:pPr lvl="1"/>
            <a:r>
              <a:rPr kumimoji="1" lang="en-US" altLang="zh-CN" dirty="0"/>
              <a:t>Google</a:t>
            </a:r>
            <a:r>
              <a:rPr kumimoji="1" lang="zh-CN" altLang="en-US" dirty="0"/>
              <a:t>，</a:t>
            </a:r>
            <a:r>
              <a:rPr kumimoji="1" lang="en-US" altLang="zh-CN" dirty="0"/>
              <a:t>Microsoft</a:t>
            </a:r>
            <a:r>
              <a:rPr kumimoji="1" lang="zh-CN" altLang="en-US" dirty="0"/>
              <a:t>，</a:t>
            </a:r>
            <a:r>
              <a:rPr kumimoji="1" lang="en-US" altLang="zh-CN" dirty="0"/>
              <a:t>Yahoo</a:t>
            </a:r>
            <a:r>
              <a:rPr kumimoji="1" lang="zh-CN" altLang="en-US" dirty="0"/>
              <a:t>，百度，腾讯，中兴，华为，</a:t>
            </a:r>
            <a:r>
              <a:rPr kumimoji="1" lang="en-US" altLang="zh-CN" dirty="0"/>
              <a:t>......</a:t>
            </a:r>
          </a:p>
          <a:p>
            <a:r>
              <a:rPr kumimoji="1" lang="zh-CN" altLang="en-US" dirty="0"/>
              <a:t>书籍</a:t>
            </a:r>
          </a:p>
          <a:p>
            <a:r>
              <a:rPr kumimoji="1" lang="zh-CN" altLang="en-US" dirty="0"/>
              <a:t>会议，活动</a:t>
            </a:r>
          </a:p>
          <a:p>
            <a:endParaRPr kumimoji="1" lang="zh-CN" altLang="en-US" dirty="0"/>
          </a:p>
          <a:p>
            <a:endParaRPr kumimoji="1" lang="zh-CN" altLang="en-US" dirty="0"/>
          </a:p>
        </p:txBody>
      </p:sp>
      <p:sp>
        <p:nvSpPr>
          <p:cNvPr id="4" name="灯片编号占位符 3">
            <a:extLst>
              <a:ext uri="{FF2B5EF4-FFF2-40B4-BE49-F238E27FC236}">
                <a16:creationId xmlns:a16="http://schemas.microsoft.com/office/drawing/2014/main" id="{A7A614F8-5629-EF46-88A2-8C646060CE8C}"/>
              </a:ext>
            </a:extLst>
          </p:cNvPr>
          <p:cNvSpPr>
            <a:spLocks noGrp="1"/>
          </p:cNvSpPr>
          <p:nvPr>
            <p:ph type="sldNum" sz="quarter" idx="12"/>
          </p:nvPr>
        </p:nvSpPr>
        <p:spPr/>
        <p:txBody>
          <a:bodyPr/>
          <a:lstStyle/>
          <a:p>
            <a:fld id="{4D1FD872-5D71-BD4B-86C8-57CDF6D45626}" type="slidenum">
              <a:rPr kumimoji="1" lang="zh-CN" altLang="en-US" smtClean="0"/>
              <a:t>4</a:t>
            </a:fld>
            <a:endParaRPr kumimoji="1" lang="zh-CN" altLang="en-US"/>
          </a:p>
        </p:txBody>
      </p:sp>
    </p:spTree>
    <p:extLst>
      <p:ext uri="{BB962C8B-B14F-4D97-AF65-F5344CB8AC3E}">
        <p14:creationId xmlns:p14="http://schemas.microsoft.com/office/powerpoint/2010/main" val="38417837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884517-1710-FC4A-8E1D-217251B20269}"/>
              </a:ext>
            </a:extLst>
          </p:cNvPr>
          <p:cNvSpPr>
            <a:spLocks noGrp="1"/>
          </p:cNvSpPr>
          <p:nvPr>
            <p:ph type="title"/>
          </p:nvPr>
        </p:nvSpPr>
        <p:spPr/>
        <p:txBody>
          <a:bodyPr>
            <a:normAutofit/>
          </a:bodyPr>
          <a:lstStyle/>
          <a:p>
            <a:r>
              <a:rPr kumimoji="1" lang="zh-CN" altLang="en-US" dirty="0"/>
              <a:t>软件项目成功？传统观点</a:t>
            </a:r>
          </a:p>
        </p:txBody>
      </p:sp>
      <p:sp>
        <p:nvSpPr>
          <p:cNvPr id="3" name="内容占位符 2">
            <a:extLst>
              <a:ext uri="{FF2B5EF4-FFF2-40B4-BE49-F238E27FC236}">
                <a16:creationId xmlns:a16="http://schemas.microsoft.com/office/drawing/2014/main" id="{753BFECF-7C45-FD41-9640-10D2998004BF}"/>
              </a:ext>
            </a:extLst>
          </p:cNvPr>
          <p:cNvSpPr>
            <a:spLocks noGrp="1"/>
          </p:cNvSpPr>
          <p:nvPr>
            <p:ph idx="1"/>
          </p:nvPr>
        </p:nvSpPr>
        <p:spPr/>
        <p:txBody>
          <a:bodyPr>
            <a:normAutofit/>
          </a:bodyPr>
          <a:lstStyle/>
          <a:p>
            <a:r>
              <a:rPr kumimoji="1" lang="zh-CN" altLang="en-US" dirty="0"/>
              <a:t>成功的</a:t>
            </a:r>
            <a:r>
              <a:rPr kumimoji="1" lang="en-US" altLang="zh-CN" dirty="0"/>
              <a:t>(Successful):</a:t>
            </a:r>
            <a:r>
              <a:rPr kumimoji="1" lang="zh-CN" altLang="en-US" dirty="0"/>
              <a:t>按时完成，费用不超过预算，而且所有特性和功能都符合原先的设计规格。</a:t>
            </a:r>
          </a:p>
          <a:p>
            <a:r>
              <a:rPr kumimoji="1" lang="zh-CN" altLang="en-US" dirty="0"/>
              <a:t>不太成功的</a:t>
            </a:r>
            <a:r>
              <a:rPr kumimoji="1" lang="en-US" altLang="zh-CN" dirty="0"/>
              <a:t>(Challenged):</a:t>
            </a:r>
            <a:r>
              <a:rPr kumimoji="1" lang="zh-CN" altLang="en-US" dirty="0"/>
              <a:t>已完成并且可以运行，但费用超出了预算，没有如期完成，拥有的特性和功能少于原先的设计规格。</a:t>
            </a:r>
          </a:p>
          <a:p>
            <a:r>
              <a:rPr kumimoji="1" lang="zh-CN" altLang="en-US" dirty="0"/>
              <a:t>失败的</a:t>
            </a:r>
            <a:r>
              <a:rPr kumimoji="1" lang="en-US" altLang="zh-CN" dirty="0"/>
              <a:t>(Impaired):</a:t>
            </a:r>
            <a:r>
              <a:rPr kumimoji="1" lang="zh-CN" altLang="en-US" dirty="0"/>
              <a:t>在开发周期的某个时刻被取消了。</a:t>
            </a:r>
          </a:p>
          <a:p>
            <a:endParaRPr kumimoji="1" lang="zh-CN" altLang="en-US" dirty="0"/>
          </a:p>
          <a:p>
            <a:endParaRPr kumimoji="1" lang="zh-CN" altLang="en-US" dirty="0"/>
          </a:p>
        </p:txBody>
      </p:sp>
      <p:sp>
        <p:nvSpPr>
          <p:cNvPr id="4" name="灯片编号占位符 3">
            <a:extLst>
              <a:ext uri="{FF2B5EF4-FFF2-40B4-BE49-F238E27FC236}">
                <a16:creationId xmlns:a16="http://schemas.microsoft.com/office/drawing/2014/main" id="{A7A614F8-5629-EF46-88A2-8C646060CE8C}"/>
              </a:ext>
            </a:extLst>
          </p:cNvPr>
          <p:cNvSpPr>
            <a:spLocks noGrp="1"/>
          </p:cNvSpPr>
          <p:nvPr>
            <p:ph type="sldNum" sz="quarter" idx="12"/>
          </p:nvPr>
        </p:nvSpPr>
        <p:spPr/>
        <p:txBody>
          <a:bodyPr/>
          <a:lstStyle/>
          <a:p>
            <a:fld id="{4D1FD872-5D71-BD4B-86C8-57CDF6D45626}" type="slidenum">
              <a:rPr kumimoji="1" lang="zh-CN" altLang="en-US" smtClean="0"/>
              <a:t>5</a:t>
            </a:fld>
            <a:endParaRPr kumimoji="1" lang="zh-CN" altLang="en-US"/>
          </a:p>
        </p:txBody>
      </p:sp>
    </p:spTree>
    <p:extLst>
      <p:ext uri="{BB962C8B-B14F-4D97-AF65-F5344CB8AC3E}">
        <p14:creationId xmlns:p14="http://schemas.microsoft.com/office/powerpoint/2010/main" val="39944583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AAB774-BB56-4440-ADDB-28CAAA2A0D92}"/>
              </a:ext>
            </a:extLst>
          </p:cNvPr>
          <p:cNvSpPr>
            <a:spLocks noGrp="1"/>
          </p:cNvSpPr>
          <p:nvPr>
            <p:ph type="title"/>
          </p:nvPr>
        </p:nvSpPr>
        <p:spPr/>
        <p:txBody>
          <a:bodyPr>
            <a:normAutofit/>
          </a:bodyPr>
          <a:lstStyle/>
          <a:p>
            <a:r>
              <a:rPr kumimoji="1" lang="zh-CN" altLang="en-US" dirty="0"/>
              <a:t>软件项目成功？敏捷观点</a:t>
            </a:r>
          </a:p>
        </p:txBody>
      </p:sp>
      <p:sp>
        <p:nvSpPr>
          <p:cNvPr id="3" name="内容占位符 2">
            <a:extLst>
              <a:ext uri="{FF2B5EF4-FFF2-40B4-BE49-F238E27FC236}">
                <a16:creationId xmlns:a16="http://schemas.microsoft.com/office/drawing/2014/main" id="{5F5C1FEF-1B8E-1C47-ADE1-E7910E74B3C8}"/>
              </a:ext>
            </a:extLst>
          </p:cNvPr>
          <p:cNvSpPr>
            <a:spLocks noGrp="1"/>
          </p:cNvSpPr>
          <p:nvPr>
            <p:ph idx="1"/>
          </p:nvPr>
        </p:nvSpPr>
        <p:spPr/>
        <p:txBody>
          <a:bodyPr>
            <a:normAutofit/>
          </a:bodyPr>
          <a:lstStyle/>
          <a:p>
            <a:r>
              <a:rPr kumimoji="1" lang="zh-CN" altLang="en-US" dirty="0"/>
              <a:t>为客户创造价值是评价成功的最重要标准。</a:t>
            </a:r>
          </a:p>
          <a:p>
            <a:pPr lvl="1"/>
            <a:r>
              <a:rPr kumimoji="1" lang="en-US" altLang="zh-CN" dirty="0"/>
              <a:t>A:110</a:t>
            </a:r>
            <a:r>
              <a:rPr kumimoji="1" lang="zh-CN" altLang="en-US" dirty="0"/>
              <a:t>万收益，</a:t>
            </a:r>
            <a:r>
              <a:rPr kumimoji="1" lang="en-US" altLang="zh-CN" dirty="0"/>
              <a:t>100</a:t>
            </a:r>
            <a:r>
              <a:rPr kumimoji="1" lang="zh-CN" altLang="en-US" dirty="0"/>
              <a:t>万成本，延期后果严重（普通外包项目）</a:t>
            </a:r>
          </a:p>
          <a:p>
            <a:pPr lvl="1"/>
            <a:r>
              <a:rPr kumimoji="1" lang="en-US" altLang="zh-CN" dirty="0"/>
              <a:t>B:5000</a:t>
            </a:r>
            <a:r>
              <a:rPr kumimoji="1" lang="zh-CN" altLang="en-US" dirty="0"/>
              <a:t>万收益，</a:t>
            </a:r>
            <a:r>
              <a:rPr kumimoji="1" lang="en-US" altLang="zh-CN" dirty="0"/>
              <a:t>100</a:t>
            </a:r>
            <a:r>
              <a:rPr kumimoji="1" lang="zh-CN" altLang="en-US" dirty="0"/>
              <a:t>万成本，延期后果可以接受（</a:t>
            </a:r>
            <a:r>
              <a:rPr kumimoji="1" lang="en-US" altLang="zh-CN" dirty="0"/>
              <a:t>Google Earth, Gmail, Instagram</a:t>
            </a:r>
            <a:r>
              <a:rPr kumimoji="1" lang="zh-CN" altLang="en-US" dirty="0"/>
              <a:t>）</a:t>
            </a:r>
          </a:p>
          <a:p>
            <a:r>
              <a:rPr kumimoji="1" lang="en-US" altLang="zh-CN" dirty="0"/>
              <a:t>A</a:t>
            </a:r>
            <a:r>
              <a:rPr kumimoji="1" lang="zh-CN" altLang="en-US" dirty="0"/>
              <a:t>项目控制很重要（否则会亏损）；</a:t>
            </a:r>
            <a:r>
              <a:rPr kumimoji="1" lang="en-US" altLang="zh-CN" dirty="0"/>
              <a:t>B</a:t>
            </a:r>
            <a:r>
              <a:rPr kumimoji="1" lang="zh-CN" altLang="en-US" dirty="0"/>
              <a:t>项目控制没有那么重要。</a:t>
            </a:r>
          </a:p>
          <a:p>
            <a:r>
              <a:rPr kumimoji="1" lang="zh-CN" altLang="en-US" dirty="0">
                <a:solidFill>
                  <a:srgbClr val="FF0000"/>
                </a:solidFill>
              </a:rPr>
              <a:t>所有软件开发实践都应该以提升项目收益为首要目标！</a:t>
            </a:r>
          </a:p>
          <a:p>
            <a:endParaRPr kumimoji="1" lang="zh-CN" altLang="en-US" dirty="0"/>
          </a:p>
          <a:p>
            <a:endParaRPr kumimoji="1" lang="zh-CN" altLang="en-US" dirty="0"/>
          </a:p>
        </p:txBody>
      </p:sp>
      <p:sp>
        <p:nvSpPr>
          <p:cNvPr id="4" name="灯片编号占位符 3">
            <a:extLst>
              <a:ext uri="{FF2B5EF4-FFF2-40B4-BE49-F238E27FC236}">
                <a16:creationId xmlns:a16="http://schemas.microsoft.com/office/drawing/2014/main" id="{E41B5B34-C697-F34C-B703-B7D371813F33}"/>
              </a:ext>
            </a:extLst>
          </p:cNvPr>
          <p:cNvSpPr>
            <a:spLocks noGrp="1"/>
          </p:cNvSpPr>
          <p:nvPr>
            <p:ph type="sldNum" sz="quarter" idx="12"/>
          </p:nvPr>
        </p:nvSpPr>
        <p:spPr/>
        <p:txBody>
          <a:bodyPr/>
          <a:lstStyle/>
          <a:p>
            <a:fld id="{4D1FD872-5D71-BD4B-86C8-57CDF6D45626}" type="slidenum">
              <a:rPr kumimoji="1" lang="zh-CN" altLang="en-US" smtClean="0"/>
              <a:t>6</a:t>
            </a:fld>
            <a:endParaRPr kumimoji="1" lang="zh-CN" altLang="en-US"/>
          </a:p>
        </p:txBody>
      </p:sp>
    </p:spTree>
    <p:extLst>
      <p:ext uri="{BB962C8B-B14F-4D97-AF65-F5344CB8AC3E}">
        <p14:creationId xmlns:p14="http://schemas.microsoft.com/office/powerpoint/2010/main" val="38214068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6007CCE5-4DBA-0D41-B818-5ECAECB57992}"/>
              </a:ext>
            </a:extLst>
          </p:cNvPr>
          <p:cNvSpPr>
            <a:spLocks noGrp="1"/>
          </p:cNvSpPr>
          <p:nvPr>
            <p:ph type="sldNum" sz="quarter" idx="12"/>
          </p:nvPr>
        </p:nvSpPr>
        <p:spPr/>
        <p:txBody>
          <a:bodyPr/>
          <a:lstStyle/>
          <a:p>
            <a:fld id="{4D1FD872-5D71-BD4B-86C8-57CDF6D45626}" type="slidenum">
              <a:rPr kumimoji="1" lang="zh-CN" altLang="en-US" smtClean="0"/>
              <a:t>7</a:t>
            </a:fld>
            <a:endParaRPr kumimoji="1" lang="zh-CN" altLang="en-US"/>
          </a:p>
        </p:txBody>
      </p:sp>
      <p:pic>
        <p:nvPicPr>
          <p:cNvPr id="5" name="图片 4">
            <a:extLst>
              <a:ext uri="{FF2B5EF4-FFF2-40B4-BE49-F238E27FC236}">
                <a16:creationId xmlns:a16="http://schemas.microsoft.com/office/drawing/2014/main" id="{A49A47D7-B59C-E748-8D35-9806105887D1}"/>
              </a:ext>
            </a:extLst>
          </p:cNvPr>
          <p:cNvPicPr>
            <a:picLocks noChangeAspect="1"/>
          </p:cNvPicPr>
          <p:nvPr/>
        </p:nvPicPr>
        <p:blipFill>
          <a:blip r:embed="rId2"/>
          <a:stretch>
            <a:fillRect/>
          </a:stretch>
        </p:blipFill>
        <p:spPr>
          <a:xfrm>
            <a:off x="1524000" y="0"/>
            <a:ext cx="9163580" cy="6858000"/>
          </a:xfrm>
          <a:prstGeom prst="rect">
            <a:avLst/>
          </a:prstGeom>
        </p:spPr>
      </p:pic>
    </p:spTree>
    <p:extLst>
      <p:ext uri="{BB962C8B-B14F-4D97-AF65-F5344CB8AC3E}">
        <p14:creationId xmlns:p14="http://schemas.microsoft.com/office/powerpoint/2010/main" val="24242765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B8E861-5D08-1B4E-AA6F-55FBA7AD4B06}"/>
              </a:ext>
            </a:extLst>
          </p:cNvPr>
          <p:cNvSpPr>
            <a:spLocks noGrp="1"/>
          </p:cNvSpPr>
          <p:nvPr>
            <p:ph type="title"/>
          </p:nvPr>
        </p:nvSpPr>
        <p:spPr/>
        <p:txBody>
          <a:bodyPr/>
          <a:lstStyle/>
          <a:p>
            <a:r>
              <a:rPr kumimoji="1" lang="en-US" altLang="zh-CN" dirty="0"/>
              <a:t>IT</a:t>
            </a:r>
            <a:r>
              <a:rPr kumimoji="1" lang="zh-CN" altLang="en-US" dirty="0"/>
              <a:t>技术发展</a:t>
            </a:r>
          </a:p>
        </p:txBody>
      </p:sp>
      <p:sp>
        <p:nvSpPr>
          <p:cNvPr id="4" name="灯片编号占位符 3">
            <a:extLst>
              <a:ext uri="{FF2B5EF4-FFF2-40B4-BE49-F238E27FC236}">
                <a16:creationId xmlns:a16="http://schemas.microsoft.com/office/drawing/2014/main" id="{3F67B79B-8A5D-B74C-A53B-D2ABAEB664CD}"/>
              </a:ext>
            </a:extLst>
          </p:cNvPr>
          <p:cNvSpPr>
            <a:spLocks noGrp="1"/>
          </p:cNvSpPr>
          <p:nvPr>
            <p:ph type="sldNum" sz="quarter" idx="12"/>
          </p:nvPr>
        </p:nvSpPr>
        <p:spPr/>
        <p:txBody>
          <a:bodyPr/>
          <a:lstStyle/>
          <a:p>
            <a:fld id="{4D1FD872-5D71-BD4B-86C8-57CDF6D45626}" type="slidenum">
              <a:rPr kumimoji="1" lang="zh-CN" altLang="en-US" smtClean="0"/>
              <a:t>8</a:t>
            </a:fld>
            <a:endParaRPr kumimoji="1" lang="zh-CN" altLang="en-US"/>
          </a:p>
        </p:txBody>
      </p:sp>
      <p:pic>
        <p:nvPicPr>
          <p:cNvPr id="5" name="图像" descr="图像">
            <a:extLst>
              <a:ext uri="{FF2B5EF4-FFF2-40B4-BE49-F238E27FC236}">
                <a16:creationId xmlns:a16="http://schemas.microsoft.com/office/drawing/2014/main" id="{9F956865-226B-B345-B5DE-A88E1532BD99}"/>
              </a:ext>
            </a:extLst>
          </p:cNvPr>
          <p:cNvPicPr>
            <a:picLocks noChangeAspect="1"/>
          </p:cNvPicPr>
          <p:nvPr/>
        </p:nvPicPr>
        <p:blipFill>
          <a:blip r:embed="rId2"/>
          <a:stretch>
            <a:fillRect/>
          </a:stretch>
        </p:blipFill>
        <p:spPr>
          <a:xfrm>
            <a:off x="1640304" y="1690689"/>
            <a:ext cx="8911397" cy="4304144"/>
          </a:xfrm>
          <a:prstGeom prst="rect">
            <a:avLst/>
          </a:prstGeom>
          <a:ln w="12700">
            <a:miter lim="400000"/>
          </a:ln>
        </p:spPr>
      </p:pic>
    </p:spTree>
    <p:extLst>
      <p:ext uri="{BB962C8B-B14F-4D97-AF65-F5344CB8AC3E}">
        <p14:creationId xmlns:p14="http://schemas.microsoft.com/office/powerpoint/2010/main" val="34390498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BE82A359-E2AF-814B-BF9A-FCA73B318507}"/>
              </a:ext>
            </a:extLst>
          </p:cNvPr>
          <p:cNvGrpSpPr/>
          <p:nvPr/>
        </p:nvGrpSpPr>
        <p:grpSpPr>
          <a:xfrm>
            <a:off x="3838823" y="2157224"/>
            <a:ext cx="4514354" cy="3864334"/>
            <a:chOff x="2319793" y="1894896"/>
            <a:chExt cx="4514354" cy="3864334"/>
          </a:xfrm>
        </p:grpSpPr>
        <p:sp>
          <p:nvSpPr>
            <p:cNvPr id="5" name="椭圆 4">
              <a:extLst>
                <a:ext uri="{FF2B5EF4-FFF2-40B4-BE49-F238E27FC236}">
                  <a16:creationId xmlns:a16="http://schemas.microsoft.com/office/drawing/2014/main" id="{5BB93308-3201-884B-B430-4FEB466BF458}"/>
                </a:ext>
              </a:extLst>
            </p:cNvPr>
            <p:cNvSpPr/>
            <p:nvPr/>
          </p:nvSpPr>
          <p:spPr>
            <a:xfrm>
              <a:off x="2319793" y="1894896"/>
              <a:ext cx="4514354" cy="38643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p>
          </p:txBody>
        </p:sp>
        <p:pic>
          <p:nvPicPr>
            <p:cNvPr id="4" name="图像" descr="图像">
              <a:extLst>
                <a:ext uri="{FF2B5EF4-FFF2-40B4-BE49-F238E27FC236}">
                  <a16:creationId xmlns:a16="http://schemas.microsoft.com/office/drawing/2014/main" id="{7C26EF64-0C30-914A-86A7-14417EC080E1}"/>
                </a:ext>
              </a:extLst>
            </p:cNvPr>
            <p:cNvPicPr>
              <a:picLocks noChangeAspect="1"/>
            </p:cNvPicPr>
            <p:nvPr/>
          </p:nvPicPr>
          <p:blipFill>
            <a:blip r:embed="rId2"/>
            <a:stretch>
              <a:fillRect/>
            </a:stretch>
          </p:blipFill>
          <p:spPr>
            <a:xfrm>
              <a:off x="3275516" y="2002341"/>
              <a:ext cx="2592968" cy="3340220"/>
            </a:xfrm>
            <a:prstGeom prst="rect">
              <a:avLst/>
            </a:prstGeom>
            <a:ln w="12700">
              <a:miter lim="400000"/>
            </a:ln>
          </p:spPr>
        </p:pic>
        <p:sp>
          <p:nvSpPr>
            <p:cNvPr id="6" name="文本框 5">
              <a:extLst>
                <a:ext uri="{FF2B5EF4-FFF2-40B4-BE49-F238E27FC236}">
                  <a16:creationId xmlns:a16="http://schemas.microsoft.com/office/drawing/2014/main" id="{DA286B5A-CDD9-004C-9508-84401E4C5BBF}"/>
                </a:ext>
              </a:extLst>
            </p:cNvPr>
            <p:cNvSpPr txBox="1"/>
            <p:nvPr/>
          </p:nvSpPr>
          <p:spPr>
            <a:xfrm>
              <a:off x="2816328" y="2652259"/>
              <a:ext cx="918376" cy="2169825"/>
            </a:xfrm>
            <a:prstGeom prst="rect">
              <a:avLst/>
            </a:prstGeom>
            <a:noFill/>
          </p:spPr>
          <p:txBody>
            <a:bodyPr wrap="square" rtlCol="0">
              <a:spAutoFit/>
            </a:bodyPr>
            <a:lstStyle/>
            <a:p>
              <a:r>
                <a:rPr kumimoji="1" lang="zh-CN" altLang="en-US" sz="1350" dirty="0">
                  <a:solidFill>
                    <a:srgbClr val="FF0000"/>
                  </a:solidFill>
                </a:rPr>
                <a:t>应用领域</a:t>
              </a:r>
              <a:r>
                <a:rPr kumimoji="1" lang="zh-CN" altLang="en-US" sz="1350" dirty="0">
                  <a:solidFill>
                    <a:schemeClr val="bg1"/>
                  </a:solidFill>
                </a:rPr>
                <a:t>国防软件、大型企业应用软件、嵌入式软件、互联网软件、移动互联网软件</a:t>
              </a:r>
              <a:r>
                <a:rPr kumimoji="1" lang="en-US" altLang="zh-CN" sz="1350" dirty="0">
                  <a:solidFill>
                    <a:schemeClr val="bg1"/>
                  </a:solidFill>
                </a:rPr>
                <a:t>……</a:t>
              </a:r>
              <a:endParaRPr kumimoji="1" lang="zh-CN" altLang="en-US" sz="1350" dirty="0">
                <a:solidFill>
                  <a:schemeClr val="bg1"/>
                </a:solidFill>
              </a:endParaRPr>
            </a:p>
          </p:txBody>
        </p:sp>
        <p:sp>
          <p:nvSpPr>
            <p:cNvPr id="7" name="文本框 6">
              <a:extLst>
                <a:ext uri="{FF2B5EF4-FFF2-40B4-BE49-F238E27FC236}">
                  <a16:creationId xmlns:a16="http://schemas.microsoft.com/office/drawing/2014/main" id="{1548133A-C11E-AF4C-8E68-242907689F9B}"/>
                </a:ext>
              </a:extLst>
            </p:cNvPr>
            <p:cNvSpPr txBox="1"/>
            <p:nvPr/>
          </p:nvSpPr>
          <p:spPr>
            <a:xfrm>
              <a:off x="5506851" y="2702954"/>
              <a:ext cx="918376" cy="1754326"/>
            </a:xfrm>
            <a:prstGeom prst="rect">
              <a:avLst/>
            </a:prstGeom>
            <a:noFill/>
          </p:spPr>
          <p:txBody>
            <a:bodyPr wrap="square" rtlCol="0">
              <a:spAutoFit/>
            </a:bodyPr>
            <a:lstStyle/>
            <a:p>
              <a:r>
                <a:rPr kumimoji="1" lang="zh-CN" altLang="en-US" sz="1350" dirty="0">
                  <a:solidFill>
                    <a:srgbClr val="FF0000"/>
                  </a:solidFill>
                </a:rPr>
                <a:t>技术发展</a:t>
              </a:r>
              <a:r>
                <a:rPr kumimoji="1" lang="zh-CN" altLang="en-US" sz="1350" dirty="0">
                  <a:solidFill>
                    <a:schemeClr val="bg1"/>
                  </a:solidFill>
                </a:rPr>
                <a:t>编程语言、操作系统、数据库、云计算、软件架构、运维系统、</a:t>
              </a:r>
              <a:r>
                <a:rPr kumimoji="1" lang="en-US" altLang="zh-CN" sz="1350" dirty="0">
                  <a:solidFill>
                    <a:schemeClr val="bg1"/>
                  </a:solidFill>
                </a:rPr>
                <a:t>……</a:t>
              </a:r>
              <a:endParaRPr kumimoji="1" lang="zh-CN" altLang="en-US" sz="1350" dirty="0">
                <a:solidFill>
                  <a:schemeClr val="bg1"/>
                </a:solidFill>
              </a:endParaRPr>
            </a:p>
          </p:txBody>
        </p:sp>
      </p:grpSp>
      <p:sp>
        <p:nvSpPr>
          <p:cNvPr id="8" name="标题 1">
            <a:extLst>
              <a:ext uri="{FF2B5EF4-FFF2-40B4-BE49-F238E27FC236}">
                <a16:creationId xmlns:a16="http://schemas.microsoft.com/office/drawing/2014/main" id="{06E26447-6B49-EB4A-BEE8-702ECA39559F}"/>
              </a:ext>
            </a:extLst>
          </p:cNvPr>
          <p:cNvSpPr>
            <a:spLocks noGrp="1"/>
          </p:cNvSpPr>
          <p:nvPr>
            <p:ph type="title"/>
          </p:nvPr>
        </p:nvSpPr>
        <p:spPr>
          <a:xfrm>
            <a:off x="3133518" y="599329"/>
            <a:ext cx="5915025" cy="740072"/>
          </a:xfrm>
        </p:spPr>
        <p:txBody>
          <a:bodyPr/>
          <a:lstStyle/>
          <a:p>
            <a:pPr algn="ctr"/>
            <a:r>
              <a:rPr kumimoji="1" lang="zh-CN" altLang="en-US" dirty="0">
                <a:solidFill>
                  <a:srgbClr val="6A005F"/>
                </a:solidFill>
                <a:latin typeface="Microsoft YaHei" panose="020B0503020204020204" pitchFamily="34" charset="-122"/>
                <a:ea typeface="Microsoft YaHei" panose="020B0503020204020204" pitchFamily="34" charset="-122"/>
              </a:rPr>
              <a:t>软件过程与项目管理</a:t>
            </a:r>
          </a:p>
        </p:txBody>
      </p:sp>
      <p:sp>
        <p:nvSpPr>
          <p:cNvPr id="3" name="椭圆 2">
            <a:extLst>
              <a:ext uri="{FF2B5EF4-FFF2-40B4-BE49-F238E27FC236}">
                <a16:creationId xmlns:a16="http://schemas.microsoft.com/office/drawing/2014/main" id="{A10822CB-D89D-054D-B113-60912719C9A8}"/>
              </a:ext>
            </a:extLst>
          </p:cNvPr>
          <p:cNvSpPr/>
          <p:nvPr/>
        </p:nvSpPr>
        <p:spPr>
          <a:xfrm>
            <a:off x="3345306" y="1743431"/>
            <a:ext cx="5621311" cy="4694845"/>
          </a:xfrm>
          <a:prstGeom prst="ellipse">
            <a:avLst/>
          </a:prstGeom>
          <a:solidFill>
            <a:srgbClr val="ED7D31">
              <a:alpha val="9804"/>
            </a:srgb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en-US" altLang="zh-CN" dirty="0"/>
          </a:p>
          <a:p>
            <a:pPr algn="ctr"/>
            <a:endParaRPr kumimoji="1" lang="en-US" altLang="zh-CN" dirty="0"/>
          </a:p>
          <a:p>
            <a:pPr algn="ctr"/>
            <a:endParaRPr kumimoji="1" lang="en-US" altLang="zh-CN" dirty="0"/>
          </a:p>
          <a:p>
            <a:pPr algn="ctr"/>
            <a:endParaRPr kumimoji="1" lang="en-US" altLang="zh-CN" dirty="0"/>
          </a:p>
          <a:p>
            <a:pPr algn="ctr"/>
            <a:endParaRPr kumimoji="1" lang="en-US" altLang="zh-CN" dirty="0"/>
          </a:p>
          <a:p>
            <a:pPr algn="ctr"/>
            <a:endParaRPr kumimoji="1" lang="en-US" altLang="zh-CN" dirty="0"/>
          </a:p>
          <a:p>
            <a:pPr algn="ctr"/>
            <a:endParaRPr kumimoji="1" lang="en-US" altLang="zh-CN" dirty="0"/>
          </a:p>
          <a:p>
            <a:pPr algn="ctr"/>
            <a:endParaRPr kumimoji="1" lang="en-US" altLang="zh-CN" dirty="0"/>
          </a:p>
          <a:p>
            <a:pPr algn="ctr"/>
            <a:endParaRPr kumimoji="1" lang="en-US" altLang="zh-CN" dirty="0"/>
          </a:p>
          <a:p>
            <a:pPr algn="ctr"/>
            <a:endParaRPr kumimoji="1" lang="en-US" altLang="zh-CN" dirty="0"/>
          </a:p>
          <a:p>
            <a:pPr algn="ctr"/>
            <a:endParaRPr kumimoji="1" lang="en-US" altLang="zh-CN" dirty="0"/>
          </a:p>
          <a:p>
            <a:pPr algn="ctr"/>
            <a:endParaRPr kumimoji="1" lang="en-US" altLang="zh-CN" dirty="0"/>
          </a:p>
          <a:p>
            <a:pPr algn="ctr"/>
            <a:endParaRPr kumimoji="1" lang="en-US" altLang="zh-CN" dirty="0"/>
          </a:p>
          <a:p>
            <a:pPr algn="ctr"/>
            <a:endParaRPr kumimoji="1" lang="en-US" altLang="zh-CN" dirty="0"/>
          </a:p>
          <a:p>
            <a:pPr algn="ctr"/>
            <a:endParaRPr kumimoji="1" lang="en-US" altLang="zh-CN" dirty="0"/>
          </a:p>
          <a:p>
            <a:pPr algn="ctr"/>
            <a:r>
              <a:rPr kumimoji="1" lang="zh-CN" altLang="en-US" dirty="0">
                <a:solidFill>
                  <a:srgbClr val="000000"/>
                </a:solidFill>
              </a:rPr>
              <a:t>目的：创造价值</a:t>
            </a:r>
          </a:p>
        </p:txBody>
      </p:sp>
    </p:spTree>
    <p:extLst>
      <p:ext uri="{BB962C8B-B14F-4D97-AF65-F5344CB8AC3E}">
        <p14:creationId xmlns:p14="http://schemas.microsoft.com/office/powerpoint/2010/main" val="15743863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70AC36-D88D-0641-B4F5-291DC43D0608}"/>
              </a:ext>
            </a:extLst>
          </p:cNvPr>
          <p:cNvSpPr>
            <a:spLocks noGrp="1"/>
          </p:cNvSpPr>
          <p:nvPr>
            <p:ph type="title"/>
          </p:nvPr>
        </p:nvSpPr>
        <p:spPr>
          <a:xfrm>
            <a:off x="2152650" y="365127"/>
            <a:ext cx="7886700" cy="986762"/>
          </a:xfrm>
        </p:spPr>
        <p:txBody>
          <a:bodyPr/>
          <a:lstStyle/>
          <a:p>
            <a:pPr algn="ctr"/>
            <a:r>
              <a:rPr kumimoji="1" lang="zh-CN" altLang="en-US" dirty="0"/>
              <a:t>敏捷软件开发知识体系</a:t>
            </a:r>
          </a:p>
        </p:txBody>
      </p:sp>
      <p:sp>
        <p:nvSpPr>
          <p:cNvPr id="4" name="灯片编号占位符 3">
            <a:extLst>
              <a:ext uri="{FF2B5EF4-FFF2-40B4-BE49-F238E27FC236}">
                <a16:creationId xmlns:a16="http://schemas.microsoft.com/office/drawing/2014/main" id="{DEE1CB8D-2E2F-6449-96A5-73DD277EE5AF}"/>
              </a:ext>
            </a:extLst>
          </p:cNvPr>
          <p:cNvSpPr>
            <a:spLocks noGrp="1"/>
          </p:cNvSpPr>
          <p:nvPr>
            <p:ph type="sldNum" sz="quarter" idx="12"/>
          </p:nvPr>
        </p:nvSpPr>
        <p:spPr/>
        <p:txBody>
          <a:bodyPr/>
          <a:lstStyle/>
          <a:p>
            <a:fld id="{4D1FD872-5D71-BD4B-86C8-57CDF6D45626}" type="slidenum">
              <a:rPr kumimoji="1" lang="zh-CN" altLang="en-US" smtClean="0"/>
              <a:t>10</a:t>
            </a:fld>
            <a:endParaRPr kumimoji="1" lang="zh-CN" altLang="en-US"/>
          </a:p>
        </p:txBody>
      </p:sp>
      <p:pic>
        <p:nvPicPr>
          <p:cNvPr id="5" name="图像" descr="图像">
            <a:extLst>
              <a:ext uri="{FF2B5EF4-FFF2-40B4-BE49-F238E27FC236}">
                <a16:creationId xmlns:a16="http://schemas.microsoft.com/office/drawing/2014/main" id="{F4575295-B9BE-6D49-82F8-476891475EAE}"/>
              </a:ext>
            </a:extLst>
          </p:cNvPr>
          <p:cNvPicPr>
            <a:picLocks noChangeAspect="1"/>
          </p:cNvPicPr>
          <p:nvPr/>
        </p:nvPicPr>
        <p:blipFill>
          <a:blip r:embed="rId2"/>
          <a:stretch>
            <a:fillRect/>
          </a:stretch>
        </p:blipFill>
        <p:spPr>
          <a:xfrm>
            <a:off x="2229278" y="2227181"/>
            <a:ext cx="3457290" cy="4453627"/>
          </a:xfrm>
          <a:prstGeom prst="rect">
            <a:avLst/>
          </a:prstGeom>
          <a:ln w="12700">
            <a:miter lim="400000"/>
          </a:ln>
        </p:spPr>
      </p:pic>
      <p:sp>
        <p:nvSpPr>
          <p:cNvPr id="7" name="敏捷宣言；简单、反馈、沟通、勇气、尊重……">
            <a:extLst>
              <a:ext uri="{FF2B5EF4-FFF2-40B4-BE49-F238E27FC236}">
                <a16:creationId xmlns:a16="http://schemas.microsoft.com/office/drawing/2014/main" id="{67CAB63E-4D72-3B48-95D5-41DD2A3BD47C}"/>
              </a:ext>
            </a:extLst>
          </p:cNvPr>
          <p:cNvSpPr txBox="1"/>
          <p:nvPr/>
        </p:nvSpPr>
        <p:spPr>
          <a:xfrm>
            <a:off x="5065455" y="2525311"/>
            <a:ext cx="5488682" cy="410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2000"/>
            </a:lvl1pPr>
          </a:lstStyle>
          <a:p>
            <a:r>
              <a:rPr dirty="0" err="1"/>
              <a:t>敏捷宣言；简单、反馈、沟通、勇气、尊重</a:t>
            </a:r>
            <a:r>
              <a:rPr dirty="0"/>
              <a:t>……</a:t>
            </a:r>
          </a:p>
        </p:txBody>
      </p:sp>
      <p:sp>
        <p:nvSpPr>
          <p:cNvPr id="8" name="Extreme Programming, Scrum, Kanban….…">
            <a:extLst>
              <a:ext uri="{FF2B5EF4-FFF2-40B4-BE49-F238E27FC236}">
                <a16:creationId xmlns:a16="http://schemas.microsoft.com/office/drawing/2014/main" id="{0249FC9A-C9DD-A24E-960D-2FB8A480ECCC}"/>
              </a:ext>
            </a:extLst>
          </p:cNvPr>
          <p:cNvSpPr txBox="1"/>
          <p:nvPr/>
        </p:nvSpPr>
        <p:spPr>
          <a:xfrm>
            <a:off x="5476352" y="4272538"/>
            <a:ext cx="4741683" cy="410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2000"/>
            </a:lvl1pPr>
          </a:lstStyle>
          <a:p>
            <a:r>
              <a:rPr dirty="0"/>
              <a:t>Extreme Programming, Scrum, Kanban….…</a:t>
            </a:r>
          </a:p>
        </p:txBody>
      </p:sp>
      <p:sp>
        <p:nvSpPr>
          <p:cNvPr id="9" name="TDD, CI, Pair Programing, Refactoring ….…">
            <a:extLst>
              <a:ext uri="{FF2B5EF4-FFF2-40B4-BE49-F238E27FC236}">
                <a16:creationId xmlns:a16="http://schemas.microsoft.com/office/drawing/2014/main" id="{C60034CD-E6BA-7043-94B6-183E4F09FFA1}"/>
              </a:ext>
            </a:extLst>
          </p:cNvPr>
          <p:cNvSpPr txBox="1"/>
          <p:nvPr/>
        </p:nvSpPr>
        <p:spPr>
          <a:xfrm>
            <a:off x="5513941" y="5123801"/>
            <a:ext cx="4807406" cy="410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2000"/>
            </a:lvl1pPr>
          </a:lstStyle>
          <a:p>
            <a:r>
              <a:rPr dirty="0"/>
              <a:t>TDD, CI, Pair Programing, Refactoring ….…</a:t>
            </a:r>
          </a:p>
        </p:txBody>
      </p:sp>
      <p:sp>
        <p:nvSpPr>
          <p:cNvPr id="10" name="Taskboard, Bug Tracker, Unit test tool ….…">
            <a:extLst>
              <a:ext uri="{FF2B5EF4-FFF2-40B4-BE49-F238E27FC236}">
                <a16:creationId xmlns:a16="http://schemas.microsoft.com/office/drawing/2014/main" id="{3F6A18EC-CBFE-8C42-84D4-35BC59BC4510}"/>
              </a:ext>
            </a:extLst>
          </p:cNvPr>
          <p:cNvSpPr txBox="1"/>
          <p:nvPr/>
        </p:nvSpPr>
        <p:spPr>
          <a:xfrm>
            <a:off x="5565121" y="5947969"/>
            <a:ext cx="4664610" cy="410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2000"/>
            </a:lvl1pPr>
          </a:lstStyle>
          <a:p>
            <a:r>
              <a:t>Taskboard, Bug Tracker, Unit test tool ….…</a:t>
            </a:r>
          </a:p>
        </p:txBody>
      </p:sp>
      <p:sp>
        <p:nvSpPr>
          <p:cNvPr id="11" name="对软件开发本质和软件产业本质的认识">
            <a:extLst>
              <a:ext uri="{FF2B5EF4-FFF2-40B4-BE49-F238E27FC236}">
                <a16:creationId xmlns:a16="http://schemas.microsoft.com/office/drawing/2014/main" id="{45BD2E3C-3A35-F64A-A16C-AE6B70C9B429}"/>
              </a:ext>
            </a:extLst>
          </p:cNvPr>
          <p:cNvSpPr txBox="1"/>
          <p:nvPr/>
        </p:nvSpPr>
        <p:spPr>
          <a:xfrm>
            <a:off x="5065458" y="2092988"/>
            <a:ext cx="4898777" cy="4411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2200"/>
            </a:lvl1pPr>
          </a:lstStyle>
          <a:p>
            <a:r>
              <a:rPr dirty="0" err="1"/>
              <a:t>对软件开发本质和软件产业本质的认识</a:t>
            </a:r>
            <a:endParaRPr dirty="0"/>
          </a:p>
        </p:txBody>
      </p:sp>
      <p:sp>
        <p:nvSpPr>
          <p:cNvPr id="12" name="快速反馈、及早交付有价值的软件使客户满意、以简洁为本......">
            <a:extLst>
              <a:ext uri="{FF2B5EF4-FFF2-40B4-BE49-F238E27FC236}">
                <a16:creationId xmlns:a16="http://schemas.microsoft.com/office/drawing/2014/main" id="{0BE81581-D549-A44B-8BC2-444D0246949F}"/>
              </a:ext>
            </a:extLst>
          </p:cNvPr>
          <p:cNvSpPr txBox="1"/>
          <p:nvPr/>
        </p:nvSpPr>
        <p:spPr>
          <a:xfrm>
            <a:off x="5257802" y="3233810"/>
            <a:ext cx="5348081" cy="7181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lvl1pPr>
              <a:defRPr sz="2000"/>
            </a:lvl1pPr>
          </a:lstStyle>
          <a:p>
            <a:r>
              <a:rPr dirty="0" err="1"/>
              <a:t>快速反馈、及早交付有价值的软件使客户满意、以简洁为本</a:t>
            </a:r>
            <a:r>
              <a:rPr dirty="0"/>
              <a:t>......</a:t>
            </a:r>
          </a:p>
        </p:txBody>
      </p:sp>
    </p:spTree>
    <p:extLst>
      <p:ext uri="{BB962C8B-B14F-4D97-AF65-F5344CB8AC3E}">
        <p14:creationId xmlns:p14="http://schemas.microsoft.com/office/powerpoint/2010/main" val="28041506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C0E82E-3A17-6E45-9069-69A0F1F40005}"/>
              </a:ext>
            </a:extLst>
          </p:cNvPr>
          <p:cNvSpPr>
            <a:spLocks noGrp="1"/>
          </p:cNvSpPr>
          <p:nvPr>
            <p:ph type="title"/>
          </p:nvPr>
        </p:nvSpPr>
        <p:spPr/>
        <p:txBody>
          <a:bodyPr/>
          <a:lstStyle/>
          <a:p>
            <a:r>
              <a:rPr kumimoji="1" lang="zh-CN" altLang="en-US" dirty="0"/>
              <a:t>如何做到敏捷</a:t>
            </a:r>
          </a:p>
        </p:txBody>
      </p:sp>
      <p:sp>
        <p:nvSpPr>
          <p:cNvPr id="3" name="内容占位符 2">
            <a:extLst>
              <a:ext uri="{FF2B5EF4-FFF2-40B4-BE49-F238E27FC236}">
                <a16:creationId xmlns:a16="http://schemas.microsoft.com/office/drawing/2014/main" id="{CF8B7845-9F41-4B4D-95FF-54FB68B6FC5C}"/>
              </a:ext>
            </a:extLst>
          </p:cNvPr>
          <p:cNvSpPr>
            <a:spLocks noGrp="1"/>
          </p:cNvSpPr>
          <p:nvPr>
            <p:ph idx="1"/>
          </p:nvPr>
        </p:nvSpPr>
        <p:spPr/>
        <p:txBody>
          <a:bodyPr>
            <a:normAutofit/>
          </a:bodyPr>
          <a:lstStyle/>
          <a:p>
            <a:r>
              <a:rPr kumimoji="1" lang="zh-CN" altLang="en-US" dirty="0"/>
              <a:t>敏捷并不仅仅是一种可以遵循的具体过程。</a:t>
            </a:r>
          </a:p>
          <a:p>
            <a:r>
              <a:rPr kumimoji="1" lang="zh-CN" altLang="en-US" dirty="0"/>
              <a:t>一种软件开发哲学、一组实践、一套互补的原则和一个社区。（</a:t>
            </a:r>
            <a:r>
              <a:rPr kumimoji="1" lang="en-US" altLang="zh-CN" dirty="0"/>
              <a:t>Kent Beck</a:t>
            </a:r>
            <a:r>
              <a:rPr kumimoji="1" lang="zh-CN" altLang="en-US" dirty="0"/>
              <a:t>描述</a:t>
            </a:r>
            <a:r>
              <a:rPr kumimoji="1" lang="en-US" altLang="zh-CN" dirty="0"/>
              <a:t>XP</a:t>
            </a:r>
            <a:r>
              <a:rPr kumimoji="1" lang="zh-CN" altLang="en-US" dirty="0"/>
              <a:t>）</a:t>
            </a:r>
          </a:p>
          <a:p>
            <a:r>
              <a:rPr kumimoji="1" lang="zh-CN" altLang="en-US" dirty="0"/>
              <a:t>敏捷软件开发是一种思考软件开发的方式：敏捷宣言和敏捷原则</a:t>
            </a:r>
          </a:p>
        </p:txBody>
      </p:sp>
      <p:sp>
        <p:nvSpPr>
          <p:cNvPr id="4" name="灯片编号占位符 3">
            <a:extLst>
              <a:ext uri="{FF2B5EF4-FFF2-40B4-BE49-F238E27FC236}">
                <a16:creationId xmlns:a16="http://schemas.microsoft.com/office/drawing/2014/main" id="{29CD2567-01F0-EF4B-8498-E3143DBB0F23}"/>
              </a:ext>
            </a:extLst>
          </p:cNvPr>
          <p:cNvSpPr>
            <a:spLocks noGrp="1"/>
          </p:cNvSpPr>
          <p:nvPr>
            <p:ph type="sldNum" sz="quarter" idx="12"/>
          </p:nvPr>
        </p:nvSpPr>
        <p:spPr/>
        <p:txBody>
          <a:bodyPr/>
          <a:lstStyle/>
          <a:p>
            <a:fld id="{4D1FD872-5D71-BD4B-86C8-57CDF6D45626}" type="slidenum">
              <a:rPr kumimoji="1" lang="zh-CN" altLang="en-US" smtClean="0"/>
              <a:t>11</a:t>
            </a:fld>
            <a:endParaRPr kumimoji="1" lang="zh-CN" altLang="en-US"/>
          </a:p>
        </p:txBody>
      </p:sp>
    </p:spTree>
    <p:extLst>
      <p:ext uri="{BB962C8B-B14F-4D97-AF65-F5344CB8AC3E}">
        <p14:creationId xmlns:p14="http://schemas.microsoft.com/office/powerpoint/2010/main" val="6149322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38A6A0-021C-BD4F-AD39-BA8024422865}"/>
              </a:ext>
            </a:extLst>
          </p:cNvPr>
          <p:cNvSpPr>
            <a:spLocks noGrp="1"/>
          </p:cNvSpPr>
          <p:nvPr>
            <p:ph type="title"/>
          </p:nvPr>
        </p:nvSpPr>
        <p:spPr>
          <a:xfrm>
            <a:off x="2152650" y="2381000"/>
            <a:ext cx="7886700" cy="1325563"/>
          </a:xfrm>
        </p:spPr>
        <p:txBody>
          <a:bodyPr/>
          <a:lstStyle/>
          <a:p>
            <a:pPr algn="ctr"/>
            <a:r>
              <a:rPr kumimoji="1" lang="zh-CN" altLang="en-US" dirty="0"/>
              <a:t>价值观、原则和实践</a:t>
            </a:r>
          </a:p>
        </p:txBody>
      </p:sp>
      <p:sp>
        <p:nvSpPr>
          <p:cNvPr id="4" name="灯片编号占位符 3">
            <a:extLst>
              <a:ext uri="{FF2B5EF4-FFF2-40B4-BE49-F238E27FC236}">
                <a16:creationId xmlns:a16="http://schemas.microsoft.com/office/drawing/2014/main" id="{A3F7F9B5-1526-F34C-A38D-F51685064F9A}"/>
              </a:ext>
            </a:extLst>
          </p:cNvPr>
          <p:cNvSpPr>
            <a:spLocks noGrp="1"/>
          </p:cNvSpPr>
          <p:nvPr>
            <p:ph type="sldNum" sz="quarter" idx="12"/>
          </p:nvPr>
        </p:nvSpPr>
        <p:spPr/>
        <p:txBody>
          <a:bodyPr/>
          <a:lstStyle/>
          <a:p>
            <a:fld id="{4D1FD872-5D71-BD4B-86C8-57CDF6D45626}" type="slidenum">
              <a:rPr kumimoji="1" lang="zh-CN" altLang="en-US" smtClean="0"/>
              <a:t>12</a:t>
            </a:fld>
            <a:endParaRPr kumimoji="1" lang="zh-CN" altLang="en-US"/>
          </a:p>
        </p:txBody>
      </p:sp>
      <p:sp>
        <p:nvSpPr>
          <p:cNvPr id="5" name="矩形 4">
            <a:extLst>
              <a:ext uri="{FF2B5EF4-FFF2-40B4-BE49-F238E27FC236}">
                <a16:creationId xmlns:a16="http://schemas.microsoft.com/office/drawing/2014/main" id="{5B308C93-B49D-F34C-80EC-8984A0C56AA1}"/>
              </a:ext>
            </a:extLst>
          </p:cNvPr>
          <p:cNvSpPr/>
          <p:nvPr/>
        </p:nvSpPr>
        <p:spPr>
          <a:xfrm>
            <a:off x="3810000" y="4184008"/>
            <a:ext cx="4572000" cy="369332"/>
          </a:xfrm>
          <a:prstGeom prst="rect">
            <a:avLst/>
          </a:prstGeom>
        </p:spPr>
        <p:txBody>
          <a:bodyPr>
            <a:spAutoFit/>
          </a:bodyPr>
          <a:lstStyle/>
          <a:p>
            <a:pPr algn="ctr"/>
            <a:r>
              <a:rPr lang="zh-CN" altLang="en-US" dirty="0"/>
              <a:t>如何学习敏捷软件开发</a:t>
            </a:r>
          </a:p>
        </p:txBody>
      </p:sp>
    </p:spTree>
    <p:extLst>
      <p:ext uri="{BB962C8B-B14F-4D97-AF65-F5344CB8AC3E}">
        <p14:creationId xmlns:p14="http://schemas.microsoft.com/office/powerpoint/2010/main" val="2883238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5AE978-E866-2145-8185-C88DD82B9104}"/>
              </a:ext>
            </a:extLst>
          </p:cNvPr>
          <p:cNvSpPr>
            <a:spLocks noGrp="1"/>
          </p:cNvSpPr>
          <p:nvPr>
            <p:ph type="title"/>
          </p:nvPr>
        </p:nvSpPr>
        <p:spPr/>
        <p:txBody>
          <a:bodyPr/>
          <a:lstStyle/>
          <a:p>
            <a:r>
              <a:rPr kumimoji="1" lang="zh-CN" altLang="en-US" dirty="0"/>
              <a:t>园艺师例子</a:t>
            </a:r>
          </a:p>
        </p:txBody>
      </p:sp>
      <p:sp>
        <p:nvSpPr>
          <p:cNvPr id="3" name="内容占位符 2">
            <a:extLst>
              <a:ext uri="{FF2B5EF4-FFF2-40B4-BE49-F238E27FC236}">
                <a16:creationId xmlns:a16="http://schemas.microsoft.com/office/drawing/2014/main" id="{DFA2203B-06FD-3043-890C-956697CE3EA2}"/>
              </a:ext>
            </a:extLst>
          </p:cNvPr>
          <p:cNvSpPr>
            <a:spLocks noGrp="1"/>
          </p:cNvSpPr>
          <p:nvPr>
            <p:ph idx="1"/>
          </p:nvPr>
        </p:nvSpPr>
        <p:spPr/>
        <p:txBody>
          <a:bodyPr/>
          <a:lstStyle/>
          <a:p>
            <a:r>
              <a:rPr kumimoji="1" lang="zh-CN" altLang="en-US" dirty="0"/>
              <a:t>一个朋友</a:t>
            </a:r>
            <a:r>
              <a:rPr kumimoji="1" lang="en-US" altLang="zh-CN" dirty="0"/>
              <a:t>A</a:t>
            </a:r>
            <a:r>
              <a:rPr kumimoji="1" lang="zh-CN" altLang="en-US" dirty="0"/>
              <a:t>是杰出的园艺师。</a:t>
            </a:r>
          </a:p>
          <a:p>
            <a:endParaRPr kumimoji="1" lang="zh-CN" altLang="en-US" dirty="0"/>
          </a:p>
          <a:p>
            <a:r>
              <a:rPr kumimoji="1" lang="zh-CN" altLang="en-US" dirty="0"/>
              <a:t>我会掘土、种植、灌溉和除草，但我不是一个好的园艺师。</a:t>
            </a:r>
          </a:p>
          <a:p>
            <a:endParaRPr kumimoji="1" lang="zh-CN" altLang="en-US" dirty="0"/>
          </a:p>
          <a:p>
            <a:endParaRPr kumimoji="1" lang="zh-CN" altLang="en-US" dirty="0"/>
          </a:p>
        </p:txBody>
      </p:sp>
      <p:sp>
        <p:nvSpPr>
          <p:cNvPr id="4" name="灯片编号占位符 3">
            <a:extLst>
              <a:ext uri="{FF2B5EF4-FFF2-40B4-BE49-F238E27FC236}">
                <a16:creationId xmlns:a16="http://schemas.microsoft.com/office/drawing/2014/main" id="{476B91E9-74EB-AF42-AC4C-8552EEFDF8A9}"/>
              </a:ext>
            </a:extLst>
          </p:cNvPr>
          <p:cNvSpPr>
            <a:spLocks noGrp="1"/>
          </p:cNvSpPr>
          <p:nvPr>
            <p:ph type="sldNum" sz="quarter" idx="12"/>
          </p:nvPr>
        </p:nvSpPr>
        <p:spPr/>
        <p:txBody>
          <a:bodyPr/>
          <a:lstStyle/>
          <a:p>
            <a:fld id="{4D1FD872-5D71-BD4B-86C8-57CDF6D45626}" type="slidenum">
              <a:rPr kumimoji="1" lang="zh-CN" altLang="en-US" smtClean="0"/>
              <a:t>13</a:t>
            </a:fld>
            <a:endParaRPr kumimoji="1" lang="zh-CN" altLang="en-US"/>
          </a:p>
        </p:txBody>
      </p:sp>
    </p:spTree>
    <p:extLst>
      <p:ext uri="{BB962C8B-B14F-4D97-AF65-F5344CB8AC3E}">
        <p14:creationId xmlns:p14="http://schemas.microsoft.com/office/powerpoint/2010/main" val="32724025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884517-1710-FC4A-8E1D-217251B20269}"/>
              </a:ext>
            </a:extLst>
          </p:cNvPr>
          <p:cNvSpPr>
            <a:spLocks noGrp="1"/>
          </p:cNvSpPr>
          <p:nvPr>
            <p:ph type="title"/>
          </p:nvPr>
        </p:nvSpPr>
        <p:spPr/>
        <p:txBody>
          <a:bodyPr/>
          <a:lstStyle/>
          <a:p>
            <a:r>
              <a:rPr kumimoji="1" lang="zh-CN" altLang="en-US" dirty="0"/>
              <a:t>差异？</a:t>
            </a:r>
          </a:p>
        </p:txBody>
      </p:sp>
      <p:sp>
        <p:nvSpPr>
          <p:cNvPr id="3" name="内容占位符 2">
            <a:extLst>
              <a:ext uri="{FF2B5EF4-FFF2-40B4-BE49-F238E27FC236}">
                <a16:creationId xmlns:a16="http://schemas.microsoft.com/office/drawing/2014/main" id="{753BFECF-7C45-FD41-9640-10D2998004BF}"/>
              </a:ext>
            </a:extLst>
          </p:cNvPr>
          <p:cNvSpPr>
            <a:spLocks noGrp="1"/>
          </p:cNvSpPr>
          <p:nvPr>
            <p:ph idx="1"/>
          </p:nvPr>
        </p:nvSpPr>
        <p:spPr/>
        <p:txBody>
          <a:bodyPr>
            <a:normAutofit/>
          </a:bodyPr>
          <a:lstStyle/>
          <a:p>
            <a:r>
              <a:rPr kumimoji="1" lang="en-US" altLang="zh-CN" dirty="0"/>
              <a:t>A</a:t>
            </a:r>
            <a:r>
              <a:rPr kumimoji="1" lang="zh-CN" altLang="en-US" dirty="0"/>
              <a:t>知道的技术比我多，并且我们共同知道的技术他比我更擅长。</a:t>
            </a:r>
          </a:p>
          <a:p>
            <a:r>
              <a:rPr kumimoji="1" lang="zh-CN" altLang="en-US" dirty="0"/>
              <a:t>技术是重要的，如果不掘土、种植，你就不是在做园艺。</a:t>
            </a:r>
          </a:p>
          <a:p>
            <a:r>
              <a:rPr kumimoji="1" lang="zh-CN" altLang="en-US" dirty="0"/>
              <a:t>实践。是你天天做的事情。</a:t>
            </a:r>
          </a:p>
          <a:p>
            <a:r>
              <a:rPr kumimoji="1" lang="zh-CN" altLang="en-US" dirty="0"/>
              <a:t>对实践进行详细描述是有用的，它们是明确和客观的。比如在编码前写测试代码，即使你不懂为什么，这种实践仍然是有价值的。</a:t>
            </a:r>
          </a:p>
          <a:p>
            <a:endParaRPr kumimoji="1" lang="zh-CN" altLang="en-US" dirty="0"/>
          </a:p>
          <a:p>
            <a:endParaRPr kumimoji="1" lang="zh-CN" altLang="en-US" dirty="0"/>
          </a:p>
        </p:txBody>
      </p:sp>
      <p:sp>
        <p:nvSpPr>
          <p:cNvPr id="4" name="灯片编号占位符 3">
            <a:extLst>
              <a:ext uri="{FF2B5EF4-FFF2-40B4-BE49-F238E27FC236}">
                <a16:creationId xmlns:a16="http://schemas.microsoft.com/office/drawing/2014/main" id="{A7A614F8-5629-EF46-88A2-8C646060CE8C}"/>
              </a:ext>
            </a:extLst>
          </p:cNvPr>
          <p:cNvSpPr>
            <a:spLocks noGrp="1"/>
          </p:cNvSpPr>
          <p:nvPr>
            <p:ph type="sldNum" sz="quarter" idx="12"/>
          </p:nvPr>
        </p:nvSpPr>
        <p:spPr/>
        <p:txBody>
          <a:bodyPr/>
          <a:lstStyle/>
          <a:p>
            <a:fld id="{4D1FD872-5D71-BD4B-86C8-57CDF6D45626}" type="slidenum">
              <a:rPr kumimoji="1" lang="zh-CN" altLang="en-US" smtClean="0"/>
              <a:t>14</a:t>
            </a:fld>
            <a:endParaRPr kumimoji="1" lang="zh-CN" altLang="en-US"/>
          </a:p>
        </p:txBody>
      </p:sp>
    </p:spTree>
    <p:extLst>
      <p:ext uri="{BB962C8B-B14F-4D97-AF65-F5344CB8AC3E}">
        <p14:creationId xmlns:p14="http://schemas.microsoft.com/office/powerpoint/2010/main" val="22625293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BB29FD-A3EF-9A4B-95E3-524C65A9390A}"/>
              </a:ext>
            </a:extLst>
          </p:cNvPr>
          <p:cNvSpPr>
            <a:spLocks noGrp="1"/>
          </p:cNvSpPr>
          <p:nvPr>
            <p:ph type="title"/>
          </p:nvPr>
        </p:nvSpPr>
        <p:spPr/>
        <p:txBody>
          <a:bodyPr/>
          <a:lstStyle/>
          <a:p>
            <a:r>
              <a:rPr kumimoji="1" lang="zh-CN" altLang="en-US" dirty="0"/>
              <a:t>只懂实践？</a:t>
            </a:r>
          </a:p>
        </p:txBody>
      </p:sp>
      <p:sp>
        <p:nvSpPr>
          <p:cNvPr id="3" name="内容占位符 2">
            <a:extLst>
              <a:ext uri="{FF2B5EF4-FFF2-40B4-BE49-F238E27FC236}">
                <a16:creationId xmlns:a16="http://schemas.microsoft.com/office/drawing/2014/main" id="{464D26CA-BEDF-6F43-9BEF-B6FBE48E470E}"/>
              </a:ext>
            </a:extLst>
          </p:cNvPr>
          <p:cNvSpPr>
            <a:spLocks noGrp="1"/>
          </p:cNvSpPr>
          <p:nvPr>
            <p:ph idx="1"/>
          </p:nvPr>
        </p:nvSpPr>
        <p:spPr/>
        <p:txBody>
          <a:bodyPr>
            <a:normAutofit fontScale="92500"/>
          </a:bodyPr>
          <a:lstStyle/>
          <a:p>
            <a:r>
              <a:rPr kumimoji="1" lang="zh-CN" altLang="en-US" dirty="0"/>
              <a:t>即使我懂了</a:t>
            </a:r>
            <a:r>
              <a:rPr kumimoji="1" lang="en-US" altLang="zh-CN" dirty="0"/>
              <a:t>A</a:t>
            </a:r>
            <a:r>
              <a:rPr kumimoji="1" lang="zh-CN" altLang="en-US" dirty="0"/>
              <a:t>所知晓的所有园艺技术，我还不能被称为一个园艺师。</a:t>
            </a:r>
          </a:p>
          <a:p>
            <a:endParaRPr kumimoji="1" lang="zh-CN" altLang="en-US" dirty="0"/>
          </a:p>
          <a:p>
            <a:r>
              <a:rPr kumimoji="1" lang="zh-CN" altLang="en-US" dirty="0"/>
              <a:t>园艺方面什么是好的，什么是坏的，</a:t>
            </a:r>
            <a:r>
              <a:rPr kumimoji="1" lang="en-US" altLang="zh-CN" dirty="0"/>
              <a:t>A</a:t>
            </a:r>
            <a:r>
              <a:rPr kumimoji="1" lang="zh-CN" altLang="en-US" dirty="0"/>
              <a:t>有高度发达的判断力。</a:t>
            </a:r>
          </a:p>
          <a:p>
            <a:endParaRPr kumimoji="1" lang="zh-CN" altLang="en-US" dirty="0"/>
          </a:p>
          <a:p>
            <a:r>
              <a:rPr kumimoji="1" lang="zh-CN" altLang="en-US" dirty="0"/>
              <a:t>我可能自豪于正确剪枝的能力，</a:t>
            </a:r>
            <a:r>
              <a:rPr kumimoji="1" lang="en-US" altLang="zh-CN"/>
              <a:t>A</a:t>
            </a:r>
            <a:r>
              <a:rPr kumimoji="1" lang="zh-CN" altLang="en-US"/>
              <a:t>却</a:t>
            </a:r>
            <a:r>
              <a:rPr kumimoji="1" lang="zh-CN" altLang="en-US" dirty="0"/>
              <a:t>可能认识到整棵树都应该除掉。</a:t>
            </a:r>
          </a:p>
          <a:p>
            <a:endParaRPr kumimoji="1" lang="zh-CN" altLang="en-US" dirty="0"/>
          </a:p>
          <a:p>
            <a:r>
              <a:rPr kumimoji="1" lang="en-US" altLang="zh-CN" dirty="0"/>
              <a:t>A</a:t>
            </a:r>
            <a:r>
              <a:rPr kumimoji="1" lang="zh-CN" altLang="en-US" dirty="0"/>
              <a:t>对花园中有用的东西有个整体的概念，而我没有。</a:t>
            </a:r>
          </a:p>
          <a:p>
            <a:endParaRPr kumimoji="1" lang="zh-CN" altLang="en-US" dirty="0"/>
          </a:p>
          <a:p>
            <a:endParaRPr kumimoji="1" lang="zh-CN" altLang="en-US" dirty="0"/>
          </a:p>
        </p:txBody>
      </p:sp>
      <p:sp>
        <p:nvSpPr>
          <p:cNvPr id="4" name="灯片编号占位符 3">
            <a:extLst>
              <a:ext uri="{FF2B5EF4-FFF2-40B4-BE49-F238E27FC236}">
                <a16:creationId xmlns:a16="http://schemas.microsoft.com/office/drawing/2014/main" id="{E40492E3-3BA0-7D45-B966-B45EC815E49B}"/>
              </a:ext>
            </a:extLst>
          </p:cNvPr>
          <p:cNvSpPr>
            <a:spLocks noGrp="1"/>
          </p:cNvSpPr>
          <p:nvPr>
            <p:ph type="sldNum" sz="quarter" idx="12"/>
          </p:nvPr>
        </p:nvSpPr>
        <p:spPr/>
        <p:txBody>
          <a:bodyPr/>
          <a:lstStyle/>
          <a:p>
            <a:fld id="{4D1FD872-5D71-BD4B-86C8-57CDF6D45626}" type="slidenum">
              <a:rPr kumimoji="1" lang="zh-CN" altLang="en-US" smtClean="0"/>
              <a:t>15</a:t>
            </a:fld>
            <a:endParaRPr kumimoji="1" lang="zh-CN" altLang="en-US"/>
          </a:p>
        </p:txBody>
      </p:sp>
    </p:spTree>
    <p:extLst>
      <p:ext uri="{BB962C8B-B14F-4D97-AF65-F5344CB8AC3E}">
        <p14:creationId xmlns:p14="http://schemas.microsoft.com/office/powerpoint/2010/main" val="40305617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59A2BB-AB9E-214A-A9D9-4B91BD3086A9}"/>
              </a:ext>
            </a:extLst>
          </p:cNvPr>
          <p:cNvSpPr>
            <a:spLocks noGrp="1"/>
          </p:cNvSpPr>
          <p:nvPr>
            <p:ph type="title"/>
          </p:nvPr>
        </p:nvSpPr>
        <p:spPr/>
        <p:txBody>
          <a:bodyPr/>
          <a:lstStyle/>
          <a:p>
            <a:r>
              <a:rPr kumimoji="1" lang="zh-CN" altLang="en-US" dirty="0"/>
              <a:t>价值观</a:t>
            </a:r>
          </a:p>
        </p:txBody>
      </p:sp>
      <p:sp>
        <p:nvSpPr>
          <p:cNvPr id="3" name="内容占位符 2">
            <a:extLst>
              <a:ext uri="{FF2B5EF4-FFF2-40B4-BE49-F238E27FC236}">
                <a16:creationId xmlns:a16="http://schemas.microsoft.com/office/drawing/2014/main" id="{28FE5998-9434-A740-A799-773708D6A8BE}"/>
              </a:ext>
            </a:extLst>
          </p:cNvPr>
          <p:cNvSpPr>
            <a:spLocks noGrp="1"/>
          </p:cNvSpPr>
          <p:nvPr>
            <p:ph idx="1"/>
          </p:nvPr>
        </p:nvSpPr>
        <p:spPr/>
        <p:txBody>
          <a:bodyPr/>
          <a:lstStyle/>
          <a:p>
            <a:r>
              <a:rPr kumimoji="1" lang="zh-CN" altLang="en-US" dirty="0"/>
              <a:t>价值观是知识和理解的另外一个层次，价值观是在某种处境中我们喜欢或不喜欢某事情的根源。</a:t>
            </a:r>
          </a:p>
          <a:p>
            <a:endParaRPr kumimoji="1" lang="zh-CN" altLang="en-US" dirty="0"/>
          </a:p>
          <a:p>
            <a:r>
              <a:rPr kumimoji="1" lang="zh-CN" altLang="en-US" dirty="0"/>
              <a:t>沟通</a:t>
            </a:r>
            <a:r>
              <a:rPr kumimoji="1" lang="en-US" altLang="zh-CN" dirty="0"/>
              <a:t>,</a:t>
            </a:r>
            <a:r>
              <a:rPr kumimoji="1" lang="zh-CN" altLang="en-US" dirty="0"/>
              <a:t>简单</a:t>
            </a:r>
            <a:r>
              <a:rPr kumimoji="1" lang="en-US" altLang="zh-CN" dirty="0"/>
              <a:t>,</a:t>
            </a:r>
            <a:r>
              <a:rPr kumimoji="1" lang="zh-CN" altLang="en-US" dirty="0"/>
              <a:t>反馈</a:t>
            </a:r>
            <a:r>
              <a:rPr kumimoji="1" lang="en-US" altLang="zh-CN" dirty="0"/>
              <a:t>,</a:t>
            </a:r>
            <a:r>
              <a:rPr kumimoji="1" lang="zh-CN" altLang="en-US" dirty="0"/>
              <a:t>勇气</a:t>
            </a:r>
            <a:r>
              <a:rPr kumimoji="1" lang="en-US" altLang="zh-CN" dirty="0"/>
              <a:t>,</a:t>
            </a:r>
            <a:r>
              <a:rPr kumimoji="1" lang="zh-CN" altLang="en-US" dirty="0"/>
              <a:t>尊重（</a:t>
            </a:r>
            <a:r>
              <a:rPr kumimoji="1" lang="en-US" altLang="zh-CN" dirty="0"/>
              <a:t>XP</a:t>
            </a:r>
            <a:r>
              <a:rPr kumimoji="1" lang="zh-CN" altLang="en-US" dirty="0"/>
              <a:t>价值观）</a:t>
            </a:r>
          </a:p>
          <a:p>
            <a:endParaRPr kumimoji="1" lang="zh-CN" altLang="en-US" dirty="0"/>
          </a:p>
        </p:txBody>
      </p:sp>
      <p:sp>
        <p:nvSpPr>
          <p:cNvPr id="4" name="灯片编号占位符 3">
            <a:extLst>
              <a:ext uri="{FF2B5EF4-FFF2-40B4-BE49-F238E27FC236}">
                <a16:creationId xmlns:a16="http://schemas.microsoft.com/office/drawing/2014/main" id="{D3F51DFC-2B26-E046-B54F-72E5CA1539D7}"/>
              </a:ext>
            </a:extLst>
          </p:cNvPr>
          <p:cNvSpPr>
            <a:spLocks noGrp="1"/>
          </p:cNvSpPr>
          <p:nvPr>
            <p:ph type="sldNum" sz="quarter" idx="12"/>
          </p:nvPr>
        </p:nvSpPr>
        <p:spPr/>
        <p:txBody>
          <a:bodyPr/>
          <a:lstStyle/>
          <a:p>
            <a:fld id="{4D1FD872-5D71-BD4B-86C8-57CDF6D45626}" type="slidenum">
              <a:rPr kumimoji="1" lang="zh-CN" altLang="en-US" smtClean="0"/>
              <a:t>16</a:t>
            </a:fld>
            <a:endParaRPr kumimoji="1" lang="zh-CN" altLang="en-US"/>
          </a:p>
        </p:txBody>
      </p:sp>
    </p:spTree>
    <p:extLst>
      <p:ext uri="{BB962C8B-B14F-4D97-AF65-F5344CB8AC3E}">
        <p14:creationId xmlns:p14="http://schemas.microsoft.com/office/powerpoint/2010/main" val="26233061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AA72A1-F253-D248-A589-EF74A8DCD739}"/>
              </a:ext>
            </a:extLst>
          </p:cNvPr>
          <p:cNvSpPr>
            <a:spLocks noGrp="1"/>
          </p:cNvSpPr>
          <p:nvPr>
            <p:ph type="title"/>
          </p:nvPr>
        </p:nvSpPr>
        <p:spPr/>
        <p:txBody>
          <a:bodyPr/>
          <a:lstStyle/>
          <a:p>
            <a:r>
              <a:rPr kumimoji="1" lang="zh-CN" altLang="en-US" dirty="0"/>
              <a:t>价值观与实践</a:t>
            </a:r>
          </a:p>
        </p:txBody>
      </p:sp>
      <p:sp>
        <p:nvSpPr>
          <p:cNvPr id="3" name="内容占位符 2">
            <a:extLst>
              <a:ext uri="{FF2B5EF4-FFF2-40B4-BE49-F238E27FC236}">
                <a16:creationId xmlns:a16="http://schemas.microsoft.com/office/drawing/2014/main" id="{E28F95B6-1E50-104F-84A7-A23949DF54CB}"/>
              </a:ext>
            </a:extLst>
          </p:cNvPr>
          <p:cNvSpPr>
            <a:spLocks noGrp="1"/>
          </p:cNvSpPr>
          <p:nvPr>
            <p:ph idx="1"/>
          </p:nvPr>
        </p:nvSpPr>
        <p:spPr>
          <a:xfrm>
            <a:off x="2152650" y="1542200"/>
            <a:ext cx="7886700" cy="5315803"/>
          </a:xfrm>
        </p:spPr>
        <p:txBody>
          <a:bodyPr>
            <a:normAutofit fontScale="85000" lnSpcReduction="20000"/>
          </a:bodyPr>
          <a:lstStyle/>
          <a:p>
            <a:r>
              <a:rPr kumimoji="1" lang="zh-CN" altLang="en-US" dirty="0"/>
              <a:t>没有价值观，实践很快会变成生搬硬套，缺乏目的或方向。</a:t>
            </a:r>
          </a:p>
          <a:p>
            <a:r>
              <a:rPr kumimoji="1" lang="zh-CN" altLang="en-US" dirty="0"/>
              <a:t>价值观和实践相结合程序员才能高效的执行实践。</a:t>
            </a:r>
            <a:endParaRPr kumimoji="1" lang="en-US" altLang="zh-CN" dirty="0"/>
          </a:p>
          <a:p>
            <a:r>
              <a:rPr kumimoji="1" lang="zh-CN" altLang="en-US" dirty="0"/>
              <a:t>实践是价值观的表现。</a:t>
            </a:r>
          </a:p>
          <a:p>
            <a:pPr lvl="1"/>
            <a:r>
              <a:rPr kumimoji="1" lang="zh-CN" altLang="en-US" dirty="0"/>
              <a:t>价值观是在一个高层次上的表达，可以以价值观的名义做任何事。</a:t>
            </a:r>
          </a:p>
          <a:p>
            <a:pPr lvl="2"/>
            <a:r>
              <a:rPr kumimoji="1" lang="zh-CN" altLang="en-US" dirty="0"/>
              <a:t>“因为我重视沟通，所以写了这份</a:t>
            </a:r>
            <a:r>
              <a:rPr kumimoji="1" lang="en-US" altLang="zh-CN" dirty="0"/>
              <a:t>1000</a:t>
            </a:r>
            <a:r>
              <a:rPr kumimoji="1" lang="zh-CN" altLang="en-US" dirty="0"/>
              <a:t>页的文档”，也许是这回事，也许不是。如果每天</a:t>
            </a:r>
            <a:r>
              <a:rPr kumimoji="1" lang="en-US" altLang="zh-CN" dirty="0"/>
              <a:t>15</a:t>
            </a:r>
            <a:r>
              <a:rPr kumimoji="1" lang="zh-CN" altLang="en-US" dirty="0"/>
              <a:t>分钟的交谈更有效的话，文档就不能说明我重视沟通。</a:t>
            </a:r>
            <a:endParaRPr kumimoji="1" lang="en-US" altLang="zh-CN" dirty="0"/>
          </a:p>
          <a:p>
            <a:r>
              <a:rPr kumimoji="1" lang="zh-CN" altLang="en-US" dirty="0"/>
              <a:t>实践让价值观清晰可见。</a:t>
            </a:r>
          </a:p>
          <a:p>
            <a:pPr lvl="1"/>
            <a:r>
              <a:rPr kumimoji="1" lang="zh-CN" altLang="en-US" dirty="0"/>
              <a:t>实践是清晰明了的。每个人都知道我是否参加了早上的站立式会议，但我是否重视沟通并不是那么明确和具体的。</a:t>
            </a:r>
          </a:p>
        </p:txBody>
      </p:sp>
      <p:sp>
        <p:nvSpPr>
          <p:cNvPr id="4" name="灯片编号占位符 3">
            <a:extLst>
              <a:ext uri="{FF2B5EF4-FFF2-40B4-BE49-F238E27FC236}">
                <a16:creationId xmlns:a16="http://schemas.microsoft.com/office/drawing/2014/main" id="{05415EB6-E3A2-3248-BAFB-5C2C45AFCAAF}"/>
              </a:ext>
            </a:extLst>
          </p:cNvPr>
          <p:cNvSpPr>
            <a:spLocks noGrp="1"/>
          </p:cNvSpPr>
          <p:nvPr>
            <p:ph type="sldNum" sz="quarter" idx="12"/>
          </p:nvPr>
        </p:nvSpPr>
        <p:spPr/>
        <p:txBody>
          <a:bodyPr/>
          <a:lstStyle/>
          <a:p>
            <a:fld id="{4D1FD872-5D71-BD4B-86C8-57CDF6D45626}" type="slidenum">
              <a:rPr kumimoji="1" lang="zh-CN" altLang="en-US" smtClean="0"/>
              <a:t>17</a:t>
            </a:fld>
            <a:endParaRPr kumimoji="1" lang="zh-CN" altLang="en-US"/>
          </a:p>
        </p:txBody>
      </p:sp>
    </p:spTree>
    <p:extLst>
      <p:ext uri="{BB962C8B-B14F-4D97-AF65-F5344CB8AC3E}">
        <p14:creationId xmlns:p14="http://schemas.microsoft.com/office/powerpoint/2010/main" val="3258898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F617A8-9D6E-D04C-AE35-597B50047778}"/>
              </a:ext>
            </a:extLst>
          </p:cNvPr>
          <p:cNvSpPr>
            <a:spLocks noGrp="1"/>
          </p:cNvSpPr>
          <p:nvPr>
            <p:ph type="title"/>
          </p:nvPr>
        </p:nvSpPr>
        <p:spPr/>
        <p:txBody>
          <a:bodyPr/>
          <a:lstStyle/>
          <a:p>
            <a:r>
              <a:rPr kumimoji="1" lang="zh-CN" altLang="en-US" dirty="0"/>
              <a:t>原则</a:t>
            </a:r>
          </a:p>
        </p:txBody>
      </p:sp>
      <p:sp>
        <p:nvSpPr>
          <p:cNvPr id="3" name="内容占位符 2">
            <a:extLst>
              <a:ext uri="{FF2B5EF4-FFF2-40B4-BE49-F238E27FC236}">
                <a16:creationId xmlns:a16="http://schemas.microsoft.com/office/drawing/2014/main" id="{39BE639C-3ABA-464B-A08B-96674017893E}"/>
              </a:ext>
            </a:extLst>
          </p:cNvPr>
          <p:cNvSpPr>
            <a:spLocks noGrp="1"/>
          </p:cNvSpPr>
          <p:nvPr>
            <p:ph idx="1"/>
          </p:nvPr>
        </p:nvSpPr>
        <p:spPr/>
        <p:txBody>
          <a:bodyPr/>
          <a:lstStyle/>
          <a:p>
            <a:r>
              <a:rPr kumimoji="1" lang="zh-CN" altLang="en-US" dirty="0"/>
              <a:t>在价值观和实践之间架起桥梁的是原则。</a:t>
            </a:r>
          </a:p>
          <a:p>
            <a:endParaRPr kumimoji="1" lang="zh-CN" altLang="en-US" dirty="0"/>
          </a:p>
          <a:p>
            <a:r>
              <a:rPr kumimoji="1" lang="zh-CN" altLang="en-US" dirty="0"/>
              <a:t>原则是生活中具体领域的指导方针。</a:t>
            </a:r>
          </a:p>
          <a:p>
            <a:endParaRPr kumimoji="1" lang="zh-CN" altLang="en-US" dirty="0"/>
          </a:p>
          <a:p>
            <a:endParaRPr kumimoji="1" lang="zh-CN" altLang="en-US" dirty="0"/>
          </a:p>
        </p:txBody>
      </p:sp>
      <p:sp>
        <p:nvSpPr>
          <p:cNvPr id="4" name="灯片编号占位符 3">
            <a:extLst>
              <a:ext uri="{FF2B5EF4-FFF2-40B4-BE49-F238E27FC236}">
                <a16:creationId xmlns:a16="http://schemas.microsoft.com/office/drawing/2014/main" id="{64D6DE89-52AA-9C43-AA5D-BABFC2E7C200}"/>
              </a:ext>
            </a:extLst>
          </p:cNvPr>
          <p:cNvSpPr>
            <a:spLocks noGrp="1"/>
          </p:cNvSpPr>
          <p:nvPr>
            <p:ph type="sldNum" sz="quarter" idx="12"/>
          </p:nvPr>
        </p:nvSpPr>
        <p:spPr/>
        <p:txBody>
          <a:bodyPr/>
          <a:lstStyle/>
          <a:p>
            <a:fld id="{4D1FD872-5D71-BD4B-86C8-57CDF6D45626}" type="slidenum">
              <a:rPr kumimoji="1" lang="zh-CN" altLang="en-US" smtClean="0"/>
              <a:t>18</a:t>
            </a:fld>
            <a:endParaRPr kumimoji="1" lang="zh-CN" altLang="en-US"/>
          </a:p>
        </p:txBody>
      </p:sp>
    </p:spTree>
    <p:extLst>
      <p:ext uri="{BB962C8B-B14F-4D97-AF65-F5344CB8AC3E}">
        <p14:creationId xmlns:p14="http://schemas.microsoft.com/office/powerpoint/2010/main" val="41699501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CF62CF-C9B1-1F41-8C79-A4862DF9E008}"/>
              </a:ext>
            </a:extLst>
          </p:cNvPr>
          <p:cNvSpPr>
            <a:spLocks noGrp="1"/>
          </p:cNvSpPr>
          <p:nvPr>
            <p:ph type="title"/>
          </p:nvPr>
        </p:nvSpPr>
        <p:spPr/>
        <p:txBody>
          <a:bodyPr/>
          <a:lstStyle/>
          <a:p>
            <a:r>
              <a:rPr kumimoji="1" lang="zh-CN" altLang="en-US" dirty="0"/>
              <a:t>敏捷宣言历史</a:t>
            </a:r>
          </a:p>
        </p:txBody>
      </p:sp>
      <p:sp>
        <p:nvSpPr>
          <p:cNvPr id="3" name="内容占位符 2">
            <a:extLst>
              <a:ext uri="{FF2B5EF4-FFF2-40B4-BE49-F238E27FC236}">
                <a16:creationId xmlns:a16="http://schemas.microsoft.com/office/drawing/2014/main" id="{42F4A5CA-1004-054F-A183-C69B1F3E5B17}"/>
              </a:ext>
            </a:extLst>
          </p:cNvPr>
          <p:cNvSpPr>
            <a:spLocks noGrp="1"/>
          </p:cNvSpPr>
          <p:nvPr>
            <p:ph idx="1"/>
          </p:nvPr>
        </p:nvSpPr>
        <p:spPr/>
        <p:txBody>
          <a:bodyPr>
            <a:normAutofit/>
          </a:bodyPr>
          <a:lstStyle/>
          <a:p>
            <a:r>
              <a:rPr kumimoji="1" lang="en-US" altLang="zh-CN" dirty="0"/>
              <a:t>2001</a:t>
            </a:r>
            <a:r>
              <a:rPr kumimoji="1" lang="zh-CN" altLang="en-US" dirty="0"/>
              <a:t>年，</a:t>
            </a:r>
            <a:r>
              <a:rPr kumimoji="1" lang="en-US" altLang="zh-CN" dirty="0"/>
              <a:t>17</a:t>
            </a:r>
            <a:r>
              <a:rPr kumimoji="1" lang="zh-CN" altLang="en-US" dirty="0"/>
              <a:t>位超级极客齐聚犹他州的雪鸟滑雪山庄，共同探索有关软件开发未来发展的共同理念。其中包括</a:t>
            </a:r>
            <a:r>
              <a:rPr kumimoji="1" lang="en-US" altLang="zh-CN" dirty="0"/>
              <a:t>Scrum</a:t>
            </a:r>
            <a:r>
              <a:rPr kumimoji="1" lang="zh-CN" altLang="en-US" dirty="0"/>
              <a:t>、极限编程、水晶、特性驱动开发等一些新生方法论的发起者。</a:t>
            </a:r>
            <a:endParaRPr kumimoji="1" lang="en-US" altLang="zh-CN" dirty="0"/>
          </a:p>
          <a:p>
            <a:r>
              <a:rPr kumimoji="1" lang="zh-CN" altLang="en-US" dirty="0"/>
              <a:t>与会者达成了一致意见，将这场“运动”命名为“敏捷”。他们授予自己“敏捷联盟”的称号，草拟出一份言简意赅的</a:t>
            </a:r>
            <a:r>
              <a:rPr kumimoji="1" lang="en-US" altLang="zh-CN" dirty="0"/>
              <a:t>《</a:t>
            </a:r>
            <a:r>
              <a:rPr kumimoji="1" lang="zh-CN" altLang="en-US" dirty="0"/>
              <a:t>敏捷宣言</a:t>
            </a:r>
            <a:r>
              <a:rPr kumimoji="1" lang="en-US" altLang="zh-CN" dirty="0"/>
              <a:t>》</a:t>
            </a:r>
            <a:r>
              <a:rPr kumimoji="1" lang="zh-CN" altLang="en-US" dirty="0"/>
              <a:t>。</a:t>
            </a:r>
          </a:p>
        </p:txBody>
      </p:sp>
      <p:sp>
        <p:nvSpPr>
          <p:cNvPr id="4" name="灯片编号占位符 3">
            <a:extLst>
              <a:ext uri="{FF2B5EF4-FFF2-40B4-BE49-F238E27FC236}">
                <a16:creationId xmlns:a16="http://schemas.microsoft.com/office/drawing/2014/main" id="{79AD83E4-24FD-E642-9DB8-A369EBE53F0D}"/>
              </a:ext>
            </a:extLst>
          </p:cNvPr>
          <p:cNvSpPr>
            <a:spLocks noGrp="1"/>
          </p:cNvSpPr>
          <p:nvPr>
            <p:ph type="sldNum" sz="quarter" idx="12"/>
          </p:nvPr>
        </p:nvSpPr>
        <p:spPr/>
        <p:txBody>
          <a:bodyPr/>
          <a:lstStyle/>
          <a:p>
            <a:fld id="{4D1FD872-5D71-BD4B-86C8-57CDF6D45626}" type="slidenum">
              <a:rPr kumimoji="1" lang="zh-CN" altLang="en-US" smtClean="0"/>
              <a:t>19</a:t>
            </a:fld>
            <a:endParaRPr kumimoji="1" lang="zh-CN" altLang="en-US"/>
          </a:p>
        </p:txBody>
      </p:sp>
    </p:spTree>
    <p:extLst>
      <p:ext uri="{BB962C8B-B14F-4D97-AF65-F5344CB8AC3E}">
        <p14:creationId xmlns:p14="http://schemas.microsoft.com/office/powerpoint/2010/main" val="32587436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64771D-EADB-984A-A2B0-22549C55418C}"/>
              </a:ext>
            </a:extLst>
          </p:cNvPr>
          <p:cNvSpPr>
            <a:spLocks noGrp="1"/>
          </p:cNvSpPr>
          <p:nvPr>
            <p:ph type="title"/>
          </p:nvPr>
        </p:nvSpPr>
        <p:spPr/>
        <p:txBody>
          <a:bodyPr/>
          <a:lstStyle/>
          <a:p>
            <a:r>
              <a:rPr kumimoji="1" lang="zh-CN" altLang="en-US" dirty="0"/>
              <a:t>背景</a:t>
            </a:r>
          </a:p>
        </p:txBody>
      </p:sp>
      <p:sp>
        <p:nvSpPr>
          <p:cNvPr id="3" name="内容占位符 2">
            <a:extLst>
              <a:ext uri="{FF2B5EF4-FFF2-40B4-BE49-F238E27FC236}">
                <a16:creationId xmlns:a16="http://schemas.microsoft.com/office/drawing/2014/main" id="{41BAC0AD-6307-6C45-A085-8C5391145F2E}"/>
              </a:ext>
            </a:extLst>
          </p:cNvPr>
          <p:cNvSpPr>
            <a:spLocks noGrp="1"/>
          </p:cNvSpPr>
          <p:nvPr>
            <p:ph idx="1"/>
          </p:nvPr>
        </p:nvSpPr>
        <p:spPr/>
        <p:txBody>
          <a:bodyPr>
            <a:normAutofit/>
          </a:bodyPr>
          <a:lstStyle/>
          <a:p>
            <a:r>
              <a:rPr kumimoji="1" lang="zh-CN" altLang="en-US" dirty="0"/>
              <a:t>对软件开发现状的不满。</a:t>
            </a:r>
            <a:endParaRPr kumimoji="1" lang="en-US" altLang="zh-CN" dirty="0"/>
          </a:p>
          <a:p>
            <a:r>
              <a:rPr kumimoji="1" lang="en-US" altLang="zh-CN" dirty="0"/>
              <a:t>1995</a:t>
            </a:r>
            <a:r>
              <a:rPr kumimoji="1" lang="zh-CN" altLang="en-US" dirty="0"/>
              <a:t>年</a:t>
            </a:r>
            <a:r>
              <a:rPr kumimoji="1" lang="en-US" altLang="zh-CN" dirty="0"/>
              <a:t>Standish</a:t>
            </a:r>
            <a:r>
              <a:rPr kumimoji="1" lang="zh-CN" altLang="en-US" dirty="0"/>
              <a:t> </a:t>
            </a:r>
            <a:r>
              <a:rPr kumimoji="1" lang="en-US" altLang="zh-CN" dirty="0"/>
              <a:t>Group</a:t>
            </a:r>
            <a:r>
              <a:rPr kumimoji="1" lang="zh-CN" altLang="en-US" dirty="0"/>
              <a:t>发布的年度“</a:t>
            </a:r>
            <a:r>
              <a:rPr kumimoji="1" lang="en-US" altLang="zh-CN" dirty="0"/>
              <a:t>Chaos”</a:t>
            </a:r>
            <a:r>
              <a:rPr kumimoji="1" lang="zh-CN" altLang="en-US" dirty="0"/>
              <a:t>报告中，详实地介绍了传统软件开发方法所造成的令人震惊的失败案例。报告指出，以传统方式运作的企业级软件项目中，只有</a:t>
            </a:r>
            <a:r>
              <a:rPr kumimoji="1" lang="en-US" altLang="zh-CN" dirty="0"/>
              <a:t>16%</a:t>
            </a:r>
            <a:r>
              <a:rPr kumimoji="1" lang="zh-CN" altLang="en-US" dirty="0"/>
              <a:t>可以按时按预算交付，</a:t>
            </a:r>
            <a:r>
              <a:rPr kumimoji="1" lang="en-US" altLang="zh-CN" dirty="0"/>
              <a:t>31%</a:t>
            </a:r>
            <a:r>
              <a:rPr kumimoji="1" lang="zh-CN" altLang="en-US" dirty="0"/>
              <a:t>的项目被取消，还有</a:t>
            </a:r>
            <a:r>
              <a:rPr kumimoji="1" lang="en-US" altLang="zh-CN" dirty="0"/>
              <a:t>53%</a:t>
            </a:r>
            <a:r>
              <a:rPr kumimoji="1" lang="zh-CN" altLang="en-US" dirty="0"/>
              <a:t>的项目预算超标</a:t>
            </a:r>
            <a:r>
              <a:rPr kumimoji="1" lang="en-US" altLang="zh-CN" dirty="0"/>
              <a:t>189%</a:t>
            </a:r>
            <a:r>
              <a:rPr kumimoji="1" lang="zh-CN" altLang="en-US" dirty="0"/>
              <a:t>。</a:t>
            </a:r>
          </a:p>
        </p:txBody>
      </p:sp>
      <p:sp>
        <p:nvSpPr>
          <p:cNvPr id="4" name="灯片编号占位符 3">
            <a:extLst>
              <a:ext uri="{FF2B5EF4-FFF2-40B4-BE49-F238E27FC236}">
                <a16:creationId xmlns:a16="http://schemas.microsoft.com/office/drawing/2014/main" id="{51E92BF0-29D1-A14A-A8A4-A3DF3DCA879C}"/>
              </a:ext>
            </a:extLst>
          </p:cNvPr>
          <p:cNvSpPr>
            <a:spLocks noGrp="1"/>
          </p:cNvSpPr>
          <p:nvPr>
            <p:ph type="sldNum" sz="quarter" idx="12"/>
          </p:nvPr>
        </p:nvSpPr>
        <p:spPr/>
        <p:txBody>
          <a:bodyPr/>
          <a:lstStyle/>
          <a:p>
            <a:fld id="{4D1FD872-5D71-BD4B-86C8-57CDF6D45626}" type="slidenum">
              <a:rPr kumimoji="1" lang="zh-CN" altLang="en-US" smtClean="0"/>
              <a:t>20</a:t>
            </a:fld>
            <a:endParaRPr kumimoji="1" lang="zh-CN" altLang="en-US"/>
          </a:p>
        </p:txBody>
      </p:sp>
    </p:spTree>
    <p:extLst>
      <p:ext uri="{BB962C8B-B14F-4D97-AF65-F5344CB8AC3E}">
        <p14:creationId xmlns:p14="http://schemas.microsoft.com/office/powerpoint/2010/main" val="32577631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51888E19-3780-C34F-BD60-C9D8F04E2537}"/>
              </a:ext>
            </a:extLst>
          </p:cNvPr>
          <p:cNvSpPr>
            <a:spLocks noGrp="1"/>
          </p:cNvSpPr>
          <p:nvPr>
            <p:ph type="sldNum" sz="quarter" idx="12"/>
          </p:nvPr>
        </p:nvSpPr>
        <p:spPr/>
        <p:txBody>
          <a:bodyPr/>
          <a:lstStyle/>
          <a:p>
            <a:fld id="{4D1FD872-5D71-BD4B-86C8-57CDF6D45626}" type="slidenum">
              <a:rPr kumimoji="1" lang="zh-CN" altLang="en-US" smtClean="0"/>
              <a:t>21</a:t>
            </a:fld>
            <a:endParaRPr kumimoji="1" lang="zh-CN" altLang="en-US"/>
          </a:p>
        </p:txBody>
      </p:sp>
      <p:pic>
        <p:nvPicPr>
          <p:cNvPr id="5" name="图片 4">
            <a:extLst>
              <a:ext uri="{FF2B5EF4-FFF2-40B4-BE49-F238E27FC236}">
                <a16:creationId xmlns:a16="http://schemas.microsoft.com/office/drawing/2014/main" id="{159B825E-B3C0-3942-A522-E2D95334D36D}"/>
              </a:ext>
            </a:extLst>
          </p:cNvPr>
          <p:cNvPicPr>
            <a:picLocks noChangeAspect="1"/>
          </p:cNvPicPr>
          <p:nvPr/>
        </p:nvPicPr>
        <p:blipFill>
          <a:blip r:embed="rId2"/>
          <a:stretch>
            <a:fillRect/>
          </a:stretch>
        </p:blipFill>
        <p:spPr>
          <a:xfrm>
            <a:off x="2188665" y="159363"/>
            <a:ext cx="7814670" cy="6539279"/>
          </a:xfrm>
          <a:prstGeom prst="rect">
            <a:avLst/>
          </a:prstGeom>
        </p:spPr>
      </p:pic>
    </p:spTree>
    <p:extLst>
      <p:ext uri="{BB962C8B-B14F-4D97-AF65-F5344CB8AC3E}">
        <p14:creationId xmlns:p14="http://schemas.microsoft.com/office/powerpoint/2010/main" val="15676477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C458D0-E8E7-BF46-B763-180CCBB8189E}"/>
              </a:ext>
            </a:extLst>
          </p:cNvPr>
          <p:cNvSpPr>
            <a:spLocks noGrp="1"/>
          </p:cNvSpPr>
          <p:nvPr>
            <p:ph type="title"/>
          </p:nvPr>
        </p:nvSpPr>
        <p:spPr/>
        <p:txBody>
          <a:bodyPr/>
          <a:lstStyle/>
          <a:p>
            <a:r>
              <a:rPr kumimoji="1" lang="zh-CN" altLang="en-US" dirty="0"/>
              <a:t>个体和互动高于流程和工具</a:t>
            </a:r>
          </a:p>
        </p:txBody>
      </p:sp>
      <p:sp>
        <p:nvSpPr>
          <p:cNvPr id="3" name="内容占位符 2">
            <a:extLst>
              <a:ext uri="{FF2B5EF4-FFF2-40B4-BE49-F238E27FC236}">
                <a16:creationId xmlns:a16="http://schemas.microsoft.com/office/drawing/2014/main" id="{E8E51883-AD44-E841-A67A-DFAB26019525}"/>
              </a:ext>
            </a:extLst>
          </p:cNvPr>
          <p:cNvSpPr>
            <a:spLocks noGrp="1"/>
          </p:cNvSpPr>
          <p:nvPr>
            <p:ph idx="1"/>
          </p:nvPr>
        </p:nvSpPr>
        <p:spPr/>
        <p:txBody>
          <a:bodyPr>
            <a:normAutofit/>
          </a:bodyPr>
          <a:lstStyle/>
          <a:p>
            <a:r>
              <a:rPr kumimoji="1" lang="zh-CN" altLang="en-US" dirty="0"/>
              <a:t>敏捷力的基本宗旨之一就是，干活的人最清楚该如何完成工作。</a:t>
            </a:r>
            <a:endParaRPr kumimoji="1" lang="en-US" altLang="zh-CN" dirty="0"/>
          </a:p>
          <a:p>
            <a:r>
              <a:rPr kumimoji="1" lang="zh-CN" altLang="en-US" dirty="0"/>
              <a:t>你的团队总共</a:t>
            </a:r>
            <a:r>
              <a:rPr kumimoji="1" lang="en-US" altLang="zh-CN" dirty="0"/>
              <a:t>6</a:t>
            </a:r>
            <a:r>
              <a:rPr kumimoji="1" lang="zh-CN" altLang="en-US" dirty="0"/>
              <a:t>个人，全都赞成用</a:t>
            </a:r>
            <a:r>
              <a:rPr kumimoji="1" lang="zh-CN" altLang="en-US" dirty="0">
                <a:solidFill>
                  <a:srgbClr val="FF0000"/>
                </a:solidFill>
              </a:rPr>
              <a:t>计划扑克</a:t>
            </a:r>
            <a:r>
              <a:rPr kumimoji="1" lang="zh-CN" altLang="en-US" dirty="0"/>
              <a:t>的方式做估算。现在，你筹备了一个新团队，你会指示他们必须使用计划扑克吗</a:t>
            </a:r>
            <a:r>
              <a:rPr kumimoji="1" lang="en-US" altLang="zh-CN" dirty="0"/>
              <a:t>?</a:t>
            </a:r>
          </a:p>
          <a:p>
            <a:r>
              <a:rPr kumimoji="1" lang="zh-CN" altLang="en-US" sz="4300" dirty="0">
                <a:solidFill>
                  <a:srgbClr val="FF0000"/>
                </a:solidFill>
              </a:rPr>
              <a:t>不！</a:t>
            </a:r>
            <a:endParaRPr kumimoji="1" lang="en-US" altLang="zh-CN" sz="4300" dirty="0">
              <a:solidFill>
                <a:srgbClr val="FF0000"/>
              </a:solidFill>
            </a:endParaRPr>
          </a:p>
          <a:p>
            <a:r>
              <a:rPr kumimoji="1" lang="zh-CN" altLang="en-US" dirty="0">
                <a:solidFill>
                  <a:srgbClr val="FF0000"/>
                </a:solidFill>
              </a:rPr>
              <a:t>可以建议他们用，让他们尝试，但不要规定！</a:t>
            </a:r>
            <a:endParaRPr kumimoji="1" lang="en-US" altLang="zh-CN" dirty="0">
              <a:solidFill>
                <a:srgbClr val="FF0000"/>
              </a:solidFill>
            </a:endParaRPr>
          </a:p>
          <a:p>
            <a:r>
              <a:rPr kumimoji="1" lang="zh-CN" altLang="en-US" dirty="0"/>
              <a:t>流程和工具必须是为人服务的，而不是反过来。</a:t>
            </a:r>
            <a:endParaRPr kumimoji="1" lang="en-US" altLang="zh-CN" dirty="0"/>
          </a:p>
          <a:p>
            <a:endParaRPr kumimoji="1" lang="en-US" altLang="zh-CN" dirty="0">
              <a:solidFill>
                <a:srgbClr val="FF0000"/>
              </a:solidFill>
            </a:endParaRPr>
          </a:p>
          <a:p>
            <a:endParaRPr kumimoji="1" lang="zh-CN" altLang="en-US" dirty="0"/>
          </a:p>
        </p:txBody>
      </p:sp>
      <p:sp>
        <p:nvSpPr>
          <p:cNvPr id="4" name="灯片编号占位符 3">
            <a:extLst>
              <a:ext uri="{FF2B5EF4-FFF2-40B4-BE49-F238E27FC236}">
                <a16:creationId xmlns:a16="http://schemas.microsoft.com/office/drawing/2014/main" id="{0351F174-815B-A845-AEA7-0C39FBD278C1}"/>
              </a:ext>
            </a:extLst>
          </p:cNvPr>
          <p:cNvSpPr>
            <a:spLocks noGrp="1"/>
          </p:cNvSpPr>
          <p:nvPr>
            <p:ph type="sldNum" sz="quarter" idx="12"/>
          </p:nvPr>
        </p:nvSpPr>
        <p:spPr/>
        <p:txBody>
          <a:bodyPr/>
          <a:lstStyle/>
          <a:p>
            <a:fld id="{4D1FD872-5D71-BD4B-86C8-57CDF6D45626}" type="slidenum">
              <a:rPr kumimoji="1" lang="zh-CN" altLang="en-US" smtClean="0"/>
              <a:t>22</a:t>
            </a:fld>
            <a:endParaRPr kumimoji="1" lang="zh-CN" altLang="en-US"/>
          </a:p>
        </p:txBody>
      </p:sp>
    </p:spTree>
    <p:extLst>
      <p:ext uri="{BB962C8B-B14F-4D97-AF65-F5344CB8AC3E}">
        <p14:creationId xmlns:p14="http://schemas.microsoft.com/office/powerpoint/2010/main" val="36779727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6CCA68-D71D-3D43-A26E-38C2ADD57283}"/>
              </a:ext>
            </a:extLst>
          </p:cNvPr>
          <p:cNvSpPr>
            <a:spLocks noGrp="1"/>
          </p:cNvSpPr>
          <p:nvPr>
            <p:ph type="title"/>
          </p:nvPr>
        </p:nvSpPr>
        <p:spPr/>
        <p:txBody>
          <a:bodyPr/>
          <a:lstStyle/>
          <a:p>
            <a:br>
              <a:rPr kumimoji="1" lang="zh-CN" altLang="en-US" dirty="0"/>
            </a:br>
            <a:r>
              <a:rPr kumimoji="1" lang="zh-CN" altLang="en-US" dirty="0"/>
              <a:t>工作的软件高于详尽的文档</a:t>
            </a:r>
          </a:p>
        </p:txBody>
      </p:sp>
      <p:sp>
        <p:nvSpPr>
          <p:cNvPr id="3" name="内容占位符 2">
            <a:extLst>
              <a:ext uri="{FF2B5EF4-FFF2-40B4-BE49-F238E27FC236}">
                <a16:creationId xmlns:a16="http://schemas.microsoft.com/office/drawing/2014/main" id="{7F148C96-4912-A549-B8A4-9FC372E7F95A}"/>
              </a:ext>
            </a:extLst>
          </p:cNvPr>
          <p:cNvSpPr>
            <a:spLocks noGrp="1"/>
          </p:cNvSpPr>
          <p:nvPr>
            <p:ph idx="1"/>
          </p:nvPr>
        </p:nvSpPr>
        <p:spPr/>
        <p:txBody>
          <a:bodyPr>
            <a:normAutofit fontScale="70000" lnSpcReduction="20000"/>
          </a:bodyPr>
          <a:lstStyle/>
          <a:p>
            <a:r>
              <a:rPr kumimoji="1" lang="zh-CN" altLang="en-US" dirty="0"/>
              <a:t>如果文档着眼于创造价值和以有利方式推动项目进展，那就没问题。例如，对大多数产品来说，用户文档都是很有价值的组成部分。</a:t>
            </a:r>
            <a:endParaRPr kumimoji="1" lang="en-US" altLang="zh-CN" dirty="0"/>
          </a:p>
          <a:p>
            <a:r>
              <a:rPr kumimoji="1" lang="zh-CN" altLang="en-US" dirty="0"/>
              <a:t>但如果关注焦点不再是产品本身，而变成了流程文档，例如“你的测试规程说明报告，记得要用新封皮</a:t>
            </a:r>
            <a:r>
              <a:rPr kumimoji="1" lang="en-US" altLang="zh-CN" dirty="0"/>
              <a:t>!”</a:t>
            </a:r>
            <a:r>
              <a:rPr kumimoji="1" lang="zh-CN" altLang="en-US" dirty="0"/>
              <a:t>，那就有问题了。</a:t>
            </a:r>
            <a:endParaRPr kumimoji="1" lang="en-US" altLang="zh-CN" dirty="0"/>
          </a:p>
          <a:p>
            <a:r>
              <a:rPr kumimoji="1" lang="zh-CN" altLang="en-US" dirty="0"/>
              <a:t>人们普遍误以为敏捷团队是不写文档不做计划的，但实际上，敏捷团队是做计划的，因为计划需要不断地进行细化和更新。敏捷软件项目中的计划以各种形式出现在我们身边，例如用户故事、列表</a:t>
            </a:r>
            <a:r>
              <a:rPr kumimoji="1" lang="en-US" altLang="zh-CN" dirty="0"/>
              <a:t>(backlog)</a:t>
            </a:r>
            <a:r>
              <a:rPr kumimoji="1" lang="zh-CN" altLang="en-US" dirty="0"/>
              <a:t>、验收测试、和大型可视图表，它们组成了富沟通环境。</a:t>
            </a:r>
            <a:endParaRPr kumimoji="1" lang="en-US" altLang="zh-CN" dirty="0"/>
          </a:p>
          <a:p>
            <a:r>
              <a:rPr kumimoji="1" lang="zh-CN" altLang="en-US" dirty="0"/>
              <a:t>如果不是文档，敏捷团队该到哪里去找答案呢</a:t>
            </a:r>
            <a:r>
              <a:rPr kumimoji="1" lang="en-US" altLang="zh-CN" dirty="0"/>
              <a:t>?</a:t>
            </a:r>
            <a:r>
              <a:rPr kumimoji="1" lang="zh-CN" altLang="en-US" dirty="0"/>
              <a:t>你可以求助于可工作软件，它包含了最近构建、测试和集成的一切。</a:t>
            </a:r>
          </a:p>
        </p:txBody>
      </p:sp>
      <p:sp>
        <p:nvSpPr>
          <p:cNvPr id="4" name="灯片编号占位符 3">
            <a:extLst>
              <a:ext uri="{FF2B5EF4-FFF2-40B4-BE49-F238E27FC236}">
                <a16:creationId xmlns:a16="http://schemas.microsoft.com/office/drawing/2014/main" id="{AA42E813-3190-3640-B53D-42A2C7B4F691}"/>
              </a:ext>
            </a:extLst>
          </p:cNvPr>
          <p:cNvSpPr>
            <a:spLocks noGrp="1"/>
          </p:cNvSpPr>
          <p:nvPr>
            <p:ph type="sldNum" sz="quarter" idx="12"/>
          </p:nvPr>
        </p:nvSpPr>
        <p:spPr/>
        <p:txBody>
          <a:bodyPr/>
          <a:lstStyle/>
          <a:p>
            <a:fld id="{4D1FD872-5D71-BD4B-86C8-57CDF6D45626}" type="slidenum">
              <a:rPr kumimoji="1" lang="zh-CN" altLang="en-US" smtClean="0"/>
              <a:t>23</a:t>
            </a:fld>
            <a:endParaRPr kumimoji="1" lang="zh-CN" altLang="en-US"/>
          </a:p>
        </p:txBody>
      </p:sp>
    </p:spTree>
    <p:extLst>
      <p:ext uri="{BB962C8B-B14F-4D97-AF65-F5344CB8AC3E}">
        <p14:creationId xmlns:p14="http://schemas.microsoft.com/office/powerpoint/2010/main" val="21771018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61BA1C-8CB3-5A41-A348-37FADBF01E1F}"/>
              </a:ext>
            </a:extLst>
          </p:cNvPr>
          <p:cNvSpPr>
            <a:spLocks noGrp="1"/>
          </p:cNvSpPr>
          <p:nvPr>
            <p:ph type="title"/>
          </p:nvPr>
        </p:nvSpPr>
        <p:spPr/>
        <p:txBody>
          <a:bodyPr/>
          <a:lstStyle/>
          <a:p>
            <a:r>
              <a:rPr kumimoji="1" lang="zh-CN" altLang="en-US" dirty="0"/>
              <a:t>客户合作高于合同谈判</a:t>
            </a:r>
          </a:p>
        </p:txBody>
      </p:sp>
      <p:sp>
        <p:nvSpPr>
          <p:cNvPr id="3" name="内容占位符 2">
            <a:extLst>
              <a:ext uri="{FF2B5EF4-FFF2-40B4-BE49-F238E27FC236}">
                <a16:creationId xmlns:a16="http://schemas.microsoft.com/office/drawing/2014/main" id="{E34D4C87-8097-3D45-A94F-0B6CAB5902BF}"/>
              </a:ext>
            </a:extLst>
          </p:cNvPr>
          <p:cNvSpPr>
            <a:spLocks noGrp="1"/>
          </p:cNvSpPr>
          <p:nvPr>
            <p:ph idx="1"/>
          </p:nvPr>
        </p:nvSpPr>
        <p:spPr/>
        <p:txBody>
          <a:bodyPr/>
          <a:lstStyle/>
          <a:p>
            <a:r>
              <a:rPr kumimoji="1" lang="zh-CN" altLang="en-US" dirty="0"/>
              <a:t>敏捷价值观着重强调，开发团队和客户之间要保持尽可能公开和顺畅的对话。</a:t>
            </a:r>
            <a:endParaRPr kumimoji="1" lang="en-US" altLang="zh-CN" dirty="0"/>
          </a:p>
          <a:p>
            <a:r>
              <a:rPr kumimoji="1" lang="zh-CN" altLang="en-US" dirty="0"/>
              <a:t>基于合同的项目侧重方向不对。相关各方就像是一群合伙人，齐心协力在规定时间和预算范围内努力构建最有价值的系统。</a:t>
            </a:r>
          </a:p>
        </p:txBody>
      </p:sp>
      <p:sp>
        <p:nvSpPr>
          <p:cNvPr id="4" name="灯片编号占位符 3">
            <a:extLst>
              <a:ext uri="{FF2B5EF4-FFF2-40B4-BE49-F238E27FC236}">
                <a16:creationId xmlns:a16="http://schemas.microsoft.com/office/drawing/2014/main" id="{43193984-509C-6A49-B47C-721A430D0A74}"/>
              </a:ext>
            </a:extLst>
          </p:cNvPr>
          <p:cNvSpPr>
            <a:spLocks noGrp="1"/>
          </p:cNvSpPr>
          <p:nvPr>
            <p:ph type="sldNum" sz="quarter" idx="12"/>
          </p:nvPr>
        </p:nvSpPr>
        <p:spPr/>
        <p:txBody>
          <a:bodyPr/>
          <a:lstStyle/>
          <a:p>
            <a:fld id="{4D1FD872-5D71-BD4B-86C8-57CDF6D45626}" type="slidenum">
              <a:rPr kumimoji="1" lang="zh-CN" altLang="en-US" smtClean="0"/>
              <a:t>24</a:t>
            </a:fld>
            <a:endParaRPr kumimoji="1" lang="zh-CN" altLang="en-US"/>
          </a:p>
        </p:txBody>
      </p:sp>
    </p:spTree>
    <p:extLst>
      <p:ext uri="{BB962C8B-B14F-4D97-AF65-F5344CB8AC3E}">
        <p14:creationId xmlns:p14="http://schemas.microsoft.com/office/powerpoint/2010/main" val="39640062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92B940-B2B8-9B48-9B47-5D57EB42DA21}"/>
              </a:ext>
            </a:extLst>
          </p:cNvPr>
          <p:cNvSpPr>
            <a:spLocks noGrp="1"/>
          </p:cNvSpPr>
          <p:nvPr>
            <p:ph type="title"/>
          </p:nvPr>
        </p:nvSpPr>
        <p:spPr/>
        <p:txBody>
          <a:bodyPr/>
          <a:lstStyle/>
          <a:p>
            <a:r>
              <a:rPr kumimoji="1" lang="zh-CN" altLang="en-US" dirty="0"/>
              <a:t>响应变化高于遵循计划</a:t>
            </a:r>
          </a:p>
        </p:txBody>
      </p:sp>
      <p:sp>
        <p:nvSpPr>
          <p:cNvPr id="3" name="内容占位符 2">
            <a:extLst>
              <a:ext uri="{FF2B5EF4-FFF2-40B4-BE49-F238E27FC236}">
                <a16:creationId xmlns:a16="http://schemas.microsoft.com/office/drawing/2014/main" id="{3BBFDAE6-40ED-8540-B3DD-B9C30805813C}"/>
              </a:ext>
            </a:extLst>
          </p:cNvPr>
          <p:cNvSpPr>
            <a:spLocks noGrp="1"/>
          </p:cNvSpPr>
          <p:nvPr>
            <p:ph idx="1"/>
          </p:nvPr>
        </p:nvSpPr>
        <p:spPr/>
        <p:txBody>
          <a:bodyPr/>
          <a:lstStyle/>
          <a:p>
            <a:r>
              <a:rPr kumimoji="1" lang="zh-CN" altLang="en-US" dirty="0"/>
              <a:t>计划驱动型组织通常都有“变化控制”流程。</a:t>
            </a:r>
            <a:endParaRPr kumimoji="1" lang="en-US" altLang="zh-CN" dirty="0"/>
          </a:p>
          <a:p>
            <a:r>
              <a:rPr kumimoji="1" lang="zh-CN" altLang="en-US" dirty="0"/>
              <a:t>只有在变更可控的情况下，变化控制才会有效果。</a:t>
            </a:r>
            <a:endParaRPr kumimoji="1" lang="en-US" altLang="zh-CN" dirty="0"/>
          </a:p>
          <a:p>
            <a:r>
              <a:rPr kumimoji="1" lang="zh-CN" altLang="en-US" dirty="0">
                <a:solidFill>
                  <a:srgbClr val="FF0000"/>
                </a:solidFill>
              </a:rPr>
              <a:t>创造价值才是衡量软件开发成功的标准！</a:t>
            </a:r>
          </a:p>
        </p:txBody>
      </p:sp>
      <p:sp>
        <p:nvSpPr>
          <p:cNvPr id="4" name="灯片编号占位符 3">
            <a:extLst>
              <a:ext uri="{FF2B5EF4-FFF2-40B4-BE49-F238E27FC236}">
                <a16:creationId xmlns:a16="http://schemas.microsoft.com/office/drawing/2014/main" id="{75E04783-F463-7449-BF5F-E8E38D6BBDDF}"/>
              </a:ext>
            </a:extLst>
          </p:cNvPr>
          <p:cNvSpPr>
            <a:spLocks noGrp="1"/>
          </p:cNvSpPr>
          <p:nvPr>
            <p:ph type="sldNum" sz="quarter" idx="12"/>
          </p:nvPr>
        </p:nvSpPr>
        <p:spPr/>
        <p:txBody>
          <a:bodyPr/>
          <a:lstStyle/>
          <a:p>
            <a:fld id="{4D1FD872-5D71-BD4B-86C8-57CDF6D45626}" type="slidenum">
              <a:rPr kumimoji="1" lang="zh-CN" altLang="en-US" smtClean="0"/>
              <a:t>25</a:t>
            </a:fld>
            <a:endParaRPr kumimoji="1" lang="zh-CN" altLang="en-US"/>
          </a:p>
        </p:txBody>
      </p:sp>
    </p:spTree>
    <p:extLst>
      <p:ext uri="{BB962C8B-B14F-4D97-AF65-F5344CB8AC3E}">
        <p14:creationId xmlns:p14="http://schemas.microsoft.com/office/powerpoint/2010/main" val="2436544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4A8835-ECDA-5B4F-A48D-5DDEAA936C81}"/>
              </a:ext>
            </a:extLst>
          </p:cNvPr>
          <p:cNvSpPr>
            <a:spLocks noGrp="1"/>
          </p:cNvSpPr>
          <p:nvPr>
            <p:ph type="title"/>
          </p:nvPr>
        </p:nvSpPr>
        <p:spPr>
          <a:xfrm>
            <a:off x="2152650" y="2766221"/>
            <a:ext cx="7886700" cy="1325563"/>
          </a:xfrm>
        </p:spPr>
        <p:txBody>
          <a:bodyPr/>
          <a:lstStyle/>
          <a:p>
            <a:r>
              <a:rPr kumimoji="1" lang="zh-CN" altLang="en-US" dirty="0">
                <a:solidFill>
                  <a:srgbClr val="FF0000"/>
                </a:solidFill>
              </a:rPr>
              <a:t>尽管右项有其价值，我们更重视左项的价值。</a:t>
            </a:r>
          </a:p>
        </p:txBody>
      </p:sp>
      <p:sp>
        <p:nvSpPr>
          <p:cNvPr id="4" name="灯片编号占位符 3">
            <a:extLst>
              <a:ext uri="{FF2B5EF4-FFF2-40B4-BE49-F238E27FC236}">
                <a16:creationId xmlns:a16="http://schemas.microsoft.com/office/drawing/2014/main" id="{4DA29DDA-EB8E-CE4D-9C6B-990B2390FB41}"/>
              </a:ext>
            </a:extLst>
          </p:cNvPr>
          <p:cNvSpPr>
            <a:spLocks noGrp="1"/>
          </p:cNvSpPr>
          <p:nvPr>
            <p:ph type="sldNum" sz="quarter" idx="12"/>
          </p:nvPr>
        </p:nvSpPr>
        <p:spPr/>
        <p:txBody>
          <a:bodyPr/>
          <a:lstStyle/>
          <a:p>
            <a:fld id="{4D1FD872-5D71-BD4B-86C8-57CDF6D45626}" type="slidenum">
              <a:rPr kumimoji="1" lang="zh-CN" altLang="en-US" smtClean="0"/>
              <a:t>26</a:t>
            </a:fld>
            <a:endParaRPr kumimoji="1" lang="zh-CN" altLang="en-US"/>
          </a:p>
        </p:txBody>
      </p:sp>
    </p:spTree>
    <p:extLst>
      <p:ext uri="{BB962C8B-B14F-4D97-AF65-F5344CB8AC3E}">
        <p14:creationId xmlns:p14="http://schemas.microsoft.com/office/powerpoint/2010/main" val="21628574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9F37E2E6-AAFC-524D-A107-B5D866CDC482}"/>
              </a:ext>
            </a:extLst>
          </p:cNvPr>
          <p:cNvSpPr>
            <a:spLocks noGrp="1"/>
          </p:cNvSpPr>
          <p:nvPr>
            <p:ph type="sldNum" sz="quarter" idx="12"/>
          </p:nvPr>
        </p:nvSpPr>
        <p:spPr/>
        <p:txBody>
          <a:bodyPr/>
          <a:lstStyle/>
          <a:p>
            <a:fld id="{4D1FD872-5D71-BD4B-86C8-57CDF6D45626}" type="slidenum">
              <a:rPr kumimoji="1" lang="zh-CN" altLang="en-US" smtClean="0"/>
              <a:t>27</a:t>
            </a:fld>
            <a:endParaRPr kumimoji="1" lang="zh-CN" altLang="en-US"/>
          </a:p>
        </p:txBody>
      </p:sp>
      <p:pic>
        <p:nvPicPr>
          <p:cNvPr id="5" name="图片 4">
            <a:extLst>
              <a:ext uri="{FF2B5EF4-FFF2-40B4-BE49-F238E27FC236}">
                <a16:creationId xmlns:a16="http://schemas.microsoft.com/office/drawing/2014/main" id="{EE6CBE45-2450-664F-9905-994F68ACB34D}"/>
              </a:ext>
            </a:extLst>
          </p:cNvPr>
          <p:cNvPicPr>
            <a:picLocks noChangeAspect="1"/>
          </p:cNvPicPr>
          <p:nvPr/>
        </p:nvPicPr>
        <p:blipFill>
          <a:blip r:embed="rId2"/>
          <a:stretch>
            <a:fillRect/>
          </a:stretch>
        </p:blipFill>
        <p:spPr>
          <a:xfrm>
            <a:off x="2694289" y="0"/>
            <a:ext cx="6803427" cy="6858000"/>
          </a:xfrm>
          <a:prstGeom prst="rect">
            <a:avLst/>
          </a:prstGeom>
        </p:spPr>
      </p:pic>
    </p:spTree>
    <p:extLst>
      <p:ext uri="{BB962C8B-B14F-4D97-AF65-F5344CB8AC3E}">
        <p14:creationId xmlns:p14="http://schemas.microsoft.com/office/powerpoint/2010/main" val="23989147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E6C56E-5839-A64A-BC22-7FDC0D73B28D}"/>
              </a:ext>
            </a:extLst>
          </p:cNvPr>
          <p:cNvSpPr>
            <a:spLocks noGrp="1"/>
          </p:cNvSpPr>
          <p:nvPr>
            <p:ph type="title"/>
          </p:nvPr>
        </p:nvSpPr>
        <p:spPr/>
        <p:txBody>
          <a:bodyPr/>
          <a:lstStyle/>
          <a:p>
            <a:r>
              <a:rPr kumimoji="1" lang="zh-CN" altLang="en-US" dirty="0"/>
              <a:t>创新、研发、运维</a:t>
            </a:r>
          </a:p>
        </p:txBody>
      </p:sp>
      <p:sp>
        <p:nvSpPr>
          <p:cNvPr id="4" name="灯片编号占位符 3">
            <a:extLst>
              <a:ext uri="{FF2B5EF4-FFF2-40B4-BE49-F238E27FC236}">
                <a16:creationId xmlns:a16="http://schemas.microsoft.com/office/drawing/2014/main" id="{97B0BBE0-74B7-6C41-B80E-25BECD56E3D8}"/>
              </a:ext>
            </a:extLst>
          </p:cNvPr>
          <p:cNvSpPr>
            <a:spLocks noGrp="1"/>
          </p:cNvSpPr>
          <p:nvPr>
            <p:ph type="sldNum" sz="quarter" idx="12"/>
          </p:nvPr>
        </p:nvSpPr>
        <p:spPr/>
        <p:txBody>
          <a:bodyPr/>
          <a:lstStyle/>
          <a:p>
            <a:fld id="{4D1FD872-5D71-BD4B-86C8-57CDF6D45626}" type="slidenum">
              <a:rPr kumimoji="1" lang="zh-CN" altLang="en-US" smtClean="0"/>
              <a:t>28</a:t>
            </a:fld>
            <a:endParaRPr kumimoji="1" lang="zh-CN" altLang="en-US"/>
          </a:p>
        </p:txBody>
      </p:sp>
      <p:pic>
        <p:nvPicPr>
          <p:cNvPr id="12" name="图片 11">
            <a:extLst>
              <a:ext uri="{FF2B5EF4-FFF2-40B4-BE49-F238E27FC236}">
                <a16:creationId xmlns:a16="http://schemas.microsoft.com/office/drawing/2014/main" id="{84E3928C-0279-2E4F-9A61-B8BEC6FD7DFC}"/>
              </a:ext>
            </a:extLst>
          </p:cNvPr>
          <p:cNvPicPr>
            <a:picLocks noChangeAspect="1"/>
          </p:cNvPicPr>
          <p:nvPr/>
        </p:nvPicPr>
        <p:blipFill>
          <a:blip r:embed="rId2"/>
          <a:stretch>
            <a:fillRect/>
          </a:stretch>
        </p:blipFill>
        <p:spPr>
          <a:xfrm>
            <a:off x="2211646" y="1937130"/>
            <a:ext cx="7827707" cy="3699396"/>
          </a:xfrm>
          <a:prstGeom prst="rect">
            <a:avLst/>
          </a:prstGeom>
        </p:spPr>
      </p:pic>
    </p:spTree>
    <p:extLst>
      <p:ext uri="{BB962C8B-B14F-4D97-AF65-F5344CB8AC3E}">
        <p14:creationId xmlns:p14="http://schemas.microsoft.com/office/powerpoint/2010/main" val="6866279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F7AF59-27F7-264E-A2BB-1B79EA05FBA0}"/>
              </a:ext>
            </a:extLst>
          </p:cNvPr>
          <p:cNvSpPr>
            <a:spLocks noGrp="1"/>
          </p:cNvSpPr>
          <p:nvPr>
            <p:ph type="title"/>
          </p:nvPr>
        </p:nvSpPr>
        <p:spPr/>
        <p:txBody>
          <a:bodyPr/>
          <a:lstStyle/>
          <a:p>
            <a:r>
              <a:rPr kumimoji="1" lang="zh-CN" altLang="en-US" dirty="0"/>
              <a:t>精益创业</a:t>
            </a:r>
          </a:p>
        </p:txBody>
      </p:sp>
      <p:sp>
        <p:nvSpPr>
          <p:cNvPr id="3" name="内容占位符 2">
            <a:extLst>
              <a:ext uri="{FF2B5EF4-FFF2-40B4-BE49-F238E27FC236}">
                <a16:creationId xmlns:a16="http://schemas.microsoft.com/office/drawing/2014/main" id="{80A16293-490C-2E43-BE04-EE201328DAEA}"/>
              </a:ext>
            </a:extLst>
          </p:cNvPr>
          <p:cNvSpPr>
            <a:spLocks noGrp="1"/>
          </p:cNvSpPr>
          <p:nvPr>
            <p:ph idx="1"/>
          </p:nvPr>
        </p:nvSpPr>
        <p:spPr>
          <a:xfrm>
            <a:off x="2152650" y="1825627"/>
            <a:ext cx="7886700" cy="4667249"/>
          </a:xfrm>
        </p:spPr>
        <p:txBody>
          <a:bodyPr>
            <a:normAutofit fontScale="77500" lnSpcReduction="20000"/>
          </a:bodyPr>
          <a:lstStyle/>
          <a:p>
            <a:r>
              <a:rPr kumimoji="1" lang="zh-CN" altLang="en-US" dirty="0"/>
              <a:t>在当前环境下，不管是小型新创企业还是成熟企业都需要不断的创新来维持公司的持续发展，尤其是颠覆性创新。</a:t>
            </a:r>
          </a:p>
          <a:p>
            <a:r>
              <a:rPr kumimoji="1" lang="zh-CN" altLang="en-US" dirty="0"/>
              <a:t>创新是一种非常复杂并且具有高度不确定性的活动，它需要机遇、团队、技术、管理等等因素，任何理论都不可能涵盖到创新所需要的充分条件。</a:t>
            </a:r>
          </a:p>
          <a:p>
            <a:r>
              <a:rPr kumimoji="1" lang="zh-CN" altLang="en-US" dirty="0"/>
              <a:t>精益创业（</a:t>
            </a:r>
            <a:r>
              <a:rPr kumimoji="1" lang="en-US" altLang="zh-CN" dirty="0"/>
              <a:t>lean startup</a:t>
            </a:r>
            <a:r>
              <a:rPr kumimoji="1" lang="zh-CN" altLang="en-US" dirty="0"/>
              <a:t>，</a:t>
            </a:r>
            <a:r>
              <a:rPr kumimoji="1" lang="en-US" altLang="zh-CN" dirty="0"/>
              <a:t>2011</a:t>
            </a:r>
            <a:r>
              <a:rPr kumimoji="1" lang="zh-CN" altLang="en-US" dirty="0"/>
              <a:t>）是</a:t>
            </a:r>
            <a:r>
              <a:rPr kumimoji="1" lang="en-US" altLang="zh-CN" dirty="0"/>
              <a:t>Eric</a:t>
            </a:r>
            <a:r>
              <a:rPr kumimoji="1" lang="zh-CN" altLang="en-US" dirty="0"/>
              <a:t>等人一直在倡导的创业（创新）启动方法论，它的过程环主要是“假设（</a:t>
            </a:r>
            <a:r>
              <a:rPr kumimoji="1" lang="en-US" altLang="zh-CN" dirty="0"/>
              <a:t>idea</a:t>
            </a:r>
            <a:r>
              <a:rPr kumimoji="1" lang="zh-CN" altLang="en-US" dirty="0"/>
              <a:t>）”、“构建”、“检验”和“学习”等几个环节（快速），是一种经验学习型方法，通过不断试错来找到市场可接受的解决方案。</a:t>
            </a:r>
          </a:p>
        </p:txBody>
      </p:sp>
      <p:sp>
        <p:nvSpPr>
          <p:cNvPr id="4" name="灯片编号占位符 3">
            <a:extLst>
              <a:ext uri="{FF2B5EF4-FFF2-40B4-BE49-F238E27FC236}">
                <a16:creationId xmlns:a16="http://schemas.microsoft.com/office/drawing/2014/main" id="{95DB0F84-D02A-B545-AF2D-CF27806B7305}"/>
              </a:ext>
            </a:extLst>
          </p:cNvPr>
          <p:cNvSpPr>
            <a:spLocks noGrp="1"/>
          </p:cNvSpPr>
          <p:nvPr>
            <p:ph type="sldNum" sz="quarter" idx="12"/>
          </p:nvPr>
        </p:nvSpPr>
        <p:spPr/>
        <p:txBody>
          <a:bodyPr/>
          <a:lstStyle/>
          <a:p>
            <a:fld id="{4D1FD872-5D71-BD4B-86C8-57CDF6D45626}" type="slidenum">
              <a:rPr kumimoji="1" lang="zh-CN" altLang="en-US" smtClean="0"/>
              <a:t>29</a:t>
            </a:fld>
            <a:endParaRPr kumimoji="1" lang="zh-CN" altLang="en-US"/>
          </a:p>
        </p:txBody>
      </p:sp>
    </p:spTree>
    <p:extLst>
      <p:ext uri="{BB962C8B-B14F-4D97-AF65-F5344CB8AC3E}">
        <p14:creationId xmlns:p14="http://schemas.microsoft.com/office/powerpoint/2010/main" val="34496147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B99B70-44DA-384C-9DE1-F60BAC95FDAB}"/>
              </a:ext>
            </a:extLst>
          </p:cNvPr>
          <p:cNvSpPr>
            <a:spLocks noGrp="1"/>
          </p:cNvSpPr>
          <p:nvPr>
            <p:ph type="title"/>
          </p:nvPr>
        </p:nvSpPr>
        <p:spPr/>
        <p:txBody>
          <a:bodyPr/>
          <a:lstStyle/>
          <a:p>
            <a:r>
              <a:rPr kumimoji="1" lang="en-US" altLang="zh-CN" dirty="0"/>
              <a:t>DevOps</a:t>
            </a:r>
            <a:endParaRPr kumimoji="1" lang="zh-CN" altLang="en-US" dirty="0"/>
          </a:p>
        </p:txBody>
      </p:sp>
      <p:sp>
        <p:nvSpPr>
          <p:cNvPr id="3" name="内容占位符 2">
            <a:extLst>
              <a:ext uri="{FF2B5EF4-FFF2-40B4-BE49-F238E27FC236}">
                <a16:creationId xmlns:a16="http://schemas.microsoft.com/office/drawing/2014/main" id="{9A547730-CB77-E74D-9578-A0C11BE2C8D4}"/>
              </a:ext>
            </a:extLst>
          </p:cNvPr>
          <p:cNvSpPr>
            <a:spLocks noGrp="1"/>
          </p:cNvSpPr>
          <p:nvPr>
            <p:ph idx="1"/>
          </p:nvPr>
        </p:nvSpPr>
        <p:spPr/>
        <p:txBody>
          <a:bodyPr>
            <a:normAutofit/>
          </a:bodyPr>
          <a:lstStyle/>
          <a:p>
            <a:r>
              <a:rPr lang="en-US" altLang="zh-CN" b="0" i="0" dirty="0">
                <a:effectLst/>
                <a:latin typeface="Inter"/>
              </a:rPr>
              <a:t>“DevOps </a:t>
            </a:r>
            <a:r>
              <a:rPr lang="zh-CN" altLang="en-US" b="0" i="0" dirty="0">
                <a:effectLst/>
                <a:latin typeface="Inter"/>
              </a:rPr>
              <a:t>是一套实践方法，旨在缩短对系统提交变更到变更投入正常生产之间的时间，同时确保高质量。”</a:t>
            </a:r>
            <a:endParaRPr lang="en-US" altLang="zh-CN" b="0" i="0" dirty="0">
              <a:effectLst/>
              <a:latin typeface="Inter"/>
            </a:endParaRPr>
          </a:p>
          <a:p>
            <a:r>
              <a:rPr lang="en-US" altLang="zh-CN" b="0" i="0" dirty="0">
                <a:effectLst/>
                <a:latin typeface="Inter"/>
              </a:rPr>
              <a:t>DevOps </a:t>
            </a:r>
            <a:r>
              <a:rPr lang="zh-CN" altLang="en-US" b="0" i="0" dirty="0">
                <a:effectLst/>
                <a:latin typeface="Inter"/>
              </a:rPr>
              <a:t>关乎</a:t>
            </a:r>
            <a:r>
              <a:rPr lang="en-US" altLang="zh-CN" b="0" i="0" dirty="0">
                <a:effectLst/>
                <a:latin typeface="Inter"/>
              </a:rPr>
              <a:t>……</a:t>
            </a:r>
          </a:p>
          <a:p>
            <a:pPr lvl="1"/>
            <a:r>
              <a:rPr lang="zh-CN" altLang="en-US" b="0" i="0" dirty="0">
                <a:effectLst/>
                <a:latin typeface="Inter"/>
              </a:rPr>
              <a:t>将 “敏捷” 方法引入运维</a:t>
            </a:r>
            <a:endParaRPr lang="en-US" altLang="zh-CN" b="0" i="0" dirty="0">
              <a:effectLst/>
              <a:latin typeface="Inter"/>
            </a:endParaRPr>
          </a:p>
          <a:p>
            <a:pPr lvl="1"/>
            <a:r>
              <a:rPr lang="zh-CN" altLang="en-US" b="0" i="0" dirty="0">
                <a:effectLst/>
                <a:latin typeface="Inter"/>
              </a:rPr>
              <a:t>鼓励开发人员与运维人员之间的协作，让他们展开交流</a:t>
            </a:r>
            <a:endParaRPr lang="en-US" altLang="zh-CN" b="0" i="0" dirty="0">
              <a:effectLst/>
              <a:latin typeface="Inter"/>
            </a:endParaRPr>
          </a:p>
          <a:p>
            <a:pPr lvl="1"/>
            <a:r>
              <a:rPr lang="zh-CN" altLang="en-US" b="0" i="0" dirty="0">
                <a:effectLst/>
                <a:latin typeface="Inter"/>
              </a:rPr>
              <a:t>设定共同目标，组建开发与运维团队</a:t>
            </a:r>
            <a:endParaRPr kumimoji="1" lang="zh-CN" altLang="en-US" dirty="0"/>
          </a:p>
        </p:txBody>
      </p:sp>
      <p:sp>
        <p:nvSpPr>
          <p:cNvPr id="4" name="灯片编号占位符 3">
            <a:extLst>
              <a:ext uri="{FF2B5EF4-FFF2-40B4-BE49-F238E27FC236}">
                <a16:creationId xmlns:a16="http://schemas.microsoft.com/office/drawing/2014/main" id="{C8FF189F-253A-8F4D-99AB-D56F62775D07}"/>
              </a:ext>
            </a:extLst>
          </p:cNvPr>
          <p:cNvSpPr>
            <a:spLocks noGrp="1"/>
          </p:cNvSpPr>
          <p:nvPr>
            <p:ph type="sldNum" sz="quarter" idx="12"/>
          </p:nvPr>
        </p:nvSpPr>
        <p:spPr/>
        <p:txBody>
          <a:bodyPr/>
          <a:lstStyle/>
          <a:p>
            <a:fld id="{4D1FD872-5D71-BD4B-86C8-57CDF6D45626}" type="slidenum">
              <a:rPr kumimoji="1" lang="zh-CN" altLang="en-US" smtClean="0"/>
              <a:t>30</a:t>
            </a:fld>
            <a:endParaRPr kumimoji="1" lang="zh-CN" altLang="en-US"/>
          </a:p>
        </p:txBody>
      </p:sp>
    </p:spTree>
    <p:extLst>
      <p:ext uri="{BB962C8B-B14F-4D97-AF65-F5344CB8AC3E}">
        <p14:creationId xmlns:p14="http://schemas.microsoft.com/office/powerpoint/2010/main" val="3232488881"/>
      </p:ext>
    </p:extLst>
  </p:cSld>
  <p:clrMapOvr>
    <a:masterClrMapping/>
  </p:clrMapOvr>
</p:sld>
</file>

<file path=ppt/theme/theme1.xml><?xml version="1.0" encoding="utf-8"?>
<a:theme xmlns:a="http://schemas.openxmlformats.org/drawingml/2006/main" name="Office 主题">
  <a:themeElements>
    <a:clrScheme name="南大紫">
      <a:dk1>
        <a:srgbClr val="6A005F"/>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lides">
      <a:majorFont>
        <a:latin typeface="Times New Roman"/>
        <a:ea typeface="微软雅黑"/>
        <a:cs typeface=""/>
      </a:majorFont>
      <a:minorFont>
        <a:latin typeface="Times New Roman"/>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南京大学43模板" id="{EBD0E1FB-4976-D14B-8F6C-556720608743}" vid="{7CEF094C-A5BD-0A4A-A564-CD201D176D7C}"/>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主题</Template>
  <TotalTime>142</TotalTime>
  <Words>1714</Words>
  <Application>Microsoft Macintosh PowerPoint</Application>
  <PresentationFormat>宽屏</PresentationFormat>
  <Paragraphs>159</Paragraphs>
  <Slides>30</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30</vt:i4>
      </vt:variant>
    </vt:vector>
  </HeadingPairs>
  <TitlesOfParts>
    <vt:vector size="37" baseType="lpstr">
      <vt:lpstr>等线</vt:lpstr>
      <vt:lpstr>Microsoft YaHei</vt:lpstr>
      <vt:lpstr>Inter</vt:lpstr>
      <vt:lpstr>Arial</vt:lpstr>
      <vt:lpstr>Calibri</vt:lpstr>
      <vt:lpstr>Times New Roman</vt:lpstr>
      <vt:lpstr>Office 主题</vt:lpstr>
      <vt:lpstr>PowerPoint 演示文稿</vt:lpstr>
      <vt:lpstr>PowerPoint 演示文稿</vt:lpstr>
      <vt:lpstr>为什么敏捷与精益出现在软件开发行业？</vt:lpstr>
      <vt:lpstr>敏捷软件开发很流行</vt:lpstr>
      <vt:lpstr>软件项目成功？传统观点</vt:lpstr>
      <vt:lpstr>软件项目成功？敏捷观点</vt:lpstr>
      <vt:lpstr>PowerPoint 演示文稿</vt:lpstr>
      <vt:lpstr>IT技术发展</vt:lpstr>
      <vt:lpstr>软件过程与项目管理</vt:lpstr>
      <vt:lpstr>敏捷软件开发知识体系</vt:lpstr>
      <vt:lpstr>如何做到敏捷</vt:lpstr>
      <vt:lpstr>价值观、原则和实践</vt:lpstr>
      <vt:lpstr>园艺师例子</vt:lpstr>
      <vt:lpstr>差异？</vt:lpstr>
      <vt:lpstr>只懂实践？</vt:lpstr>
      <vt:lpstr>价值观</vt:lpstr>
      <vt:lpstr>价值观与实践</vt:lpstr>
      <vt:lpstr>原则</vt:lpstr>
      <vt:lpstr>敏捷宣言历史</vt:lpstr>
      <vt:lpstr>背景</vt:lpstr>
      <vt:lpstr>PowerPoint 演示文稿</vt:lpstr>
      <vt:lpstr>个体和互动高于流程和工具</vt:lpstr>
      <vt:lpstr> 工作的软件高于详尽的文档</vt:lpstr>
      <vt:lpstr>客户合作高于合同谈判</vt:lpstr>
      <vt:lpstr>响应变化高于遵循计划</vt:lpstr>
      <vt:lpstr>尽管右项有其价值，我们更重视左项的价值。</vt:lpstr>
      <vt:lpstr>PowerPoint 演示文稿</vt:lpstr>
      <vt:lpstr>创新、研发、运维</vt:lpstr>
      <vt:lpstr>精益创业</vt:lpstr>
      <vt:lpstr>DevOps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用户</dc:creator>
  <dc:description>第一PPT模板网-WWW.1PPT.COM</dc:description>
  <cp:lastModifiedBy>栋 邵</cp:lastModifiedBy>
  <cp:revision>59</cp:revision>
  <dcterms:created xsi:type="dcterms:W3CDTF">2020-03-11T11:55:51Z</dcterms:created>
  <dcterms:modified xsi:type="dcterms:W3CDTF">2025-04-07T07:40:36Z</dcterms:modified>
  <cp:category>第一PPT模板网-WWW.1PPT.COM</cp:category>
</cp:coreProperties>
</file>