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43"/>
  </p:notesMasterIdLst>
  <p:sldIdLst>
    <p:sldId id="427" r:id="rId2"/>
    <p:sldId id="486" r:id="rId3"/>
    <p:sldId id="488" r:id="rId4"/>
    <p:sldId id="489" r:id="rId5"/>
    <p:sldId id="490" r:id="rId6"/>
    <p:sldId id="491" r:id="rId7"/>
    <p:sldId id="492" r:id="rId8"/>
    <p:sldId id="493" r:id="rId9"/>
    <p:sldId id="494" r:id="rId10"/>
    <p:sldId id="495" r:id="rId11"/>
    <p:sldId id="496" r:id="rId12"/>
    <p:sldId id="497" r:id="rId13"/>
    <p:sldId id="499" r:id="rId14"/>
    <p:sldId id="501" r:id="rId15"/>
    <p:sldId id="502" r:id="rId16"/>
    <p:sldId id="561" r:id="rId17"/>
    <p:sldId id="562" r:id="rId18"/>
    <p:sldId id="505" r:id="rId19"/>
    <p:sldId id="506" r:id="rId20"/>
    <p:sldId id="507" r:id="rId21"/>
    <p:sldId id="508" r:id="rId22"/>
    <p:sldId id="509" r:id="rId23"/>
    <p:sldId id="510" r:id="rId24"/>
    <p:sldId id="511" r:id="rId25"/>
    <p:sldId id="512" r:id="rId26"/>
    <p:sldId id="517" r:id="rId27"/>
    <p:sldId id="518" r:id="rId28"/>
    <p:sldId id="519" r:id="rId29"/>
    <p:sldId id="520" r:id="rId30"/>
    <p:sldId id="521" r:id="rId31"/>
    <p:sldId id="523" r:id="rId32"/>
    <p:sldId id="524" r:id="rId33"/>
    <p:sldId id="525" r:id="rId34"/>
    <p:sldId id="527" r:id="rId35"/>
    <p:sldId id="529" r:id="rId36"/>
    <p:sldId id="531" r:id="rId37"/>
    <p:sldId id="353" r:id="rId38"/>
    <p:sldId id="348" r:id="rId39"/>
    <p:sldId id="349" r:id="rId40"/>
    <p:sldId id="350" r:id="rId41"/>
    <p:sldId id="351" r:id="rId4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Microsof" lastIdx="1" clrIdx="0"/>
  <p:cmAuthor id="2" name="Microsoft Office 用户" initials="Microsof [2]"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7575F1"/>
    <a:srgbClr val="90B0D6"/>
    <a:srgbClr val="9B6BFB"/>
    <a:srgbClr val="7469FD"/>
    <a:srgbClr val="AD8CDA"/>
    <a:srgbClr val="6D7A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20" autoAdjust="0"/>
    <p:restoredTop sz="74898" autoAdjust="0"/>
  </p:normalViewPr>
  <p:slideViewPr>
    <p:cSldViewPr>
      <p:cViewPr varScale="1">
        <p:scale>
          <a:sx n="94" d="100"/>
          <a:sy n="94" d="100"/>
        </p:scale>
        <p:origin x="2912"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203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zh-CN" altLang="en-US"/>
          </a:p>
        </p:txBody>
      </p:sp>
      <p:sp>
        <p:nvSpPr>
          <p:cNvPr id="17203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F6B3B813-A581-48DC-8633-E3C4F4BDBFEB}" type="datetimeFigureOut">
              <a:rPr lang="zh-CN" altLang="en-US"/>
              <a:pPr>
                <a:defRPr/>
              </a:pPr>
              <a:t>2025/6/3</a:t>
            </a:fld>
            <a:endParaRPr lang="en-US" altLang="zh-CN"/>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203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203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ltLang="zh-CN"/>
          </a:p>
        </p:txBody>
      </p:sp>
      <p:sp>
        <p:nvSpPr>
          <p:cNvPr id="17203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68BBDFF6-09F2-4148-9FBE-EAEC59E6E8F5}" type="slidenum">
              <a:rPr lang="zh-CN" altLang="en-US"/>
              <a:pPr>
                <a:defRPr/>
              </a:pPr>
              <a:t>‹#›</a:t>
            </a:fld>
            <a:endParaRPr lang="en-US" altLang="zh-CN"/>
          </a:p>
        </p:txBody>
      </p:sp>
    </p:spTree>
    <p:extLst>
      <p:ext uri="{BB962C8B-B14F-4D97-AF65-F5344CB8AC3E}">
        <p14:creationId xmlns:p14="http://schemas.microsoft.com/office/powerpoint/2010/main" val="29570128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ln/>
        </p:spPr>
      </p:sp>
      <p:sp>
        <p:nvSpPr>
          <p:cNvPr id="63491" name="备注占位符 2"/>
          <p:cNvSpPr>
            <a:spLocks noGrp="1"/>
          </p:cNvSpPr>
          <p:nvPr>
            <p:ph type="body" idx="1"/>
          </p:nvPr>
        </p:nvSpPr>
        <p:spPr>
          <a:noFill/>
        </p:spPr>
        <p:txBody>
          <a:bodyPr/>
          <a:lstStyle/>
          <a:p>
            <a:endParaRPr lang="zh-CN" altLang="en-US"/>
          </a:p>
        </p:txBody>
      </p:sp>
      <p:sp>
        <p:nvSpPr>
          <p:cNvPr id="63492"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D5C8545-BBCF-4CE1-B5A0-68AF68001A31}" type="slidenum">
              <a:rPr lang="zh-CN" altLang="en-US" smtClean="0"/>
              <a:pPr/>
              <a:t>1</a:t>
            </a:fld>
            <a:endParaRPr lang="zh-CN" altLang="en-US"/>
          </a:p>
        </p:txBody>
      </p:sp>
    </p:spTree>
    <p:extLst>
      <p:ext uri="{BB962C8B-B14F-4D97-AF65-F5344CB8AC3E}">
        <p14:creationId xmlns:p14="http://schemas.microsoft.com/office/powerpoint/2010/main" val="1263846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软件项目的日程、成本以及质量三大目标统一于质量目标。</a:t>
            </a:r>
          </a:p>
          <a:p>
            <a:endParaRPr kumimoji="1" lang="zh-CN" altLang="en-US" dirty="0"/>
          </a:p>
        </p:txBody>
      </p:sp>
      <p:sp>
        <p:nvSpPr>
          <p:cNvPr id="4" name="幻灯片编号占位符 3"/>
          <p:cNvSpPr>
            <a:spLocks noGrp="1"/>
          </p:cNvSpPr>
          <p:nvPr>
            <p:ph type="sldNum" sz="quarter" idx="10"/>
          </p:nvPr>
        </p:nvSpPr>
        <p:spPr/>
        <p:txBody>
          <a:bodyPr/>
          <a:lstStyle/>
          <a:p>
            <a:pPr>
              <a:defRPr/>
            </a:pPr>
            <a:fld id="{68BBDFF6-09F2-4148-9FBE-EAEC59E6E8F5}" type="slidenum">
              <a:rPr lang="zh-CN" altLang="en-US" smtClean="0"/>
              <a:pPr>
                <a:defRPr/>
              </a:pPr>
              <a:t>2</a:t>
            </a:fld>
            <a:endParaRPr lang="en-US" altLang="zh-CN"/>
          </a:p>
        </p:txBody>
      </p:sp>
    </p:spTree>
    <p:extLst>
      <p:ext uri="{BB962C8B-B14F-4D97-AF65-F5344CB8AC3E}">
        <p14:creationId xmlns:p14="http://schemas.microsoft.com/office/powerpoint/2010/main" val="1756573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a:t>
            </a:fld>
            <a:endParaRPr lang="zh-CN" altLang="en-US"/>
          </a:p>
        </p:txBody>
      </p:sp>
    </p:spTree>
    <p:extLst>
      <p:ext uri="{BB962C8B-B14F-4D97-AF65-F5344CB8AC3E}">
        <p14:creationId xmlns:p14="http://schemas.microsoft.com/office/powerpoint/2010/main" val="1240155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dirty="0"/>
              <a:t>究竟什么是软件质量，业界存在着很多定义。给出一个大家都能接受和认同的软件质量的定义是一个挑战。</a:t>
            </a:r>
            <a:endParaRPr lang="en-US" altLang="zh-CN"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促使开发团队必须仔细考虑“用户是谁？”以及“他们的期望是什么？”等问题。</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a:t>
            </a:fld>
            <a:endParaRPr lang="zh-CN" altLang="en-US"/>
          </a:p>
        </p:txBody>
      </p:sp>
    </p:spTree>
    <p:extLst>
      <p:ext uri="{BB962C8B-B14F-4D97-AF65-F5344CB8AC3E}">
        <p14:creationId xmlns:p14="http://schemas.microsoft.com/office/powerpoint/2010/main" val="2117528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a:t>
            </a:fld>
            <a:endParaRPr lang="zh-CN" altLang="en-US"/>
          </a:p>
        </p:txBody>
      </p:sp>
    </p:spTree>
    <p:extLst>
      <p:ext uri="{BB962C8B-B14F-4D97-AF65-F5344CB8AC3E}">
        <p14:creationId xmlns:p14="http://schemas.microsoft.com/office/powerpoint/2010/main" val="135741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a:solidFill>
                  <a:schemeClr val="tx1"/>
                </a:solidFill>
                <a:latin typeface="+mn-lt"/>
                <a:ea typeface="+mn-ea"/>
                <a:cs typeface="+mn-cs"/>
              </a:rPr>
              <a:t>这样的列表可以一直列举下去，列表中各项内容的顺序也可以变化，这取决于用户期望、开发环境和应用环境等因素。但是，相信几乎在任何一个列表中，都会把软件产品能够工作作为一个最基本的期望。事实上，如果软件产品本身不能工作，那么考虑其他的期望是没有意义的。而为了使一个软件产品可以工作，该产品基本没有缺陷是最基本的要求。这样一来，整个软件产品的质量目标就可以归结成首先得确保基本没有缺陷，然后再考察其他的质量目标。</a:t>
            </a:r>
            <a:r>
              <a:rPr lang="en-US" sz="1200" kern="1200" dirty="0">
                <a:solidFill>
                  <a:schemeClr val="tx1"/>
                </a:solidFill>
                <a:latin typeface="+mn-lt"/>
                <a:ea typeface="+mn-ea"/>
                <a:cs typeface="+mn-cs"/>
              </a:rPr>
              <a:t>PSP</a:t>
            </a:r>
            <a:r>
              <a:rPr lang="zh-CN" altLang="en-US" sz="1200" kern="1200" dirty="0">
                <a:solidFill>
                  <a:schemeClr val="tx1"/>
                </a:solidFill>
                <a:latin typeface="+mn-lt"/>
                <a:ea typeface="+mn-ea"/>
                <a:cs typeface="+mn-cs"/>
              </a:rPr>
              <a:t>中就采用了这样的方式，用缺陷管理来替代质量管理，这大大简化了质量管理的方法，使得质量管理更加易于操作。</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6</a:t>
            </a:fld>
            <a:endParaRPr lang="zh-CN" altLang="en-US"/>
          </a:p>
        </p:txBody>
      </p:sp>
    </p:spTree>
    <p:extLst>
      <p:ext uri="{BB962C8B-B14F-4D97-AF65-F5344CB8AC3E}">
        <p14:creationId xmlns:p14="http://schemas.microsoft.com/office/powerpoint/2010/main" val="18662932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7</a:t>
            </a:fld>
            <a:endParaRPr lang="zh-CN" altLang="en-US"/>
          </a:p>
        </p:txBody>
      </p:sp>
    </p:spTree>
    <p:extLst>
      <p:ext uri="{BB962C8B-B14F-4D97-AF65-F5344CB8AC3E}">
        <p14:creationId xmlns:p14="http://schemas.microsoft.com/office/powerpoint/2010/main" val="282439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8</a:t>
            </a:fld>
            <a:endParaRPr lang="zh-CN" altLang="en-US"/>
          </a:p>
        </p:txBody>
      </p:sp>
    </p:spTree>
    <p:extLst>
      <p:ext uri="{BB962C8B-B14F-4D97-AF65-F5344CB8AC3E}">
        <p14:creationId xmlns:p14="http://schemas.microsoft.com/office/powerpoint/2010/main" val="687931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a:solidFill>
                  <a:schemeClr val="tx1"/>
                </a:solidFill>
                <a:latin typeface="+mn-lt"/>
                <a:ea typeface="+mn-ea"/>
                <a:cs typeface="+mn-cs"/>
              </a:rPr>
              <a:t>在上述的步骤当中，有一些步骤极耗时间。比如步骤③，在项目的后期，往往会消耗数天甚至数周的时间。此外，在有些软件项目中，开发团队、测试团队和正式发布团队往往分开。那么如果用户在使用软件的过程中发现缺陷，再通过正式沟通渠道将信息反馈到开发团队，然后等待修改和发布，重新安装补丁，这一流程消耗数月时间也是常事。</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9</a:t>
            </a:fld>
            <a:endParaRPr lang="zh-CN" altLang="en-US"/>
          </a:p>
        </p:txBody>
      </p:sp>
    </p:spTree>
    <p:extLst>
      <p:ext uri="{BB962C8B-B14F-4D97-AF65-F5344CB8AC3E}">
        <p14:creationId xmlns:p14="http://schemas.microsoft.com/office/powerpoint/2010/main" val="1008474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a:solidFill>
                  <a:schemeClr val="tx1"/>
                </a:solidFill>
                <a:latin typeface="+mn-lt"/>
                <a:ea typeface="+mn-ea"/>
                <a:cs typeface="+mn-cs"/>
              </a:rPr>
              <a:t>在上述的步骤中，每一步消耗的时间都不会太多。尽管评审的技能因人而异，但是，通过适当培训和积累，有经验的评审者可以发现</a:t>
            </a:r>
            <a:r>
              <a:rPr lang="en-US" sz="1200" kern="1200" dirty="0">
                <a:solidFill>
                  <a:schemeClr val="tx1"/>
                </a:solidFill>
                <a:latin typeface="+mn-lt"/>
                <a:ea typeface="+mn-ea"/>
                <a:cs typeface="+mn-cs"/>
              </a:rPr>
              <a:t>80%</a:t>
            </a:r>
            <a:r>
              <a:rPr lang="zh-CN" altLang="en-US" sz="1200" kern="1200" dirty="0">
                <a:solidFill>
                  <a:schemeClr val="tx1"/>
                </a:solidFill>
                <a:latin typeface="+mn-lt"/>
                <a:ea typeface="+mn-ea"/>
                <a:cs typeface="+mn-cs"/>
              </a:rPr>
              <a:t>左右的缺陷。</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10</a:t>
            </a:fld>
            <a:endParaRPr lang="zh-CN" altLang="en-US"/>
          </a:p>
        </p:txBody>
      </p:sp>
    </p:spTree>
    <p:extLst>
      <p:ext uri="{BB962C8B-B14F-4D97-AF65-F5344CB8AC3E}">
        <p14:creationId xmlns:p14="http://schemas.microsoft.com/office/powerpoint/2010/main" val="1620286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11</a:t>
            </a:fld>
            <a:endParaRPr lang="zh-CN" altLang="en-US"/>
          </a:p>
        </p:txBody>
      </p:sp>
    </p:spTree>
    <p:extLst>
      <p:ext uri="{BB962C8B-B14F-4D97-AF65-F5344CB8AC3E}">
        <p14:creationId xmlns:p14="http://schemas.microsoft.com/office/powerpoint/2010/main" val="11109340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12</a:t>
            </a:fld>
            <a:endParaRPr lang="zh-CN" altLang="en-US"/>
          </a:p>
        </p:txBody>
      </p:sp>
    </p:spTree>
    <p:extLst>
      <p:ext uri="{BB962C8B-B14F-4D97-AF65-F5344CB8AC3E}">
        <p14:creationId xmlns:p14="http://schemas.microsoft.com/office/powerpoint/2010/main" val="278984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13</a:t>
            </a:fld>
            <a:endParaRPr lang="zh-CN" altLang="en-US"/>
          </a:p>
        </p:txBody>
      </p:sp>
    </p:spTree>
    <p:extLst>
      <p:ext uri="{BB962C8B-B14F-4D97-AF65-F5344CB8AC3E}">
        <p14:creationId xmlns:p14="http://schemas.microsoft.com/office/powerpoint/2010/main" val="741115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14</a:t>
            </a:fld>
            <a:endParaRPr lang="zh-CN" altLang="en-US"/>
          </a:p>
        </p:txBody>
      </p:sp>
    </p:spTree>
    <p:extLst>
      <p:ext uri="{BB962C8B-B14F-4D97-AF65-F5344CB8AC3E}">
        <p14:creationId xmlns:p14="http://schemas.microsoft.com/office/powerpoint/2010/main" val="14941922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15</a:t>
            </a:fld>
            <a:endParaRPr lang="zh-CN" altLang="en-US"/>
          </a:p>
        </p:txBody>
      </p:sp>
    </p:spTree>
    <p:extLst>
      <p:ext uri="{BB962C8B-B14F-4D97-AF65-F5344CB8AC3E}">
        <p14:creationId xmlns:p14="http://schemas.microsoft.com/office/powerpoint/2010/main" val="778646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6.90</a:t>
            </a:r>
          </a:p>
          <a:p>
            <a:r>
              <a:rPr lang="en-US" altLang="zh-CN" dirty="0"/>
              <a:t>22.2</a:t>
            </a:r>
          </a:p>
          <a:p>
            <a:r>
              <a:rPr lang="en-US" altLang="zh-CN" dirty="0"/>
              <a:t>2.41</a:t>
            </a:r>
          </a:p>
          <a:p>
            <a:r>
              <a:rPr lang="en-US" altLang="zh-CN" dirty="0"/>
              <a:t>33.3</a:t>
            </a:r>
          </a:p>
          <a:p>
            <a:r>
              <a:rPr lang="en-US" altLang="zh-CN" dirty="0"/>
              <a:t>50</a:t>
            </a:r>
            <a:endParaRPr lang="zh-CN" altLang="en-US" dirty="0"/>
          </a:p>
        </p:txBody>
      </p:sp>
      <p:sp>
        <p:nvSpPr>
          <p:cNvPr id="4" name="灯片编号占位符 3"/>
          <p:cNvSpPr>
            <a:spLocks noGrp="1"/>
          </p:cNvSpPr>
          <p:nvPr>
            <p:ph type="sldNum" sz="quarter" idx="5"/>
          </p:nvPr>
        </p:nvSpPr>
        <p:spPr/>
        <p:txBody>
          <a:bodyPr/>
          <a:lstStyle/>
          <a:p>
            <a:pPr>
              <a:defRPr/>
            </a:pPr>
            <a:fld id="{68BBDFF6-09F2-4148-9FBE-EAEC59E6E8F5}" type="slidenum">
              <a:rPr lang="zh-CN" altLang="en-US" smtClean="0"/>
              <a:pPr>
                <a:defRPr/>
              </a:pPr>
              <a:t>16</a:t>
            </a:fld>
            <a:endParaRPr lang="en-US" altLang="zh-CN"/>
          </a:p>
        </p:txBody>
      </p:sp>
    </p:spTree>
    <p:extLst>
      <p:ext uri="{BB962C8B-B14F-4D97-AF65-F5344CB8AC3E}">
        <p14:creationId xmlns:p14="http://schemas.microsoft.com/office/powerpoint/2010/main" val="35965151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17</a:t>
            </a:fld>
            <a:endParaRPr lang="zh-CN" altLang="en-US"/>
          </a:p>
        </p:txBody>
      </p:sp>
    </p:spTree>
    <p:extLst>
      <p:ext uri="{BB962C8B-B14F-4D97-AF65-F5344CB8AC3E}">
        <p14:creationId xmlns:p14="http://schemas.microsoft.com/office/powerpoint/2010/main" val="20636570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sz="1200" kern="1200" dirty="0">
                <a:solidFill>
                  <a:schemeClr val="tx1"/>
                </a:solidFill>
                <a:latin typeface="+mn-lt"/>
                <a:ea typeface="+mn-ea"/>
                <a:cs typeface="+mn-cs"/>
              </a:rPr>
              <a:t>PSP</a:t>
            </a:r>
            <a:r>
              <a:rPr lang="zh-CN" altLang="en-US" sz="1200" kern="1200" dirty="0">
                <a:solidFill>
                  <a:schemeClr val="tx1"/>
                </a:solidFill>
                <a:latin typeface="+mn-lt"/>
                <a:ea typeface="+mn-ea"/>
                <a:cs typeface="+mn-cs"/>
              </a:rPr>
              <a:t>中定义的失效成本为编译时间和单元测试时间之和。</a:t>
            </a:r>
            <a:endParaRPr lang="en-US" altLang="zh-CN" sz="1200" kern="1200" dirty="0">
              <a:solidFill>
                <a:schemeClr val="tx1"/>
              </a:solidFill>
              <a:latin typeface="+mn-lt"/>
              <a:ea typeface="+mn-ea"/>
              <a:cs typeface="+mn-cs"/>
            </a:endParaRPr>
          </a:p>
          <a:p>
            <a:r>
              <a:rPr lang="en-US" sz="1200" kern="1200" dirty="0">
                <a:solidFill>
                  <a:schemeClr val="tx1"/>
                </a:solidFill>
                <a:latin typeface="+mn-lt"/>
                <a:ea typeface="+mn-ea"/>
                <a:cs typeface="+mn-cs"/>
              </a:rPr>
              <a:t>PSP</a:t>
            </a:r>
            <a:r>
              <a:rPr lang="zh-CN" altLang="en-US" sz="1200" kern="1200" dirty="0">
                <a:solidFill>
                  <a:schemeClr val="tx1"/>
                </a:solidFill>
                <a:latin typeface="+mn-lt"/>
                <a:ea typeface="+mn-ea"/>
                <a:cs typeface="+mn-cs"/>
              </a:rPr>
              <a:t>中定义的质检成本为设计评审时间与代码评审时间之和。</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18</a:t>
            </a:fld>
            <a:endParaRPr lang="zh-CN" altLang="en-US"/>
          </a:p>
        </p:txBody>
      </p:sp>
    </p:spTree>
    <p:extLst>
      <p:ext uri="{BB962C8B-B14F-4D97-AF65-F5344CB8AC3E}">
        <p14:creationId xmlns:p14="http://schemas.microsoft.com/office/powerpoint/2010/main" val="8275478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也就是说，为了确保较高的质量水平，软件工程师应当花费两倍与编译加测试的时间进行评审工作。评审的对象为设计和代码。</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19</a:t>
            </a:fld>
            <a:endParaRPr lang="zh-CN" altLang="en-US"/>
          </a:p>
        </p:txBody>
      </p:sp>
    </p:spTree>
    <p:extLst>
      <p:ext uri="{BB962C8B-B14F-4D97-AF65-F5344CB8AC3E}">
        <p14:creationId xmlns:p14="http://schemas.microsoft.com/office/powerpoint/2010/main" val="8062841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20</a:t>
            </a:fld>
            <a:endParaRPr lang="zh-CN" altLang="en-US"/>
          </a:p>
        </p:txBody>
      </p:sp>
    </p:spTree>
    <p:extLst>
      <p:ext uri="{BB962C8B-B14F-4D97-AF65-F5344CB8AC3E}">
        <p14:creationId xmlns:p14="http://schemas.microsoft.com/office/powerpoint/2010/main" val="1349095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21</a:t>
            </a:fld>
            <a:endParaRPr lang="zh-CN" altLang="en-US"/>
          </a:p>
        </p:txBody>
      </p:sp>
    </p:spTree>
    <p:extLst>
      <p:ext uri="{BB962C8B-B14F-4D97-AF65-F5344CB8AC3E}">
        <p14:creationId xmlns:p14="http://schemas.microsoft.com/office/powerpoint/2010/main" val="11749572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22</a:t>
            </a:fld>
            <a:endParaRPr lang="zh-CN" altLang="en-US"/>
          </a:p>
        </p:txBody>
      </p:sp>
    </p:spTree>
    <p:extLst>
      <p:ext uri="{BB962C8B-B14F-4D97-AF65-F5344CB8AC3E}">
        <p14:creationId xmlns:p14="http://schemas.microsoft.com/office/powerpoint/2010/main" val="13862032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然而如果不计成本的投入大量时间进行评审，尽管可能发现较多的缺陷，但是又会影响到整个软件过程的生产效率。因此，应当为评审设置一个恰当的速度。</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23</a:t>
            </a:fld>
            <a:endParaRPr lang="zh-CN" altLang="en-US"/>
          </a:p>
        </p:txBody>
      </p:sp>
    </p:spTree>
    <p:extLst>
      <p:ext uri="{BB962C8B-B14F-4D97-AF65-F5344CB8AC3E}">
        <p14:creationId xmlns:p14="http://schemas.microsoft.com/office/powerpoint/2010/main" val="3443640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24</a:t>
            </a:fld>
            <a:endParaRPr lang="zh-CN" altLang="en-US"/>
          </a:p>
        </p:txBody>
      </p:sp>
    </p:spTree>
    <p:extLst>
      <p:ext uri="{BB962C8B-B14F-4D97-AF65-F5344CB8AC3E}">
        <p14:creationId xmlns:p14="http://schemas.microsoft.com/office/powerpoint/2010/main" val="2989487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当评审对象比较复杂的时候，单个屏幕往往不能体现评审对象的整体结构、整体安全、整体性能以及其他整体属性。</a:t>
            </a:r>
            <a:endParaRPr lang="en-US" altLang="zh-CN" dirty="0"/>
          </a:p>
          <a:p>
            <a:r>
              <a:rPr lang="zh-CN" altLang="en-US" dirty="0"/>
              <a:t>其次，基于屏幕的评审，往往容易受到干扰，从而不易集中注意力。而打印之后的评审，评审人员完全脱离计算机环境，更容易集中注意力。</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25</a:t>
            </a:fld>
            <a:endParaRPr lang="zh-CN" altLang="en-US"/>
          </a:p>
        </p:txBody>
      </p:sp>
    </p:spTree>
    <p:extLst>
      <p:ext uri="{BB962C8B-B14F-4D97-AF65-F5344CB8AC3E}">
        <p14:creationId xmlns:p14="http://schemas.microsoft.com/office/powerpoint/2010/main" val="20336389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26</a:t>
            </a:fld>
            <a:endParaRPr lang="zh-CN" altLang="en-US"/>
          </a:p>
        </p:txBody>
      </p:sp>
    </p:spTree>
    <p:extLst>
      <p:ext uri="{BB962C8B-B14F-4D97-AF65-F5344CB8AC3E}">
        <p14:creationId xmlns:p14="http://schemas.microsoft.com/office/powerpoint/2010/main" val="7276167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27</a:t>
            </a:fld>
            <a:endParaRPr lang="zh-CN" altLang="en-US"/>
          </a:p>
        </p:txBody>
      </p:sp>
    </p:spTree>
    <p:extLst>
      <p:ext uri="{BB962C8B-B14F-4D97-AF65-F5344CB8AC3E}">
        <p14:creationId xmlns:p14="http://schemas.microsoft.com/office/powerpoint/2010/main" val="9386013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28</a:t>
            </a:fld>
            <a:endParaRPr lang="zh-CN" altLang="en-US"/>
          </a:p>
        </p:txBody>
      </p:sp>
    </p:spTree>
    <p:extLst>
      <p:ext uri="{BB962C8B-B14F-4D97-AF65-F5344CB8AC3E}">
        <p14:creationId xmlns:p14="http://schemas.microsoft.com/office/powerpoint/2010/main" val="4548626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29</a:t>
            </a:fld>
            <a:endParaRPr lang="zh-CN" altLang="en-US"/>
          </a:p>
        </p:txBody>
      </p:sp>
    </p:spTree>
    <p:extLst>
      <p:ext uri="{BB962C8B-B14F-4D97-AF65-F5344CB8AC3E}">
        <p14:creationId xmlns:p14="http://schemas.microsoft.com/office/powerpoint/2010/main" val="8901884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30</a:t>
            </a:fld>
            <a:endParaRPr lang="zh-CN" altLang="en-US"/>
          </a:p>
        </p:txBody>
      </p:sp>
    </p:spTree>
    <p:extLst>
      <p:ext uri="{BB962C8B-B14F-4D97-AF65-F5344CB8AC3E}">
        <p14:creationId xmlns:p14="http://schemas.microsoft.com/office/powerpoint/2010/main" val="14878953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31</a:t>
            </a:fld>
            <a:endParaRPr lang="zh-CN" altLang="en-US"/>
          </a:p>
        </p:txBody>
      </p:sp>
    </p:spTree>
    <p:extLst>
      <p:ext uri="{BB962C8B-B14F-4D97-AF65-F5344CB8AC3E}">
        <p14:creationId xmlns:p14="http://schemas.microsoft.com/office/powerpoint/2010/main" val="13283074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32</a:t>
            </a:fld>
            <a:endParaRPr lang="zh-CN" altLang="en-US"/>
          </a:p>
        </p:txBody>
      </p:sp>
    </p:spTree>
    <p:extLst>
      <p:ext uri="{BB962C8B-B14F-4D97-AF65-F5344CB8AC3E}">
        <p14:creationId xmlns:p14="http://schemas.microsoft.com/office/powerpoint/2010/main" val="18058635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33</a:t>
            </a:fld>
            <a:endParaRPr lang="zh-CN" altLang="en-US"/>
          </a:p>
        </p:txBody>
      </p:sp>
    </p:spTree>
    <p:extLst>
      <p:ext uri="{BB962C8B-B14F-4D97-AF65-F5344CB8AC3E}">
        <p14:creationId xmlns:p14="http://schemas.microsoft.com/office/powerpoint/2010/main" val="5748887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34</a:t>
            </a:fld>
            <a:endParaRPr lang="zh-CN" altLang="en-US"/>
          </a:p>
        </p:txBody>
      </p:sp>
    </p:spTree>
    <p:extLst>
      <p:ext uri="{BB962C8B-B14F-4D97-AF65-F5344CB8AC3E}">
        <p14:creationId xmlns:p14="http://schemas.microsoft.com/office/powerpoint/2010/main" val="19184598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使用</a:t>
            </a:r>
            <a:r>
              <a:rPr lang="en-US" dirty="0"/>
              <a:t>SST</a:t>
            </a:r>
            <a:r>
              <a:rPr lang="zh-CN" altLang="en-US" dirty="0"/>
              <a:t>，软件设计人员可以定义状态机结构，分析状态机设计结果，从而消除设计中引入的逻辑缺陷。</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35</a:t>
            </a:fld>
            <a:endParaRPr lang="zh-CN" altLang="en-US"/>
          </a:p>
        </p:txBody>
      </p:sp>
    </p:spTree>
    <p:extLst>
      <p:ext uri="{BB962C8B-B14F-4D97-AF65-F5344CB8AC3E}">
        <p14:creationId xmlns:p14="http://schemas.microsoft.com/office/powerpoint/2010/main" val="2082976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36</a:t>
            </a:fld>
            <a:endParaRPr lang="zh-CN" altLang="en-US"/>
          </a:p>
        </p:txBody>
      </p:sp>
    </p:spTree>
    <p:extLst>
      <p:ext uri="{BB962C8B-B14F-4D97-AF65-F5344CB8AC3E}">
        <p14:creationId xmlns:p14="http://schemas.microsoft.com/office/powerpoint/2010/main" val="15610939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b="6822"/>
          <a:stretch>
            <a:fillRect/>
          </a:stretch>
        </p:blipFill>
        <p:spPr bwMode="auto">
          <a:xfrm>
            <a:off x="0" y="1588"/>
            <a:ext cx="9144000" cy="536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192171918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6"/>
          <p:cNvSpPr>
            <a:spLocks noGrp="1" noChangeArrowheads="1"/>
          </p:cNvSpPr>
          <p:nvPr>
            <p:ph type="sldNum" sz="quarter" idx="10"/>
          </p:nvPr>
        </p:nvSpPr>
        <p:spPr>
          <a:ln/>
        </p:spPr>
        <p:txBody>
          <a:bodyPr/>
          <a:lstStyle>
            <a:lvl1pPr>
              <a:defRPr/>
            </a:lvl1pPr>
          </a:lstStyle>
          <a:p>
            <a:pPr>
              <a:defRPr/>
            </a:pPr>
            <a:fld id="{595AA6EC-6A09-4E3E-B9B9-F7A83E2801B5}" type="slidenum">
              <a:rPr lang="en-US" altLang="zh-CN"/>
              <a:pPr>
                <a:defRPr/>
              </a:pPr>
              <a:t>‹#›</a:t>
            </a:fld>
            <a:endParaRPr lang="en-US" altLang="zh-CN"/>
          </a:p>
        </p:txBody>
      </p:sp>
    </p:spTree>
    <p:extLst>
      <p:ext uri="{BB962C8B-B14F-4D97-AF65-F5344CB8AC3E}">
        <p14:creationId xmlns:p14="http://schemas.microsoft.com/office/powerpoint/2010/main" val="42545914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F4342CDC-3AA7-4AAD-BDB2-C8F29CA42A2E}" type="slidenum">
              <a:rPr lang="en-US" altLang="zh-CN"/>
              <a:pPr>
                <a:defRPr/>
              </a:pPr>
              <a:t>‹#›</a:t>
            </a:fld>
            <a:endParaRPr lang="en-US" altLang="zh-CN"/>
          </a:p>
        </p:txBody>
      </p:sp>
    </p:spTree>
    <p:extLst>
      <p:ext uri="{BB962C8B-B14F-4D97-AF65-F5344CB8AC3E}">
        <p14:creationId xmlns:p14="http://schemas.microsoft.com/office/powerpoint/2010/main" val="29821099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E6FC13FD-12A1-4FD5-AD1F-157FC418A0B5}" type="slidenum">
              <a:rPr lang="en-US" altLang="zh-CN"/>
              <a:pPr>
                <a:defRPr/>
              </a:pPr>
              <a:t>‹#›</a:t>
            </a:fld>
            <a:endParaRPr lang="en-US" altLang="zh-CN"/>
          </a:p>
        </p:txBody>
      </p:sp>
    </p:spTree>
    <p:extLst>
      <p:ext uri="{BB962C8B-B14F-4D97-AF65-F5344CB8AC3E}">
        <p14:creationId xmlns:p14="http://schemas.microsoft.com/office/powerpoint/2010/main" val="109635956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8568AEEA-8DEA-4184-870D-5EE32F364D0C}" type="slidenum">
              <a:rPr lang="en-US" altLang="zh-CN"/>
              <a:pPr>
                <a:defRPr/>
              </a:pPr>
              <a:t>‹#›</a:t>
            </a:fld>
            <a:endParaRPr lang="en-US" altLang="zh-CN"/>
          </a:p>
        </p:txBody>
      </p:sp>
    </p:spTree>
    <p:extLst>
      <p:ext uri="{BB962C8B-B14F-4D97-AF65-F5344CB8AC3E}">
        <p14:creationId xmlns:p14="http://schemas.microsoft.com/office/powerpoint/2010/main" val="210928642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8E9A7CFE-A7A2-4066-A4FA-68E57190DCA8}" type="slidenum">
              <a:rPr lang="en-US" altLang="zh-CN"/>
              <a:pPr>
                <a:defRPr/>
              </a:pPr>
              <a:t>‹#›</a:t>
            </a:fld>
            <a:endParaRPr lang="en-US" altLang="zh-CN"/>
          </a:p>
        </p:txBody>
      </p:sp>
    </p:spTree>
    <p:extLst>
      <p:ext uri="{BB962C8B-B14F-4D97-AF65-F5344CB8AC3E}">
        <p14:creationId xmlns:p14="http://schemas.microsoft.com/office/powerpoint/2010/main" val="235246639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3A8D668B-48D4-47BF-9944-0FAD988E7FA8}" type="slidenum">
              <a:rPr lang="en-US" altLang="zh-CN"/>
              <a:pPr>
                <a:defRPr/>
              </a:pPr>
              <a:t>‹#›</a:t>
            </a:fld>
            <a:endParaRPr lang="en-US" altLang="zh-CN"/>
          </a:p>
        </p:txBody>
      </p:sp>
    </p:spTree>
    <p:extLst>
      <p:ext uri="{BB962C8B-B14F-4D97-AF65-F5344CB8AC3E}">
        <p14:creationId xmlns:p14="http://schemas.microsoft.com/office/powerpoint/2010/main" val="41516993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5CFEC6D-B80A-44B8-9200-8AFF6F2A7AE7}" type="slidenum">
              <a:rPr lang="en-US" altLang="zh-CN"/>
              <a:pPr>
                <a:defRPr/>
              </a:pPr>
              <a:t>‹#›</a:t>
            </a:fld>
            <a:endParaRPr lang="en-US" altLang="zh-CN"/>
          </a:p>
        </p:txBody>
      </p:sp>
    </p:spTree>
    <p:extLst>
      <p:ext uri="{BB962C8B-B14F-4D97-AF65-F5344CB8AC3E}">
        <p14:creationId xmlns:p14="http://schemas.microsoft.com/office/powerpoint/2010/main" val="323491271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845D733-E0EC-4B5B-942C-9E7C23DF653A}" type="slidenum">
              <a:rPr lang="en-US" altLang="zh-CN"/>
              <a:pPr>
                <a:defRPr/>
              </a:pPr>
              <a:t>‹#›</a:t>
            </a:fld>
            <a:endParaRPr lang="en-US" altLang="zh-CN"/>
          </a:p>
        </p:txBody>
      </p:sp>
    </p:spTree>
    <p:extLst>
      <p:ext uri="{BB962C8B-B14F-4D97-AF65-F5344CB8AC3E}">
        <p14:creationId xmlns:p14="http://schemas.microsoft.com/office/powerpoint/2010/main" val="181574660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0081425-CCE1-4328-BE81-C2432471A131}" type="slidenum">
              <a:rPr lang="en-US" altLang="zh-CN"/>
              <a:pPr>
                <a:defRPr/>
              </a:pPr>
              <a:t>‹#›</a:t>
            </a:fld>
            <a:endParaRPr lang="en-US" altLang="zh-CN"/>
          </a:p>
        </p:txBody>
      </p:sp>
    </p:spTree>
    <p:extLst>
      <p:ext uri="{BB962C8B-B14F-4D97-AF65-F5344CB8AC3E}">
        <p14:creationId xmlns:p14="http://schemas.microsoft.com/office/powerpoint/2010/main" val="18257430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4990DF6E-8FBB-43CD-8EC6-681543D90519}" type="slidenum">
              <a:rPr lang="en-US" altLang="zh-CN"/>
              <a:pPr>
                <a:defRPr/>
              </a:pPr>
              <a:t>‹#›</a:t>
            </a:fld>
            <a:endParaRPr lang="en-US" altLang="zh-CN"/>
          </a:p>
        </p:txBody>
      </p:sp>
    </p:spTree>
    <p:extLst>
      <p:ext uri="{BB962C8B-B14F-4D97-AF65-F5344CB8AC3E}">
        <p14:creationId xmlns:p14="http://schemas.microsoft.com/office/powerpoint/2010/main" val="139795462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2481DE08-35D9-4D7A-BB5A-4E131C4B3344}" type="slidenum">
              <a:rPr lang="en-US" altLang="zh-CN"/>
              <a:pPr>
                <a:defRPr/>
              </a:pPr>
              <a:t>‹#›</a:t>
            </a:fld>
            <a:endParaRPr lang="en-US" altLang="zh-CN"/>
          </a:p>
        </p:txBody>
      </p:sp>
    </p:spTree>
    <p:extLst>
      <p:ext uri="{BB962C8B-B14F-4D97-AF65-F5344CB8AC3E}">
        <p14:creationId xmlns:p14="http://schemas.microsoft.com/office/powerpoint/2010/main" val="1942833666"/>
      </p:ext>
    </p:extLst>
  </p:cSld>
  <p:clrMapOvr>
    <a:masterClrMapping/>
  </p:clrMapOvr>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CD3807DF-B24E-477E-9A9D-8F9A8A6DEDBF}"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796"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Lst>
  <p:transition/>
  <p:hf hdr="0" ft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defRPr>
      </a:lvl2pPr>
      <a:lvl3pPr algn="ctr" rtl="0" eaLnBrk="0" fontAlgn="base" hangingPunct="0">
        <a:spcBef>
          <a:spcPct val="0"/>
        </a:spcBef>
        <a:spcAft>
          <a:spcPct val="0"/>
        </a:spcAft>
        <a:defRPr sz="3200" b="1">
          <a:solidFill>
            <a:schemeClr val="bg1"/>
          </a:solidFill>
          <a:latin typeface="Verdana" pitchFamily="34" charset="0"/>
        </a:defRPr>
      </a:lvl3pPr>
      <a:lvl4pPr algn="ctr" rtl="0" eaLnBrk="0" fontAlgn="base" hangingPunct="0">
        <a:spcBef>
          <a:spcPct val="0"/>
        </a:spcBef>
        <a:spcAft>
          <a:spcPct val="0"/>
        </a:spcAft>
        <a:defRPr sz="3200" b="1">
          <a:solidFill>
            <a:schemeClr val="bg1"/>
          </a:solidFill>
          <a:latin typeface="Verdana" pitchFamily="34" charset="0"/>
        </a:defRPr>
      </a:lvl4pPr>
      <a:lvl5pPr algn="ctr" rtl="0" eaLnBrk="0" fontAlgn="base" hangingPunct="0">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0" fontAlgn="base" hangingPunct="0">
        <a:spcBef>
          <a:spcPct val="20000"/>
        </a:spcBef>
        <a:spcAft>
          <a:spcPct val="0"/>
        </a:spcAft>
        <a:buChar char="–"/>
        <a:defRPr sz="2000">
          <a:solidFill>
            <a:srgbClr val="00607A"/>
          </a:solidFill>
          <a:latin typeface="+mn-lt"/>
        </a:defRPr>
      </a:lvl4pPr>
      <a:lvl5pPr marL="1795463" indent="-363538" algn="l" rtl="0" eaLnBrk="0" fontAlgn="base" hangingPunct="0">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副标题 2"/>
          <p:cNvSpPr>
            <a:spLocks noGrp="1"/>
          </p:cNvSpPr>
          <p:nvPr>
            <p:ph type="subTitle" idx="1"/>
          </p:nvPr>
        </p:nvSpPr>
        <p:spPr>
          <a:xfrm>
            <a:off x="1403350" y="5589588"/>
            <a:ext cx="6553200" cy="1268412"/>
          </a:xfrm>
        </p:spPr>
        <p:txBody>
          <a:bodyPr/>
          <a:lstStyle/>
          <a:p>
            <a:pPr eaLnBrk="1" hangingPunct="1">
              <a:lnSpc>
                <a:spcPct val="90000"/>
              </a:lnSpc>
              <a:buFont typeface="Arial" charset="0"/>
              <a:buNone/>
            </a:pPr>
            <a:r>
              <a:rPr lang="zh-CN" altLang="en-US" dirty="0">
                <a:ea typeface="宋体" pitchFamily="2" charset="-122"/>
              </a:rPr>
              <a:t>荣国平</a:t>
            </a:r>
            <a:endParaRPr lang="en-US" altLang="zh-CN" dirty="0">
              <a:ea typeface="宋体" pitchFamily="2" charset="-122"/>
            </a:endParaRPr>
          </a:p>
          <a:p>
            <a:pPr eaLnBrk="1" hangingPunct="1">
              <a:lnSpc>
                <a:spcPct val="90000"/>
              </a:lnSpc>
              <a:buFont typeface="Arial" charset="0"/>
              <a:buNone/>
            </a:pPr>
            <a:r>
              <a:rPr lang="zh-CN" altLang="en-US" dirty="0">
                <a:ea typeface="宋体" pitchFamily="2" charset="-122"/>
              </a:rPr>
              <a:t>南京大学软件学院</a:t>
            </a:r>
            <a:endParaRPr lang="en-US" altLang="zh-CN" dirty="0">
              <a:ea typeface="宋体" pitchFamily="2" charset="-122"/>
            </a:endParaRPr>
          </a:p>
          <a:p>
            <a:pPr eaLnBrk="1" hangingPunct="1">
              <a:lnSpc>
                <a:spcPct val="90000"/>
              </a:lnSpc>
              <a:buFont typeface="Arial" charset="0"/>
              <a:buNone/>
            </a:pPr>
            <a:r>
              <a:rPr lang="en-US" altLang="zh-CN">
                <a:ea typeface="宋体" pitchFamily="2" charset="-122"/>
              </a:rPr>
              <a:t>2025 </a:t>
            </a:r>
            <a:r>
              <a:rPr lang="zh-CN" altLang="en-US" dirty="0">
                <a:ea typeface="宋体" pitchFamily="2" charset="-122"/>
              </a:rPr>
              <a:t>年 春</a:t>
            </a:r>
            <a:endParaRPr lang="en-US" altLang="zh-CN" dirty="0">
              <a:ea typeface="宋体" pitchFamily="2" charset="-122"/>
            </a:endParaRPr>
          </a:p>
          <a:p>
            <a:pPr eaLnBrk="1" hangingPunct="1">
              <a:lnSpc>
                <a:spcPct val="90000"/>
              </a:lnSpc>
              <a:buFont typeface="Arial" charset="0"/>
              <a:buNone/>
            </a:pPr>
            <a:endParaRPr lang="zh-CN" altLang="en-US" dirty="0">
              <a:ea typeface="宋体" pitchFamily="2" charset="-122"/>
            </a:endParaRPr>
          </a:p>
        </p:txBody>
      </p:sp>
      <p:sp>
        <p:nvSpPr>
          <p:cNvPr id="3075" name="标题 1"/>
          <p:cNvSpPr>
            <a:spLocks noGrp="1"/>
          </p:cNvSpPr>
          <p:nvPr>
            <p:ph type="ctrTitle" sz="quarter"/>
          </p:nvPr>
        </p:nvSpPr>
        <p:spPr>
          <a:xfrm>
            <a:off x="0" y="4076700"/>
            <a:ext cx="9144000" cy="1223963"/>
          </a:xfrm>
          <a:gradFill rotWithShape="0"/>
        </p:spPr>
        <p:txBody>
          <a:bodyPr/>
          <a:lstStyle/>
          <a:p>
            <a:pPr eaLnBrk="1" hangingPunct="1"/>
            <a:r>
              <a:rPr lang="zh-CN" altLang="en-US">
                <a:ea typeface="宋体" pitchFamily="2" charset="-122"/>
              </a:rPr>
              <a:t>软件质量与</a:t>
            </a:r>
            <a:r>
              <a:rPr lang="zh-CN" altLang="en-US" dirty="0">
                <a:ea typeface="宋体" pitchFamily="2" charset="-122"/>
              </a:rPr>
              <a:t>管理 第五讲</a:t>
            </a:r>
            <a:br>
              <a:rPr lang="en-US" altLang="zh-CN" dirty="0">
                <a:ea typeface="宋体" pitchFamily="2" charset="-122"/>
              </a:rPr>
            </a:br>
            <a:r>
              <a:rPr lang="zh-CN" altLang="en-US" dirty="0">
                <a:ea typeface="宋体" pitchFamily="2" charset="-122"/>
              </a:rPr>
              <a:t>质量管理</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经典语录</a:t>
            </a:r>
          </a:p>
        </p:txBody>
      </p:sp>
      <p:sp>
        <p:nvSpPr>
          <p:cNvPr id="3" name="内容占位符 2"/>
          <p:cNvSpPr>
            <a:spLocks noGrp="1"/>
          </p:cNvSpPr>
          <p:nvPr>
            <p:ph idx="1"/>
          </p:nvPr>
        </p:nvSpPr>
        <p:spPr/>
        <p:txBody>
          <a:bodyPr/>
          <a:lstStyle/>
          <a:p>
            <a:pPr marL="0" indent="0">
              <a:buNone/>
            </a:pPr>
            <a:r>
              <a:rPr lang="en-US" altLang="zh-CN" i="1" dirty="0"/>
              <a:t>People are happy to do it wrong and invest the time to fix it, which sometimes never works, as opposed to investing the time to get it right the first time.</a:t>
            </a:r>
          </a:p>
          <a:p>
            <a:pPr marL="0" indent="0">
              <a:buNone/>
            </a:pPr>
            <a:r>
              <a:rPr lang="en-US" altLang="zh-CN" i="1" dirty="0"/>
              <a:t>		—— Watts S. Humphrey</a:t>
            </a:r>
            <a:endParaRPr lang="zh-CN" altLang="en-US" i="1" dirty="0"/>
          </a:p>
        </p:txBody>
      </p:sp>
    </p:spTree>
    <p:extLst>
      <p:ext uri="{BB962C8B-B14F-4D97-AF65-F5344CB8AC3E}">
        <p14:creationId xmlns:p14="http://schemas.microsoft.com/office/powerpoint/2010/main" val="50497816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p:txBody>
          <a:bodyPr/>
          <a:lstStyle/>
          <a:p>
            <a:r>
              <a:rPr lang="zh-CN" altLang="en-US" dirty="0"/>
              <a:t>质量策略</a:t>
            </a:r>
            <a:endParaRPr lang="en-US" altLang="zh-CN" dirty="0"/>
          </a:p>
          <a:p>
            <a:pPr lvl="1"/>
            <a:r>
              <a:rPr lang="zh-CN" altLang="en-US" dirty="0"/>
              <a:t>管理对象</a:t>
            </a:r>
            <a:endParaRPr lang="en-US" altLang="zh-CN" dirty="0"/>
          </a:p>
          <a:p>
            <a:pPr lvl="1"/>
            <a:r>
              <a:rPr lang="zh-CN" altLang="en-US" dirty="0"/>
              <a:t>基本策略</a:t>
            </a:r>
            <a:endParaRPr lang="en-US" altLang="zh-CN" dirty="0"/>
          </a:p>
          <a:p>
            <a:pPr lvl="1"/>
            <a:r>
              <a:rPr lang="zh-CN" altLang="en-US" dirty="0"/>
              <a:t>评审过程</a:t>
            </a:r>
            <a:endParaRPr lang="en-US" altLang="zh-CN" dirty="0"/>
          </a:p>
          <a:p>
            <a:r>
              <a:rPr lang="zh-CN" altLang="en-US" dirty="0"/>
              <a:t>设计与质量的关系</a:t>
            </a:r>
            <a:endParaRPr lang="en-US" altLang="zh-CN" dirty="0"/>
          </a:p>
          <a:p>
            <a:pPr lvl="1"/>
            <a:r>
              <a:rPr lang="zh-CN" altLang="en-US" dirty="0"/>
              <a:t>设计过程</a:t>
            </a:r>
            <a:endParaRPr lang="en-US" altLang="zh-CN" dirty="0"/>
          </a:p>
          <a:p>
            <a:pPr lvl="1"/>
            <a:r>
              <a:rPr lang="zh-CN" altLang="en-US" dirty="0"/>
              <a:t>设计模板</a:t>
            </a:r>
            <a:endParaRPr lang="en-US" altLang="zh-CN" dirty="0"/>
          </a:p>
        </p:txBody>
      </p:sp>
    </p:spTree>
    <p:extLst>
      <p:ext uri="{BB962C8B-B14F-4D97-AF65-F5344CB8AC3E}">
        <p14:creationId xmlns:p14="http://schemas.microsoft.com/office/powerpoint/2010/main" val="3173345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18" y="0"/>
            <a:ext cx="6900862" cy="1143000"/>
          </a:xfrm>
        </p:spPr>
        <p:txBody>
          <a:bodyPr/>
          <a:lstStyle/>
          <a:p>
            <a:r>
              <a:rPr lang="zh-CN" altLang="en-US" dirty="0"/>
              <a:t>质量概念</a:t>
            </a:r>
          </a:p>
        </p:txBody>
      </p:sp>
      <p:sp>
        <p:nvSpPr>
          <p:cNvPr id="3" name="内容占位符 2"/>
          <p:cNvSpPr>
            <a:spLocks noGrp="1"/>
          </p:cNvSpPr>
          <p:nvPr>
            <p:ph idx="1"/>
          </p:nvPr>
        </p:nvSpPr>
        <p:spPr>
          <a:xfrm>
            <a:off x="323528" y="980728"/>
            <a:ext cx="8568952" cy="5328592"/>
          </a:xfrm>
        </p:spPr>
        <p:txBody>
          <a:bodyPr/>
          <a:lstStyle/>
          <a:p>
            <a:r>
              <a:rPr lang="zh-CN" altLang="en-US" sz="2400" dirty="0"/>
              <a:t>软件质量为“与软件产品满足规定的和隐含的需求能力有关的特征或者特性的全体”。</a:t>
            </a:r>
            <a:r>
              <a:rPr lang="en-US" altLang="zh-CN" sz="2400" dirty="0"/>
              <a:t> [ANSI/IEEE </a:t>
            </a:r>
            <a:r>
              <a:rPr lang="en-US" altLang="zh-CN" sz="2400" dirty="0" err="1"/>
              <a:t>STd</a:t>
            </a:r>
            <a:r>
              <a:rPr lang="en-US" altLang="zh-CN" sz="2400" dirty="0"/>
              <a:t> 729]</a:t>
            </a:r>
            <a:endParaRPr lang="zh-CN" altLang="en-US" sz="2400" dirty="0"/>
          </a:p>
          <a:p>
            <a:r>
              <a:rPr lang="zh-CN" altLang="en-US" sz="2400" dirty="0"/>
              <a:t>软件质量为内外两部分的特性：其外部质量特性面向软件产品的最终用户，其内部质量特性则不直接面向最终用户。</a:t>
            </a:r>
            <a:r>
              <a:rPr lang="en-US" altLang="zh-CN" sz="2400" dirty="0"/>
              <a:t> </a:t>
            </a:r>
            <a:br>
              <a:rPr lang="en-US" altLang="zh-CN" sz="2400" dirty="0"/>
            </a:br>
            <a:r>
              <a:rPr lang="en-US" altLang="zh-CN" sz="2400" dirty="0"/>
              <a:t>《</a:t>
            </a:r>
            <a:r>
              <a:rPr lang="zh-CN" altLang="en-US" sz="2400" dirty="0"/>
              <a:t>代码大全</a:t>
            </a:r>
            <a:r>
              <a:rPr lang="en-US" altLang="zh-CN" sz="2400" dirty="0"/>
              <a:t>》</a:t>
            </a:r>
            <a:endParaRPr lang="zh-CN" altLang="en-US" sz="2400" dirty="0"/>
          </a:p>
          <a:p>
            <a:r>
              <a:rPr lang="zh-CN" altLang="en-US" sz="2400" dirty="0"/>
              <a:t>软件质量为软件产品可以改变世界，使世界更加美好的程度。从用户的角度考察软件质量，用户满意度是最为重要的判断标准。</a:t>
            </a:r>
            <a:r>
              <a:rPr lang="en-US" altLang="zh-CN" sz="2400" dirty="0"/>
              <a:t> [Tom Demarco]</a:t>
            </a:r>
            <a:endParaRPr lang="zh-CN" altLang="en-US" sz="2400" dirty="0"/>
          </a:p>
          <a:p>
            <a:r>
              <a:rPr lang="zh-CN" altLang="en-US" sz="2400" dirty="0"/>
              <a:t>软件质量为对人（用户）的价值。这一定义强调了质量的主观性，即对同一款软件而言，不同的用户对其质量有不同的体验。</a:t>
            </a:r>
            <a:r>
              <a:rPr lang="en-US" altLang="zh-CN" sz="2400" dirty="0"/>
              <a:t> [Gerald Weinberg]</a:t>
            </a:r>
            <a:endParaRPr lang="zh-CN" altLang="en-US" sz="2400" dirty="0"/>
          </a:p>
        </p:txBody>
      </p:sp>
    </p:spTree>
    <p:extLst>
      <p:ext uri="{BB962C8B-B14F-4D97-AF65-F5344CB8AC3E}">
        <p14:creationId xmlns:p14="http://schemas.microsoft.com/office/powerpoint/2010/main" val="196067749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面向用户的质量观</a:t>
            </a:r>
          </a:p>
        </p:txBody>
      </p:sp>
      <p:sp>
        <p:nvSpPr>
          <p:cNvPr id="3" name="内容占位符 2"/>
          <p:cNvSpPr>
            <a:spLocks noGrp="1"/>
          </p:cNvSpPr>
          <p:nvPr>
            <p:ph idx="1"/>
          </p:nvPr>
        </p:nvSpPr>
        <p:spPr/>
        <p:txBody>
          <a:bodyPr/>
          <a:lstStyle/>
          <a:p>
            <a:r>
              <a:rPr lang="zh-CN" altLang="en-US" dirty="0"/>
              <a:t>面向用户的质量观，定义质量为满足用户需求的程度。在这个定义中，就需要进一步明确：</a:t>
            </a:r>
            <a:endParaRPr lang="en-US" altLang="zh-CN" dirty="0"/>
          </a:p>
          <a:p>
            <a:pPr lvl="1"/>
            <a:r>
              <a:rPr lang="zh-CN" altLang="en-US" dirty="0"/>
              <a:t>用户究竟是谁？</a:t>
            </a:r>
            <a:endParaRPr lang="en-US" altLang="zh-CN" dirty="0"/>
          </a:p>
          <a:p>
            <a:pPr lvl="1"/>
            <a:r>
              <a:rPr lang="zh-CN" altLang="en-US" dirty="0"/>
              <a:t>用户需求的优先级是什么？</a:t>
            </a:r>
            <a:endParaRPr lang="en-US" altLang="zh-CN" dirty="0"/>
          </a:p>
          <a:p>
            <a:pPr lvl="1"/>
            <a:r>
              <a:rPr lang="zh-CN" altLang="en-US" dirty="0"/>
              <a:t>这种用户的优先级对软件产品的开发过程产生什么样的影响？</a:t>
            </a:r>
            <a:endParaRPr lang="en-US" altLang="zh-CN" dirty="0"/>
          </a:p>
          <a:p>
            <a:pPr lvl="1"/>
            <a:r>
              <a:rPr lang="zh-CN" altLang="en-US" dirty="0"/>
              <a:t>怎样来度量这种质量观下的质量水平？</a:t>
            </a:r>
          </a:p>
        </p:txBody>
      </p:sp>
    </p:spTree>
    <p:extLst>
      <p:ext uri="{BB962C8B-B14F-4D97-AF65-F5344CB8AC3E}">
        <p14:creationId xmlns:p14="http://schemas.microsoft.com/office/powerpoint/2010/main" val="120209804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典型用户质量期望</a:t>
            </a:r>
          </a:p>
        </p:txBody>
      </p:sp>
      <p:sp>
        <p:nvSpPr>
          <p:cNvPr id="3" name="内容占位符 2"/>
          <p:cNvSpPr>
            <a:spLocks noGrp="1"/>
          </p:cNvSpPr>
          <p:nvPr>
            <p:ph idx="1"/>
          </p:nvPr>
        </p:nvSpPr>
        <p:spPr/>
        <p:txBody>
          <a:bodyPr/>
          <a:lstStyle/>
          <a:p>
            <a:pPr lvl="0"/>
            <a:r>
              <a:rPr lang="zh-CN" altLang="en-US" dirty="0"/>
              <a:t>这款软件产品必须能够工作；</a:t>
            </a:r>
          </a:p>
          <a:p>
            <a:pPr lvl="0"/>
            <a:r>
              <a:rPr lang="zh-CN" altLang="en-US" dirty="0"/>
              <a:t>这款软件产品最好有较快的执行速度；</a:t>
            </a:r>
          </a:p>
          <a:p>
            <a:pPr lvl="0"/>
            <a:r>
              <a:rPr lang="zh-CN" altLang="en-US" dirty="0"/>
              <a:t>这款软件产品最好在安全性、保密性、可用性、可靠性、兼容性、可维护性、可移植性等方面表现优异；</a:t>
            </a:r>
          </a:p>
        </p:txBody>
      </p:sp>
    </p:spTree>
    <p:extLst>
      <p:ext uri="{BB962C8B-B14F-4D97-AF65-F5344CB8AC3E}">
        <p14:creationId xmlns:p14="http://schemas.microsoft.com/office/powerpoint/2010/main" val="78412720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质量管理策略</a:t>
            </a:r>
            <a:endParaRPr lang="zh-CN" altLang="en-US" dirty="0"/>
          </a:p>
        </p:txBody>
      </p:sp>
      <p:sp>
        <p:nvSpPr>
          <p:cNvPr id="3" name="内容占位符 2"/>
          <p:cNvSpPr>
            <a:spLocks noGrp="1"/>
          </p:cNvSpPr>
          <p:nvPr>
            <p:ph idx="1"/>
          </p:nvPr>
        </p:nvSpPr>
        <p:spPr/>
        <p:txBody>
          <a:bodyPr/>
          <a:lstStyle/>
          <a:p>
            <a:r>
              <a:rPr lang="zh-CN" altLang="en-US" dirty="0"/>
              <a:t>用缺陷管理来替代质量管理；</a:t>
            </a:r>
            <a:endParaRPr lang="en-US" altLang="zh-CN" dirty="0"/>
          </a:p>
          <a:p>
            <a:r>
              <a:rPr lang="zh-CN" altLang="en-US" dirty="0"/>
              <a:t>高质量产品也就意味着要求组成软件产品的各个组件基本无缺陷；</a:t>
            </a:r>
          </a:p>
        </p:txBody>
      </p:sp>
    </p:spTree>
    <p:extLst>
      <p:ext uri="{BB962C8B-B14F-4D97-AF65-F5344CB8AC3E}">
        <p14:creationId xmlns:p14="http://schemas.microsoft.com/office/powerpoint/2010/main" val="64450466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不同缺陷消除方式消除缺陷的效率</a:t>
            </a:r>
          </a:p>
        </p:txBody>
      </p:sp>
      <p:pic>
        <p:nvPicPr>
          <p:cNvPr id="141314" name="图片 112"/>
          <p:cNvPicPr>
            <a:picLocks noChangeAspect="1" noChangeArrowheads="1"/>
          </p:cNvPicPr>
          <p:nvPr/>
        </p:nvPicPr>
        <p:blipFill>
          <a:blip r:embed="rId3">
            <a:grayscl/>
          </a:blip>
          <a:srcRect/>
          <a:stretch>
            <a:fillRect/>
          </a:stretch>
        </p:blipFill>
        <p:spPr bwMode="auto">
          <a:xfrm>
            <a:off x="320040" y="1219200"/>
            <a:ext cx="7698986" cy="5073589"/>
          </a:xfrm>
          <a:prstGeom prst="rect">
            <a:avLst/>
          </a:prstGeom>
          <a:noFill/>
          <a:ln w="100000">
            <a:noFill/>
            <a:miter lim="800000"/>
            <a:headEnd/>
            <a:tailEnd/>
          </a:ln>
        </p:spPr>
      </p:pic>
    </p:spTree>
    <p:extLst>
      <p:ext uri="{BB962C8B-B14F-4D97-AF65-F5344CB8AC3E}">
        <p14:creationId xmlns:p14="http://schemas.microsoft.com/office/powerpoint/2010/main" val="102363178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测试消除缺陷的典型流程</a:t>
            </a:r>
          </a:p>
        </p:txBody>
      </p:sp>
      <p:sp>
        <p:nvSpPr>
          <p:cNvPr id="3" name="内容占位符 2"/>
          <p:cNvSpPr>
            <a:spLocks noGrp="1"/>
          </p:cNvSpPr>
          <p:nvPr>
            <p:ph idx="1"/>
          </p:nvPr>
        </p:nvSpPr>
        <p:spPr>
          <a:xfrm>
            <a:off x="457200" y="1052513"/>
            <a:ext cx="8686800" cy="5348287"/>
          </a:xfrm>
        </p:spPr>
        <p:txBody>
          <a:bodyPr/>
          <a:lstStyle/>
          <a:p>
            <a:pPr lvl="0"/>
            <a:r>
              <a:rPr lang="zh-CN" altLang="en-US" dirty="0"/>
              <a:t>发现待测程序的一个异常行为；</a:t>
            </a:r>
          </a:p>
          <a:p>
            <a:pPr lvl="0"/>
            <a:r>
              <a:rPr lang="zh-CN" altLang="en-US" dirty="0"/>
              <a:t>理解程序的工作方式；</a:t>
            </a:r>
          </a:p>
          <a:p>
            <a:pPr lvl="0"/>
            <a:r>
              <a:rPr lang="zh-CN" altLang="en-US" dirty="0"/>
              <a:t>调试程序，找出出错的位置，确定出错原因；</a:t>
            </a:r>
          </a:p>
          <a:p>
            <a:pPr lvl="0"/>
            <a:r>
              <a:rPr lang="zh-CN" altLang="en-US" dirty="0"/>
              <a:t>确定修改方案，修改缺陷；</a:t>
            </a:r>
          </a:p>
          <a:p>
            <a:r>
              <a:rPr lang="zh-CN" altLang="en-US" dirty="0"/>
              <a:t>回归测试，以确认修改有效；</a:t>
            </a:r>
          </a:p>
        </p:txBody>
      </p:sp>
    </p:spTree>
    <p:extLst>
      <p:ext uri="{BB962C8B-B14F-4D97-AF65-F5344CB8AC3E}">
        <p14:creationId xmlns:p14="http://schemas.microsoft.com/office/powerpoint/2010/main" val="747084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评审发现缺陷典型流程</a:t>
            </a:r>
          </a:p>
        </p:txBody>
      </p:sp>
      <p:sp>
        <p:nvSpPr>
          <p:cNvPr id="3" name="内容占位符 2"/>
          <p:cNvSpPr>
            <a:spLocks noGrp="1"/>
          </p:cNvSpPr>
          <p:nvPr>
            <p:ph idx="1"/>
          </p:nvPr>
        </p:nvSpPr>
        <p:spPr/>
        <p:txBody>
          <a:bodyPr/>
          <a:lstStyle/>
          <a:p>
            <a:pPr lvl="0"/>
            <a:r>
              <a:rPr lang="zh-CN" altLang="en-US" dirty="0"/>
              <a:t>遵循评审者的逻辑来理解程序流程；</a:t>
            </a:r>
          </a:p>
          <a:p>
            <a:pPr lvl="0"/>
            <a:r>
              <a:rPr lang="zh-CN" altLang="en-US" dirty="0"/>
              <a:t>发现缺陷的同时，也知道了缺陷的位置和原因；</a:t>
            </a:r>
          </a:p>
          <a:p>
            <a:r>
              <a:rPr lang="zh-CN" altLang="en-US" dirty="0"/>
              <a:t>修正缺陷；</a:t>
            </a:r>
          </a:p>
        </p:txBody>
      </p:sp>
    </p:spTree>
    <p:extLst>
      <p:ext uri="{BB962C8B-B14F-4D97-AF65-F5344CB8AC3E}">
        <p14:creationId xmlns:p14="http://schemas.microsoft.com/office/powerpoint/2010/main" val="148162629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部分行业</a:t>
            </a:r>
            <a:r>
              <a:rPr lang="zh-CN" altLang="en-US" dirty="0"/>
              <a:t>数据</a:t>
            </a:r>
          </a:p>
        </p:txBody>
      </p:sp>
      <p:graphicFrame>
        <p:nvGraphicFramePr>
          <p:cNvPr id="4" name="表格 3"/>
          <p:cNvGraphicFramePr>
            <a:graphicFrameLocks noGrp="1"/>
          </p:cNvGraphicFramePr>
          <p:nvPr>
            <p:extLst>
              <p:ext uri="{D42A27DB-BD31-4B8C-83A1-F6EECF244321}">
                <p14:modId xmlns:p14="http://schemas.microsoft.com/office/powerpoint/2010/main" val="1722871950"/>
              </p:ext>
            </p:extLst>
          </p:nvPr>
        </p:nvGraphicFramePr>
        <p:xfrm>
          <a:off x="381251" y="1676400"/>
          <a:ext cx="8686549" cy="3229808"/>
        </p:xfrm>
        <a:graphic>
          <a:graphicData uri="http://schemas.openxmlformats.org/drawingml/2006/table">
            <a:tbl>
              <a:tblPr/>
              <a:tblGrid>
                <a:gridCol w="3335685">
                  <a:extLst>
                    <a:ext uri="{9D8B030D-6E8A-4147-A177-3AD203B41FA5}">
                      <a16:colId xmlns:a16="http://schemas.microsoft.com/office/drawing/2014/main" val="20000"/>
                    </a:ext>
                  </a:extLst>
                </a:gridCol>
                <a:gridCol w="1992448">
                  <a:extLst>
                    <a:ext uri="{9D8B030D-6E8A-4147-A177-3AD203B41FA5}">
                      <a16:colId xmlns:a16="http://schemas.microsoft.com/office/drawing/2014/main" val="20001"/>
                    </a:ext>
                  </a:extLst>
                </a:gridCol>
                <a:gridCol w="1852147">
                  <a:extLst>
                    <a:ext uri="{9D8B030D-6E8A-4147-A177-3AD203B41FA5}">
                      <a16:colId xmlns:a16="http://schemas.microsoft.com/office/drawing/2014/main" val="20002"/>
                    </a:ext>
                  </a:extLst>
                </a:gridCol>
                <a:gridCol w="1506269">
                  <a:extLst>
                    <a:ext uri="{9D8B030D-6E8A-4147-A177-3AD203B41FA5}">
                      <a16:colId xmlns:a16="http://schemas.microsoft.com/office/drawing/2014/main" val="20003"/>
                    </a:ext>
                  </a:extLst>
                </a:gridCol>
              </a:tblGrid>
              <a:tr h="685800">
                <a:tc>
                  <a:txBody>
                    <a:bodyPr/>
                    <a:lstStyle/>
                    <a:p>
                      <a:pPr indent="266700" algn="just">
                        <a:spcAft>
                          <a:spcPts val="0"/>
                        </a:spcAft>
                      </a:pPr>
                      <a:r>
                        <a:rPr lang="zh-CN" sz="2000" kern="100" dirty="0">
                          <a:latin typeface="Calibri"/>
                          <a:ea typeface="宋体"/>
                          <a:cs typeface="Times New Roman"/>
                        </a:rPr>
                        <a:t>资料来源</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zh-CN" sz="2000" kern="100" dirty="0">
                          <a:latin typeface="Calibri"/>
                          <a:ea typeface="宋体"/>
                          <a:cs typeface="Times New Roman"/>
                        </a:rPr>
                        <a:t>评审消除代价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Calibri"/>
                          <a:ea typeface="宋体"/>
                          <a:cs typeface="Times New Roman"/>
                        </a:rPr>
                        <a:t>测试消除代价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Calibri"/>
                          <a:ea typeface="宋体"/>
                          <a:cs typeface="Times New Roman"/>
                        </a:rPr>
                        <a:t>应用中消除缺陷代价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9944">
                <a:tc>
                  <a:txBody>
                    <a:bodyPr/>
                    <a:lstStyle/>
                    <a:p>
                      <a:pPr indent="0" algn="l">
                        <a:spcAft>
                          <a:spcPts val="0"/>
                        </a:spcAft>
                      </a:pPr>
                      <a:r>
                        <a:rPr lang="en-US" sz="2000" kern="100" dirty="0">
                          <a:latin typeface="Calibri"/>
                          <a:ea typeface="宋体"/>
                          <a:cs typeface="Times New Roman"/>
                        </a:rPr>
                        <a:t>IBM [Remus and </a:t>
                      </a:r>
                      <a:r>
                        <a:rPr lang="en-US" sz="2000" kern="100" dirty="0" err="1">
                          <a:latin typeface="Calibri"/>
                          <a:ea typeface="宋体"/>
                          <a:cs typeface="Times New Roman"/>
                        </a:rPr>
                        <a:t>Ziles</a:t>
                      </a:r>
                      <a:r>
                        <a:rPr lang="zh-CN" altLang="en-US" sz="2000" kern="100" baseline="0" dirty="0">
                          <a:latin typeface="Calibri"/>
                          <a:ea typeface="宋体"/>
                          <a:cs typeface="Times New Roman"/>
                        </a:rPr>
                        <a:t> </a:t>
                      </a:r>
                      <a:r>
                        <a:rPr lang="en-US" sz="2000" kern="100" dirty="0">
                          <a:latin typeface="Calibri"/>
                          <a:ea typeface="宋体"/>
                          <a:cs typeface="Times New Roman"/>
                        </a:rPr>
                        <a:t>1979]</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1</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4.1</a:t>
                      </a:r>
                      <a:r>
                        <a:rPr lang="zh-CN" sz="2000" kern="100">
                          <a:latin typeface="Calibri"/>
                          <a:ea typeface="宋体"/>
                          <a:cs typeface="Times New Roman"/>
                        </a:rPr>
                        <a:t>倍于评审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81000">
                <a:tc>
                  <a:txBody>
                    <a:bodyPr/>
                    <a:lstStyle/>
                    <a:p>
                      <a:pPr marL="0" indent="0" algn="l" defTabSz="914400" rtl="0" eaLnBrk="1" latinLnBrk="0" hangingPunct="1">
                        <a:spcAft>
                          <a:spcPts val="0"/>
                        </a:spcAft>
                      </a:pPr>
                      <a:r>
                        <a:rPr lang="en-US" sz="2000" kern="100" dirty="0">
                          <a:solidFill>
                            <a:schemeClr val="tx1"/>
                          </a:solidFill>
                          <a:latin typeface="Calibri"/>
                          <a:ea typeface="宋体"/>
                          <a:cs typeface="Times New Roman"/>
                        </a:rPr>
                        <a:t>JPL[Bush 1990]</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$90~$120</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$10000</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81000">
                <a:tc>
                  <a:txBody>
                    <a:bodyPr/>
                    <a:lstStyle/>
                    <a:p>
                      <a:pPr marL="0" indent="0" algn="l" defTabSz="914400" rtl="0" eaLnBrk="1" latinLnBrk="0" hangingPunct="1">
                        <a:spcAft>
                          <a:spcPts val="0"/>
                        </a:spcAft>
                      </a:pPr>
                      <a:r>
                        <a:rPr lang="en-US" sz="2000" kern="100">
                          <a:solidFill>
                            <a:schemeClr val="tx1"/>
                          </a:solidFill>
                          <a:latin typeface="Calibri"/>
                          <a:ea typeface="宋体"/>
                          <a:cs typeface="Times New Roman"/>
                        </a:rPr>
                        <a:t>[Ackerman et al. 1989]</a:t>
                      </a:r>
                      <a:endParaRPr lang="zh-CN" sz="2000" kern="10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dirty="0">
                          <a:latin typeface="Calibri"/>
                          <a:ea typeface="宋体"/>
                          <a:cs typeface="Times New Roman"/>
                        </a:rPr>
                        <a:t>1 Hour</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2~20 Hours</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81000">
                <a:tc>
                  <a:txBody>
                    <a:bodyPr/>
                    <a:lstStyle/>
                    <a:p>
                      <a:pPr marL="0" indent="0" algn="l" defTabSz="914400" rtl="0" eaLnBrk="1" latinLnBrk="0" hangingPunct="1">
                        <a:spcAft>
                          <a:spcPts val="0"/>
                        </a:spcAft>
                      </a:pPr>
                      <a:r>
                        <a:rPr lang="en-US" sz="2000" kern="100" dirty="0">
                          <a:solidFill>
                            <a:schemeClr val="tx1"/>
                          </a:solidFill>
                          <a:latin typeface="Calibri"/>
                          <a:ea typeface="宋体"/>
                          <a:cs typeface="Times New Roman"/>
                        </a:rPr>
                        <a:t>[Russell 1991]</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1 Hour</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2~4 Hours</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33 Hours</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l" defTabSz="914400" rtl="0" eaLnBrk="1" latinLnBrk="0" hangingPunct="1">
                        <a:spcAft>
                          <a:spcPts val="0"/>
                        </a:spcAft>
                      </a:pPr>
                      <a:r>
                        <a:rPr lang="en-US" sz="2000" kern="100">
                          <a:solidFill>
                            <a:schemeClr val="tx1"/>
                          </a:solidFill>
                          <a:latin typeface="Calibri"/>
                          <a:ea typeface="宋体"/>
                          <a:cs typeface="Times New Roman"/>
                        </a:rPr>
                        <a:t>[Shooman and Bolsky 1975]</a:t>
                      </a:r>
                      <a:endParaRPr lang="zh-CN" sz="2000" kern="10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dirty="0">
                          <a:latin typeface="Calibri"/>
                          <a:ea typeface="宋体"/>
                          <a:cs typeface="Times New Roman"/>
                        </a:rPr>
                        <a:t>0.6 Hour</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3.05 Hours</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13864">
                <a:tc>
                  <a:txBody>
                    <a:bodyPr/>
                    <a:lstStyle/>
                    <a:p>
                      <a:pPr marL="0" indent="0" algn="l" defTabSz="914400" rtl="0" eaLnBrk="1" latinLnBrk="0" hangingPunct="1">
                        <a:spcAft>
                          <a:spcPts val="0"/>
                        </a:spcAft>
                      </a:pPr>
                      <a:r>
                        <a:rPr lang="en-US" sz="2000" kern="100" dirty="0">
                          <a:solidFill>
                            <a:schemeClr val="tx1"/>
                          </a:solidFill>
                          <a:latin typeface="Calibri"/>
                          <a:ea typeface="宋体"/>
                          <a:cs typeface="Times New Roman"/>
                        </a:rPr>
                        <a:t>[Weller 1993]</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0.7 Hour</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6 Hours</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6615823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PSP</a:t>
            </a:r>
            <a:r>
              <a:rPr lang="zh-CN" altLang="en-US" dirty="0"/>
              <a:t>质量策略</a:t>
            </a:r>
            <a:r>
              <a:rPr lang="en-US" altLang="zh-CN" dirty="0"/>
              <a:t>- </a:t>
            </a:r>
            <a:r>
              <a:rPr lang="zh-CN" altLang="en-US" dirty="0"/>
              <a:t>续</a:t>
            </a:r>
          </a:p>
        </p:txBody>
      </p:sp>
      <p:sp>
        <p:nvSpPr>
          <p:cNvPr id="3" name="内容占位符 2"/>
          <p:cNvSpPr>
            <a:spLocks noGrp="1"/>
          </p:cNvSpPr>
          <p:nvPr>
            <p:ph idx="1"/>
          </p:nvPr>
        </p:nvSpPr>
        <p:spPr/>
        <p:txBody>
          <a:bodyPr/>
          <a:lstStyle/>
          <a:p>
            <a:r>
              <a:rPr lang="zh-CN" altLang="en-US" dirty="0"/>
              <a:t>用缺陷管理来替代质量管理；</a:t>
            </a:r>
            <a:endParaRPr lang="en-US" altLang="zh-CN" dirty="0"/>
          </a:p>
          <a:p>
            <a:r>
              <a:rPr lang="zh-CN" altLang="en-US" dirty="0"/>
              <a:t>高质量产品也就意味着要求组成软件产品的各个组件基本无缺陷；</a:t>
            </a:r>
            <a:endParaRPr lang="en-US" altLang="zh-CN" dirty="0"/>
          </a:p>
          <a:p>
            <a:r>
              <a:rPr lang="zh-CN" altLang="en-US" u="sng" dirty="0">
                <a:solidFill>
                  <a:srgbClr val="FF0000"/>
                </a:solidFill>
              </a:rPr>
              <a:t>各个组件的高质量是通过高质量评审来实现的；</a:t>
            </a:r>
          </a:p>
        </p:txBody>
      </p:sp>
    </p:spTree>
    <p:extLst>
      <p:ext uri="{BB962C8B-B14F-4D97-AF65-F5344CB8AC3E}">
        <p14:creationId xmlns:p14="http://schemas.microsoft.com/office/powerpoint/2010/main" val="124618831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PSP</a:t>
            </a:r>
            <a:r>
              <a:rPr lang="zh-CN" altLang="en-US" b="1" dirty="0"/>
              <a:t>评审过程质量</a:t>
            </a:r>
            <a:endParaRPr lang="zh-CN" altLang="en-US" dirty="0"/>
          </a:p>
        </p:txBody>
      </p:sp>
      <p:sp>
        <p:nvSpPr>
          <p:cNvPr id="3" name="内容占位符 2"/>
          <p:cNvSpPr>
            <a:spLocks noGrp="1"/>
          </p:cNvSpPr>
          <p:nvPr>
            <p:ph idx="1"/>
          </p:nvPr>
        </p:nvSpPr>
        <p:spPr/>
        <p:txBody>
          <a:bodyPr/>
          <a:lstStyle/>
          <a:p>
            <a:r>
              <a:rPr lang="zh-CN" altLang="en-US" dirty="0"/>
              <a:t>评审检查表</a:t>
            </a:r>
            <a:endParaRPr lang="en-US" altLang="zh-CN" dirty="0"/>
          </a:p>
          <a:p>
            <a:r>
              <a:rPr lang="zh-CN" altLang="en-US" dirty="0"/>
              <a:t>质量控制指标</a:t>
            </a:r>
            <a:endParaRPr lang="en-US" altLang="zh-CN" dirty="0"/>
          </a:p>
          <a:p>
            <a:r>
              <a:rPr lang="zh-CN" altLang="en-US" dirty="0"/>
              <a:t>其他因素</a:t>
            </a:r>
            <a:endParaRPr lang="en-US" altLang="zh-CN" dirty="0"/>
          </a:p>
          <a:p>
            <a:pPr lvl="1"/>
            <a:r>
              <a:rPr lang="zh-CN" altLang="en-US" dirty="0"/>
              <a:t>环境</a:t>
            </a:r>
            <a:endParaRPr lang="en-US" altLang="zh-CN" dirty="0"/>
          </a:p>
          <a:p>
            <a:pPr lvl="1"/>
            <a:r>
              <a:rPr lang="zh-CN" altLang="en-US" dirty="0"/>
              <a:t>评审时机</a:t>
            </a:r>
            <a:endParaRPr lang="en-US" altLang="zh-CN" dirty="0"/>
          </a:p>
          <a:p>
            <a:pPr lvl="1"/>
            <a:r>
              <a:rPr lang="zh-CN" altLang="en-US" dirty="0"/>
              <a:t>个人评审和小组评审</a:t>
            </a:r>
            <a:endParaRPr lang="en-US" altLang="zh-CN" dirty="0"/>
          </a:p>
          <a:p>
            <a:pPr lvl="1"/>
            <a:r>
              <a:rPr lang="zh-CN" altLang="en-US" dirty="0"/>
              <a:t>缺陷预防</a:t>
            </a:r>
          </a:p>
        </p:txBody>
      </p:sp>
    </p:spTree>
    <p:extLst>
      <p:ext uri="{BB962C8B-B14F-4D97-AF65-F5344CB8AC3E}">
        <p14:creationId xmlns:p14="http://schemas.microsoft.com/office/powerpoint/2010/main" val="132620181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质量指标之一</a:t>
            </a:r>
            <a:r>
              <a:rPr lang="en-US" altLang="zh-CN" dirty="0"/>
              <a:t> </a:t>
            </a:r>
            <a:r>
              <a:rPr lang="zh-CN" altLang="en-US" dirty="0"/>
              <a:t>：</a:t>
            </a:r>
            <a:r>
              <a:rPr lang="en-US" altLang="zh-CN" dirty="0"/>
              <a:t>Yield</a:t>
            </a:r>
            <a:endParaRPr lang="zh-CN" altLang="en-US" dirty="0"/>
          </a:p>
        </p:txBody>
      </p:sp>
      <p:sp>
        <p:nvSpPr>
          <p:cNvPr id="3" name="内容占位符 2"/>
          <p:cNvSpPr>
            <a:spLocks noGrp="1"/>
          </p:cNvSpPr>
          <p:nvPr>
            <p:ph idx="1"/>
          </p:nvPr>
        </p:nvSpPr>
        <p:spPr>
          <a:xfrm>
            <a:off x="304800" y="1052513"/>
            <a:ext cx="8382000" cy="5348287"/>
          </a:xfrm>
        </p:spPr>
        <p:txBody>
          <a:bodyPr/>
          <a:lstStyle/>
          <a:p>
            <a:pPr lvl="0"/>
            <a:r>
              <a:rPr lang="en-US" dirty="0"/>
              <a:t>Yield</a:t>
            </a:r>
            <a:r>
              <a:rPr lang="zh-CN" altLang="en-US" dirty="0"/>
              <a:t>指标用以度量每个阶段在消除缺陷方面的效率。</a:t>
            </a:r>
            <a:endParaRPr lang="en-US" altLang="zh-CN" dirty="0"/>
          </a:p>
          <a:p>
            <a:pPr lvl="1"/>
            <a:r>
              <a:rPr lang="en-US" dirty="0"/>
              <a:t>Phase Yield = 100 * (</a:t>
            </a:r>
            <a:r>
              <a:rPr lang="zh-CN" altLang="en-US" dirty="0"/>
              <a:t>某阶段发现的缺陷个数</a:t>
            </a:r>
            <a:r>
              <a:rPr lang="en-US" dirty="0"/>
              <a:t>)/(</a:t>
            </a:r>
            <a:r>
              <a:rPr lang="zh-CN" altLang="en-US" dirty="0"/>
              <a:t>某阶段注入的缺陷个数</a:t>
            </a:r>
            <a:r>
              <a:rPr lang="en-US" dirty="0"/>
              <a:t>+</a:t>
            </a:r>
            <a:r>
              <a:rPr lang="zh-CN" altLang="en-US" dirty="0"/>
              <a:t>进入该阶段前遗留的缺陷个数</a:t>
            </a:r>
            <a:r>
              <a:rPr lang="en-US" dirty="0"/>
              <a:t>)</a:t>
            </a:r>
          </a:p>
          <a:p>
            <a:pPr lvl="1"/>
            <a:r>
              <a:rPr lang="en-US" dirty="0"/>
              <a:t>Process Yield = 100 * (</a:t>
            </a:r>
            <a:r>
              <a:rPr lang="zh-CN" altLang="en-US" dirty="0"/>
              <a:t>第一次编译前发现的缺陷个数</a:t>
            </a:r>
            <a:r>
              <a:rPr lang="en-US" dirty="0"/>
              <a:t>)/(</a:t>
            </a:r>
            <a:r>
              <a:rPr lang="zh-CN" altLang="en-US" dirty="0"/>
              <a:t>第一次编译前注入的缺陷个数</a:t>
            </a:r>
            <a:r>
              <a:rPr lang="en-US" dirty="0"/>
              <a:t>)</a:t>
            </a:r>
            <a:r>
              <a:rPr lang="zh-CN" altLang="en-US" dirty="0"/>
              <a:t>；</a:t>
            </a:r>
          </a:p>
          <a:p>
            <a:endParaRPr lang="zh-CN" altLang="en-US" dirty="0"/>
          </a:p>
        </p:txBody>
      </p:sp>
    </p:spTree>
    <p:extLst>
      <p:ext uri="{BB962C8B-B14F-4D97-AF65-F5344CB8AC3E}">
        <p14:creationId xmlns:p14="http://schemas.microsoft.com/office/powerpoint/2010/main" val="203628212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缺陷在开发过程中注入和消除的示意图</a:t>
            </a:r>
          </a:p>
        </p:txBody>
      </p:sp>
      <p:sp>
        <p:nvSpPr>
          <p:cNvPr id="171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1009" name="Object 1"/>
          <p:cNvGraphicFramePr>
            <a:graphicFrameLocks noChangeAspect="1"/>
          </p:cNvGraphicFramePr>
          <p:nvPr>
            <p:extLst>
              <p:ext uri="{D42A27DB-BD31-4B8C-83A1-F6EECF244321}">
                <p14:modId xmlns:p14="http://schemas.microsoft.com/office/powerpoint/2010/main" val="1973709266"/>
              </p:ext>
            </p:extLst>
          </p:nvPr>
        </p:nvGraphicFramePr>
        <p:xfrm>
          <a:off x="838200" y="1089700"/>
          <a:ext cx="6777134" cy="5438622"/>
        </p:xfrm>
        <a:graphic>
          <a:graphicData uri="http://schemas.openxmlformats.org/presentationml/2006/ole">
            <mc:AlternateContent xmlns:mc="http://schemas.openxmlformats.org/markup-compatibility/2006">
              <mc:Choice xmlns:v="urn:schemas-microsoft-com:vml" Requires="v">
                <p:oleObj name="Visio" r:id="rId3" imgW="6486144" imgH="6617160" progId="Visio.Drawing.11">
                  <p:embed/>
                </p:oleObj>
              </mc:Choice>
              <mc:Fallback>
                <p:oleObj name="Visio" r:id="rId3" imgW="6486144" imgH="6617160" progId="Visio.Drawing.11">
                  <p:embed/>
                  <p:pic>
                    <p:nvPicPr>
                      <p:cNvPr id="0" name=""/>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838200" y="1089700"/>
                        <a:ext cx="6777134" cy="5438622"/>
                      </a:xfrm>
                      <a:prstGeom prst="rect">
                        <a:avLst/>
                      </a:prstGeom>
                      <a:noFill/>
                    </p:spPr>
                  </p:pic>
                </p:oleObj>
              </mc:Fallback>
            </mc:AlternateContent>
          </a:graphicData>
        </a:graphic>
      </p:graphicFrame>
    </p:spTree>
    <p:extLst>
      <p:ext uri="{BB962C8B-B14F-4D97-AF65-F5344CB8AC3E}">
        <p14:creationId xmlns:p14="http://schemas.microsoft.com/office/powerpoint/2010/main" val="21534411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BD5712-F371-4ABD-80E0-313F2F5E5BE4}"/>
              </a:ext>
            </a:extLst>
          </p:cNvPr>
          <p:cNvSpPr>
            <a:spLocks noGrp="1"/>
          </p:cNvSpPr>
          <p:nvPr>
            <p:ph type="title"/>
          </p:nvPr>
        </p:nvSpPr>
        <p:spPr/>
        <p:txBody>
          <a:bodyPr/>
          <a:lstStyle/>
          <a:p>
            <a:r>
              <a:rPr lang="en-US" altLang="zh-CN" dirty="0"/>
              <a:t>Yield </a:t>
            </a:r>
            <a:r>
              <a:rPr lang="zh-CN" altLang="en-US" dirty="0"/>
              <a:t>示例</a:t>
            </a:r>
          </a:p>
        </p:txBody>
      </p:sp>
      <p:graphicFrame>
        <p:nvGraphicFramePr>
          <p:cNvPr id="5" name="内容占位符 4">
            <a:extLst>
              <a:ext uri="{FF2B5EF4-FFF2-40B4-BE49-F238E27FC236}">
                <a16:creationId xmlns:a16="http://schemas.microsoft.com/office/drawing/2014/main" id="{ACB3686B-F874-4A6D-8E40-98DF872D1EE0}"/>
              </a:ext>
            </a:extLst>
          </p:cNvPr>
          <p:cNvGraphicFramePr>
            <a:graphicFrameLocks noGrp="1"/>
          </p:cNvGraphicFramePr>
          <p:nvPr>
            <p:ph idx="1"/>
            <p:extLst>
              <p:ext uri="{D42A27DB-BD31-4B8C-83A1-F6EECF244321}">
                <p14:modId xmlns:p14="http://schemas.microsoft.com/office/powerpoint/2010/main" val="1522207993"/>
              </p:ext>
            </p:extLst>
          </p:nvPr>
        </p:nvGraphicFramePr>
        <p:xfrm>
          <a:off x="453325" y="990600"/>
          <a:ext cx="8229600" cy="222504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597871924"/>
                    </a:ext>
                  </a:extLst>
                </a:gridCol>
                <a:gridCol w="1645920">
                  <a:extLst>
                    <a:ext uri="{9D8B030D-6E8A-4147-A177-3AD203B41FA5}">
                      <a16:colId xmlns:a16="http://schemas.microsoft.com/office/drawing/2014/main" val="1001388132"/>
                    </a:ext>
                  </a:extLst>
                </a:gridCol>
                <a:gridCol w="1645920">
                  <a:extLst>
                    <a:ext uri="{9D8B030D-6E8A-4147-A177-3AD203B41FA5}">
                      <a16:colId xmlns:a16="http://schemas.microsoft.com/office/drawing/2014/main" val="2759234345"/>
                    </a:ext>
                  </a:extLst>
                </a:gridCol>
                <a:gridCol w="1645920">
                  <a:extLst>
                    <a:ext uri="{9D8B030D-6E8A-4147-A177-3AD203B41FA5}">
                      <a16:colId xmlns:a16="http://schemas.microsoft.com/office/drawing/2014/main" val="1362518442"/>
                    </a:ext>
                  </a:extLst>
                </a:gridCol>
                <a:gridCol w="1645920">
                  <a:extLst>
                    <a:ext uri="{9D8B030D-6E8A-4147-A177-3AD203B41FA5}">
                      <a16:colId xmlns:a16="http://schemas.microsoft.com/office/drawing/2014/main" val="2177416297"/>
                    </a:ext>
                  </a:extLst>
                </a:gridCol>
              </a:tblGrid>
              <a:tr h="370840">
                <a:tc>
                  <a:txBody>
                    <a:bodyPr/>
                    <a:lstStyle/>
                    <a:p>
                      <a:r>
                        <a:rPr lang="zh-CN" altLang="en-US" dirty="0"/>
                        <a:t>阶段</a:t>
                      </a:r>
                    </a:p>
                  </a:txBody>
                  <a:tcPr/>
                </a:tc>
                <a:tc>
                  <a:txBody>
                    <a:bodyPr/>
                    <a:lstStyle/>
                    <a:p>
                      <a:r>
                        <a:rPr lang="zh-CN" altLang="en-US" dirty="0"/>
                        <a:t>注入缺陷数</a:t>
                      </a:r>
                    </a:p>
                  </a:txBody>
                  <a:tcPr/>
                </a:tc>
                <a:tc>
                  <a:txBody>
                    <a:bodyPr/>
                    <a:lstStyle/>
                    <a:p>
                      <a:r>
                        <a:rPr lang="zh-CN" altLang="en-US" dirty="0"/>
                        <a:t>消除缺陷数</a:t>
                      </a:r>
                    </a:p>
                  </a:txBody>
                  <a:tcPr/>
                </a:tc>
                <a:tc>
                  <a:txBody>
                    <a:bodyPr/>
                    <a:lstStyle/>
                    <a:p>
                      <a:r>
                        <a:rPr lang="zh-CN" altLang="en-US" dirty="0"/>
                        <a:t>遗留缺陷数</a:t>
                      </a:r>
                    </a:p>
                  </a:txBody>
                  <a:tcPr/>
                </a:tc>
                <a:tc>
                  <a:txBody>
                    <a:bodyPr/>
                    <a:lstStyle/>
                    <a:p>
                      <a:r>
                        <a:rPr lang="en-US" altLang="zh-CN" dirty="0"/>
                        <a:t>Yield</a:t>
                      </a:r>
                      <a:r>
                        <a:rPr lang="zh-CN" altLang="en-US" dirty="0"/>
                        <a:t>（</a:t>
                      </a:r>
                      <a:r>
                        <a:rPr lang="en-US" altLang="zh-CN" dirty="0"/>
                        <a:t>%</a:t>
                      </a:r>
                      <a:r>
                        <a:rPr lang="zh-CN" altLang="en-US" dirty="0"/>
                        <a:t>）</a:t>
                      </a:r>
                    </a:p>
                  </a:txBody>
                  <a:tcPr/>
                </a:tc>
                <a:extLst>
                  <a:ext uri="{0D108BD9-81ED-4DB2-BD59-A6C34878D82A}">
                    <a16:rowId xmlns:a16="http://schemas.microsoft.com/office/drawing/2014/main" val="306886285"/>
                  </a:ext>
                </a:extLst>
              </a:tr>
              <a:tr h="370840">
                <a:tc>
                  <a:txBody>
                    <a:bodyPr/>
                    <a:lstStyle/>
                    <a:p>
                      <a:r>
                        <a:rPr lang="zh-CN" altLang="en-US" dirty="0"/>
                        <a:t>设计</a:t>
                      </a:r>
                    </a:p>
                  </a:txBody>
                  <a:tcPr/>
                </a:tc>
                <a:tc>
                  <a:txBody>
                    <a:bodyPr/>
                    <a:lstStyle/>
                    <a:p>
                      <a:r>
                        <a:rPr lang="en-US" altLang="zh-CN" dirty="0"/>
                        <a:t>10</a:t>
                      </a:r>
                      <a:endParaRPr lang="zh-CN" altLang="en-US" dirty="0"/>
                    </a:p>
                  </a:txBody>
                  <a:tcPr/>
                </a:tc>
                <a:tc>
                  <a:txBody>
                    <a:bodyPr/>
                    <a:lstStyle/>
                    <a:p>
                      <a:r>
                        <a:rPr lang="en-US" altLang="zh-CN" dirty="0"/>
                        <a:t>1</a:t>
                      </a:r>
                      <a:endParaRPr lang="zh-CN" altLang="en-US" dirty="0"/>
                    </a:p>
                  </a:txBody>
                  <a:tcPr/>
                </a:tc>
                <a:tc>
                  <a:txBody>
                    <a:bodyPr/>
                    <a:lstStyle/>
                    <a:p>
                      <a:r>
                        <a:rPr lang="en-US" altLang="zh-CN" dirty="0"/>
                        <a:t>9</a:t>
                      </a:r>
                      <a:endParaRPr lang="zh-CN" altLang="en-US" dirty="0"/>
                    </a:p>
                  </a:txBody>
                  <a:tcPr/>
                </a:tc>
                <a:tc>
                  <a:txBody>
                    <a:bodyPr/>
                    <a:lstStyle/>
                    <a:p>
                      <a:r>
                        <a:rPr lang="en-US" altLang="zh-CN" dirty="0"/>
                        <a:t>10</a:t>
                      </a:r>
                      <a:r>
                        <a:rPr lang="zh-CN" altLang="en-US" dirty="0"/>
                        <a:t>（</a:t>
                      </a:r>
                      <a:r>
                        <a:rPr lang="en-US" altLang="zh-CN" dirty="0"/>
                        <a:t>1/10</a:t>
                      </a:r>
                      <a:r>
                        <a:rPr lang="zh-CN" altLang="en-US" dirty="0"/>
                        <a:t>）</a:t>
                      </a:r>
                    </a:p>
                  </a:txBody>
                  <a:tcPr/>
                </a:tc>
                <a:extLst>
                  <a:ext uri="{0D108BD9-81ED-4DB2-BD59-A6C34878D82A}">
                    <a16:rowId xmlns:a16="http://schemas.microsoft.com/office/drawing/2014/main" val="1650505137"/>
                  </a:ext>
                </a:extLst>
              </a:tr>
              <a:tr h="370840">
                <a:tc>
                  <a:txBody>
                    <a:bodyPr/>
                    <a:lstStyle/>
                    <a:p>
                      <a:r>
                        <a:rPr lang="zh-CN" altLang="en-US" dirty="0"/>
                        <a:t>设计评审</a:t>
                      </a:r>
                    </a:p>
                  </a:txBody>
                  <a:tcPr/>
                </a:tc>
                <a:tc>
                  <a:txBody>
                    <a:bodyPr/>
                    <a:lstStyle/>
                    <a:p>
                      <a:r>
                        <a:rPr lang="en-US" altLang="zh-CN" dirty="0"/>
                        <a:t>0</a:t>
                      </a:r>
                      <a:endParaRPr lang="zh-CN" altLang="en-US" dirty="0"/>
                    </a:p>
                  </a:txBody>
                  <a:tcPr/>
                </a:tc>
                <a:tc>
                  <a:txBody>
                    <a:bodyPr/>
                    <a:lstStyle/>
                    <a:p>
                      <a:r>
                        <a:rPr lang="en-US" altLang="zh-CN" dirty="0"/>
                        <a:t>3</a:t>
                      </a:r>
                      <a:endParaRPr lang="zh-CN" altLang="en-US" dirty="0"/>
                    </a:p>
                  </a:txBody>
                  <a:tcPr/>
                </a:tc>
                <a:tc>
                  <a:txBody>
                    <a:bodyPr/>
                    <a:lstStyle/>
                    <a:p>
                      <a:r>
                        <a:rPr lang="en-US" altLang="zh-CN" dirty="0"/>
                        <a:t>6</a:t>
                      </a:r>
                      <a:endParaRPr lang="zh-CN" altLang="en-US" dirty="0"/>
                    </a:p>
                  </a:txBody>
                  <a:tcPr/>
                </a:tc>
                <a:tc>
                  <a:txBody>
                    <a:bodyPr/>
                    <a:lstStyle/>
                    <a:p>
                      <a:r>
                        <a:rPr lang="en-US" altLang="zh-CN" dirty="0"/>
                        <a:t>33.3(3/9)</a:t>
                      </a:r>
                      <a:endParaRPr lang="zh-CN" altLang="en-US" dirty="0"/>
                    </a:p>
                  </a:txBody>
                  <a:tcPr/>
                </a:tc>
                <a:extLst>
                  <a:ext uri="{0D108BD9-81ED-4DB2-BD59-A6C34878D82A}">
                    <a16:rowId xmlns:a16="http://schemas.microsoft.com/office/drawing/2014/main" val="3662982781"/>
                  </a:ext>
                </a:extLst>
              </a:tr>
              <a:tr h="370840">
                <a:tc>
                  <a:txBody>
                    <a:bodyPr/>
                    <a:lstStyle/>
                    <a:p>
                      <a:r>
                        <a:rPr lang="zh-CN" altLang="en-US" dirty="0"/>
                        <a:t>编码</a:t>
                      </a:r>
                    </a:p>
                  </a:txBody>
                  <a:tcPr/>
                </a:tc>
                <a:tc>
                  <a:txBody>
                    <a:bodyPr/>
                    <a:lstStyle/>
                    <a:p>
                      <a:r>
                        <a:rPr lang="en-US" altLang="zh-CN" dirty="0"/>
                        <a:t>50</a:t>
                      </a:r>
                      <a:endParaRPr lang="zh-CN" altLang="en-US" dirty="0"/>
                    </a:p>
                  </a:txBody>
                  <a:tcPr/>
                </a:tc>
                <a:tc>
                  <a:txBody>
                    <a:bodyPr/>
                    <a:lstStyle/>
                    <a:p>
                      <a:r>
                        <a:rPr lang="en-US" altLang="zh-CN" dirty="0"/>
                        <a:t>2</a:t>
                      </a:r>
                      <a:endParaRPr lang="zh-CN" altLang="en-US" dirty="0"/>
                    </a:p>
                  </a:txBody>
                  <a:tcPr/>
                </a:tc>
                <a:tc>
                  <a:txBody>
                    <a:bodyPr/>
                    <a:lstStyle/>
                    <a:p>
                      <a:r>
                        <a:rPr lang="en-US" altLang="zh-CN" dirty="0"/>
                        <a:t>54</a:t>
                      </a:r>
                      <a:endParaRPr lang="zh-CN" altLang="en-US" dirty="0"/>
                    </a:p>
                  </a:txBody>
                  <a:tcPr/>
                </a:tc>
                <a:tc>
                  <a:txBody>
                    <a:bodyPr/>
                    <a:lstStyle/>
                    <a:p>
                      <a:r>
                        <a:rPr lang="en-US" altLang="zh-CN" dirty="0"/>
                        <a:t>3.57(2/56)</a:t>
                      </a:r>
                      <a:endParaRPr lang="zh-CN" altLang="en-US" dirty="0"/>
                    </a:p>
                  </a:txBody>
                  <a:tcPr/>
                </a:tc>
                <a:extLst>
                  <a:ext uri="{0D108BD9-81ED-4DB2-BD59-A6C34878D82A}">
                    <a16:rowId xmlns:a16="http://schemas.microsoft.com/office/drawing/2014/main" val="1828668113"/>
                  </a:ext>
                </a:extLst>
              </a:tr>
              <a:tr h="370840">
                <a:tc>
                  <a:txBody>
                    <a:bodyPr/>
                    <a:lstStyle/>
                    <a:p>
                      <a:r>
                        <a:rPr lang="zh-CN" altLang="en-US" dirty="0"/>
                        <a:t>代码评审</a:t>
                      </a:r>
                    </a:p>
                  </a:txBody>
                  <a:tcPr/>
                </a:tc>
                <a:tc>
                  <a:txBody>
                    <a:bodyPr/>
                    <a:lstStyle/>
                    <a:p>
                      <a:r>
                        <a:rPr lang="en-US" altLang="zh-CN" dirty="0"/>
                        <a:t>0</a:t>
                      </a:r>
                      <a:endParaRPr lang="zh-CN" altLang="en-US" dirty="0"/>
                    </a:p>
                  </a:txBody>
                  <a:tcPr/>
                </a:tc>
                <a:tc>
                  <a:txBody>
                    <a:bodyPr/>
                    <a:lstStyle/>
                    <a:p>
                      <a:r>
                        <a:rPr lang="en-US" altLang="zh-CN" dirty="0"/>
                        <a:t>27</a:t>
                      </a:r>
                      <a:endParaRPr lang="zh-CN" altLang="en-US" dirty="0"/>
                    </a:p>
                  </a:txBody>
                  <a:tcPr/>
                </a:tc>
                <a:tc>
                  <a:txBody>
                    <a:bodyPr/>
                    <a:lstStyle/>
                    <a:p>
                      <a:r>
                        <a:rPr lang="en-US" altLang="zh-CN" dirty="0"/>
                        <a:t>27</a:t>
                      </a:r>
                      <a:endParaRPr lang="zh-CN" altLang="en-US" dirty="0"/>
                    </a:p>
                  </a:txBody>
                  <a:tcPr/>
                </a:tc>
                <a:tc>
                  <a:txBody>
                    <a:bodyPr/>
                    <a:lstStyle/>
                    <a:p>
                      <a:r>
                        <a:rPr lang="en-US" altLang="zh-CN" dirty="0"/>
                        <a:t>50(27/54)</a:t>
                      </a:r>
                      <a:endParaRPr lang="zh-CN" altLang="en-US" dirty="0"/>
                    </a:p>
                  </a:txBody>
                  <a:tcPr/>
                </a:tc>
                <a:extLst>
                  <a:ext uri="{0D108BD9-81ED-4DB2-BD59-A6C34878D82A}">
                    <a16:rowId xmlns:a16="http://schemas.microsoft.com/office/drawing/2014/main" val="518193464"/>
                  </a:ext>
                </a:extLst>
              </a:tr>
              <a:tr h="370840">
                <a:tc>
                  <a:txBody>
                    <a:bodyPr/>
                    <a:lstStyle/>
                    <a:p>
                      <a:r>
                        <a:rPr lang="zh-CN" altLang="en-US" dirty="0"/>
                        <a:t>单元测试</a:t>
                      </a:r>
                    </a:p>
                  </a:txBody>
                  <a:tcPr/>
                </a:tc>
                <a:tc>
                  <a:txBody>
                    <a:bodyPr/>
                    <a:lstStyle/>
                    <a:p>
                      <a:r>
                        <a:rPr lang="en-US" altLang="zh-CN" dirty="0"/>
                        <a:t>0</a:t>
                      </a:r>
                      <a:endParaRPr lang="zh-CN" altLang="en-US" dirty="0"/>
                    </a:p>
                  </a:txBody>
                  <a:tcPr/>
                </a:tc>
                <a:tc>
                  <a:txBody>
                    <a:bodyPr/>
                    <a:lstStyle/>
                    <a:p>
                      <a:r>
                        <a:rPr lang="en-US" altLang="zh-CN" dirty="0"/>
                        <a:t>27</a:t>
                      </a:r>
                      <a:endParaRPr lang="zh-CN" altLang="en-US" dirty="0"/>
                    </a:p>
                  </a:txBody>
                  <a:tcPr/>
                </a:tc>
                <a:tc>
                  <a:txBody>
                    <a:bodyPr/>
                    <a:lstStyle/>
                    <a:p>
                      <a:r>
                        <a:rPr lang="en-US" altLang="zh-CN" dirty="0"/>
                        <a:t>0</a:t>
                      </a:r>
                      <a:endParaRPr lang="zh-CN" altLang="en-US" dirty="0"/>
                    </a:p>
                  </a:txBody>
                  <a:tcPr/>
                </a:tc>
                <a:tc>
                  <a:txBody>
                    <a:bodyPr/>
                    <a:lstStyle/>
                    <a:p>
                      <a:r>
                        <a:rPr lang="en-US" altLang="zh-CN" dirty="0"/>
                        <a:t>100(27/27)</a:t>
                      </a:r>
                      <a:endParaRPr lang="zh-CN" altLang="en-US" dirty="0"/>
                    </a:p>
                  </a:txBody>
                  <a:tcPr/>
                </a:tc>
                <a:extLst>
                  <a:ext uri="{0D108BD9-81ED-4DB2-BD59-A6C34878D82A}">
                    <a16:rowId xmlns:a16="http://schemas.microsoft.com/office/drawing/2014/main" val="1861431922"/>
                  </a:ext>
                </a:extLst>
              </a:tr>
            </a:tbl>
          </a:graphicData>
        </a:graphic>
      </p:graphicFrame>
      <p:sp>
        <p:nvSpPr>
          <p:cNvPr id="4" name="灯片编号占位符 3">
            <a:extLst>
              <a:ext uri="{FF2B5EF4-FFF2-40B4-BE49-F238E27FC236}">
                <a16:creationId xmlns:a16="http://schemas.microsoft.com/office/drawing/2014/main" id="{A1F97C01-305F-4646-BBAD-79102C7805D3}"/>
              </a:ext>
            </a:extLst>
          </p:cNvPr>
          <p:cNvSpPr>
            <a:spLocks noGrp="1"/>
          </p:cNvSpPr>
          <p:nvPr>
            <p:ph type="sldNum" sz="quarter" idx="10"/>
          </p:nvPr>
        </p:nvSpPr>
        <p:spPr/>
        <p:txBody>
          <a:bodyPr/>
          <a:lstStyle/>
          <a:p>
            <a:pPr>
              <a:defRPr/>
            </a:pPr>
            <a:fld id="{595AA6EC-6A09-4E3E-B9B9-F7A83E2801B5}" type="slidenum">
              <a:rPr lang="en-US" altLang="zh-CN" smtClean="0"/>
              <a:pPr>
                <a:defRPr/>
              </a:pPr>
              <a:t>16</a:t>
            </a:fld>
            <a:endParaRPr lang="en-US" altLang="zh-CN"/>
          </a:p>
        </p:txBody>
      </p:sp>
      <p:graphicFrame>
        <p:nvGraphicFramePr>
          <p:cNvPr id="6" name="内容占位符 4">
            <a:extLst>
              <a:ext uri="{FF2B5EF4-FFF2-40B4-BE49-F238E27FC236}">
                <a16:creationId xmlns:a16="http://schemas.microsoft.com/office/drawing/2014/main" id="{FA8BEF0C-C17C-4EAE-AF82-9EA8ECA6F45E}"/>
              </a:ext>
            </a:extLst>
          </p:cNvPr>
          <p:cNvGraphicFramePr>
            <a:graphicFrameLocks/>
          </p:cNvGraphicFramePr>
          <p:nvPr>
            <p:extLst>
              <p:ext uri="{D42A27DB-BD31-4B8C-83A1-F6EECF244321}">
                <p14:modId xmlns:p14="http://schemas.microsoft.com/office/powerpoint/2010/main" val="385086650"/>
              </p:ext>
            </p:extLst>
          </p:nvPr>
        </p:nvGraphicFramePr>
        <p:xfrm>
          <a:off x="475281" y="4191000"/>
          <a:ext cx="8229600" cy="22199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597871924"/>
                    </a:ext>
                  </a:extLst>
                </a:gridCol>
                <a:gridCol w="1645920">
                  <a:extLst>
                    <a:ext uri="{9D8B030D-6E8A-4147-A177-3AD203B41FA5}">
                      <a16:colId xmlns:a16="http://schemas.microsoft.com/office/drawing/2014/main" val="1001388132"/>
                    </a:ext>
                  </a:extLst>
                </a:gridCol>
                <a:gridCol w="1645920">
                  <a:extLst>
                    <a:ext uri="{9D8B030D-6E8A-4147-A177-3AD203B41FA5}">
                      <a16:colId xmlns:a16="http://schemas.microsoft.com/office/drawing/2014/main" val="2759234345"/>
                    </a:ext>
                  </a:extLst>
                </a:gridCol>
                <a:gridCol w="1645920">
                  <a:extLst>
                    <a:ext uri="{9D8B030D-6E8A-4147-A177-3AD203B41FA5}">
                      <a16:colId xmlns:a16="http://schemas.microsoft.com/office/drawing/2014/main" val="1362518442"/>
                    </a:ext>
                  </a:extLst>
                </a:gridCol>
                <a:gridCol w="1645920">
                  <a:extLst>
                    <a:ext uri="{9D8B030D-6E8A-4147-A177-3AD203B41FA5}">
                      <a16:colId xmlns:a16="http://schemas.microsoft.com/office/drawing/2014/main" val="2177416297"/>
                    </a:ext>
                  </a:extLst>
                </a:gridCol>
              </a:tblGrid>
              <a:tr h="127953">
                <a:tc>
                  <a:txBody>
                    <a:bodyPr/>
                    <a:lstStyle/>
                    <a:p>
                      <a:r>
                        <a:rPr lang="zh-CN" altLang="en-US" dirty="0"/>
                        <a:t>阶段</a:t>
                      </a:r>
                    </a:p>
                  </a:txBody>
                  <a:tcPr/>
                </a:tc>
                <a:tc>
                  <a:txBody>
                    <a:bodyPr/>
                    <a:lstStyle/>
                    <a:p>
                      <a:r>
                        <a:rPr lang="zh-CN" altLang="en-US" dirty="0"/>
                        <a:t>注入缺陷数</a:t>
                      </a:r>
                    </a:p>
                  </a:txBody>
                  <a:tcPr/>
                </a:tc>
                <a:tc>
                  <a:txBody>
                    <a:bodyPr/>
                    <a:lstStyle/>
                    <a:p>
                      <a:r>
                        <a:rPr lang="zh-CN" altLang="en-US" dirty="0"/>
                        <a:t>消除缺陷数</a:t>
                      </a:r>
                    </a:p>
                  </a:txBody>
                  <a:tcPr/>
                </a:tc>
                <a:tc>
                  <a:txBody>
                    <a:bodyPr/>
                    <a:lstStyle/>
                    <a:p>
                      <a:r>
                        <a:rPr lang="zh-CN" altLang="en-US" dirty="0"/>
                        <a:t>遗留缺陷数</a:t>
                      </a:r>
                    </a:p>
                  </a:txBody>
                  <a:tcPr/>
                </a:tc>
                <a:tc>
                  <a:txBody>
                    <a:bodyPr/>
                    <a:lstStyle/>
                    <a:p>
                      <a:r>
                        <a:rPr lang="en-US" altLang="zh-CN" dirty="0"/>
                        <a:t>Yield</a:t>
                      </a:r>
                      <a:r>
                        <a:rPr lang="zh-CN" altLang="en-US" dirty="0"/>
                        <a:t>（</a:t>
                      </a:r>
                      <a:r>
                        <a:rPr lang="en-US" altLang="zh-CN" dirty="0"/>
                        <a:t>%</a:t>
                      </a:r>
                      <a:r>
                        <a:rPr lang="zh-CN" altLang="en-US" dirty="0"/>
                        <a:t>）</a:t>
                      </a:r>
                    </a:p>
                  </a:txBody>
                  <a:tcPr/>
                </a:tc>
                <a:extLst>
                  <a:ext uri="{0D108BD9-81ED-4DB2-BD59-A6C34878D82A}">
                    <a16:rowId xmlns:a16="http://schemas.microsoft.com/office/drawing/2014/main" val="306886285"/>
                  </a:ext>
                </a:extLst>
              </a:tr>
              <a:tr h="370840">
                <a:tc>
                  <a:txBody>
                    <a:bodyPr/>
                    <a:lstStyle/>
                    <a:p>
                      <a:r>
                        <a:rPr lang="zh-CN" altLang="en-US" dirty="0"/>
                        <a:t>设计</a:t>
                      </a:r>
                    </a:p>
                  </a:txBody>
                  <a:tcPr/>
                </a:tc>
                <a:tc>
                  <a:txBody>
                    <a:bodyPr/>
                    <a:lstStyle/>
                    <a:p>
                      <a:r>
                        <a:rPr lang="en-US" altLang="zh-CN" dirty="0"/>
                        <a:t>10(</a:t>
                      </a:r>
                      <a:r>
                        <a:rPr lang="en-US" altLang="zh-CN" dirty="0">
                          <a:solidFill>
                            <a:srgbClr val="FF0000"/>
                          </a:solidFill>
                        </a:rPr>
                        <a:t>+4.5</a:t>
                      </a:r>
                      <a:r>
                        <a:rPr lang="en-US" altLang="zh-CN" dirty="0"/>
                        <a:t>)</a:t>
                      </a:r>
                      <a:endParaRPr lang="zh-CN" altLang="en-US" dirty="0"/>
                    </a:p>
                  </a:txBody>
                  <a:tcPr/>
                </a:tc>
                <a:tc>
                  <a:txBody>
                    <a:bodyPr/>
                    <a:lstStyle/>
                    <a:p>
                      <a:r>
                        <a:rPr lang="en-US" altLang="zh-CN" dirty="0"/>
                        <a:t>1</a:t>
                      </a:r>
                      <a:endParaRPr lang="zh-CN" altLang="en-US" dirty="0"/>
                    </a:p>
                  </a:txBody>
                  <a:tcPr/>
                </a:tc>
                <a:tc>
                  <a:txBody>
                    <a:bodyPr/>
                    <a:lstStyle/>
                    <a:p>
                      <a:r>
                        <a:rPr lang="en-US" altLang="zh-CN" dirty="0"/>
                        <a:t>9(</a:t>
                      </a:r>
                      <a:r>
                        <a:rPr lang="en-US" altLang="zh-CN" dirty="0">
                          <a:solidFill>
                            <a:srgbClr val="FF0000"/>
                          </a:solidFill>
                        </a:rPr>
                        <a:t>+4.5</a:t>
                      </a:r>
                      <a:r>
                        <a:rPr lang="en-US" altLang="zh-CN" dirty="0"/>
                        <a:t>)</a:t>
                      </a:r>
                      <a:endParaRPr lang="zh-CN" altLang="en-US" dirty="0"/>
                    </a:p>
                  </a:txBody>
                  <a:tcPr/>
                </a:tc>
                <a:tc>
                  <a:txBody>
                    <a:bodyPr/>
                    <a:lstStyle/>
                    <a:p>
                      <a:r>
                        <a:rPr lang="en-US" altLang="zh-CN" dirty="0">
                          <a:solidFill>
                            <a:srgbClr val="FF0000"/>
                          </a:solidFill>
                        </a:rPr>
                        <a:t>?</a:t>
                      </a:r>
                      <a:endParaRPr lang="zh-CN" altLang="en-US" dirty="0">
                        <a:solidFill>
                          <a:srgbClr val="FF0000"/>
                        </a:solidFill>
                      </a:endParaRPr>
                    </a:p>
                  </a:txBody>
                  <a:tcPr/>
                </a:tc>
                <a:extLst>
                  <a:ext uri="{0D108BD9-81ED-4DB2-BD59-A6C34878D82A}">
                    <a16:rowId xmlns:a16="http://schemas.microsoft.com/office/drawing/2014/main" val="1650505137"/>
                  </a:ext>
                </a:extLst>
              </a:tr>
              <a:tr h="370840">
                <a:tc>
                  <a:txBody>
                    <a:bodyPr/>
                    <a:lstStyle/>
                    <a:p>
                      <a:r>
                        <a:rPr lang="zh-CN" altLang="en-US" dirty="0"/>
                        <a:t>设计评审</a:t>
                      </a:r>
                    </a:p>
                  </a:txBody>
                  <a:tcPr/>
                </a:tc>
                <a:tc>
                  <a:txBody>
                    <a:bodyPr/>
                    <a:lstStyle/>
                    <a:p>
                      <a:r>
                        <a:rPr lang="en-US" altLang="zh-CN" dirty="0"/>
                        <a:t>0</a:t>
                      </a:r>
                      <a:endParaRPr lang="zh-CN" altLang="en-US" dirty="0"/>
                    </a:p>
                  </a:txBody>
                  <a:tcPr/>
                </a:tc>
                <a:tc>
                  <a:txBody>
                    <a:bodyPr/>
                    <a:lstStyle/>
                    <a:p>
                      <a:r>
                        <a:rPr lang="en-US" altLang="zh-CN" dirty="0"/>
                        <a:t>3</a:t>
                      </a:r>
                      <a:endParaRPr lang="zh-CN" altLang="en-US" dirty="0"/>
                    </a:p>
                  </a:txBody>
                  <a:tcPr/>
                </a:tc>
                <a:tc>
                  <a:txBody>
                    <a:bodyPr/>
                    <a:lstStyle/>
                    <a:p>
                      <a:r>
                        <a:rPr lang="en-US" altLang="zh-CN" dirty="0"/>
                        <a:t>6(</a:t>
                      </a:r>
                      <a:r>
                        <a:rPr lang="en-US" altLang="zh-CN" dirty="0">
                          <a:solidFill>
                            <a:srgbClr val="FF0000"/>
                          </a:solidFill>
                        </a:rPr>
                        <a:t>+4.5</a:t>
                      </a:r>
                      <a:r>
                        <a:rPr lang="en-US" altLang="zh-CN" dirty="0"/>
                        <a:t>)</a:t>
                      </a:r>
                      <a:endParaRPr lang="zh-CN" altLang="en-US" dirty="0"/>
                    </a:p>
                  </a:txBody>
                  <a:tcPr/>
                </a:tc>
                <a:tc>
                  <a:txBody>
                    <a:bodyPr/>
                    <a:lstStyle/>
                    <a:p>
                      <a:r>
                        <a:rPr lang="en-US" altLang="zh-CN" dirty="0">
                          <a:solidFill>
                            <a:srgbClr val="FF0000"/>
                          </a:solidFill>
                        </a:rPr>
                        <a:t>?</a:t>
                      </a:r>
                      <a:endParaRPr lang="zh-CN" altLang="en-US" dirty="0">
                        <a:solidFill>
                          <a:srgbClr val="FF0000"/>
                        </a:solidFill>
                      </a:endParaRPr>
                    </a:p>
                  </a:txBody>
                  <a:tcPr/>
                </a:tc>
                <a:extLst>
                  <a:ext uri="{0D108BD9-81ED-4DB2-BD59-A6C34878D82A}">
                    <a16:rowId xmlns:a16="http://schemas.microsoft.com/office/drawing/2014/main" val="3662982781"/>
                  </a:ext>
                </a:extLst>
              </a:tr>
              <a:tr h="370840">
                <a:tc>
                  <a:txBody>
                    <a:bodyPr/>
                    <a:lstStyle/>
                    <a:p>
                      <a:r>
                        <a:rPr lang="zh-CN" altLang="en-US" dirty="0"/>
                        <a:t>编码</a:t>
                      </a:r>
                    </a:p>
                  </a:txBody>
                  <a:tcPr/>
                </a:tc>
                <a:tc>
                  <a:txBody>
                    <a:bodyPr/>
                    <a:lstStyle/>
                    <a:p>
                      <a:r>
                        <a:rPr lang="en-US" altLang="zh-CN" dirty="0"/>
                        <a:t>50(</a:t>
                      </a:r>
                      <a:r>
                        <a:rPr lang="en-US" altLang="zh-CN" dirty="0">
                          <a:solidFill>
                            <a:srgbClr val="FF0000"/>
                          </a:solidFill>
                        </a:rPr>
                        <a:t>+22.5</a:t>
                      </a:r>
                      <a:r>
                        <a:rPr lang="en-US" altLang="zh-CN" dirty="0"/>
                        <a:t>)</a:t>
                      </a:r>
                      <a:endParaRPr lang="zh-CN" altLang="en-US" dirty="0"/>
                    </a:p>
                  </a:txBody>
                  <a:tcPr/>
                </a:tc>
                <a:tc>
                  <a:txBody>
                    <a:bodyPr/>
                    <a:lstStyle/>
                    <a:p>
                      <a:r>
                        <a:rPr lang="en-US" altLang="zh-CN" dirty="0"/>
                        <a:t>2</a:t>
                      </a:r>
                      <a:endParaRPr lang="zh-CN" altLang="en-US" dirty="0"/>
                    </a:p>
                  </a:txBody>
                  <a:tcPr/>
                </a:tc>
                <a:tc>
                  <a:txBody>
                    <a:bodyPr/>
                    <a:lstStyle/>
                    <a:p>
                      <a:r>
                        <a:rPr lang="en-US" altLang="zh-CN" dirty="0"/>
                        <a:t>54(</a:t>
                      </a:r>
                      <a:r>
                        <a:rPr lang="en-US" altLang="zh-CN" dirty="0">
                          <a:solidFill>
                            <a:srgbClr val="FF0000"/>
                          </a:solidFill>
                        </a:rPr>
                        <a:t>+27</a:t>
                      </a:r>
                      <a:r>
                        <a:rPr lang="en-US" altLang="zh-CN" dirty="0"/>
                        <a:t>)</a:t>
                      </a:r>
                      <a:endParaRPr lang="zh-CN" altLang="en-US" dirty="0"/>
                    </a:p>
                  </a:txBody>
                  <a:tcPr/>
                </a:tc>
                <a:tc>
                  <a:txBody>
                    <a:bodyPr/>
                    <a:lstStyle/>
                    <a:p>
                      <a:r>
                        <a:rPr lang="en-US" altLang="zh-CN" dirty="0">
                          <a:solidFill>
                            <a:srgbClr val="FF0000"/>
                          </a:solidFill>
                        </a:rPr>
                        <a:t>?</a:t>
                      </a:r>
                      <a:endParaRPr lang="zh-CN" altLang="en-US" dirty="0">
                        <a:solidFill>
                          <a:srgbClr val="FF0000"/>
                        </a:solidFill>
                      </a:endParaRPr>
                    </a:p>
                  </a:txBody>
                  <a:tcPr/>
                </a:tc>
                <a:extLst>
                  <a:ext uri="{0D108BD9-81ED-4DB2-BD59-A6C34878D82A}">
                    <a16:rowId xmlns:a16="http://schemas.microsoft.com/office/drawing/2014/main" val="1828668113"/>
                  </a:ext>
                </a:extLst>
              </a:tr>
              <a:tr h="370840">
                <a:tc>
                  <a:txBody>
                    <a:bodyPr/>
                    <a:lstStyle/>
                    <a:p>
                      <a:r>
                        <a:rPr lang="zh-CN" altLang="en-US" dirty="0"/>
                        <a:t>代码评审</a:t>
                      </a:r>
                    </a:p>
                  </a:txBody>
                  <a:tcPr/>
                </a:tc>
                <a:tc>
                  <a:txBody>
                    <a:bodyPr/>
                    <a:lstStyle/>
                    <a:p>
                      <a:r>
                        <a:rPr lang="en-US" altLang="zh-CN" dirty="0"/>
                        <a:t>0</a:t>
                      </a:r>
                      <a:endParaRPr lang="zh-CN" altLang="en-US" dirty="0"/>
                    </a:p>
                  </a:txBody>
                  <a:tcPr/>
                </a:tc>
                <a:tc>
                  <a:txBody>
                    <a:bodyPr/>
                    <a:lstStyle/>
                    <a:p>
                      <a:r>
                        <a:rPr lang="en-US" altLang="zh-CN" dirty="0"/>
                        <a:t>27</a:t>
                      </a:r>
                      <a:endParaRPr lang="zh-CN" altLang="en-US" dirty="0"/>
                    </a:p>
                  </a:txBody>
                  <a:tcPr/>
                </a:tc>
                <a:tc>
                  <a:txBody>
                    <a:bodyPr/>
                    <a:lstStyle/>
                    <a:p>
                      <a:r>
                        <a:rPr lang="en-US" altLang="zh-CN" dirty="0"/>
                        <a:t>27(</a:t>
                      </a:r>
                      <a:r>
                        <a:rPr lang="en-US" altLang="zh-CN" dirty="0">
                          <a:solidFill>
                            <a:srgbClr val="FF0000"/>
                          </a:solidFill>
                        </a:rPr>
                        <a:t>+27</a:t>
                      </a:r>
                      <a:r>
                        <a:rPr lang="en-US" altLang="zh-CN" dirty="0"/>
                        <a:t>)</a:t>
                      </a:r>
                      <a:endParaRPr lang="zh-CN" altLang="en-US" dirty="0"/>
                    </a:p>
                  </a:txBody>
                  <a:tcPr/>
                </a:tc>
                <a:tc>
                  <a:txBody>
                    <a:bodyPr/>
                    <a:lstStyle/>
                    <a:p>
                      <a:r>
                        <a:rPr lang="en-US" altLang="zh-CN" dirty="0">
                          <a:solidFill>
                            <a:srgbClr val="FF0000"/>
                          </a:solidFill>
                        </a:rPr>
                        <a:t>?</a:t>
                      </a:r>
                      <a:endParaRPr lang="zh-CN" altLang="en-US" dirty="0">
                        <a:solidFill>
                          <a:srgbClr val="FF0000"/>
                        </a:solidFill>
                      </a:endParaRPr>
                    </a:p>
                  </a:txBody>
                  <a:tcPr/>
                </a:tc>
                <a:extLst>
                  <a:ext uri="{0D108BD9-81ED-4DB2-BD59-A6C34878D82A}">
                    <a16:rowId xmlns:a16="http://schemas.microsoft.com/office/drawing/2014/main" val="518193464"/>
                  </a:ext>
                </a:extLst>
              </a:tr>
              <a:tr h="370840">
                <a:tc>
                  <a:txBody>
                    <a:bodyPr/>
                    <a:lstStyle/>
                    <a:p>
                      <a:r>
                        <a:rPr lang="zh-CN" altLang="en-US" dirty="0"/>
                        <a:t>单元测试</a:t>
                      </a:r>
                    </a:p>
                  </a:txBody>
                  <a:tcPr/>
                </a:tc>
                <a:tc>
                  <a:txBody>
                    <a:bodyPr/>
                    <a:lstStyle/>
                    <a:p>
                      <a:r>
                        <a:rPr lang="en-US" altLang="zh-CN" dirty="0"/>
                        <a:t>0</a:t>
                      </a:r>
                      <a:endParaRPr lang="zh-CN" altLang="en-US" dirty="0"/>
                    </a:p>
                  </a:txBody>
                  <a:tcPr/>
                </a:tc>
                <a:tc>
                  <a:txBody>
                    <a:bodyPr/>
                    <a:lstStyle/>
                    <a:p>
                      <a:r>
                        <a:rPr lang="en-US" altLang="zh-CN" dirty="0"/>
                        <a:t>27</a:t>
                      </a:r>
                      <a:endParaRPr lang="zh-CN" altLang="en-US" dirty="0"/>
                    </a:p>
                  </a:txBody>
                  <a:tcPr/>
                </a:tc>
                <a:tc>
                  <a:txBody>
                    <a:bodyPr/>
                    <a:lstStyle/>
                    <a:p>
                      <a:r>
                        <a:rPr lang="en-US" altLang="zh-CN" dirty="0"/>
                        <a:t>0(</a:t>
                      </a:r>
                      <a:r>
                        <a:rPr lang="en-US" altLang="zh-CN" dirty="0">
                          <a:solidFill>
                            <a:srgbClr val="FF0000"/>
                          </a:solidFill>
                        </a:rPr>
                        <a:t>+27</a:t>
                      </a:r>
                      <a:r>
                        <a:rPr lang="en-US" altLang="zh-CN" dirty="0"/>
                        <a:t>)</a:t>
                      </a:r>
                      <a:endParaRPr lang="zh-CN" altLang="en-US" dirty="0"/>
                    </a:p>
                  </a:txBody>
                  <a:tcPr/>
                </a:tc>
                <a:tc>
                  <a:txBody>
                    <a:bodyPr/>
                    <a:lstStyle/>
                    <a:p>
                      <a:r>
                        <a:rPr lang="en-US" altLang="zh-CN" dirty="0">
                          <a:solidFill>
                            <a:srgbClr val="FF0000"/>
                          </a:solidFill>
                        </a:rPr>
                        <a:t>?</a:t>
                      </a:r>
                      <a:endParaRPr lang="zh-CN" altLang="en-US" dirty="0">
                        <a:solidFill>
                          <a:srgbClr val="FF0000"/>
                        </a:solidFill>
                      </a:endParaRPr>
                    </a:p>
                  </a:txBody>
                  <a:tcPr/>
                </a:tc>
                <a:extLst>
                  <a:ext uri="{0D108BD9-81ED-4DB2-BD59-A6C34878D82A}">
                    <a16:rowId xmlns:a16="http://schemas.microsoft.com/office/drawing/2014/main" val="1861431922"/>
                  </a:ext>
                </a:extLst>
              </a:tr>
            </a:tbl>
          </a:graphicData>
        </a:graphic>
      </p:graphicFrame>
      <p:sp>
        <p:nvSpPr>
          <p:cNvPr id="7" name="箭头: 下 6">
            <a:extLst>
              <a:ext uri="{FF2B5EF4-FFF2-40B4-BE49-F238E27FC236}">
                <a16:creationId xmlns:a16="http://schemas.microsoft.com/office/drawing/2014/main" id="{EFE9E69F-0EE5-4778-B47B-63E1DA464209}"/>
              </a:ext>
            </a:extLst>
          </p:cNvPr>
          <p:cNvSpPr/>
          <p:nvPr/>
        </p:nvSpPr>
        <p:spPr>
          <a:xfrm>
            <a:off x="4114800" y="3276600"/>
            <a:ext cx="685800" cy="8642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估算</a:t>
            </a:r>
          </a:p>
        </p:txBody>
      </p:sp>
    </p:spTree>
    <p:extLst>
      <p:ext uri="{BB962C8B-B14F-4D97-AF65-F5344CB8AC3E}">
        <p14:creationId xmlns:p14="http://schemas.microsoft.com/office/powerpoint/2010/main" val="126495535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估算交付物缺陷数</a:t>
            </a:r>
            <a:r>
              <a:rPr lang="en-US" altLang="zh-CN" dirty="0"/>
              <a:t>——</a:t>
            </a:r>
            <a:r>
              <a:rPr lang="zh-CN" altLang="en-US" dirty="0"/>
              <a:t>过程建模示例</a:t>
            </a:r>
          </a:p>
        </p:txBody>
      </p:sp>
      <p:sp>
        <p:nvSpPr>
          <p:cNvPr id="171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1009" name="Object 1"/>
          <p:cNvGraphicFramePr>
            <a:graphicFrameLocks noChangeAspect="1"/>
          </p:cNvGraphicFramePr>
          <p:nvPr>
            <p:extLst>
              <p:ext uri="{D42A27DB-BD31-4B8C-83A1-F6EECF244321}">
                <p14:modId xmlns:p14="http://schemas.microsoft.com/office/powerpoint/2010/main" val="2077122548"/>
              </p:ext>
            </p:extLst>
          </p:nvPr>
        </p:nvGraphicFramePr>
        <p:xfrm>
          <a:off x="609600" y="990600"/>
          <a:ext cx="6777134" cy="5438622"/>
        </p:xfrm>
        <a:graphic>
          <a:graphicData uri="http://schemas.openxmlformats.org/presentationml/2006/ole">
            <mc:AlternateContent xmlns:mc="http://schemas.openxmlformats.org/markup-compatibility/2006">
              <mc:Choice xmlns:v="urn:schemas-microsoft-com:vml" Requires="v">
                <p:oleObj name="Visio" r:id="rId3" imgW="6486144" imgH="6617160" progId="Visio.Drawing.11">
                  <p:embed/>
                </p:oleObj>
              </mc:Choice>
              <mc:Fallback>
                <p:oleObj name="Visio" r:id="rId3" imgW="6486144" imgH="6617160" progId="Visio.Drawing.11">
                  <p:embed/>
                  <p:pic>
                    <p:nvPicPr>
                      <p:cNvPr id="171009" name="Object 1"/>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609600" y="990600"/>
                        <a:ext cx="6777134" cy="5438622"/>
                      </a:xfrm>
                      <a:prstGeom prst="rect">
                        <a:avLst/>
                      </a:prstGeom>
                      <a:noFill/>
                    </p:spPr>
                  </p:pic>
                </p:oleObj>
              </mc:Fallback>
            </mc:AlternateContent>
          </a:graphicData>
        </a:graphic>
      </p:graphicFrame>
      <p:sp>
        <p:nvSpPr>
          <p:cNvPr id="3" name="文本框 2">
            <a:extLst>
              <a:ext uri="{FF2B5EF4-FFF2-40B4-BE49-F238E27FC236}">
                <a16:creationId xmlns:a16="http://schemas.microsoft.com/office/drawing/2014/main" id="{85B1715E-AF60-456C-992F-FB5382171849}"/>
              </a:ext>
            </a:extLst>
          </p:cNvPr>
          <p:cNvSpPr txBox="1"/>
          <p:nvPr/>
        </p:nvSpPr>
        <p:spPr>
          <a:xfrm>
            <a:off x="6553200" y="5706070"/>
            <a:ext cx="533400" cy="923330"/>
          </a:xfrm>
          <a:prstGeom prst="rect">
            <a:avLst/>
          </a:prstGeom>
          <a:noFill/>
        </p:spPr>
        <p:txBody>
          <a:bodyPr wrap="square" rtlCol="0">
            <a:spAutoFit/>
          </a:bodyPr>
          <a:lstStyle/>
          <a:p>
            <a:r>
              <a:rPr lang="zh-CN" altLang="en-US" sz="5400" b="1" dirty="0">
                <a:solidFill>
                  <a:srgbClr val="FF0000"/>
                </a:solidFill>
              </a:rPr>
              <a:t>？</a:t>
            </a:r>
          </a:p>
        </p:txBody>
      </p:sp>
    </p:spTree>
    <p:extLst>
      <p:ext uri="{BB962C8B-B14F-4D97-AF65-F5344CB8AC3E}">
        <p14:creationId xmlns:p14="http://schemas.microsoft.com/office/powerpoint/2010/main" val="83893955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质量指标之二：</a:t>
            </a:r>
            <a:r>
              <a:rPr lang="en-US" dirty="0"/>
              <a:t> A/FR</a:t>
            </a:r>
            <a:endParaRPr lang="zh-CN" altLang="en-US" dirty="0"/>
          </a:p>
        </p:txBody>
      </p:sp>
      <p:sp>
        <p:nvSpPr>
          <p:cNvPr id="3" name="内容占位符 2"/>
          <p:cNvSpPr>
            <a:spLocks noGrp="1"/>
          </p:cNvSpPr>
          <p:nvPr>
            <p:ph idx="1"/>
          </p:nvPr>
        </p:nvSpPr>
        <p:spPr>
          <a:xfrm>
            <a:off x="107504" y="980728"/>
            <a:ext cx="8280920" cy="971544"/>
          </a:xfrm>
        </p:spPr>
        <p:txBody>
          <a:bodyPr/>
          <a:lstStyle/>
          <a:p>
            <a:r>
              <a:rPr lang="en-US" dirty="0"/>
              <a:t>A/FR = PSP</a:t>
            </a:r>
            <a:r>
              <a:rPr lang="zh-CN" altLang="en-US" dirty="0"/>
              <a:t>质检成本</a:t>
            </a:r>
            <a:r>
              <a:rPr lang="en-US" dirty="0"/>
              <a:t>/PSP</a:t>
            </a:r>
            <a:r>
              <a:rPr lang="zh-CN" altLang="en-US" dirty="0"/>
              <a:t>失效成本；</a:t>
            </a:r>
          </a:p>
        </p:txBody>
      </p:sp>
      <p:pic>
        <p:nvPicPr>
          <p:cNvPr id="4" name="图片 3"/>
          <p:cNvPicPr/>
          <p:nvPr/>
        </p:nvPicPr>
        <p:blipFill>
          <a:blip r:embed="rId3" cstate="print"/>
          <a:srcRect/>
          <a:stretch>
            <a:fillRect/>
          </a:stretch>
        </p:blipFill>
        <p:spPr bwMode="auto">
          <a:xfrm>
            <a:off x="179512" y="1556792"/>
            <a:ext cx="8136904" cy="4680520"/>
          </a:xfrm>
          <a:prstGeom prst="rect">
            <a:avLst/>
          </a:prstGeom>
          <a:noFill/>
          <a:ln w="9525">
            <a:noFill/>
            <a:miter lim="800000"/>
            <a:headEnd/>
            <a:tailEnd/>
          </a:ln>
        </p:spPr>
      </p:pic>
    </p:spTree>
    <p:extLst>
      <p:ext uri="{BB962C8B-B14F-4D97-AF65-F5344CB8AC3E}">
        <p14:creationId xmlns:p14="http://schemas.microsoft.com/office/powerpoint/2010/main" val="184215501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A/FR </a:t>
            </a:r>
            <a:r>
              <a:rPr lang="zh-CN" altLang="en-US" dirty="0"/>
              <a:t>控制目标</a:t>
            </a:r>
          </a:p>
        </p:txBody>
      </p:sp>
      <p:sp>
        <p:nvSpPr>
          <p:cNvPr id="3" name="内容占位符 2"/>
          <p:cNvSpPr>
            <a:spLocks noGrp="1"/>
          </p:cNvSpPr>
          <p:nvPr>
            <p:ph idx="1"/>
          </p:nvPr>
        </p:nvSpPr>
        <p:spPr/>
        <p:txBody>
          <a:bodyPr/>
          <a:lstStyle/>
          <a:p>
            <a:r>
              <a:rPr lang="zh-CN" altLang="en-US" dirty="0"/>
              <a:t>理论上，</a:t>
            </a:r>
            <a:r>
              <a:rPr lang="en-US" dirty="0"/>
              <a:t>A/FR</a:t>
            </a:r>
            <a:r>
              <a:rPr lang="zh-CN" altLang="en-US" dirty="0"/>
              <a:t>的值越大，往往意味着越高的质量。</a:t>
            </a:r>
            <a:endParaRPr lang="en-US" altLang="zh-CN" dirty="0"/>
          </a:p>
          <a:p>
            <a:r>
              <a:rPr lang="zh-CN" altLang="en-US" dirty="0"/>
              <a:t>过高的</a:t>
            </a:r>
            <a:r>
              <a:rPr lang="en-US" dirty="0"/>
              <a:t>A/FR</a:t>
            </a:r>
            <a:r>
              <a:rPr lang="zh-CN" altLang="en-US" dirty="0"/>
              <a:t>往往意味着做了过多的评审，反而会导致开发效率的下降。作为指南，</a:t>
            </a:r>
            <a:endParaRPr lang="en-US" altLang="zh-CN" dirty="0"/>
          </a:p>
          <a:p>
            <a:r>
              <a:rPr lang="zh-CN" altLang="en-US" dirty="0"/>
              <a:t>在</a:t>
            </a:r>
            <a:r>
              <a:rPr lang="en-US" dirty="0"/>
              <a:t>PSP</a:t>
            </a:r>
            <a:r>
              <a:rPr lang="zh-CN" altLang="en-US" dirty="0"/>
              <a:t>中</a:t>
            </a:r>
            <a:r>
              <a:rPr lang="en-US" dirty="0"/>
              <a:t>A/FR</a:t>
            </a:r>
            <a:r>
              <a:rPr lang="zh-CN" altLang="en-US" dirty="0"/>
              <a:t>的期望值就是</a:t>
            </a:r>
            <a:r>
              <a:rPr lang="en-US" dirty="0"/>
              <a:t>2.0</a:t>
            </a:r>
            <a:endParaRPr lang="zh-CN" altLang="en-US" dirty="0"/>
          </a:p>
        </p:txBody>
      </p:sp>
    </p:spTree>
    <p:extLst>
      <p:ext uri="{BB962C8B-B14F-4D97-AF65-F5344CB8AC3E}">
        <p14:creationId xmlns:p14="http://schemas.microsoft.com/office/powerpoint/2010/main" val="149320522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质量指标之三：</a:t>
            </a:r>
            <a:r>
              <a:rPr lang="en-US" dirty="0"/>
              <a:t>PQI</a:t>
            </a:r>
            <a:endParaRPr lang="zh-CN" altLang="en-US" dirty="0"/>
          </a:p>
        </p:txBody>
      </p:sp>
      <p:sp>
        <p:nvSpPr>
          <p:cNvPr id="3" name="内容占位符 2"/>
          <p:cNvSpPr>
            <a:spLocks noGrp="1"/>
          </p:cNvSpPr>
          <p:nvPr>
            <p:ph idx="1"/>
          </p:nvPr>
        </p:nvSpPr>
        <p:spPr/>
        <p:txBody>
          <a:bodyPr/>
          <a:lstStyle/>
          <a:p>
            <a:r>
              <a:rPr lang="en-US" altLang="zh-CN" sz="2800" dirty="0"/>
              <a:t>5</a:t>
            </a:r>
            <a:r>
              <a:rPr lang="zh-CN" altLang="en-US" sz="2800" dirty="0"/>
              <a:t>个数据乘积</a:t>
            </a:r>
            <a:endParaRPr lang="en-US" altLang="zh-CN" sz="2800" dirty="0"/>
          </a:p>
          <a:p>
            <a:pPr lvl="1"/>
            <a:r>
              <a:rPr lang="zh-CN" altLang="en-US" sz="2400" dirty="0"/>
              <a:t>设计质量：设计的时间应该大于编码的时间</a:t>
            </a:r>
          </a:p>
          <a:p>
            <a:pPr lvl="1"/>
            <a:r>
              <a:rPr lang="zh-CN" altLang="en-US" sz="2400" dirty="0"/>
              <a:t>设计评审质量：设计评审的时间应该大于设计时间的</a:t>
            </a:r>
            <a:r>
              <a:rPr lang="en-US" sz="2400" dirty="0"/>
              <a:t>50%</a:t>
            </a:r>
            <a:endParaRPr lang="zh-CN" altLang="en-US" sz="2400" dirty="0"/>
          </a:p>
          <a:p>
            <a:pPr lvl="1"/>
            <a:r>
              <a:rPr lang="zh-CN" altLang="en-US" sz="2400" dirty="0"/>
              <a:t>代码评审质量：代码评审时间应该大于编码时间的</a:t>
            </a:r>
            <a:r>
              <a:rPr lang="en-US" sz="2400" dirty="0"/>
              <a:t>50%</a:t>
            </a:r>
            <a:endParaRPr lang="zh-CN" altLang="en-US" sz="2400" dirty="0"/>
          </a:p>
          <a:p>
            <a:pPr lvl="1"/>
            <a:r>
              <a:rPr lang="zh-CN" altLang="en-US" sz="2400" dirty="0"/>
              <a:t>代码质量：代码的编译缺陷密度应当小于</a:t>
            </a:r>
            <a:r>
              <a:rPr lang="en-US" sz="2400" dirty="0"/>
              <a:t>10</a:t>
            </a:r>
            <a:r>
              <a:rPr lang="zh-CN" altLang="en-US" sz="2400" dirty="0"/>
              <a:t>个</a:t>
            </a:r>
            <a:r>
              <a:rPr lang="en-US" sz="2400" dirty="0"/>
              <a:t>/</a:t>
            </a:r>
            <a:r>
              <a:rPr lang="zh-CN" altLang="en-US" sz="2400" dirty="0"/>
              <a:t>千行</a:t>
            </a:r>
          </a:p>
          <a:p>
            <a:pPr lvl="1"/>
            <a:r>
              <a:rPr lang="zh-CN" altLang="en-US" sz="2400" dirty="0"/>
              <a:t>程序质量：代码单元测试缺陷密度应当小于</a:t>
            </a:r>
            <a:r>
              <a:rPr lang="en-US" sz="2400" dirty="0"/>
              <a:t>5</a:t>
            </a:r>
            <a:r>
              <a:rPr lang="zh-CN" altLang="en-US" sz="2400" dirty="0"/>
              <a:t>个</a:t>
            </a:r>
            <a:r>
              <a:rPr lang="en-US" sz="2400" dirty="0"/>
              <a:t>/</a:t>
            </a:r>
            <a:r>
              <a:rPr lang="zh-CN" altLang="en-US" sz="2400" dirty="0"/>
              <a:t>千行</a:t>
            </a:r>
          </a:p>
          <a:p>
            <a:pPr lvl="1"/>
            <a:endParaRPr lang="zh-CN" altLang="en-US" dirty="0"/>
          </a:p>
        </p:txBody>
      </p:sp>
    </p:spTree>
    <p:extLst>
      <p:ext uri="{BB962C8B-B14F-4D97-AF65-F5344CB8AC3E}">
        <p14:creationId xmlns:p14="http://schemas.microsoft.com/office/powerpoint/2010/main" val="59537546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624" y="-9516"/>
            <a:ext cx="7358062" cy="1143000"/>
          </a:xfrm>
        </p:spPr>
        <p:txBody>
          <a:bodyPr/>
          <a:lstStyle/>
          <a:p>
            <a:r>
              <a:rPr lang="en-US" altLang="zh-CN" dirty="0"/>
              <a:t>PQI</a:t>
            </a:r>
            <a:r>
              <a:rPr lang="zh-CN" altLang="en-US" dirty="0"/>
              <a:t>与交付后缺陷密度的关系</a:t>
            </a:r>
          </a:p>
        </p:txBody>
      </p:sp>
      <p:pic>
        <p:nvPicPr>
          <p:cNvPr id="4" name="图片 3"/>
          <p:cNvPicPr/>
          <p:nvPr/>
        </p:nvPicPr>
        <p:blipFill>
          <a:blip r:embed="rId3" cstate="print"/>
          <a:srcRect/>
          <a:stretch>
            <a:fillRect/>
          </a:stretch>
        </p:blipFill>
        <p:spPr bwMode="auto">
          <a:xfrm>
            <a:off x="107504" y="1196752"/>
            <a:ext cx="8856984" cy="5184576"/>
          </a:xfrm>
          <a:prstGeom prst="rect">
            <a:avLst/>
          </a:prstGeom>
          <a:noFill/>
        </p:spPr>
      </p:pic>
    </p:spTree>
    <p:extLst>
      <p:ext uri="{BB962C8B-B14F-4D97-AF65-F5344CB8AC3E}">
        <p14:creationId xmlns:p14="http://schemas.microsoft.com/office/powerpoint/2010/main" val="111182425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PQI</a:t>
            </a:r>
            <a:r>
              <a:rPr lang="zh-CN" altLang="en-US" dirty="0"/>
              <a:t>与集成时缺陷数的关系</a:t>
            </a:r>
          </a:p>
        </p:txBody>
      </p:sp>
      <p:sp>
        <p:nvSpPr>
          <p:cNvPr id="3" name="内容占位符 2"/>
          <p:cNvSpPr>
            <a:spLocks noGrp="1"/>
          </p:cNvSpPr>
          <p:nvPr>
            <p:ph idx="1"/>
          </p:nvPr>
        </p:nvSpPr>
        <p:spPr/>
        <p:txBody>
          <a:bodyPr/>
          <a:lstStyle/>
          <a:p>
            <a:endParaRPr lang="zh-CN" altLang="en-US"/>
          </a:p>
        </p:txBody>
      </p:sp>
      <p:pic>
        <p:nvPicPr>
          <p:cNvPr id="4" name="图片 3"/>
          <p:cNvPicPr/>
          <p:nvPr/>
        </p:nvPicPr>
        <p:blipFill>
          <a:blip r:embed="rId3" cstate="print"/>
          <a:srcRect/>
          <a:stretch>
            <a:fillRect/>
          </a:stretch>
        </p:blipFill>
        <p:spPr bwMode="auto">
          <a:xfrm>
            <a:off x="285720" y="1571612"/>
            <a:ext cx="8858280" cy="5072098"/>
          </a:xfrm>
          <a:prstGeom prst="rect">
            <a:avLst/>
          </a:prstGeom>
          <a:noFill/>
        </p:spPr>
      </p:pic>
    </p:spTree>
    <p:extLst>
      <p:ext uri="{BB962C8B-B14F-4D97-AF65-F5344CB8AC3E}">
        <p14:creationId xmlns:p14="http://schemas.microsoft.com/office/powerpoint/2010/main" val="139357665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质量指标之四：</a:t>
            </a:r>
            <a:r>
              <a:rPr lang="en-US" altLang="zh-CN" dirty="0"/>
              <a:t>Review Rate</a:t>
            </a:r>
            <a:endParaRPr lang="zh-CN" altLang="en-US" dirty="0"/>
          </a:p>
        </p:txBody>
      </p:sp>
      <p:sp>
        <p:nvSpPr>
          <p:cNvPr id="3" name="内容占位符 2"/>
          <p:cNvSpPr>
            <a:spLocks noGrp="1"/>
          </p:cNvSpPr>
          <p:nvPr>
            <p:ph idx="1"/>
          </p:nvPr>
        </p:nvSpPr>
        <p:spPr>
          <a:xfrm>
            <a:off x="179512" y="1124744"/>
            <a:ext cx="8784976" cy="5256584"/>
          </a:xfrm>
        </p:spPr>
        <p:txBody>
          <a:bodyPr/>
          <a:lstStyle/>
          <a:p>
            <a:r>
              <a:rPr lang="zh-CN" altLang="en-US" dirty="0"/>
              <a:t>评审的速度</a:t>
            </a:r>
            <a:r>
              <a:rPr lang="en-US" altLang="zh-CN" dirty="0"/>
              <a:t>(Review Rate)</a:t>
            </a:r>
            <a:r>
              <a:rPr lang="zh-CN" altLang="en-US" dirty="0"/>
              <a:t>是一个用以指导软件工程师开展有效评审的指标</a:t>
            </a:r>
            <a:endParaRPr lang="en-US" altLang="zh-CN" dirty="0"/>
          </a:p>
          <a:p>
            <a:r>
              <a:rPr lang="zh-CN" altLang="en-US" dirty="0"/>
              <a:t>高质量</a:t>
            </a:r>
            <a:r>
              <a:rPr lang="zh-CN" altLang="en-US"/>
              <a:t>的评审需要</a:t>
            </a:r>
            <a:r>
              <a:rPr lang="zh-CN" altLang="en-US" dirty="0"/>
              <a:t>软件工程师投入足够的时间进行评审</a:t>
            </a:r>
          </a:p>
          <a:p>
            <a:r>
              <a:rPr lang="zh-CN" altLang="en-US" dirty="0"/>
              <a:t>在</a:t>
            </a:r>
            <a:r>
              <a:rPr lang="en-US" altLang="zh-CN" dirty="0"/>
              <a:t>PSP</a:t>
            </a:r>
            <a:r>
              <a:rPr lang="zh-CN" altLang="en-US" dirty="0"/>
              <a:t>的实践中，代码评审速度小于</a:t>
            </a:r>
            <a:r>
              <a:rPr lang="en-US" altLang="zh-CN" dirty="0"/>
              <a:t>200 LOC/</a:t>
            </a:r>
            <a:r>
              <a:rPr lang="zh-CN" altLang="en-US" dirty="0"/>
              <a:t>小时，文档评审速度小于</a:t>
            </a:r>
            <a:r>
              <a:rPr lang="en-US" altLang="zh-CN" dirty="0"/>
              <a:t>4 Page/</a:t>
            </a:r>
            <a:r>
              <a:rPr lang="zh-CN" altLang="en-US" dirty="0"/>
              <a:t>小时</a:t>
            </a:r>
          </a:p>
        </p:txBody>
      </p:sp>
    </p:spTree>
    <p:extLst>
      <p:ext uri="{BB962C8B-B14F-4D97-AF65-F5344CB8AC3E}">
        <p14:creationId xmlns:p14="http://schemas.microsoft.com/office/powerpoint/2010/main" val="201474781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质量指标之五：</a:t>
            </a:r>
            <a:r>
              <a:rPr lang="en-US" altLang="zh-CN" dirty="0"/>
              <a:t>DRL</a:t>
            </a:r>
            <a:endParaRPr lang="zh-CN" altLang="en-US" dirty="0"/>
          </a:p>
        </p:txBody>
      </p:sp>
      <p:sp>
        <p:nvSpPr>
          <p:cNvPr id="3" name="内容占位符 2"/>
          <p:cNvSpPr>
            <a:spLocks noGrp="1"/>
          </p:cNvSpPr>
          <p:nvPr>
            <p:ph idx="1"/>
          </p:nvPr>
        </p:nvSpPr>
        <p:spPr>
          <a:xfrm>
            <a:off x="251520" y="1052736"/>
            <a:ext cx="8816280" cy="2543180"/>
          </a:xfrm>
        </p:spPr>
        <p:txBody>
          <a:bodyPr/>
          <a:lstStyle/>
          <a:p>
            <a:r>
              <a:rPr lang="zh-CN" altLang="en-US" sz="2400" dirty="0"/>
              <a:t>缺陷消除效率比度量的是不同缺陷消除手段消除缺陷的效率。</a:t>
            </a:r>
            <a:endParaRPr lang="en-US" altLang="zh-CN" sz="2400" dirty="0"/>
          </a:p>
          <a:p>
            <a:r>
              <a:rPr lang="zh-CN" altLang="en-US" sz="2400" dirty="0"/>
              <a:t>其计算方式是以某个测试阶段（一般为单元测试）每小时发现的缺陷数为基础，其他阶段每小时发现缺陷数与该测试阶段每小时发现的缺陷的比值就是</a:t>
            </a:r>
            <a:r>
              <a:rPr lang="en-US" sz="2400" dirty="0"/>
              <a:t>DRL</a:t>
            </a:r>
            <a:r>
              <a:rPr lang="zh-CN" altLang="en-US" sz="2400" dirty="0"/>
              <a:t>。</a:t>
            </a:r>
          </a:p>
        </p:txBody>
      </p:sp>
      <p:graphicFrame>
        <p:nvGraphicFramePr>
          <p:cNvPr id="4" name="表格 3"/>
          <p:cNvGraphicFramePr>
            <a:graphicFrameLocks noGrp="1"/>
          </p:cNvGraphicFramePr>
          <p:nvPr>
            <p:extLst>
              <p:ext uri="{D42A27DB-BD31-4B8C-83A1-F6EECF244321}">
                <p14:modId xmlns:p14="http://schemas.microsoft.com/office/powerpoint/2010/main" val="456153006"/>
              </p:ext>
            </p:extLst>
          </p:nvPr>
        </p:nvGraphicFramePr>
        <p:xfrm>
          <a:off x="1371600" y="3200400"/>
          <a:ext cx="7000923" cy="2477466"/>
        </p:xfrm>
        <a:graphic>
          <a:graphicData uri="http://schemas.openxmlformats.org/drawingml/2006/table">
            <a:tbl>
              <a:tblPr/>
              <a:tblGrid>
                <a:gridCol w="2333641">
                  <a:extLst>
                    <a:ext uri="{9D8B030D-6E8A-4147-A177-3AD203B41FA5}">
                      <a16:colId xmlns:a16="http://schemas.microsoft.com/office/drawing/2014/main" val="20000"/>
                    </a:ext>
                  </a:extLst>
                </a:gridCol>
                <a:gridCol w="2333641">
                  <a:extLst>
                    <a:ext uri="{9D8B030D-6E8A-4147-A177-3AD203B41FA5}">
                      <a16:colId xmlns:a16="http://schemas.microsoft.com/office/drawing/2014/main" val="20001"/>
                    </a:ext>
                  </a:extLst>
                </a:gridCol>
                <a:gridCol w="2333641">
                  <a:extLst>
                    <a:ext uri="{9D8B030D-6E8A-4147-A177-3AD203B41FA5}">
                      <a16:colId xmlns:a16="http://schemas.microsoft.com/office/drawing/2014/main" val="20002"/>
                    </a:ext>
                  </a:extLst>
                </a:gridCol>
              </a:tblGrid>
              <a:tr h="614248">
                <a:tc>
                  <a:txBody>
                    <a:bodyPr/>
                    <a:lstStyle/>
                    <a:p>
                      <a:pPr indent="266700" algn="l">
                        <a:spcAft>
                          <a:spcPts val="0"/>
                        </a:spcAft>
                      </a:pPr>
                      <a:r>
                        <a:rPr lang="zh-CN" sz="2400" b="1" kern="100">
                          <a:latin typeface="Calibri"/>
                          <a:ea typeface="宋体"/>
                          <a:cs typeface="Times New Roman"/>
                        </a:rPr>
                        <a:t>阶段</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0" algn="l">
                        <a:spcAft>
                          <a:spcPts val="0"/>
                        </a:spcAft>
                      </a:pPr>
                      <a:r>
                        <a:rPr lang="zh-CN" sz="2400" b="1" kern="100" dirty="0">
                          <a:latin typeface="Calibri"/>
                          <a:ea typeface="宋体"/>
                          <a:cs typeface="Times New Roman"/>
                        </a:rPr>
                        <a:t>缺陷个数</a:t>
                      </a:r>
                      <a:r>
                        <a:rPr lang="en-US" sz="2400" b="1" kern="100" dirty="0">
                          <a:latin typeface="Calibri"/>
                          <a:ea typeface="宋体"/>
                          <a:cs typeface="Times New Roman"/>
                        </a:rPr>
                        <a:t>/</a:t>
                      </a:r>
                      <a:r>
                        <a:rPr lang="zh-CN" sz="2400" b="1" kern="100" dirty="0">
                          <a:latin typeface="Calibri"/>
                          <a:ea typeface="宋体"/>
                          <a:cs typeface="Times New Roman"/>
                        </a:rPr>
                        <a:t>小时</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l">
                        <a:spcAft>
                          <a:spcPts val="0"/>
                        </a:spcAft>
                      </a:pPr>
                      <a:r>
                        <a:rPr lang="en-US" sz="2400" b="1" kern="100" dirty="0">
                          <a:latin typeface="Calibri"/>
                          <a:ea typeface="宋体"/>
                          <a:cs typeface="Times New Roman"/>
                        </a:rPr>
                        <a:t>DRL</a:t>
                      </a:r>
                      <a:r>
                        <a:rPr lang="zh-CN" sz="2400" b="1" kern="100" dirty="0">
                          <a:latin typeface="Calibri"/>
                          <a:ea typeface="宋体"/>
                          <a:cs typeface="Times New Roman"/>
                        </a:rPr>
                        <a:t>（</a:t>
                      </a:r>
                      <a:r>
                        <a:rPr lang="en-US" sz="2400" b="1" kern="100" dirty="0">
                          <a:latin typeface="Calibri"/>
                          <a:ea typeface="宋体"/>
                          <a:cs typeface="Times New Roman"/>
                        </a:rPr>
                        <a:t>UT</a:t>
                      </a:r>
                      <a:r>
                        <a:rPr lang="zh-CN" sz="2400" b="1" kern="100" dirty="0">
                          <a:latin typeface="Calibri"/>
                          <a:ea typeface="宋体"/>
                          <a:cs typeface="Times New Roman"/>
                        </a:rPr>
                        <a: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614248">
                <a:tc>
                  <a:txBody>
                    <a:bodyPr/>
                    <a:lstStyle/>
                    <a:p>
                      <a:pPr indent="266700" algn="l">
                        <a:spcAft>
                          <a:spcPts val="0"/>
                        </a:spcAft>
                      </a:pPr>
                      <a:r>
                        <a:rPr lang="zh-CN" sz="2400" kern="100">
                          <a:latin typeface="Calibri"/>
                          <a:ea typeface="宋体"/>
                          <a:cs typeface="Times New Roman"/>
                        </a:rPr>
                        <a:t>设计评审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a:latin typeface="Calibri"/>
                          <a:ea typeface="宋体"/>
                          <a:cs typeface="Times New Roman"/>
                        </a:rPr>
                        <a:t>3.6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a:latin typeface="Calibri"/>
                          <a:ea typeface="宋体"/>
                          <a:cs typeface="Times New Roman"/>
                        </a:rPr>
                        <a:t>1.03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14248">
                <a:tc>
                  <a:txBody>
                    <a:bodyPr/>
                    <a:lstStyle/>
                    <a:p>
                      <a:pPr indent="266700" algn="l">
                        <a:spcAft>
                          <a:spcPts val="0"/>
                        </a:spcAft>
                      </a:pPr>
                      <a:r>
                        <a:rPr lang="zh-CN" sz="2400" kern="100">
                          <a:latin typeface="Calibri"/>
                          <a:ea typeface="宋体"/>
                          <a:cs typeface="Times New Roman"/>
                        </a:rPr>
                        <a:t>编码评审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dirty="0">
                          <a:latin typeface="Calibri"/>
                          <a:ea typeface="宋体"/>
                          <a:cs typeface="Times New Roman"/>
                        </a:rPr>
                        <a:t>8</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a:latin typeface="Calibri"/>
                          <a:ea typeface="宋体"/>
                          <a:cs typeface="Times New Roman"/>
                        </a:rPr>
                        <a:t>2.29</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34722">
                <a:tc>
                  <a:txBody>
                    <a:bodyPr/>
                    <a:lstStyle/>
                    <a:p>
                      <a:pPr indent="266700" algn="l">
                        <a:spcAft>
                          <a:spcPts val="0"/>
                        </a:spcAft>
                      </a:pPr>
                      <a:r>
                        <a:rPr lang="zh-CN" sz="2400" kern="100">
                          <a:latin typeface="Calibri"/>
                          <a:ea typeface="宋体"/>
                          <a:cs typeface="Times New Roman"/>
                        </a:rPr>
                        <a:t>单元测试</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a:latin typeface="Calibri"/>
                          <a:ea typeface="宋体"/>
                          <a:cs typeface="Times New Roman"/>
                        </a:rPr>
                        <a:t>3.5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dirty="0">
                          <a:latin typeface="Calibri"/>
                          <a:ea typeface="宋体"/>
                          <a:cs typeface="Times New Roman"/>
                        </a:rPr>
                        <a:t>1</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35294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评审的其他考虑因素</a:t>
            </a:r>
          </a:p>
        </p:txBody>
      </p:sp>
      <p:sp>
        <p:nvSpPr>
          <p:cNvPr id="3" name="内容占位符 2"/>
          <p:cNvSpPr>
            <a:spLocks noGrp="1"/>
          </p:cNvSpPr>
          <p:nvPr>
            <p:ph idx="1"/>
          </p:nvPr>
        </p:nvSpPr>
        <p:spPr/>
        <p:txBody>
          <a:bodyPr/>
          <a:lstStyle/>
          <a:p>
            <a:r>
              <a:rPr lang="zh-CN" altLang="en-US" dirty="0"/>
              <a:t>打印后评审往往效果更好</a:t>
            </a:r>
            <a:endParaRPr lang="en-US" altLang="zh-CN" dirty="0"/>
          </a:p>
          <a:p>
            <a:pPr lvl="1"/>
            <a:r>
              <a:rPr lang="zh-CN" altLang="en-US" dirty="0"/>
              <a:t>单个屏幕可以展现的内容比较有限</a:t>
            </a:r>
          </a:p>
          <a:p>
            <a:pPr lvl="1"/>
            <a:r>
              <a:rPr lang="zh-CN" altLang="en-US" dirty="0"/>
              <a:t>评审人员的注意力</a:t>
            </a:r>
            <a:endParaRPr lang="en-US" altLang="zh-CN" dirty="0"/>
          </a:p>
          <a:p>
            <a:pPr lvl="0"/>
            <a:r>
              <a:rPr lang="zh-CN" altLang="en-US" dirty="0"/>
              <a:t>评审时机选择</a:t>
            </a:r>
            <a:endParaRPr lang="en-US" altLang="zh-CN" dirty="0"/>
          </a:p>
          <a:p>
            <a:pPr lvl="1"/>
            <a:r>
              <a:rPr lang="zh-CN" altLang="en-US" dirty="0"/>
              <a:t>编译（</a:t>
            </a:r>
            <a:r>
              <a:rPr lang="en-US" altLang="zh-CN" dirty="0"/>
              <a:t>UT</a:t>
            </a:r>
            <a:r>
              <a:rPr lang="zh-CN" altLang="en-US" dirty="0"/>
              <a:t>）之前 </a:t>
            </a:r>
            <a:r>
              <a:rPr lang="en-US" altLang="zh-CN" dirty="0"/>
              <a:t>VS. </a:t>
            </a:r>
            <a:r>
              <a:rPr lang="zh-CN" altLang="en-US" dirty="0"/>
              <a:t>之后</a:t>
            </a:r>
          </a:p>
          <a:p>
            <a:r>
              <a:rPr lang="zh-CN" altLang="en-US" dirty="0"/>
              <a:t>个人评审和小组评审</a:t>
            </a:r>
            <a:endParaRPr lang="en-US" altLang="zh-CN" dirty="0"/>
          </a:p>
          <a:p>
            <a:pPr lvl="1"/>
            <a:r>
              <a:rPr lang="zh-CN" altLang="en-US" dirty="0"/>
              <a:t>小组评审意义</a:t>
            </a:r>
            <a:endParaRPr lang="en-US" altLang="zh-CN" dirty="0"/>
          </a:p>
          <a:p>
            <a:pPr lvl="1"/>
            <a:r>
              <a:rPr lang="zh-CN" altLang="en-US" dirty="0"/>
              <a:t>先后顺序</a:t>
            </a:r>
            <a:endParaRPr lang="en-US" altLang="zh-CN" dirty="0"/>
          </a:p>
        </p:txBody>
      </p:sp>
    </p:spTree>
    <p:extLst>
      <p:ext uri="{BB962C8B-B14F-4D97-AF65-F5344CB8AC3E}">
        <p14:creationId xmlns:p14="http://schemas.microsoft.com/office/powerpoint/2010/main" val="146797916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质量路径</a:t>
            </a:r>
            <a:r>
              <a:rPr lang="en-US" altLang="zh-CN" dirty="0"/>
              <a:t> Quality</a:t>
            </a:r>
            <a:r>
              <a:rPr lang="zh-CN" altLang="en-US" dirty="0"/>
              <a:t> </a:t>
            </a:r>
            <a:r>
              <a:rPr lang="en-US" altLang="zh-CN" dirty="0"/>
              <a:t>Journey</a:t>
            </a:r>
            <a:endParaRPr lang="zh-CN" altLang="en-US" dirty="0"/>
          </a:p>
        </p:txBody>
      </p:sp>
      <p:sp>
        <p:nvSpPr>
          <p:cNvPr id="3" name="内容占位符 2"/>
          <p:cNvSpPr>
            <a:spLocks noGrp="1"/>
          </p:cNvSpPr>
          <p:nvPr>
            <p:ph idx="1"/>
          </p:nvPr>
        </p:nvSpPr>
        <p:spPr/>
        <p:txBody>
          <a:bodyPr/>
          <a:lstStyle/>
          <a:p>
            <a:r>
              <a:rPr lang="zh-CN" altLang="en-US" dirty="0"/>
              <a:t>为了追求极高的质量，你有哪些手段？</a:t>
            </a:r>
            <a:endParaRPr lang="en-US" altLang="zh-CN" dirty="0"/>
          </a:p>
          <a:p>
            <a:pPr lvl="1"/>
            <a:r>
              <a:rPr lang="en-US" altLang="zh-CN" dirty="0"/>
              <a:t>Step</a:t>
            </a:r>
            <a:r>
              <a:rPr lang="zh-CN" altLang="en-US" dirty="0"/>
              <a:t> </a:t>
            </a:r>
            <a:r>
              <a:rPr lang="en-US" altLang="zh-CN" dirty="0"/>
              <a:t>1</a:t>
            </a:r>
            <a:r>
              <a:rPr lang="zh-CN" altLang="en-US" dirty="0"/>
              <a:t>：各种测试</a:t>
            </a:r>
            <a:endParaRPr lang="en-US" altLang="zh-CN" dirty="0"/>
          </a:p>
          <a:p>
            <a:pPr lvl="1"/>
            <a:r>
              <a:rPr lang="en-US" altLang="zh-CN" dirty="0"/>
              <a:t>Step</a:t>
            </a:r>
            <a:r>
              <a:rPr lang="zh-CN" altLang="en-US" dirty="0"/>
              <a:t> </a:t>
            </a:r>
            <a:r>
              <a:rPr lang="en-US" altLang="zh-CN" dirty="0"/>
              <a:t>2</a:t>
            </a:r>
            <a:r>
              <a:rPr lang="zh-CN" altLang="en-US" dirty="0"/>
              <a:t>：进入测试之前的产物质量提升</a:t>
            </a:r>
            <a:endParaRPr lang="en-US" altLang="zh-CN" dirty="0"/>
          </a:p>
          <a:p>
            <a:pPr lvl="1"/>
            <a:r>
              <a:rPr lang="en-US" altLang="zh-CN" dirty="0"/>
              <a:t>Step</a:t>
            </a:r>
            <a:r>
              <a:rPr lang="zh-CN" altLang="en-US" dirty="0"/>
              <a:t> </a:t>
            </a:r>
            <a:r>
              <a:rPr lang="en-US" altLang="zh-CN" dirty="0"/>
              <a:t>3</a:t>
            </a:r>
            <a:r>
              <a:rPr lang="zh-CN" altLang="en-US" dirty="0"/>
              <a:t>：评审过程度量和稳定</a:t>
            </a:r>
            <a:endParaRPr lang="en-US" altLang="zh-CN" dirty="0"/>
          </a:p>
          <a:p>
            <a:pPr lvl="1"/>
            <a:r>
              <a:rPr lang="en-US" altLang="zh-CN" dirty="0"/>
              <a:t>Step</a:t>
            </a:r>
            <a:r>
              <a:rPr lang="zh-CN" altLang="en-US" dirty="0"/>
              <a:t> </a:t>
            </a:r>
            <a:r>
              <a:rPr lang="en-US" altLang="zh-CN" dirty="0"/>
              <a:t>4</a:t>
            </a:r>
            <a:r>
              <a:rPr lang="zh-CN" altLang="en-US" dirty="0"/>
              <a:t>：质量意识和主人翁态度</a:t>
            </a:r>
            <a:endParaRPr lang="en-US" altLang="zh-CN" dirty="0"/>
          </a:p>
          <a:p>
            <a:pPr lvl="1"/>
            <a:r>
              <a:rPr lang="en-US" altLang="zh-CN" dirty="0"/>
              <a:t>Step</a:t>
            </a:r>
            <a:r>
              <a:rPr lang="zh-CN" altLang="en-US" dirty="0"/>
              <a:t> </a:t>
            </a:r>
            <a:r>
              <a:rPr lang="en-US" altLang="zh-CN" dirty="0"/>
              <a:t>5</a:t>
            </a:r>
            <a:r>
              <a:rPr lang="zh-CN" altLang="en-US" dirty="0"/>
              <a:t>：个体</a:t>
            </a:r>
            <a:r>
              <a:rPr lang="en-US" altLang="zh-CN" dirty="0"/>
              <a:t>review</a:t>
            </a:r>
            <a:r>
              <a:rPr lang="zh-CN" altLang="en-US" dirty="0"/>
              <a:t>的度量和稳定</a:t>
            </a:r>
            <a:endParaRPr lang="en-US" altLang="zh-CN" dirty="0"/>
          </a:p>
          <a:p>
            <a:pPr lvl="1"/>
            <a:r>
              <a:rPr lang="en-US" altLang="zh-CN" dirty="0"/>
              <a:t>Step</a:t>
            </a:r>
            <a:r>
              <a:rPr lang="zh-CN" altLang="en-US" dirty="0"/>
              <a:t> </a:t>
            </a:r>
            <a:r>
              <a:rPr lang="en-US" altLang="zh-CN" dirty="0"/>
              <a:t>6</a:t>
            </a:r>
            <a:r>
              <a:rPr lang="zh-CN" altLang="en-US" dirty="0"/>
              <a:t>：诉诸设计</a:t>
            </a:r>
            <a:endParaRPr lang="en-US" altLang="zh-CN" dirty="0"/>
          </a:p>
          <a:p>
            <a:pPr lvl="1"/>
            <a:r>
              <a:rPr lang="en-US" altLang="zh-CN" dirty="0"/>
              <a:t>Step</a:t>
            </a:r>
            <a:r>
              <a:rPr lang="zh-CN" altLang="en-US" dirty="0"/>
              <a:t> </a:t>
            </a:r>
            <a:r>
              <a:rPr lang="en-US" altLang="zh-CN" dirty="0"/>
              <a:t>7</a:t>
            </a:r>
            <a:r>
              <a:rPr lang="zh-CN" altLang="en-US" dirty="0"/>
              <a:t>：缺陷预防</a:t>
            </a:r>
            <a:endParaRPr lang="en-US" altLang="zh-CN" dirty="0"/>
          </a:p>
          <a:p>
            <a:pPr lvl="1"/>
            <a:r>
              <a:rPr lang="en-US" altLang="zh-CN" dirty="0"/>
              <a:t>Step</a:t>
            </a:r>
            <a:r>
              <a:rPr lang="zh-CN" altLang="en-US" dirty="0"/>
              <a:t> </a:t>
            </a:r>
            <a:r>
              <a:rPr lang="en-US" altLang="zh-CN" dirty="0"/>
              <a:t>8</a:t>
            </a:r>
            <a:r>
              <a:rPr lang="zh-CN" altLang="en-US" dirty="0"/>
              <a:t>：用户质量观</a:t>
            </a:r>
            <a:r>
              <a:rPr lang="en-US" altLang="zh-CN" dirty="0"/>
              <a:t>——</a:t>
            </a:r>
            <a:r>
              <a:rPr lang="zh-CN" altLang="en-US" dirty="0"/>
              <a:t>其他质量属性</a:t>
            </a:r>
            <a:endParaRPr lang="en-US" altLang="zh-CN" dirty="0"/>
          </a:p>
        </p:txBody>
      </p:sp>
    </p:spTree>
    <p:extLst>
      <p:ext uri="{BB962C8B-B14F-4D97-AF65-F5344CB8AC3E}">
        <p14:creationId xmlns:p14="http://schemas.microsoft.com/office/powerpoint/2010/main" val="23744584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设计与质量的关系</a:t>
            </a:r>
          </a:p>
        </p:txBody>
      </p:sp>
      <p:sp>
        <p:nvSpPr>
          <p:cNvPr id="3" name="内容占位符 2"/>
          <p:cNvSpPr>
            <a:spLocks noGrp="1"/>
          </p:cNvSpPr>
          <p:nvPr>
            <p:ph idx="1"/>
          </p:nvPr>
        </p:nvSpPr>
        <p:spPr/>
        <p:txBody>
          <a:bodyPr/>
          <a:lstStyle/>
          <a:p>
            <a:r>
              <a:rPr lang="zh-CN" altLang="en-US" dirty="0"/>
              <a:t>低劣的设计是导致在软件开发中返工、不易维护以及用户不满的主要原因。</a:t>
            </a:r>
            <a:endParaRPr lang="en-US" altLang="zh-CN" dirty="0"/>
          </a:p>
          <a:p>
            <a:r>
              <a:rPr lang="zh-CN" altLang="en-US" dirty="0"/>
              <a:t>充分设计可以显著减少最终程序的规模，提升质量。</a:t>
            </a:r>
            <a:endParaRPr lang="en-US" altLang="zh-CN" dirty="0"/>
          </a:p>
          <a:p>
            <a:r>
              <a:rPr lang="zh-CN" altLang="en-US" dirty="0"/>
              <a:t>设计本身也是一种排错的过程。</a:t>
            </a:r>
          </a:p>
        </p:txBody>
      </p:sp>
    </p:spTree>
    <p:extLst>
      <p:ext uri="{BB962C8B-B14F-4D97-AF65-F5344CB8AC3E}">
        <p14:creationId xmlns:p14="http://schemas.microsoft.com/office/powerpoint/2010/main" val="128289846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19672" y="-171400"/>
            <a:ext cx="6900862" cy="1143000"/>
          </a:xfrm>
        </p:spPr>
        <p:txBody>
          <a:bodyPr/>
          <a:lstStyle/>
          <a:p>
            <a:r>
              <a:rPr lang="zh-CN" altLang="en-US" dirty="0"/>
              <a:t>典型设计过程</a:t>
            </a:r>
          </a:p>
        </p:txBody>
      </p:sp>
      <p:sp>
        <p:nvSpPr>
          <p:cNvPr id="2293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29377" name="Object 1"/>
          <p:cNvGraphicFramePr>
            <a:graphicFrameLocks noChangeAspect="1"/>
          </p:cNvGraphicFramePr>
          <p:nvPr>
            <p:extLst>
              <p:ext uri="{D42A27DB-BD31-4B8C-83A1-F6EECF244321}">
                <p14:modId xmlns:p14="http://schemas.microsoft.com/office/powerpoint/2010/main" val="1296650043"/>
              </p:ext>
            </p:extLst>
          </p:nvPr>
        </p:nvGraphicFramePr>
        <p:xfrm>
          <a:off x="1981200" y="971600"/>
          <a:ext cx="5407496" cy="5498366"/>
        </p:xfrm>
        <a:graphic>
          <a:graphicData uri="http://schemas.openxmlformats.org/presentationml/2006/ole">
            <mc:AlternateContent xmlns:mc="http://schemas.openxmlformats.org/markup-compatibility/2006">
              <mc:Choice xmlns:v="urn:schemas-microsoft-com:vml" Requires="v">
                <p:oleObj name="Visio" r:id="rId3" imgW="7194333" imgH="7558920" progId="Visio.Drawing.11">
                  <p:embed/>
                </p:oleObj>
              </mc:Choice>
              <mc:Fallback>
                <p:oleObj name="Visio" r:id="rId3" imgW="7194333" imgH="7558920" progId="Visio.Drawing.11">
                  <p:embed/>
                  <p:pic>
                    <p:nvPicPr>
                      <p:cNvPr id="0" name=""/>
                      <p:cNvPicPr>
                        <a:picLocks noChangeAspect="1" noChangeArrowheads="1"/>
                      </p:cNvPicPr>
                      <p:nvPr/>
                    </p:nvPicPr>
                    <p:blipFill>
                      <a:blip r:embed="rId4"/>
                      <a:srcRect/>
                      <a:stretch>
                        <a:fillRect/>
                      </a:stretch>
                    </p:blipFill>
                    <p:spPr bwMode="auto">
                      <a:xfrm>
                        <a:off x="1981200" y="971600"/>
                        <a:ext cx="5407496" cy="5498366"/>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80533416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设计什么？</a:t>
            </a:r>
          </a:p>
        </p:txBody>
      </p:sp>
      <p:sp>
        <p:nvSpPr>
          <p:cNvPr id="3" name="内容占位符 2"/>
          <p:cNvSpPr>
            <a:spLocks noGrp="1"/>
          </p:cNvSpPr>
          <p:nvPr>
            <p:ph idx="1"/>
          </p:nvPr>
        </p:nvSpPr>
        <p:spPr>
          <a:xfrm>
            <a:off x="467544" y="1196752"/>
            <a:ext cx="8064896" cy="5043510"/>
          </a:xfrm>
        </p:spPr>
        <p:txBody>
          <a:bodyPr/>
          <a:lstStyle/>
          <a:p>
            <a:pPr lvl="0"/>
            <a:r>
              <a:rPr lang="zh-CN" altLang="en-US" dirty="0"/>
              <a:t>设计目标程序在整个应用系统中的位置；</a:t>
            </a:r>
          </a:p>
          <a:p>
            <a:pPr lvl="0"/>
            <a:r>
              <a:rPr lang="zh-CN" altLang="en-US" dirty="0"/>
              <a:t>设计目标程序的使用方式；</a:t>
            </a:r>
          </a:p>
          <a:p>
            <a:pPr lvl="0"/>
            <a:r>
              <a:rPr lang="zh-CN" altLang="en-US" dirty="0"/>
              <a:t>设计目标程序与其他组件以及模块之间的关系；</a:t>
            </a:r>
          </a:p>
          <a:p>
            <a:pPr lvl="0"/>
            <a:r>
              <a:rPr lang="zh-CN" altLang="en-US" dirty="0"/>
              <a:t>设计目标程序外部可见的变量和方法；</a:t>
            </a:r>
          </a:p>
          <a:p>
            <a:pPr lvl="0"/>
            <a:r>
              <a:rPr lang="zh-CN" altLang="en-US" dirty="0"/>
              <a:t>设计目标程序内部运作机制；</a:t>
            </a:r>
          </a:p>
          <a:p>
            <a:r>
              <a:rPr lang="zh-CN" altLang="en-US" dirty="0"/>
              <a:t>设计目标程序内部静态逻辑；</a:t>
            </a:r>
          </a:p>
        </p:txBody>
      </p:sp>
    </p:spTree>
    <p:extLst>
      <p:ext uri="{BB962C8B-B14F-4D97-AF65-F5344CB8AC3E}">
        <p14:creationId xmlns:p14="http://schemas.microsoft.com/office/powerpoint/2010/main" val="198296477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设计的内容</a:t>
            </a:r>
          </a:p>
        </p:txBody>
      </p:sp>
      <p:graphicFrame>
        <p:nvGraphicFramePr>
          <p:cNvPr id="4" name="表格 3"/>
          <p:cNvGraphicFramePr>
            <a:graphicFrameLocks noGrp="1"/>
          </p:cNvGraphicFramePr>
          <p:nvPr/>
        </p:nvGraphicFramePr>
        <p:xfrm>
          <a:off x="179512" y="1628800"/>
          <a:ext cx="8280920" cy="3096345"/>
        </p:xfrm>
        <a:graphic>
          <a:graphicData uri="http://schemas.openxmlformats.org/drawingml/2006/table">
            <a:tbl>
              <a:tblPr/>
              <a:tblGrid>
                <a:gridCol w="1855081">
                  <a:extLst>
                    <a:ext uri="{9D8B030D-6E8A-4147-A177-3AD203B41FA5}">
                      <a16:colId xmlns:a16="http://schemas.microsoft.com/office/drawing/2014/main" val="20000"/>
                    </a:ext>
                  </a:extLst>
                </a:gridCol>
                <a:gridCol w="2897607">
                  <a:extLst>
                    <a:ext uri="{9D8B030D-6E8A-4147-A177-3AD203B41FA5}">
                      <a16:colId xmlns:a16="http://schemas.microsoft.com/office/drawing/2014/main" val="20001"/>
                    </a:ext>
                  </a:extLst>
                </a:gridCol>
                <a:gridCol w="3528232">
                  <a:extLst>
                    <a:ext uri="{9D8B030D-6E8A-4147-A177-3AD203B41FA5}">
                      <a16:colId xmlns:a16="http://schemas.microsoft.com/office/drawing/2014/main" val="20002"/>
                    </a:ext>
                  </a:extLst>
                </a:gridCol>
              </a:tblGrid>
              <a:tr h="870337">
                <a:tc>
                  <a:txBody>
                    <a:bodyPr/>
                    <a:lstStyle/>
                    <a:p>
                      <a:pPr indent="266700" algn="just">
                        <a:spcAft>
                          <a:spcPts val="0"/>
                        </a:spcAft>
                      </a:pP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a:latin typeface="Calibri"/>
                          <a:ea typeface="宋体"/>
                          <a:cs typeface="Times New Roman"/>
                        </a:rPr>
                        <a:t>动态信息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a:latin typeface="Calibri"/>
                          <a:ea typeface="宋体"/>
                          <a:cs typeface="Times New Roman"/>
                        </a:rPr>
                        <a:t>静态信息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1177515">
                <a:tc>
                  <a:txBody>
                    <a:bodyPr/>
                    <a:lstStyle/>
                    <a:p>
                      <a:pPr indent="266700" algn="just">
                        <a:spcAft>
                          <a:spcPts val="0"/>
                        </a:spcAft>
                      </a:pPr>
                      <a:r>
                        <a:rPr lang="zh-CN" sz="2400" b="1" kern="100">
                          <a:latin typeface="Calibri"/>
                          <a:ea typeface="宋体"/>
                          <a:cs typeface="Times New Roman"/>
                        </a:rPr>
                        <a:t>外部信息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kern="100" dirty="0">
                          <a:latin typeface="Calibri"/>
                          <a:ea typeface="宋体"/>
                          <a:cs typeface="Times New Roman"/>
                        </a:rPr>
                        <a:t>交互信息（服务、消息等）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a:latin typeface="Calibri"/>
                          <a:ea typeface="宋体"/>
                          <a:cs typeface="Times New Roman"/>
                        </a:rPr>
                        <a:t>功能（继承、类结构等）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48493">
                <a:tc>
                  <a:txBody>
                    <a:bodyPr/>
                    <a:lstStyle/>
                    <a:p>
                      <a:pPr indent="266700" algn="just">
                        <a:spcAft>
                          <a:spcPts val="0"/>
                        </a:spcAft>
                      </a:pPr>
                      <a:r>
                        <a:rPr lang="zh-CN" sz="2400" b="1" kern="100">
                          <a:latin typeface="Calibri"/>
                          <a:ea typeface="宋体"/>
                          <a:cs typeface="Times New Roman"/>
                        </a:rPr>
                        <a:t>内部信息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kern="100" dirty="0">
                          <a:latin typeface="Calibri"/>
                          <a:ea typeface="宋体"/>
                          <a:cs typeface="Times New Roman"/>
                        </a:rPr>
                        <a:t>行为信息（状态机）</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结构信息（属性、业务逻辑等）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02542102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PSP</a:t>
            </a:r>
            <a:r>
              <a:rPr lang="zh-CN" altLang="en-US" dirty="0"/>
              <a:t>设计模板</a:t>
            </a:r>
          </a:p>
        </p:txBody>
      </p:sp>
      <p:sp>
        <p:nvSpPr>
          <p:cNvPr id="3" name="内容占位符 2"/>
          <p:cNvSpPr>
            <a:spLocks noGrp="1"/>
          </p:cNvSpPr>
          <p:nvPr>
            <p:ph idx="1"/>
          </p:nvPr>
        </p:nvSpPr>
        <p:spPr/>
        <p:txBody>
          <a:bodyPr/>
          <a:lstStyle/>
          <a:p>
            <a:r>
              <a:rPr lang="zh-CN" altLang="en-US" dirty="0"/>
              <a:t>操作规格模板（</a:t>
            </a:r>
            <a:r>
              <a:rPr lang="en-US" dirty="0"/>
              <a:t>Operational Specification Template</a:t>
            </a:r>
            <a:r>
              <a:rPr lang="zh-CN" altLang="en-US" dirty="0"/>
              <a:t>， 简称</a:t>
            </a:r>
            <a:r>
              <a:rPr lang="en-US" dirty="0"/>
              <a:t>OST</a:t>
            </a:r>
            <a:r>
              <a:rPr lang="zh-CN" altLang="en-US" dirty="0"/>
              <a:t>）</a:t>
            </a:r>
            <a:endParaRPr lang="en-US" altLang="zh-CN" dirty="0"/>
          </a:p>
          <a:p>
            <a:r>
              <a:rPr lang="zh-CN" altLang="en-US" dirty="0"/>
              <a:t>功能规格模板（</a:t>
            </a:r>
            <a:r>
              <a:rPr lang="en-US" dirty="0"/>
              <a:t>Functional Specification Template</a:t>
            </a:r>
            <a:r>
              <a:rPr lang="zh-CN" altLang="en-US" dirty="0"/>
              <a:t>， 简称</a:t>
            </a:r>
            <a:r>
              <a:rPr lang="en-US" dirty="0"/>
              <a:t>FST</a:t>
            </a:r>
            <a:r>
              <a:rPr lang="zh-CN" altLang="en-US" dirty="0"/>
              <a:t>）</a:t>
            </a:r>
            <a:endParaRPr lang="en-US" altLang="zh-CN" dirty="0"/>
          </a:p>
          <a:p>
            <a:r>
              <a:rPr lang="zh-CN" altLang="en-US" dirty="0"/>
              <a:t>状态规格模板（</a:t>
            </a:r>
            <a:r>
              <a:rPr lang="en-US" dirty="0"/>
              <a:t>State Specification Template</a:t>
            </a:r>
            <a:r>
              <a:rPr lang="zh-CN" altLang="en-US" dirty="0"/>
              <a:t>，简称</a:t>
            </a:r>
            <a:r>
              <a:rPr lang="en-US" dirty="0"/>
              <a:t>SST</a:t>
            </a:r>
            <a:r>
              <a:rPr lang="zh-CN" altLang="en-US" dirty="0"/>
              <a:t>）</a:t>
            </a:r>
            <a:endParaRPr lang="en-US" altLang="zh-CN" dirty="0"/>
          </a:p>
          <a:p>
            <a:r>
              <a:rPr lang="zh-CN" altLang="en-US" dirty="0"/>
              <a:t>逻辑规格模板（</a:t>
            </a:r>
            <a:r>
              <a:rPr lang="en-US" dirty="0"/>
              <a:t>Logical Specification Template</a:t>
            </a:r>
            <a:r>
              <a:rPr lang="zh-CN" altLang="en-US" dirty="0"/>
              <a:t>，简称</a:t>
            </a:r>
            <a:r>
              <a:rPr lang="en-US" dirty="0"/>
              <a:t>LST</a:t>
            </a:r>
            <a:r>
              <a:rPr lang="zh-CN" altLang="en-US" dirty="0"/>
              <a:t>）</a:t>
            </a:r>
          </a:p>
        </p:txBody>
      </p:sp>
    </p:spTree>
    <p:extLst>
      <p:ext uri="{BB962C8B-B14F-4D97-AF65-F5344CB8AC3E}">
        <p14:creationId xmlns:p14="http://schemas.microsoft.com/office/powerpoint/2010/main" val="166521896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PSP</a:t>
            </a:r>
            <a:r>
              <a:rPr lang="zh-CN" altLang="en-US" dirty="0"/>
              <a:t>设计模板展现的信息</a:t>
            </a:r>
          </a:p>
        </p:txBody>
      </p:sp>
      <p:graphicFrame>
        <p:nvGraphicFramePr>
          <p:cNvPr id="5" name="表格 4"/>
          <p:cNvGraphicFramePr>
            <a:graphicFrameLocks noGrp="1"/>
          </p:cNvGraphicFramePr>
          <p:nvPr/>
        </p:nvGraphicFramePr>
        <p:xfrm>
          <a:off x="251520" y="1340768"/>
          <a:ext cx="7848872" cy="3096345"/>
        </p:xfrm>
        <a:graphic>
          <a:graphicData uri="http://schemas.openxmlformats.org/drawingml/2006/table">
            <a:tbl>
              <a:tblPr/>
              <a:tblGrid>
                <a:gridCol w="1758295">
                  <a:extLst>
                    <a:ext uri="{9D8B030D-6E8A-4147-A177-3AD203B41FA5}">
                      <a16:colId xmlns:a16="http://schemas.microsoft.com/office/drawing/2014/main" val="20000"/>
                    </a:ext>
                  </a:extLst>
                </a:gridCol>
                <a:gridCol w="2746427">
                  <a:extLst>
                    <a:ext uri="{9D8B030D-6E8A-4147-A177-3AD203B41FA5}">
                      <a16:colId xmlns:a16="http://schemas.microsoft.com/office/drawing/2014/main" val="20001"/>
                    </a:ext>
                  </a:extLst>
                </a:gridCol>
                <a:gridCol w="3344150">
                  <a:extLst>
                    <a:ext uri="{9D8B030D-6E8A-4147-A177-3AD203B41FA5}">
                      <a16:colId xmlns:a16="http://schemas.microsoft.com/office/drawing/2014/main" val="20002"/>
                    </a:ext>
                  </a:extLst>
                </a:gridCol>
              </a:tblGrid>
              <a:tr h="945293">
                <a:tc>
                  <a:txBody>
                    <a:bodyPr/>
                    <a:lstStyle/>
                    <a:p>
                      <a:pPr indent="266700" algn="just">
                        <a:spcAft>
                          <a:spcPts val="0"/>
                        </a:spcAft>
                      </a:pP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a:latin typeface="Calibri"/>
                          <a:ea typeface="宋体"/>
                          <a:cs typeface="Times New Roman"/>
                        </a:rPr>
                        <a:t>动态信息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a:latin typeface="Calibri"/>
                          <a:ea typeface="宋体"/>
                          <a:cs typeface="Times New Roman"/>
                        </a:rPr>
                        <a:t>静态信息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1075526">
                <a:tc>
                  <a:txBody>
                    <a:bodyPr/>
                    <a:lstStyle/>
                    <a:p>
                      <a:pPr indent="266700" algn="just">
                        <a:spcAft>
                          <a:spcPts val="0"/>
                        </a:spcAft>
                      </a:pPr>
                      <a:r>
                        <a:rPr lang="zh-CN" sz="2400" b="1" kern="100">
                          <a:latin typeface="Calibri"/>
                          <a:ea typeface="宋体"/>
                          <a:cs typeface="Times New Roman"/>
                        </a:rPr>
                        <a:t>外部信息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en-US" sz="2400" kern="100" dirty="0">
                          <a:latin typeface="Calibri"/>
                          <a:ea typeface="宋体"/>
                          <a:cs typeface="Times New Roman"/>
                        </a:rPr>
                        <a:t>OST/FST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FST</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75526">
                <a:tc>
                  <a:txBody>
                    <a:bodyPr/>
                    <a:lstStyle/>
                    <a:p>
                      <a:pPr indent="266700" algn="just">
                        <a:spcAft>
                          <a:spcPts val="0"/>
                        </a:spcAft>
                      </a:pPr>
                      <a:r>
                        <a:rPr lang="zh-CN" sz="2400" b="1" kern="100">
                          <a:latin typeface="Calibri"/>
                          <a:ea typeface="宋体"/>
                          <a:cs typeface="Times New Roman"/>
                        </a:rPr>
                        <a:t>内部信息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en-US" sz="2400" kern="100" dirty="0">
                          <a:latin typeface="Calibri"/>
                          <a:ea typeface="宋体"/>
                          <a:cs typeface="Times New Roman"/>
                        </a:rPr>
                        <a:t>SST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LST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7117133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b="1" dirty="0"/>
              <a:t>OST</a:t>
            </a:r>
            <a:endParaRPr lang="zh-CN" altLang="en-US" dirty="0"/>
          </a:p>
        </p:txBody>
      </p:sp>
      <p:sp>
        <p:nvSpPr>
          <p:cNvPr id="3" name="内容占位符 2"/>
          <p:cNvSpPr>
            <a:spLocks noGrp="1"/>
          </p:cNvSpPr>
          <p:nvPr>
            <p:ph idx="1"/>
          </p:nvPr>
        </p:nvSpPr>
        <p:spPr/>
        <p:txBody>
          <a:bodyPr/>
          <a:lstStyle/>
          <a:p>
            <a:r>
              <a:rPr lang="en-US" dirty="0"/>
              <a:t>OST</a:t>
            </a:r>
            <a:r>
              <a:rPr lang="zh-CN" altLang="en-US" dirty="0"/>
              <a:t>描述的是系统与外界的交互，具体而言，是描述“用户”与待设计系统的正常情况和异常情况下的交互</a:t>
            </a:r>
            <a:endParaRPr lang="en-US" altLang="zh-CN" dirty="0"/>
          </a:p>
          <a:p>
            <a:r>
              <a:rPr lang="en-US" dirty="0"/>
              <a:t>OST</a:t>
            </a:r>
            <a:r>
              <a:rPr lang="zh-CN" altLang="en-US" dirty="0"/>
              <a:t>可以用来定义测试场景和测试用例，也可以作为和系统用户讨论需求的基础，特别是操作相关的需求描述。 </a:t>
            </a:r>
          </a:p>
        </p:txBody>
      </p:sp>
    </p:spTree>
    <p:extLst>
      <p:ext uri="{BB962C8B-B14F-4D97-AF65-F5344CB8AC3E}">
        <p14:creationId xmlns:p14="http://schemas.microsoft.com/office/powerpoint/2010/main" val="76156229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FST</a:t>
            </a:r>
            <a:endParaRPr lang="zh-CN" altLang="en-US" dirty="0"/>
          </a:p>
        </p:txBody>
      </p:sp>
      <p:sp>
        <p:nvSpPr>
          <p:cNvPr id="3" name="内容占位符 2"/>
          <p:cNvSpPr>
            <a:spLocks noGrp="1"/>
          </p:cNvSpPr>
          <p:nvPr>
            <p:ph idx="1"/>
          </p:nvPr>
        </p:nvSpPr>
        <p:spPr/>
        <p:txBody>
          <a:bodyPr/>
          <a:lstStyle/>
          <a:p>
            <a:r>
              <a:rPr lang="en-US" dirty="0"/>
              <a:t>FST</a:t>
            </a:r>
            <a:r>
              <a:rPr lang="zh-CN" altLang="en-US" dirty="0"/>
              <a:t>描述的是系统对外的接口，这是一种静态信息的描述。</a:t>
            </a:r>
            <a:endParaRPr lang="en-US" altLang="zh-CN" dirty="0"/>
          </a:p>
          <a:p>
            <a:r>
              <a:rPr lang="zh-CN" altLang="en-US" dirty="0"/>
              <a:t>在</a:t>
            </a:r>
            <a:r>
              <a:rPr lang="en-US" dirty="0"/>
              <a:t>FST</a:t>
            </a:r>
            <a:r>
              <a:rPr lang="zh-CN" altLang="en-US" dirty="0"/>
              <a:t>中提供的典型信息包括类和继承关系，外部可见的属性和外部可见的方法等。</a:t>
            </a:r>
            <a:endParaRPr lang="en-US" altLang="zh-CN" dirty="0"/>
          </a:p>
          <a:p>
            <a:r>
              <a:rPr lang="zh-CN" altLang="en-US" dirty="0"/>
              <a:t>在使用</a:t>
            </a:r>
            <a:r>
              <a:rPr lang="en-US" dirty="0"/>
              <a:t>FST</a:t>
            </a:r>
            <a:r>
              <a:rPr lang="zh-CN" altLang="en-US" dirty="0"/>
              <a:t>模板的时候，消除二义性非常重要。因此，如果有可能，尽可能用形式化符号来描述方法等行为。</a:t>
            </a:r>
          </a:p>
        </p:txBody>
      </p:sp>
    </p:spTree>
    <p:extLst>
      <p:ext uri="{BB962C8B-B14F-4D97-AF65-F5344CB8AC3E}">
        <p14:creationId xmlns:p14="http://schemas.microsoft.com/office/powerpoint/2010/main" val="50481816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SST</a:t>
            </a:r>
            <a:endParaRPr lang="zh-CN" altLang="en-US" dirty="0"/>
          </a:p>
        </p:txBody>
      </p:sp>
      <p:sp>
        <p:nvSpPr>
          <p:cNvPr id="3" name="内容占位符 2"/>
          <p:cNvSpPr>
            <a:spLocks noGrp="1"/>
          </p:cNvSpPr>
          <p:nvPr>
            <p:ph idx="1"/>
          </p:nvPr>
        </p:nvSpPr>
        <p:spPr/>
        <p:txBody>
          <a:bodyPr/>
          <a:lstStyle/>
          <a:p>
            <a:r>
              <a:rPr lang="en-US" sz="2800" dirty="0"/>
              <a:t>SST</a:t>
            </a:r>
            <a:r>
              <a:rPr lang="zh-CN" altLang="en-US" sz="2800" dirty="0"/>
              <a:t>可以精确定义程序的所有的状态、状态之间的转换以及伴随着每次状态转换的动作。</a:t>
            </a:r>
          </a:p>
          <a:p>
            <a:r>
              <a:rPr lang="zh-CN" altLang="en-US" sz="2800" dirty="0"/>
              <a:t>在</a:t>
            </a:r>
            <a:r>
              <a:rPr lang="en-US" sz="2800" dirty="0"/>
              <a:t>SST</a:t>
            </a:r>
            <a:r>
              <a:rPr lang="zh-CN" altLang="en-US" sz="2800" dirty="0"/>
              <a:t>模板中，需要描述如下的信息：</a:t>
            </a:r>
          </a:p>
          <a:p>
            <a:pPr lvl="1"/>
            <a:r>
              <a:rPr lang="zh-CN" altLang="en-US" sz="2400" dirty="0"/>
              <a:t>所有状态的名称；</a:t>
            </a:r>
          </a:p>
          <a:p>
            <a:pPr lvl="1"/>
            <a:r>
              <a:rPr lang="zh-CN" altLang="en-US" sz="2400" dirty="0"/>
              <a:t>所有状态的简要描述；</a:t>
            </a:r>
          </a:p>
          <a:p>
            <a:pPr lvl="1"/>
            <a:r>
              <a:rPr lang="zh-CN" altLang="en-US" sz="2400" dirty="0"/>
              <a:t>在</a:t>
            </a:r>
            <a:r>
              <a:rPr lang="en-US" sz="2400" dirty="0"/>
              <a:t>SST</a:t>
            </a:r>
            <a:r>
              <a:rPr lang="zh-CN" altLang="en-US" sz="2400" dirty="0"/>
              <a:t>中需要使用的参数和方法的名称与描述；</a:t>
            </a:r>
          </a:p>
          <a:p>
            <a:pPr lvl="1"/>
            <a:r>
              <a:rPr lang="zh-CN" altLang="en-US" sz="2400" dirty="0"/>
              <a:t>状态转换的条件；</a:t>
            </a:r>
          </a:p>
          <a:p>
            <a:pPr lvl="1"/>
            <a:r>
              <a:rPr lang="zh-CN" altLang="en-US" sz="2400" dirty="0"/>
              <a:t>状态转换是发生的动作；</a:t>
            </a:r>
          </a:p>
          <a:p>
            <a:endParaRPr lang="zh-CN" altLang="en-US" dirty="0"/>
          </a:p>
        </p:txBody>
      </p:sp>
    </p:spTree>
    <p:extLst>
      <p:ext uri="{BB962C8B-B14F-4D97-AF65-F5344CB8AC3E}">
        <p14:creationId xmlns:p14="http://schemas.microsoft.com/office/powerpoint/2010/main" val="12305795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a:t>
            </a:r>
            <a:endParaRPr lang="zh-CN" altLang="en-US" dirty="0"/>
          </a:p>
        </p:txBody>
      </p:sp>
      <p:sp>
        <p:nvSpPr>
          <p:cNvPr id="3" name="内容占位符 2"/>
          <p:cNvSpPr>
            <a:spLocks noGrp="1"/>
          </p:cNvSpPr>
          <p:nvPr>
            <p:ph idx="1"/>
          </p:nvPr>
        </p:nvSpPr>
        <p:spPr/>
        <p:txBody>
          <a:bodyPr/>
          <a:lstStyle/>
          <a:p>
            <a:r>
              <a:rPr lang="en-US" dirty="0"/>
              <a:t>LST</a:t>
            </a:r>
            <a:r>
              <a:rPr lang="zh-CN" altLang="en-US" dirty="0"/>
              <a:t>可以精确描述系统的内部静态逻辑。为了消除描述的二义性，一般建议用伪代码配合形式化符号来描述设计结果。</a:t>
            </a:r>
          </a:p>
          <a:p>
            <a:r>
              <a:rPr lang="zh-CN" altLang="en-US" dirty="0"/>
              <a:t>在</a:t>
            </a:r>
            <a:r>
              <a:rPr lang="en-US" dirty="0"/>
              <a:t>LST</a:t>
            </a:r>
            <a:r>
              <a:rPr lang="zh-CN" altLang="en-US" dirty="0"/>
              <a:t>模板中，需要描述如下的信息：</a:t>
            </a:r>
          </a:p>
          <a:p>
            <a:pPr lvl="1"/>
            <a:r>
              <a:rPr lang="zh-CN" altLang="en-US" dirty="0"/>
              <a:t>关键方法的静态逻辑；</a:t>
            </a:r>
          </a:p>
          <a:p>
            <a:pPr lvl="1"/>
            <a:r>
              <a:rPr lang="zh-CN" altLang="en-US" dirty="0"/>
              <a:t>方法的调用；</a:t>
            </a:r>
          </a:p>
          <a:p>
            <a:pPr lvl="1"/>
            <a:r>
              <a:rPr lang="zh-CN" altLang="en-US" dirty="0"/>
              <a:t>外部引用；</a:t>
            </a:r>
          </a:p>
          <a:p>
            <a:pPr lvl="1"/>
            <a:r>
              <a:rPr lang="zh-CN" altLang="en-US" dirty="0"/>
              <a:t>关键数据的类型和定义；</a:t>
            </a:r>
          </a:p>
          <a:p>
            <a:endParaRPr lang="zh-CN" altLang="en-US" dirty="0"/>
          </a:p>
        </p:txBody>
      </p:sp>
    </p:spTree>
    <p:extLst>
      <p:ext uri="{BB962C8B-B14F-4D97-AF65-F5344CB8AC3E}">
        <p14:creationId xmlns:p14="http://schemas.microsoft.com/office/powerpoint/2010/main" val="63346448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UML</a:t>
            </a:r>
            <a:r>
              <a:rPr lang="zh-CN" altLang="en-US" dirty="0"/>
              <a:t>常用图</a:t>
            </a:r>
          </a:p>
        </p:txBody>
      </p:sp>
      <p:sp>
        <p:nvSpPr>
          <p:cNvPr id="3" name="内容占位符 2"/>
          <p:cNvSpPr>
            <a:spLocks noGrp="1"/>
          </p:cNvSpPr>
          <p:nvPr>
            <p:ph idx="1"/>
          </p:nvPr>
        </p:nvSpPr>
        <p:spPr/>
        <p:txBody>
          <a:bodyPr/>
          <a:lstStyle/>
          <a:p>
            <a:r>
              <a:rPr lang="zh-CN" altLang="en-US" dirty="0"/>
              <a:t>用例图</a:t>
            </a:r>
            <a:endParaRPr lang="en-US" altLang="zh-CN" dirty="0"/>
          </a:p>
          <a:p>
            <a:r>
              <a:rPr lang="zh-CN" altLang="en-US" dirty="0"/>
              <a:t>时序图</a:t>
            </a:r>
            <a:endParaRPr lang="en-US" altLang="zh-CN" dirty="0"/>
          </a:p>
          <a:p>
            <a:r>
              <a:rPr lang="zh-CN" altLang="en-US" dirty="0"/>
              <a:t>类图</a:t>
            </a:r>
            <a:endParaRPr lang="en-US" altLang="zh-CN" dirty="0"/>
          </a:p>
          <a:p>
            <a:r>
              <a:rPr lang="zh-CN" altLang="en-US" dirty="0"/>
              <a:t>状态机图</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UML</a:t>
            </a:r>
            <a:r>
              <a:rPr lang="zh-CN" altLang="en-US" dirty="0"/>
              <a:t>与</a:t>
            </a:r>
            <a:r>
              <a:rPr lang="en-US" altLang="zh-CN" dirty="0"/>
              <a:t>PSP</a:t>
            </a:r>
            <a:r>
              <a:rPr lang="zh-CN" altLang="en-US" dirty="0"/>
              <a:t>设计模板的关系</a:t>
            </a:r>
          </a:p>
        </p:txBody>
      </p:sp>
      <p:sp>
        <p:nvSpPr>
          <p:cNvPr id="3" name="内容占位符 2"/>
          <p:cNvSpPr>
            <a:spLocks noGrp="1"/>
          </p:cNvSpPr>
          <p:nvPr>
            <p:ph idx="1"/>
          </p:nvPr>
        </p:nvSpPr>
        <p:spPr>
          <a:xfrm>
            <a:off x="107504" y="1052736"/>
            <a:ext cx="8496944" cy="5400600"/>
          </a:xfrm>
        </p:spPr>
        <p:txBody>
          <a:bodyPr/>
          <a:lstStyle/>
          <a:p>
            <a:r>
              <a:rPr lang="en-US" altLang="zh-CN" sz="2400" dirty="0"/>
              <a:t>UML</a:t>
            </a:r>
            <a:r>
              <a:rPr lang="zh-CN" altLang="en-US" sz="2400" dirty="0"/>
              <a:t>的用例图和时序图提供了与</a:t>
            </a:r>
            <a:r>
              <a:rPr lang="en-US" altLang="zh-CN" sz="2400" dirty="0"/>
              <a:t>PSP</a:t>
            </a:r>
            <a:r>
              <a:rPr lang="zh-CN" altLang="en-US" sz="2400" dirty="0"/>
              <a:t>中</a:t>
            </a:r>
            <a:r>
              <a:rPr lang="en-US" altLang="zh-CN" sz="2400" dirty="0"/>
              <a:t>OST</a:t>
            </a:r>
            <a:r>
              <a:rPr lang="zh-CN" altLang="en-US" sz="2400" dirty="0"/>
              <a:t>同样的信息；</a:t>
            </a:r>
          </a:p>
          <a:p>
            <a:r>
              <a:rPr lang="en-US" altLang="zh-CN" sz="2400" dirty="0"/>
              <a:t>UML</a:t>
            </a:r>
            <a:r>
              <a:rPr lang="zh-CN" altLang="en-US" sz="2400" dirty="0"/>
              <a:t>中的时序图和类图所描述的类之间的关系以及对象之间的交互信息在</a:t>
            </a:r>
            <a:r>
              <a:rPr lang="en-US" altLang="zh-CN" sz="2400" dirty="0"/>
              <a:t>PSP4</a:t>
            </a:r>
            <a:r>
              <a:rPr lang="zh-CN" altLang="en-US" sz="2400" dirty="0"/>
              <a:t>个设计模板中没有对应的内容；</a:t>
            </a:r>
          </a:p>
          <a:p>
            <a:r>
              <a:rPr lang="en-US" altLang="zh-CN" sz="2400" dirty="0"/>
              <a:t>UML</a:t>
            </a:r>
            <a:r>
              <a:rPr lang="zh-CN" altLang="en-US" sz="2400" dirty="0"/>
              <a:t>类图中记录了方法的型构，然而方法的行为没有描述，这一点在</a:t>
            </a:r>
            <a:r>
              <a:rPr lang="en-US" altLang="zh-CN" sz="2400" dirty="0"/>
              <a:t>PSP</a:t>
            </a:r>
            <a:r>
              <a:rPr lang="zh-CN" altLang="en-US" sz="2400" dirty="0"/>
              <a:t>的</a:t>
            </a:r>
            <a:r>
              <a:rPr lang="en-US" altLang="zh-CN" sz="2400" dirty="0"/>
              <a:t>FST</a:t>
            </a:r>
            <a:r>
              <a:rPr lang="zh-CN" altLang="en-US" sz="2400" dirty="0"/>
              <a:t>中有相应的内容；</a:t>
            </a:r>
          </a:p>
          <a:p>
            <a:r>
              <a:rPr lang="en-US" altLang="zh-CN" sz="2400" dirty="0"/>
              <a:t>PSP</a:t>
            </a:r>
            <a:r>
              <a:rPr lang="zh-CN" altLang="en-US" sz="2400" dirty="0"/>
              <a:t>中的</a:t>
            </a:r>
            <a:r>
              <a:rPr lang="en-US" altLang="zh-CN" sz="2400" dirty="0"/>
              <a:t>LST</a:t>
            </a:r>
            <a:r>
              <a:rPr lang="zh-CN" altLang="en-US" sz="2400" dirty="0"/>
              <a:t>用以描述程序的静态逻辑，这在</a:t>
            </a:r>
            <a:r>
              <a:rPr lang="en-US" altLang="zh-CN" sz="2400" dirty="0"/>
              <a:t>UML</a:t>
            </a:r>
            <a:r>
              <a:rPr lang="zh-CN" altLang="en-US" sz="2400" dirty="0"/>
              <a:t>没有对应的图示方法；</a:t>
            </a:r>
          </a:p>
          <a:p>
            <a:r>
              <a:rPr lang="en-US" altLang="zh-CN" sz="2400" dirty="0"/>
              <a:t>UML</a:t>
            </a:r>
            <a:r>
              <a:rPr lang="zh-CN" altLang="en-US" sz="2400" dirty="0"/>
              <a:t>中的状态图与</a:t>
            </a:r>
            <a:r>
              <a:rPr lang="en-US" altLang="zh-CN" sz="2400" dirty="0"/>
              <a:t>SST</a:t>
            </a:r>
            <a:r>
              <a:rPr lang="zh-CN" altLang="en-US" sz="2400" dirty="0"/>
              <a:t>描述的状态图类似，但是</a:t>
            </a:r>
            <a:r>
              <a:rPr lang="en-US" altLang="zh-CN" sz="2400" dirty="0"/>
              <a:t>SST</a:t>
            </a:r>
            <a:r>
              <a:rPr lang="zh-CN" altLang="en-US" sz="2400" dirty="0"/>
              <a:t>中描述的关于状态、状态转换条件以及状态转换中的动作没有对应的</a:t>
            </a:r>
            <a:r>
              <a:rPr lang="en-US" altLang="zh-CN" sz="2400" dirty="0"/>
              <a:t>UML</a:t>
            </a:r>
            <a:r>
              <a:rPr lang="zh-CN" altLang="en-US" sz="2400" dirty="0"/>
              <a:t>图示方法。</a:t>
            </a:r>
          </a:p>
          <a:p>
            <a:endParaRPr lang="zh-CN" altLang="en-US" sz="2400"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43042" y="-214338"/>
            <a:ext cx="6900862" cy="1143000"/>
          </a:xfrm>
        </p:spPr>
        <p:txBody>
          <a:bodyPr/>
          <a:lstStyle/>
          <a:p>
            <a:r>
              <a:rPr lang="zh-CN" altLang="en-US" dirty="0"/>
              <a:t>设计的层次</a:t>
            </a:r>
          </a:p>
        </p:txBody>
      </p:sp>
      <p:sp>
        <p:nvSpPr>
          <p:cNvPr id="2734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73409" name="Object 1"/>
          <p:cNvGraphicFramePr>
            <a:graphicFrameLocks noChangeAspect="1"/>
          </p:cNvGraphicFramePr>
          <p:nvPr/>
        </p:nvGraphicFramePr>
        <p:xfrm>
          <a:off x="1643042" y="571480"/>
          <a:ext cx="6786610" cy="6175857"/>
        </p:xfrm>
        <a:graphic>
          <a:graphicData uri="http://schemas.openxmlformats.org/presentationml/2006/ole">
            <mc:AlternateContent xmlns:mc="http://schemas.openxmlformats.org/markup-compatibility/2006">
              <mc:Choice xmlns:v="urn:schemas-microsoft-com:vml" Requires="v">
                <p:oleObj name="Visio" r:id="rId3" imgW="7414593" imgH="9034796" progId="Visio.Drawing.11">
                  <p:embed/>
                </p:oleObj>
              </mc:Choice>
              <mc:Fallback>
                <p:oleObj name="Visio" r:id="rId3" imgW="7414593" imgH="9034796" progId="Visio.Drawing.11">
                  <p:embed/>
                  <p:pic>
                    <p:nvPicPr>
                      <p:cNvPr id="273409"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3042" y="571480"/>
                        <a:ext cx="6786610" cy="6175857"/>
                      </a:xfrm>
                      <a:prstGeom prst="rect">
                        <a:avLst/>
                      </a:prstGeom>
                      <a:solidFill>
                        <a:schemeClr val="bg2"/>
                      </a:solidFill>
                    </p:spPr>
                  </p:pic>
                </p:oleObj>
              </mc:Fallback>
            </mc:AlternateContent>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设计的层次：</a:t>
            </a:r>
            <a:r>
              <a:rPr lang="en-US" altLang="zh-CN" dirty="0"/>
              <a:t>PSP</a:t>
            </a:r>
            <a:r>
              <a:rPr lang="zh-CN" altLang="en-US" dirty="0"/>
              <a:t>模板</a:t>
            </a:r>
          </a:p>
        </p:txBody>
      </p:sp>
      <p:sp>
        <p:nvSpPr>
          <p:cNvPr id="2713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71361" name="Object 1"/>
          <p:cNvGraphicFramePr>
            <a:graphicFrameLocks noChangeAspect="1"/>
          </p:cNvGraphicFramePr>
          <p:nvPr/>
        </p:nvGraphicFramePr>
        <p:xfrm>
          <a:off x="1857356" y="1124744"/>
          <a:ext cx="6429420" cy="5297113"/>
        </p:xfrm>
        <a:graphic>
          <a:graphicData uri="http://schemas.openxmlformats.org/presentationml/2006/ole">
            <mc:AlternateContent xmlns:mc="http://schemas.openxmlformats.org/markup-compatibility/2006">
              <mc:Choice xmlns:v="urn:schemas-microsoft-com:vml" Requires="v">
                <p:oleObj name="Visio" r:id="rId3" imgW="6622828" imgH="5434679" progId="Visio.Drawing.11">
                  <p:embed/>
                </p:oleObj>
              </mc:Choice>
              <mc:Fallback>
                <p:oleObj name="Visio" r:id="rId3" imgW="6622828" imgH="5434679" progId="Visio.Drawing.11">
                  <p:embed/>
                  <p:pic>
                    <p:nvPicPr>
                      <p:cNvPr id="271361"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7356" y="1124744"/>
                        <a:ext cx="6429420" cy="5297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设计的层次：</a:t>
            </a:r>
            <a:r>
              <a:rPr lang="en-US" altLang="zh-CN" dirty="0"/>
              <a:t>PSP</a:t>
            </a:r>
            <a:r>
              <a:rPr lang="zh-CN" altLang="en-US" dirty="0"/>
              <a:t>模板</a:t>
            </a:r>
          </a:p>
        </p:txBody>
      </p:sp>
      <p:sp>
        <p:nvSpPr>
          <p:cNvPr id="269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69313" name="Object 1"/>
          <p:cNvGraphicFramePr>
            <a:graphicFrameLocks noChangeAspect="1"/>
          </p:cNvGraphicFramePr>
          <p:nvPr/>
        </p:nvGraphicFramePr>
        <p:xfrm>
          <a:off x="1785918" y="1196752"/>
          <a:ext cx="6643734" cy="5398034"/>
        </p:xfrm>
        <a:graphic>
          <a:graphicData uri="http://schemas.openxmlformats.org/presentationml/2006/ole">
            <mc:AlternateContent xmlns:mc="http://schemas.openxmlformats.org/markup-compatibility/2006">
              <mc:Choice xmlns:v="urn:schemas-microsoft-com:vml" Requires="v">
                <p:oleObj name="Visio" r:id="rId3" imgW="6622828" imgH="5362670" progId="Visio.Drawing.11">
                  <p:embed/>
                </p:oleObj>
              </mc:Choice>
              <mc:Fallback>
                <p:oleObj name="Visio" r:id="rId3" imgW="6622828" imgH="5362670" progId="Visio.Drawing.11">
                  <p:embed/>
                  <p:pic>
                    <p:nvPicPr>
                      <p:cNvPr id="269313"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918" y="1196752"/>
                        <a:ext cx="6643734" cy="53980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theme/theme1.xml><?xml version="1.0" encoding="utf-8"?>
<a:theme xmlns:a="http://schemas.openxmlformats.org/drawingml/2006/main" name="PowerPoint Templat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 Template</Template>
  <TotalTime>9331</TotalTime>
  <Words>2549</Words>
  <Application>Microsoft Macintosh PowerPoint</Application>
  <PresentationFormat>全屏显示(4:3)</PresentationFormat>
  <Paragraphs>335</Paragraphs>
  <Slides>41</Slides>
  <Notes>41</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41</vt:i4>
      </vt:variant>
    </vt:vector>
  </HeadingPairs>
  <TitlesOfParts>
    <vt:vector size="47" baseType="lpstr">
      <vt:lpstr>Arial</vt:lpstr>
      <vt:lpstr>Calibri</vt:lpstr>
      <vt:lpstr>Verdana</vt:lpstr>
      <vt:lpstr>Wingdings</vt:lpstr>
      <vt:lpstr>PowerPoint Template</vt:lpstr>
      <vt:lpstr>Visio</vt:lpstr>
      <vt:lpstr>软件质量与管理 第五讲 质量管理</vt:lpstr>
      <vt:lpstr>经典语录</vt:lpstr>
      <vt:lpstr>内容</vt:lpstr>
      <vt:lpstr>质量概念</vt:lpstr>
      <vt:lpstr>面向用户的质量观</vt:lpstr>
      <vt:lpstr>典型用户质量期望</vt:lpstr>
      <vt:lpstr>质量管理策略</vt:lpstr>
      <vt:lpstr>不同缺陷消除方式消除缺陷的效率</vt:lpstr>
      <vt:lpstr>测试消除缺陷的典型流程</vt:lpstr>
      <vt:lpstr>评审发现缺陷典型流程</vt:lpstr>
      <vt:lpstr>部分行业数据</vt:lpstr>
      <vt:lpstr>PSP质量策略- 续</vt:lpstr>
      <vt:lpstr>PSP评审过程质量</vt:lpstr>
      <vt:lpstr>质量指标之一 ：Yield</vt:lpstr>
      <vt:lpstr>缺陷在开发过程中注入和消除的示意图</vt:lpstr>
      <vt:lpstr>Yield 示例</vt:lpstr>
      <vt:lpstr>估算交付物缺陷数——过程建模示例</vt:lpstr>
      <vt:lpstr>质量指标之二： A/FR</vt:lpstr>
      <vt:lpstr>A/FR 控制目标</vt:lpstr>
      <vt:lpstr>质量指标之三：PQI</vt:lpstr>
      <vt:lpstr>PQI与交付后缺陷密度的关系</vt:lpstr>
      <vt:lpstr>PQI与集成时缺陷数的关系</vt:lpstr>
      <vt:lpstr>质量指标之四：Review Rate</vt:lpstr>
      <vt:lpstr>质量指标之五：DRL</vt:lpstr>
      <vt:lpstr>评审的其他考虑因素</vt:lpstr>
      <vt:lpstr>质量路径 Quality Journey</vt:lpstr>
      <vt:lpstr>设计与质量的关系</vt:lpstr>
      <vt:lpstr>典型设计过程</vt:lpstr>
      <vt:lpstr>设计什么？</vt:lpstr>
      <vt:lpstr>设计的内容</vt:lpstr>
      <vt:lpstr>PSP设计模板</vt:lpstr>
      <vt:lpstr>PSP设计模板展现的信息</vt:lpstr>
      <vt:lpstr>OST</vt:lpstr>
      <vt:lpstr>FST</vt:lpstr>
      <vt:lpstr>SST</vt:lpstr>
      <vt:lpstr>LST</vt:lpstr>
      <vt:lpstr>UML常用图</vt:lpstr>
      <vt:lpstr>UML与PSP设计模板的关系</vt:lpstr>
      <vt:lpstr>设计的层次</vt:lpstr>
      <vt:lpstr>设计的层次：PSP模板</vt:lpstr>
      <vt:lpstr>设计的层次：PSP模板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ronggp</dc:creator>
  <cp:lastModifiedBy>Microsoft Office User</cp:lastModifiedBy>
  <cp:revision>224</cp:revision>
  <cp:lastPrinted>2018-09-19T16:24:31Z</cp:lastPrinted>
  <dcterms:created xsi:type="dcterms:W3CDTF">1601-01-01T00:00:00Z</dcterms:created>
  <dcterms:modified xsi:type="dcterms:W3CDTF">2025-06-03T06:06:07Z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