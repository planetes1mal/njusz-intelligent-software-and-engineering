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1"/>
  </p:sldMasterIdLst>
  <p:notesMasterIdLst>
    <p:notesMasterId r:id="rId21"/>
  </p:notesMasterIdLst>
  <p:sldIdLst>
    <p:sldId id="427" r:id="rId2"/>
    <p:sldId id="448" r:id="rId3"/>
    <p:sldId id="327" r:id="rId4"/>
    <p:sldId id="444" r:id="rId5"/>
    <p:sldId id="436" r:id="rId6"/>
    <p:sldId id="451" r:id="rId7"/>
    <p:sldId id="452" r:id="rId8"/>
    <p:sldId id="453" r:id="rId9"/>
    <p:sldId id="454" r:id="rId10"/>
    <p:sldId id="455" r:id="rId11"/>
    <p:sldId id="450" r:id="rId12"/>
    <p:sldId id="445" r:id="rId13"/>
    <p:sldId id="446" r:id="rId14"/>
    <p:sldId id="449" r:id="rId15"/>
    <p:sldId id="456" r:id="rId16"/>
    <p:sldId id="437" r:id="rId17"/>
    <p:sldId id="439" r:id="rId18"/>
    <p:sldId id="447" r:id="rId19"/>
    <p:sldId id="438" r:id="rId2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74830" autoAdjust="0"/>
  </p:normalViewPr>
  <p:slideViewPr>
    <p:cSldViewPr>
      <p:cViewPr varScale="1">
        <p:scale>
          <a:sx n="74" d="100"/>
          <a:sy n="74" d="100"/>
        </p:scale>
        <p:origin x="900" y="2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>
            <a:extLst>
              <a:ext uri="{FF2B5EF4-FFF2-40B4-BE49-F238E27FC236}">
                <a16:creationId xmlns:a16="http://schemas.microsoft.com/office/drawing/2014/main" id="{32D64606-3579-5CE0-B985-F68156F8B9C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2035" name="Rectangle 3">
            <a:extLst>
              <a:ext uri="{FF2B5EF4-FFF2-40B4-BE49-F238E27FC236}">
                <a16:creationId xmlns:a16="http://schemas.microsoft.com/office/drawing/2014/main" id="{6456BA4D-A745-4D8F-CD06-5ECAF9BA195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D9C3A1AD-3CDF-EE46-9B2C-3CF47100B581}" type="datetimeFigureOut">
              <a:rPr lang="zh-CN" altLang="en-US"/>
              <a:pPr>
                <a:defRPr/>
              </a:pPr>
              <a:t>2025/2/12</a:t>
            </a:fld>
            <a:endParaRPr lang="en-US" altLang="zh-CN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E65C526B-F01A-BF83-5C09-59D688738C5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2037" name="Rectangle 5">
            <a:extLst>
              <a:ext uri="{FF2B5EF4-FFF2-40B4-BE49-F238E27FC236}">
                <a16:creationId xmlns:a16="http://schemas.microsoft.com/office/drawing/2014/main" id="{7EC39D12-ED3E-7BD7-79C6-E5B7D6B5BC1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72038" name="Rectangle 6">
            <a:extLst>
              <a:ext uri="{FF2B5EF4-FFF2-40B4-BE49-F238E27FC236}">
                <a16:creationId xmlns:a16="http://schemas.microsoft.com/office/drawing/2014/main" id="{FC0D5542-9696-1518-232A-8EBA3AFFDA1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9" name="Rectangle 7">
            <a:extLst>
              <a:ext uri="{FF2B5EF4-FFF2-40B4-BE49-F238E27FC236}">
                <a16:creationId xmlns:a16="http://schemas.microsoft.com/office/drawing/2014/main" id="{86EE88F2-7F93-F18D-5CF4-8BEC4C4874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2DD7D59-7818-9847-93EF-A2CBA50B499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幻灯片图像占位符 1">
            <a:extLst>
              <a:ext uri="{FF2B5EF4-FFF2-40B4-BE49-F238E27FC236}">
                <a16:creationId xmlns:a16="http://schemas.microsoft.com/office/drawing/2014/main" id="{F81522A7-FC7B-82B9-4838-EF4549D995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6" name="备注占位符 2">
            <a:extLst>
              <a:ext uri="{FF2B5EF4-FFF2-40B4-BE49-F238E27FC236}">
                <a16:creationId xmlns:a16="http://schemas.microsoft.com/office/drawing/2014/main" id="{38C13DD4-489A-D818-3DB0-D99CC7E536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87" name="灯片编号占位符 3">
            <a:extLst>
              <a:ext uri="{FF2B5EF4-FFF2-40B4-BE49-F238E27FC236}">
                <a16:creationId xmlns:a16="http://schemas.microsoft.com/office/drawing/2014/main" id="{BD53CE73-5400-5E45-D9A4-4DF6561FB2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7101CEA-EFA0-AD44-80A2-490207A0F570}" type="slidenum">
              <a:rPr lang="zh-CN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幻灯片图像占位符 1">
            <a:extLst>
              <a:ext uri="{FF2B5EF4-FFF2-40B4-BE49-F238E27FC236}">
                <a16:creationId xmlns:a16="http://schemas.microsoft.com/office/drawing/2014/main" id="{1AE3F853-EABB-2D02-BD02-2F538C6C15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4" name="备注占位符 2">
            <a:extLst>
              <a:ext uri="{FF2B5EF4-FFF2-40B4-BE49-F238E27FC236}">
                <a16:creationId xmlns:a16="http://schemas.microsoft.com/office/drawing/2014/main" id="{83C0C61E-A7F6-5BC8-26E3-3964F40F14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/>
          </a:p>
        </p:txBody>
      </p:sp>
      <p:sp>
        <p:nvSpPr>
          <p:cNvPr id="38915" name="灯片编号占位符 3">
            <a:extLst>
              <a:ext uri="{FF2B5EF4-FFF2-40B4-BE49-F238E27FC236}">
                <a16:creationId xmlns:a16="http://schemas.microsoft.com/office/drawing/2014/main" id="{2BFC3A56-6DD4-04F6-BE1B-047B2EF261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2584A73-46A9-1040-AABA-5AFAE598B485}" type="slidenum">
              <a:rPr lang="zh-CN" altLang="en-US" smtClean="0"/>
              <a:pPr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幻灯片图像占位符 1">
            <a:extLst>
              <a:ext uri="{FF2B5EF4-FFF2-40B4-BE49-F238E27FC236}">
                <a16:creationId xmlns:a16="http://schemas.microsoft.com/office/drawing/2014/main" id="{582E45F1-4469-422B-18BC-E4C59CF1D7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8" name="备注占位符 2">
            <a:extLst>
              <a:ext uri="{FF2B5EF4-FFF2-40B4-BE49-F238E27FC236}">
                <a16:creationId xmlns:a16="http://schemas.microsoft.com/office/drawing/2014/main" id="{C3B66001-29A6-8372-E973-3F2ECF0684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kumimoji="1" lang="zh-CN" altLang="en-US"/>
          </a:p>
        </p:txBody>
      </p:sp>
      <p:sp>
        <p:nvSpPr>
          <p:cNvPr id="19459" name="灯片编号占位符 3">
            <a:extLst>
              <a:ext uri="{FF2B5EF4-FFF2-40B4-BE49-F238E27FC236}">
                <a16:creationId xmlns:a16="http://schemas.microsoft.com/office/drawing/2014/main" id="{63FC9E5A-2B43-E718-301E-9D9DE963D1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B688D62-35C3-204C-9BE6-AD07C7D0E04B}" type="slidenum">
              <a:rPr kumimoji="1" lang="zh-CN" altLang="en-US" smtClean="0"/>
              <a:pPr/>
              <a:t>3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幻灯片图像占位符 1">
            <a:extLst>
              <a:ext uri="{FF2B5EF4-FFF2-40B4-BE49-F238E27FC236}">
                <a16:creationId xmlns:a16="http://schemas.microsoft.com/office/drawing/2014/main" id="{667AFB93-9634-81A8-0DBC-0FE82231A3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6" name="备注占位符 2">
            <a:extLst>
              <a:ext uri="{FF2B5EF4-FFF2-40B4-BE49-F238E27FC236}">
                <a16:creationId xmlns:a16="http://schemas.microsoft.com/office/drawing/2014/main" id="{0DB87442-6031-39C9-F316-AF6541C2B2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关于文档</a:t>
            </a:r>
          </a:p>
        </p:txBody>
      </p:sp>
      <p:sp>
        <p:nvSpPr>
          <p:cNvPr id="21507" name="灯片编号占位符 3">
            <a:extLst>
              <a:ext uri="{FF2B5EF4-FFF2-40B4-BE49-F238E27FC236}">
                <a16:creationId xmlns:a16="http://schemas.microsoft.com/office/drawing/2014/main" id="{72EDC807-57CA-87BF-7DAB-2F023F7ABC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D947C7D-7855-1E4A-8EB6-7C6E803A8106}" type="slidenum">
              <a:rPr lang="zh-CN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幻灯片图像占位符 1">
            <a:extLst>
              <a:ext uri="{FF2B5EF4-FFF2-40B4-BE49-F238E27FC236}">
                <a16:creationId xmlns:a16="http://schemas.microsoft.com/office/drawing/2014/main" id="{4AC3A118-A6E4-1284-0C7D-84363BFF00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8" name="备注占位符 2">
            <a:extLst>
              <a:ext uri="{FF2B5EF4-FFF2-40B4-BE49-F238E27FC236}">
                <a16:creationId xmlns:a16="http://schemas.microsoft.com/office/drawing/2014/main" id="{E681DF23-166D-FC2A-AE91-7EB1CCC0D6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kumimoji="1" lang="zh-CN" altLang="en-US"/>
          </a:p>
        </p:txBody>
      </p:sp>
      <p:sp>
        <p:nvSpPr>
          <p:cNvPr id="34819" name="幻灯片编号占位符 3">
            <a:extLst>
              <a:ext uri="{FF2B5EF4-FFF2-40B4-BE49-F238E27FC236}">
                <a16:creationId xmlns:a16="http://schemas.microsoft.com/office/drawing/2014/main" id="{0A1473F8-7C92-3CB5-1D90-04E81165CC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D1C23E6-ACC2-B24C-8B4F-ADA9A140FBEF}" type="slidenum">
              <a:rPr lang="zh-CN" altLang="en-US" smtClean="0"/>
              <a:pPr/>
              <a:t>17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0">
            <a:extLst>
              <a:ext uri="{FF2B5EF4-FFF2-40B4-BE49-F238E27FC236}">
                <a16:creationId xmlns:a16="http://schemas.microsoft.com/office/drawing/2014/main" id="{008256B1-5670-72DB-242F-AE45CAEA73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22"/>
          <a:stretch>
            <a:fillRect/>
          </a:stretch>
        </p:blipFill>
        <p:spPr bwMode="auto">
          <a:xfrm>
            <a:off x="0" y="1588"/>
            <a:ext cx="9144000" cy="536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16">
            <a:extLst>
              <a:ext uri="{FF2B5EF4-FFF2-40B4-BE49-F238E27FC236}">
                <a16:creationId xmlns:a16="http://schemas.microsoft.com/office/drawing/2014/main" id="{004F0899-83FC-64E0-5EE0-410479ABD657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0" y="5300663"/>
            <a:ext cx="9144000" cy="144462"/>
          </a:xfrm>
          <a:prstGeom prst="rect">
            <a:avLst/>
          </a:prstGeom>
          <a:solidFill>
            <a:srgbClr val="A9C6CC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zh-CN" sz="1000" b="1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B27635E-ED87-29AE-66B6-F1946590F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0038" y="188913"/>
            <a:ext cx="3163887" cy="7223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808080">
                <a:alpha val="39998"/>
              </a:srgbClr>
            </a:outerShdw>
          </a:effectLst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03648" y="5589240"/>
            <a:ext cx="6553200" cy="126876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400" b="1">
                <a:solidFill>
                  <a:schemeClr val="tx2"/>
                </a:solidFill>
                <a:latin typeface="Verdana" pitchFamily="34" charset="0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en-US" altLang="zh-CN" noProof="0" dirty="0"/>
          </a:p>
        </p:txBody>
      </p:sp>
      <p:sp>
        <p:nvSpPr>
          <p:cNvPr id="3093" name="Rectangle 21"/>
          <p:cNvSpPr>
            <a:spLocks noGrp="1" noChangeArrowheads="1"/>
          </p:cNvSpPr>
          <p:nvPr>
            <p:ph type="ctrTitle" sz="quarter"/>
          </p:nvPr>
        </p:nvSpPr>
        <p:spPr bwMode="gray">
          <a:xfrm>
            <a:off x="0" y="4077072"/>
            <a:ext cx="9144000" cy="1224137"/>
          </a:xfrm>
          <a:gradFill>
            <a:gsLst>
              <a:gs pos="0">
                <a:srgbClr val="00607A"/>
              </a:gs>
              <a:gs pos="100000">
                <a:srgbClr val="00607A"/>
              </a:gs>
            </a:gsLst>
            <a:lin ang="0" scaled="1"/>
          </a:gradFill>
          <a:effectLst/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4175796364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708E"/>
                </a:solidFill>
              </a:defRPr>
            </a:lvl1pPr>
            <a:lvl2pPr>
              <a:buClr>
                <a:srgbClr val="00607A"/>
              </a:buClr>
              <a:defRPr>
                <a:solidFill>
                  <a:srgbClr val="00708E"/>
                </a:solidFill>
                <a:latin typeface="+mn-ea"/>
                <a:ea typeface="+mn-ea"/>
              </a:defRPr>
            </a:lvl2pPr>
            <a:lvl3pPr>
              <a:buClr>
                <a:srgbClr val="00607A"/>
              </a:buClr>
              <a:defRPr>
                <a:solidFill>
                  <a:srgbClr val="00708E"/>
                </a:solidFill>
                <a:latin typeface="+mn-ea"/>
                <a:ea typeface="+mn-ea"/>
              </a:defRPr>
            </a:lvl3pPr>
            <a:lvl4pPr>
              <a:defRPr>
                <a:solidFill>
                  <a:srgbClr val="00708E"/>
                </a:solidFill>
                <a:latin typeface="+mn-ea"/>
                <a:ea typeface="+mn-ea"/>
              </a:defRPr>
            </a:lvl4pPr>
            <a:lvl5pPr>
              <a:defRPr>
                <a:solidFill>
                  <a:srgbClr val="00708E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3F90B22-F82E-2DE9-0B54-59425F94202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A93786-1FEA-8C40-B511-6FA3237A496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9568565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2DDF7BF-3BF0-C3A6-7FE6-1BC6DEB3734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173D0F-4AA8-3D43-80A5-66380C7C5A7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1332818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525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9046DE9-C697-3321-B86A-DA8426A6CE9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D00A58-56D5-EC4C-90EC-E894C3FE059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6966173"/>
      </p:ext>
    </p:extLst>
  </p:cSld>
  <p:clrMapOvr>
    <a:masterClrMapping/>
  </p:clrMapOvr>
  <p:transition/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20BD0B-0024-66E2-14E1-95F32B55B38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EF86E-ED3C-1849-9074-EB9ACD0A440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4500129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8CBA099B-53C6-27E5-6759-768A729D1F2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A51213-E256-F94E-B6B9-1C6C795A3F4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9016008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4780C5C-D562-67A4-5D57-10720850195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EE9F09-79CC-D646-BC0F-4882ABC0F3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768864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4E93CAC-43FC-A60A-D707-F1ED0949934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CC9DE5-437C-EE44-86EA-6FDF8B905FE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302119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2B345D2-6EE8-DE4A-B2D2-42F5DEE7ADE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5F9D34-A286-2849-848A-15FD3D4724D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7655041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D723089-1F04-6096-118C-D8E33C39E8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575192-49AB-9D47-8F65-678B35CA52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734504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8450" y="152400"/>
            <a:ext cx="2114550" cy="6248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191250" cy="6248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2614BD8-FD19-E3F8-5CFA-69FC8425FB8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C30237-54DC-A34C-8CDD-B7FCCA18B34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0302469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4582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152525"/>
            <a:ext cx="8229600" cy="5248275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32EDF57-909C-17CA-695B-60059AD7113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1F4F5B-CBF6-6741-8EFF-3654FBCE2B0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5670267"/>
      </p:ext>
    </p:extLst>
  </p:cSld>
  <p:clrMapOvr>
    <a:masterClrMapping/>
  </p:clrMapOvr>
  <p:transition/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5">
            <a:extLst>
              <a:ext uri="{FF2B5EF4-FFF2-40B4-BE49-F238E27FC236}">
                <a16:creationId xmlns:a16="http://schemas.microsoft.com/office/drawing/2014/main" id="{F103A6DE-2928-1087-F7D2-16655599511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0" y="0"/>
            <a:ext cx="9144000" cy="836613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A9519F8-8E50-C033-0480-8E2ED56922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52513"/>
            <a:ext cx="8229600" cy="534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5BCA7C3-E499-76B0-93FB-DCD48950641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505200" y="6461125"/>
            <a:ext cx="2133600" cy="3206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fld id="{50061414-AE47-4C41-B7C5-BC74D7ABA24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29" name="Rectangle 2">
            <a:extLst>
              <a:ext uri="{FF2B5EF4-FFF2-40B4-BE49-F238E27FC236}">
                <a16:creationId xmlns:a16="http://schemas.microsoft.com/office/drawing/2014/main" id="{8628D915-BEA6-5CBC-B629-9445570EA5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white">
          <a:xfrm>
            <a:off x="304800" y="152400"/>
            <a:ext cx="84582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2" name="Text Box 16">
            <a:extLst>
              <a:ext uri="{FF2B5EF4-FFF2-40B4-BE49-F238E27FC236}">
                <a16:creationId xmlns:a16="http://schemas.microsoft.com/office/drawing/2014/main" id="{5D2C82A5-99F1-7599-3246-2ECF7FEBC092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0" y="838200"/>
            <a:ext cx="9144000" cy="144463"/>
          </a:xfrm>
          <a:prstGeom prst="rect">
            <a:avLst/>
          </a:prstGeom>
          <a:solidFill>
            <a:srgbClr val="A9C6CC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zh-CN" sz="1000" b="1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E68BB92-4FC0-3FE5-A153-0199A56C959B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7380288" y="6453188"/>
            <a:ext cx="1579562" cy="36036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808080">
                <a:alpha val="39998"/>
              </a:srgbClr>
            </a:outerShdw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0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9pPr>
    </p:titleStyle>
    <p:bodyStyle>
      <a:lvl1pPr marL="363538" indent="-363538" algn="l" rtl="0" eaLnBrk="0" fontAlgn="base" hangingPunct="0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l"/>
        <a:defRPr sz="3200">
          <a:solidFill>
            <a:srgbClr val="00607A"/>
          </a:solidFill>
          <a:latin typeface="+mn-lt"/>
          <a:ea typeface="+mn-ea"/>
          <a:cs typeface="+mn-cs"/>
        </a:defRPr>
      </a:lvl1pPr>
      <a:lvl2pPr marL="715963" indent="-352425" algn="l" rtl="0" eaLnBrk="0" fontAlgn="base" hangingPunct="0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n"/>
        <a:defRPr sz="2800">
          <a:solidFill>
            <a:srgbClr val="00607A"/>
          </a:solidFill>
          <a:latin typeface="+mn-lt"/>
        </a:defRPr>
      </a:lvl2pPr>
      <a:lvl3pPr marL="1079500" indent="-363538" algn="l" rtl="0" eaLnBrk="0" fontAlgn="base" hangingPunct="0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u"/>
        <a:defRPr sz="2400">
          <a:solidFill>
            <a:srgbClr val="00607A"/>
          </a:solidFill>
          <a:latin typeface="+mn-lt"/>
        </a:defRPr>
      </a:lvl3pPr>
      <a:lvl4pPr marL="1431925" indent="-352425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00607A"/>
          </a:solidFill>
          <a:latin typeface="+mn-lt"/>
        </a:defRPr>
      </a:lvl4pPr>
      <a:lvl5pPr marL="1795463" indent="-363538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ü"/>
        <a:defRPr sz="2000">
          <a:solidFill>
            <a:srgbClr val="00607A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副标题 2">
            <a:extLst>
              <a:ext uri="{FF2B5EF4-FFF2-40B4-BE49-F238E27FC236}">
                <a16:creationId xmlns:a16="http://schemas.microsoft.com/office/drawing/2014/main" id="{827FBD0B-F00B-B9FC-EC11-81ED6BDF163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403350" y="5589588"/>
            <a:ext cx="6553200" cy="1268412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ea typeface="宋体" panose="02010600030101010101" pitchFamily="2" charset="-122"/>
              </a:rPr>
              <a:t>荣国平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ea typeface="宋体" panose="02010600030101010101" pitchFamily="2" charset="-122"/>
              </a:rPr>
              <a:t>南京大学软件学院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dirty="0">
                <a:ea typeface="宋体" panose="02010600030101010101" pitchFamily="2" charset="-122"/>
              </a:rPr>
              <a:t>2024</a:t>
            </a:r>
            <a:r>
              <a:rPr lang="zh-CN" altLang="en-US">
                <a:ea typeface="宋体" panose="02010600030101010101" pitchFamily="2" charset="-122"/>
              </a:rPr>
              <a:t>年 春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5362" name="标题 1">
            <a:extLst>
              <a:ext uri="{FF2B5EF4-FFF2-40B4-BE49-F238E27FC236}">
                <a16:creationId xmlns:a16="http://schemas.microsoft.com/office/drawing/2014/main" id="{397F0FC0-5478-9A9F-3ABB-4AB65EA21184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0" y="4076700"/>
            <a:ext cx="9144000" cy="1223963"/>
          </a:xfrm>
          <a:gradFill rotWithShape="0"/>
        </p:spPr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软件质量与管理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zh-CN" altLang="en-US">
                <a:ea typeface="宋体" panose="02010600030101010101" pitchFamily="2" charset="-122"/>
              </a:rPr>
              <a:t>课程介绍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>
            <a:extLst>
              <a:ext uri="{FF2B5EF4-FFF2-40B4-BE49-F238E27FC236}">
                <a16:creationId xmlns:a16="http://schemas.microsoft.com/office/drawing/2014/main" id="{C27A8138-E898-1CA6-D459-92A0FB2395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ea typeface="宋体" panose="02010600030101010101" pitchFamily="2" charset="-122"/>
              </a:rPr>
              <a:t>课程动机</a:t>
            </a:r>
            <a:r>
              <a:rPr kumimoji="1" lang="en-US" altLang="zh-CN">
                <a:ea typeface="宋体" panose="02010600030101010101" pitchFamily="2" charset="-122"/>
              </a:rPr>
              <a:t>——</a:t>
            </a:r>
            <a:r>
              <a:rPr kumimoji="1" lang="zh-CN" altLang="en-US">
                <a:ea typeface="宋体" panose="02010600030101010101" pitchFamily="2" charset="-122"/>
              </a:rPr>
              <a:t>为什么要有这门课程？</a:t>
            </a:r>
          </a:p>
        </p:txBody>
      </p:sp>
      <p:sp>
        <p:nvSpPr>
          <p:cNvPr id="17410" name="内容占位符 2">
            <a:extLst>
              <a:ext uri="{FF2B5EF4-FFF2-40B4-BE49-F238E27FC236}">
                <a16:creationId xmlns:a16="http://schemas.microsoft.com/office/drawing/2014/main" id="{06DC79D1-7A2E-5888-4DD3-A582D04548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400">
                <a:ea typeface="宋体" panose="02010600030101010101" pitchFamily="2" charset="-122"/>
              </a:rPr>
              <a:t>核心课程</a:t>
            </a:r>
            <a:r>
              <a:rPr kumimoji="1" lang="en-US" altLang="zh-CN" sz="2400">
                <a:ea typeface="宋体" panose="02010600030101010101" pitchFamily="2" charset="-122"/>
              </a:rPr>
              <a:t>——</a:t>
            </a:r>
            <a:r>
              <a:rPr kumimoji="1"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唯一</a:t>
            </a:r>
            <a:r>
              <a:rPr kumimoji="1" lang="zh-CN" altLang="en-US" sz="2400">
                <a:ea typeface="宋体" panose="02010600030101010101" pitchFamily="2" charset="-122"/>
              </a:rPr>
              <a:t>一门系统讲解软件开发管理的课程</a:t>
            </a:r>
            <a:endParaRPr kumimoji="1" lang="en-US" altLang="zh-CN" sz="2400">
              <a:ea typeface="宋体" panose="02010600030101010101" pitchFamily="2" charset="-122"/>
            </a:endParaRPr>
          </a:p>
          <a:p>
            <a:r>
              <a:rPr kumimoji="1" lang="zh-CN" altLang="en-US" sz="2400">
                <a:ea typeface="宋体" panose="02010600030101010101" pitchFamily="2" charset="-122"/>
              </a:rPr>
              <a:t> 对于当前本应掌握的知识，需要一些概念的厘清与脉络的梳理</a:t>
            </a:r>
            <a:endParaRPr kumimoji="1" lang="en-US" altLang="zh-CN" sz="2400">
              <a:ea typeface="宋体" panose="02010600030101010101" pitchFamily="2" charset="-122"/>
            </a:endParaRPr>
          </a:p>
          <a:p>
            <a:pPr lvl="1"/>
            <a:r>
              <a:rPr kumimoji="1" lang="zh-CN" altLang="en-US" sz="2000">
                <a:latin typeface="Arial" panose="020B0604020202020204" pitchFamily="34" charset="0"/>
                <a:ea typeface="宋体" panose="02010600030101010101" pitchFamily="2" charset="-122"/>
              </a:rPr>
              <a:t>软件项目管理</a:t>
            </a:r>
          </a:p>
          <a:p>
            <a:pPr lvl="1"/>
            <a:r>
              <a:rPr kumimoji="1" lang="zh-CN" altLang="en-US" sz="2000">
                <a:latin typeface="Arial" panose="020B0604020202020204" pitchFamily="34" charset="0"/>
                <a:ea typeface="宋体" panose="02010600030101010101" pitchFamily="2" charset="-122"/>
              </a:rPr>
              <a:t>软件生命周期</a:t>
            </a:r>
          </a:p>
          <a:p>
            <a:pPr lvl="1"/>
            <a:r>
              <a:rPr kumimoji="1" lang="zh-CN" altLang="en-US" sz="2000">
                <a:latin typeface="Arial" panose="020B0604020202020204" pitchFamily="34" charset="0"/>
                <a:ea typeface="宋体" panose="02010600030101010101" pitchFamily="2" charset="-122"/>
              </a:rPr>
              <a:t>软件过程</a:t>
            </a:r>
          </a:p>
          <a:p>
            <a:pPr lvl="1"/>
            <a:r>
              <a:rPr kumimoji="1" lang="zh-CN" altLang="en-US" sz="2000">
                <a:latin typeface="Arial" panose="020B0604020202020204" pitchFamily="34" charset="0"/>
                <a:ea typeface="宋体" panose="02010600030101010101" pitchFamily="2" charset="-122"/>
              </a:rPr>
              <a:t>软件过程管理</a:t>
            </a:r>
          </a:p>
          <a:p>
            <a:pPr lvl="1"/>
            <a:r>
              <a:rPr kumimoji="1" lang="zh-CN" altLang="en-US" sz="2000">
                <a:latin typeface="Arial" panose="020B0604020202020204" pitchFamily="34" charset="0"/>
                <a:ea typeface="宋体" panose="02010600030101010101" pitchFamily="2" charset="-122"/>
              </a:rPr>
              <a:t>敏捷软件开发</a:t>
            </a:r>
          </a:p>
          <a:p>
            <a:pPr lvl="1"/>
            <a:r>
              <a:rPr kumimoji="1"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CMM/CMMI</a:t>
            </a:r>
          </a:p>
          <a:p>
            <a:pPr lvl="1"/>
            <a:r>
              <a:rPr kumimoji="1" lang="zh-CN" altLang="en-US" sz="2000">
                <a:latin typeface="Arial" panose="020B0604020202020204" pitchFamily="34" charset="0"/>
                <a:ea typeface="宋体" panose="02010600030101010101" pitchFamily="2" charset="-122"/>
              </a:rPr>
              <a:t>瀑布模型</a:t>
            </a:r>
          </a:p>
          <a:p>
            <a:pPr lvl="1"/>
            <a:r>
              <a:rPr kumimoji="1"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……</a:t>
            </a:r>
          </a:p>
          <a:p>
            <a:r>
              <a:rPr kumimoji="1" lang="zh-CN" altLang="en-US" sz="2400">
                <a:ea typeface="宋体" panose="02010600030101010101" pitchFamily="2" charset="-122"/>
              </a:rPr>
              <a:t>对于将来的职业生涯和发展，需要有一些必要的准备</a:t>
            </a:r>
            <a:endParaRPr kumimoji="1" lang="en-US" altLang="zh-CN" sz="2400">
              <a:ea typeface="宋体" panose="02010600030101010101" pitchFamily="2" charset="-122"/>
            </a:endParaRPr>
          </a:p>
          <a:p>
            <a:pPr lvl="1"/>
            <a:r>
              <a:rPr kumimoji="1"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DevOps</a:t>
            </a:r>
          </a:p>
          <a:p>
            <a:pPr lvl="1"/>
            <a:r>
              <a:rPr kumimoji="1"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SRE</a:t>
            </a:r>
          </a:p>
          <a:p>
            <a:pPr lvl="1"/>
            <a:r>
              <a:rPr kumimoji="1"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……</a:t>
            </a:r>
          </a:p>
          <a:p>
            <a:pPr>
              <a:buFont typeface="Wingdings" pitchFamily="2" charset="2"/>
              <a:buNone/>
            </a:pPr>
            <a:endParaRPr kumimoji="1" lang="en-US" altLang="zh-CN" sz="2400">
              <a:ea typeface="宋体" panose="02010600030101010101" pitchFamily="2" charset="-122"/>
            </a:endParaRPr>
          </a:p>
        </p:txBody>
      </p:sp>
      <p:sp>
        <p:nvSpPr>
          <p:cNvPr id="17411" name="灯片编号占位符 3">
            <a:extLst>
              <a:ext uri="{FF2B5EF4-FFF2-40B4-BE49-F238E27FC236}">
                <a16:creationId xmlns:a16="http://schemas.microsoft.com/office/drawing/2014/main" id="{2C4F70DD-D153-FD0D-5473-C66CDBEEA9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445EC88-6B4D-1A40-A158-DB17BABC5DD3}" type="slidenum">
              <a:rPr lang="en-US" altLang="zh-CN" smtClean="0">
                <a:latin typeface="Verdana" panose="020B0604030504040204" pitchFamily="34" charset="0"/>
              </a:rPr>
              <a:pPr/>
              <a:t>2</a:t>
            </a:fld>
            <a:endParaRPr lang="en-US" altLang="zh-CN">
              <a:latin typeface="Verdana" panose="020B0604030504040204" pitchFamily="34" charset="0"/>
            </a:endParaRPr>
          </a:p>
        </p:txBody>
      </p:sp>
      <p:pic>
        <p:nvPicPr>
          <p:cNvPr id="17412" name="图片 2">
            <a:extLst>
              <a:ext uri="{FF2B5EF4-FFF2-40B4-BE49-F238E27FC236}">
                <a16:creationId xmlns:a16="http://schemas.microsoft.com/office/drawing/2014/main" id="{58A13BB2-70E8-0E06-9A70-8542BB27FB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2355850"/>
            <a:ext cx="3505200" cy="214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3" name="图形 4" descr="计算机">
            <a:extLst>
              <a:ext uri="{FF2B5EF4-FFF2-40B4-BE49-F238E27FC236}">
                <a16:creationId xmlns:a16="http://schemas.microsoft.com/office/drawing/2014/main" id="{A37FA2FD-C955-7BCE-8A5B-BE1C3DBDA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8" y="1447800"/>
            <a:ext cx="1309687" cy="1309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4" name="图形 6" descr="用户">
            <a:extLst>
              <a:ext uri="{FF2B5EF4-FFF2-40B4-BE49-F238E27FC236}">
                <a16:creationId xmlns:a16="http://schemas.microsoft.com/office/drawing/2014/main" id="{D12E5459-4BEF-6BAC-B58A-B4E1671A94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5033963"/>
            <a:ext cx="1062038" cy="106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椭圆 7">
            <a:extLst>
              <a:ext uri="{FF2B5EF4-FFF2-40B4-BE49-F238E27FC236}">
                <a16:creationId xmlns:a16="http://schemas.microsoft.com/office/drawing/2014/main" id="{84762324-0CA1-2BB1-C26A-EAF544E3CCD7}"/>
              </a:ext>
            </a:extLst>
          </p:cNvPr>
          <p:cNvSpPr/>
          <p:nvPr/>
        </p:nvSpPr>
        <p:spPr>
          <a:xfrm>
            <a:off x="1482725" y="2238375"/>
            <a:ext cx="2928938" cy="109696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kumimoji="1" lang="zh-CN" altLang="en-US" sz="2100" b="1">
                <a:solidFill>
                  <a:srgbClr val="007373"/>
                </a:solidFill>
              </a:rPr>
              <a:t>计算机科学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588A1928-227C-FC18-F40B-22A6EFF2BA0B}"/>
              </a:ext>
            </a:extLst>
          </p:cNvPr>
          <p:cNvSpPr/>
          <p:nvPr/>
        </p:nvSpPr>
        <p:spPr>
          <a:xfrm>
            <a:off x="3324225" y="2792413"/>
            <a:ext cx="1816100" cy="93662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kumimoji="1" lang="zh-CN" altLang="en-US" sz="1500" b="1">
                <a:solidFill>
                  <a:srgbClr val="FFFFFF"/>
                </a:solidFill>
              </a:rPr>
              <a:t>人工智能</a:t>
            </a:r>
            <a:endParaRPr kumimoji="1" lang="en-US" altLang="zh-CN" sz="1500" b="1">
              <a:solidFill>
                <a:srgbClr val="FFFFFF"/>
              </a:solidFill>
            </a:endParaRPr>
          </a:p>
          <a:p>
            <a:pPr algn="ctr">
              <a:defRPr/>
            </a:pPr>
            <a:r>
              <a:rPr kumimoji="1" lang="zh-CN" altLang="en-US" sz="1500" b="1">
                <a:solidFill>
                  <a:srgbClr val="FFFFFF"/>
                </a:solidFill>
              </a:rPr>
              <a:t>区块链</a:t>
            </a:r>
            <a:endParaRPr kumimoji="1" lang="en-US" altLang="zh-CN" sz="1500" b="1">
              <a:solidFill>
                <a:srgbClr val="FFFFFF"/>
              </a:solidFill>
            </a:endParaRPr>
          </a:p>
          <a:p>
            <a:pPr algn="ctr">
              <a:defRPr/>
            </a:pPr>
            <a:r>
              <a:rPr kumimoji="1" lang="zh-CN" altLang="en-US" sz="1500" b="1">
                <a:solidFill>
                  <a:srgbClr val="FFFFFF"/>
                </a:solidFill>
              </a:rPr>
              <a:t>大数据</a:t>
            </a:r>
            <a:endParaRPr kumimoji="1" lang="en-US" altLang="zh-CN" sz="1500" b="1">
              <a:solidFill>
                <a:srgbClr val="FFFFFF"/>
              </a:solidFill>
            </a:endParaRPr>
          </a:p>
          <a:p>
            <a:pPr algn="ctr">
              <a:defRPr/>
            </a:pPr>
            <a:r>
              <a:rPr kumimoji="1" lang="en-US" altLang="zh-CN" sz="1500" b="1">
                <a:solidFill>
                  <a:srgbClr val="FFFFFF"/>
                </a:solidFill>
              </a:rPr>
              <a:t>……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01004AB-9B67-BAC2-C0DE-5CEA6CD4C113}"/>
              </a:ext>
            </a:extLst>
          </p:cNvPr>
          <p:cNvSpPr/>
          <p:nvPr/>
        </p:nvSpPr>
        <p:spPr>
          <a:xfrm>
            <a:off x="1301750" y="4105275"/>
            <a:ext cx="3703638" cy="6731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kumimoji="1" lang="zh-CN" altLang="en-US" sz="2400" b="1">
                <a:solidFill>
                  <a:schemeClr val="bg1"/>
                </a:solidFill>
              </a:rPr>
              <a:t>软件工程</a:t>
            </a: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461D6EE9-BFD0-154E-3640-E4A6AA790921}"/>
              </a:ext>
            </a:extLst>
          </p:cNvPr>
          <p:cNvCxnSpPr>
            <a:cxnSpLocks/>
          </p:cNvCxnSpPr>
          <p:nvPr/>
        </p:nvCxnSpPr>
        <p:spPr>
          <a:xfrm>
            <a:off x="93663" y="3789363"/>
            <a:ext cx="8932862" cy="0"/>
          </a:xfrm>
          <a:prstGeom prst="line">
            <a:avLst/>
          </a:prstGeom>
          <a:ln w="5715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57D7011D-47E4-149D-43A0-4C8CA4FE6368}"/>
              </a:ext>
            </a:extLst>
          </p:cNvPr>
          <p:cNvSpPr/>
          <p:nvPr/>
        </p:nvSpPr>
        <p:spPr>
          <a:xfrm>
            <a:off x="5172075" y="3895725"/>
            <a:ext cx="4043363" cy="2943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100">
                <a:solidFill>
                  <a:srgbClr val="4D75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解决面向</a:t>
            </a:r>
            <a:r>
              <a:rPr kumimoji="1" lang="zh-CN" altLang="en-US" sz="210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“人”</a:t>
            </a:r>
            <a:r>
              <a:rPr kumimoji="1" lang="zh-CN" altLang="en-US" sz="2100">
                <a:solidFill>
                  <a:srgbClr val="4D75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 问题</a:t>
            </a:r>
            <a:endParaRPr kumimoji="1" lang="en-US" altLang="zh-CN" sz="2100">
              <a:solidFill>
                <a:srgbClr val="4D75E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defRPr/>
            </a:pPr>
            <a:r>
              <a:rPr kumimoji="1" lang="en-US" altLang="zh-CN" sz="1400">
                <a:solidFill>
                  <a:srgbClr val="4D75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zh-CN" altLang="en-US" sz="1400">
                <a:solidFill>
                  <a:srgbClr val="4D75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软件系统功能是否都对？</a:t>
            </a:r>
            <a:endParaRPr kumimoji="1" lang="en-US" altLang="zh-CN" sz="1400">
              <a:solidFill>
                <a:srgbClr val="4D75E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defRPr/>
            </a:pPr>
            <a:r>
              <a:rPr kumimoji="1" lang="en-US" altLang="zh-CN" sz="1400">
                <a:solidFill>
                  <a:srgbClr val="4D75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zh-CN" altLang="en-US" sz="1400">
                <a:solidFill>
                  <a:srgbClr val="4D75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软件系统功能是否方便好用？</a:t>
            </a:r>
            <a:endParaRPr kumimoji="1" lang="en-US" altLang="zh-CN" sz="1400">
              <a:solidFill>
                <a:srgbClr val="4D75E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defRPr/>
            </a:pPr>
            <a:r>
              <a:rPr kumimoji="1" lang="en-US" altLang="zh-CN" sz="1400">
                <a:solidFill>
                  <a:srgbClr val="4D75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zh-CN" altLang="en-US" sz="1400">
                <a:solidFill>
                  <a:srgbClr val="4D75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软件系统能否帮我解决业务痛点？</a:t>
            </a:r>
            <a:endParaRPr kumimoji="1" lang="en-US" altLang="zh-CN" sz="1400">
              <a:solidFill>
                <a:srgbClr val="4D75E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defRPr/>
            </a:pPr>
            <a:r>
              <a:rPr kumimoji="1" lang="en-US" altLang="zh-CN" sz="1400">
                <a:solidFill>
                  <a:srgbClr val="4D75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zh-CN" altLang="en-US" sz="1400">
                <a:solidFill>
                  <a:srgbClr val="4D75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软件系统能否有良好的扩展性？</a:t>
            </a:r>
            <a:endParaRPr kumimoji="1" lang="en-US" altLang="zh-CN" sz="1400">
              <a:solidFill>
                <a:srgbClr val="4D75E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defRPr/>
            </a:pPr>
            <a:r>
              <a:rPr kumimoji="1" lang="en-US" altLang="zh-CN" sz="1400">
                <a:solidFill>
                  <a:srgbClr val="4D75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zh-CN" altLang="en-US" sz="1400">
                <a:solidFill>
                  <a:srgbClr val="4D75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软件系统稳定吗？可以</a:t>
            </a:r>
            <a:r>
              <a:rPr kumimoji="1" lang="en-US" altLang="zh-CN" sz="1400">
                <a:solidFill>
                  <a:srgbClr val="4D75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r>
              <a:rPr kumimoji="1" lang="zh-CN" altLang="en-US" sz="1400">
                <a:solidFill>
                  <a:srgbClr val="4D75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*</a:t>
            </a:r>
            <a:r>
              <a:rPr kumimoji="1" lang="en-US" altLang="zh-CN" sz="1400">
                <a:solidFill>
                  <a:srgbClr val="4D75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24</a:t>
            </a:r>
            <a:r>
              <a:rPr kumimoji="1" lang="zh-CN" altLang="en-US" sz="1400">
                <a:solidFill>
                  <a:srgbClr val="4D75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小时不中断服务？</a:t>
            </a:r>
            <a:endParaRPr kumimoji="1" lang="en-US" altLang="zh-CN" sz="1400">
              <a:solidFill>
                <a:srgbClr val="4D75E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defRPr/>
            </a:pPr>
            <a:r>
              <a:rPr kumimoji="1" lang="en-US" altLang="zh-CN" sz="1400">
                <a:solidFill>
                  <a:srgbClr val="4D75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zh-CN" altLang="en-US" sz="1400">
                <a:solidFill>
                  <a:srgbClr val="4D75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软件系统可以按时完成上线？质量可控？成本可控？</a:t>
            </a:r>
            <a:endParaRPr kumimoji="1" lang="en-US" altLang="zh-CN" sz="1400">
              <a:solidFill>
                <a:srgbClr val="4D75E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defRPr/>
            </a:pPr>
            <a:r>
              <a:rPr kumimoji="1" lang="zh-CN" altLang="en-US" sz="1400">
                <a:solidFill>
                  <a:srgbClr val="4D75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</a:t>
            </a:r>
            <a:r>
              <a:rPr kumimoji="1" lang="en-US" altLang="zh-CN" sz="1400">
                <a:solidFill>
                  <a:srgbClr val="4D75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……</a:t>
            </a:r>
          </a:p>
          <a:p>
            <a:pPr>
              <a:defRPr/>
            </a:pPr>
            <a:endParaRPr kumimoji="1" lang="zh-CN" altLang="en-US" sz="1200">
              <a:solidFill>
                <a:srgbClr val="4D75E5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A5D53A5-309A-FC63-F706-D5A7C68BEB76}"/>
              </a:ext>
            </a:extLst>
          </p:cNvPr>
          <p:cNvSpPr/>
          <p:nvPr/>
        </p:nvSpPr>
        <p:spPr>
          <a:xfrm>
            <a:off x="5384800" y="1133475"/>
            <a:ext cx="3641725" cy="2339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100">
                <a:solidFill>
                  <a:srgbClr val="4D75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解决面向</a:t>
            </a:r>
            <a:r>
              <a:rPr kumimoji="1" lang="zh-CN" altLang="en-US" sz="210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“机器”</a:t>
            </a:r>
            <a:r>
              <a:rPr kumimoji="1" lang="zh-CN" altLang="en-US" sz="2100">
                <a:solidFill>
                  <a:srgbClr val="4D75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 问题</a:t>
            </a:r>
            <a:endParaRPr kumimoji="1" lang="en-US" altLang="zh-CN" sz="2100">
              <a:solidFill>
                <a:srgbClr val="4D75E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defRPr/>
            </a:pPr>
            <a:r>
              <a:rPr kumimoji="1" lang="en-US" altLang="zh-CN" sz="1400">
                <a:solidFill>
                  <a:srgbClr val="4D75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zh-CN" altLang="en-US" sz="1400">
                <a:solidFill>
                  <a:srgbClr val="4D75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电脑能不能更加聪明？</a:t>
            </a:r>
            <a:br>
              <a:rPr kumimoji="1" lang="en-US" altLang="zh-CN" sz="1400">
                <a:solidFill>
                  <a:srgbClr val="4D75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kumimoji="1" lang="en-US" altLang="zh-CN" sz="1400">
                <a:solidFill>
                  <a:srgbClr val="4D75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zh-CN" altLang="en-US" sz="1400">
                <a:solidFill>
                  <a:srgbClr val="4D75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电脑能不能算得更快？</a:t>
            </a:r>
            <a:br>
              <a:rPr kumimoji="1" lang="en-US" altLang="zh-CN" sz="1400">
                <a:solidFill>
                  <a:srgbClr val="4D75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kumimoji="1" lang="en-US" altLang="zh-CN" sz="1400">
                <a:solidFill>
                  <a:srgbClr val="4D75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zh-CN" altLang="en-US" sz="1400">
                <a:solidFill>
                  <a:srgbClr val="4D75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电脑上的数据会不会丢失？安全吗？</a:t>
            </a:r>
            <a:endParaRPr kumimoji="1" lang="en-US" altLang="zh-CN" sz="1400">
              <a:solidFill>
                <a:srgbClr val="4D75E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defRPr/>
            </a:pPr>
            <a:r>
              <a:rPr kumimoji="1" lang="en-US" altLang="zh-CN" sz="1400">
                <a:solidFill>
                  <a:srgbClr val="4D75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zh-CN" altLang="en-US" sz="1400">
                <a:solidFill>
                  <a:srgbClr val="4D75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隐私保护方法会不会被破解？</a:t>
            </a:r>
            <a:endParaRPr kumimoji="1" lang="en-US" altLang="zh-CN" sz="1400">
              <a:solidFill>
                <a:srgbClr val="4D75E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defRPr/>
            </a:pPr>
            <a:r>
              <a:rPr kumimoji="1" lang="en-US" altLang="zh-CN" sz="1400">
                <a:solidFill>
                  <a:srgbClr val="4D75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……</a:t>
            </a:r>
          </a:p>
          <a:p>
            <a:pPr>
              <a:defRPr/>
            </a:pPr>
            <a:endParaRPr kumimoji="1" lang="en-US" altLang="zh-CN" sz="1200">
              <a:solidFill>
                <a:srgbClr val="4D75E5"/>
              </a:solidFill>
            </a:endParaRPr>
          </a:p>
          <a:p>
            <a:pPr>
              <a:defRPr/>
            </a:pPr>
            <a:endParaRPr kumimoji="1" lang="zh-CN" altLang="en-US" sz="2100">
              <a:solidFill>
                <a:srgbClr val="4D75E5"/>
              </a:solidFill>
            </a:endParaRPr>
          </a:p>
        </p:txBody>
      </p:sp>
      <p:sp>
        <p:nvSpPr>
          <p:cNvPr id="17" name="云形 16">
            <a:extLst>
              <a:ext uri="{FF2B5EF4-FFF2-40B4-BE49-F238E27FC236}">
                <a16:creationId xmlns:a16="http://schemas.microsoft.com/office/drawing/2014/main" id="{912FAA26-D132-0222-EC7C-C899DD51EE5E}"/>
              </a:ext>
            </a:extLst>
          </p:cNvPr>
          <p:cNvSpPr/>
          <p:nvPr/>
        </p:nvSpPr>
        <p:spPr>
          <a:xfrm>
            <a:off x="1244600" y="4999038"/>
            <a:ext cx="3657600" cy="1114425"/>
          </a:xfrm>
          <a:prstGeom prst="cloud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kumimoji="1" lang="zh-CN" altLang="en-US" sz="2100">
                <a:solidFill>
                  <a:srgbClr val="FF0000"/>
                </a:solidFill>
              </a:rPr>
              <a:t>对电脑的使用一般都需要通过软件</a:t>
            </a:r>
            <a:endParaRPr kumimoji="1" lang="en-US" altLang="zh-CN" sz="2100">
              <a:solidFill>
                <a:srgbClr val="FF0000"/>
              </a:solidFill>
            </a:endParaRPr>
          </a:p>
        </p:txBody>
      </p:sp>
      <p:sp>
        <p:nvSpPr>
          <p:cNvPr id="19" name="云形 18">
            <a:extLst>
              <a:ext uri="{FF2B5EF4-FFF2-40B4-BE49-F238E27FC236}">
                <a16:creationId xmlns:a16="http://schemas.microsoft.com/office/drawing/2014/main" id="{01947133-81D6-E712-6B08-4143A7F341E0}"/>
              </a:ext>
            </a:extLst>
          </p:cNvPr>
          <p:cNvSpPr/>
          <p:nvPr/>
        </p:nvSpPr>
        <p:spPr>
          <a:xfrm>
            <a:off x="1519238" y="1357313"/>
            <a:ext cx="3549650" cy="852487"/>
          </a:xfrm>
          <a:prstGeom prst="cloud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kumimoji="1" lang="zh-CN" altLang="en-US" sz="2100">
                <a:solidFill>
                  <a:srgbClr val="FF0000"/>
                </a:solidFill>
              </a:rPr>
              <a:t>如同解题，很有趣、有成就感</a:t>
            </a:r>
            <a:r>
              <a:rPr kumimoji="1" lang="en-US" altLang="zh-CN" sz="2100">
                <a:solidFill>
                  <a:srgbClr val="FF0000"/>
                </a:solidFill>
              </a:rPr>
              <a:t>……</a:t>
            </a:r>
          </a:p>
        </p:txBody>
      </p:sp>
      <p:sp>
        <p:nvSpPr>
          <p:cNvPr id="3" name="上箭头 2">
            <a:extLst>
              <a:ext uri="{FF2B5EF4-FFF2-40B4-BE49-F238E27FC236}">
                <a16:creationId xmlns:a16="http://schemas.microsoft.com/office/drawing/2014/main" id="{5EDEFD84-0FB9-A9ED-05E4-859E44C270BD}"/>
              </a:ext>
            </a:extLst>
          </p:cNvPr>
          <p:cNvSpPr/>
          <p:nvPr/>
        </p:nvSpPr>
        <p:spPr>
          <a:xfrm>
            <a:off x="304800" y="2725738"/>
            <a:ext cx="728663" cy="2273300"/>
          </a:xfrm>
          <a:prstGeom prst="upArrow">
            <a:avLst/>
          </a:prstGeom>
          <a:solidFill>
            <a:schemeClr val="accent6">
              <a:lumMod val="75000"/>
              <a:alpha val="7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kumimoji="1" lang="zh-CN" altLang="en-US" sz="2100">
                <a:solidFill>
                  <a:srgbClr val="FFFFFF"/>
                </a:solidFill>
              </a:rPr>
              <a:t>人使用电脑</a:t>
            </a:r>
          </a:p>
        </p:txBody>
      </p:sp>
      <p:sp>
        <p:nvSpPr>
          <p:cNvPr id="18444" name="标题 1">
            <a:extLst>
              <a:ext uri="{FF2B5EF4-FFF2-40B4-BE49-F238E27FC236}">
                <a16:creationId xmlns:a16="http://schemas.microsoft.com/office/drawing/2014/main" id="{46B80162-2EBE-AB75-A96B-7782590B40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115888"/>
            <a:ext cx="8458200" cy="563562"/>
          </a:xfrm>
        </p:spPr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软件工程究竟是什么？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>
            <a:extLst>
              <a:ext uri="{FF2B5EF4-FFF2-40B4-BE49-F238E27FC236}">
                <a16:creationId xmlns:a16="http://schemas.microsoft.com/office/drawing/2014/main" id="{75409D6D-A52A-7879-BDA3-876F79EAC6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115888"/>
            <a:ext cx="8458200" cy="563562"/>
          </a:xfrm>
        </p:spPr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什么是软件开发？</a:t>
            </a:r>
          </a:p>
        </p:txBody>
      </p:sp>
      <p:pic>
        <p:nvPicPr>
          <p:cNvPr id="20482" name="内容占位符 3">
            <a:extLst>
              <a:ext uri="{FF2B5EF4-FFF2-40B4-BE49-F238E27FC236}">
                <a16:creationId xmlns:a16="http://schemas.microsoft.com/office/drawing/2014/main" id="{2161185C-8654-55D0-4AD3-5D7B12B4619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95800" y="990600"/>
            <a:ext cx="4648200" cy="4648200"/>
          </a:xfrm>
        </p:spPr>
      </p:pic>
      <p:sp>
        <p:nvSpPr>
          <p:cNvPr id="20483" name="TextBox 4">
            <a:extLst>
              <a:ext uri="{FF2B5EF4-FFF2-40B4-BE49-F238E27FC236}">
                <a16:creationId xmlns:a16="http://schemas.microsoft.com/office/drawing/2014/main" id="{F27FDA13-75DD-28F5-9932-F192FA80B3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109663"/>
            <a:ext cx="5543550" cy="354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3538" indent="-363538"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l"/>
              <a:defRPr sz="3200">
                <a:solidFill>
                  <a:srgbClr val="00607A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n"/>
              <a:defRPr sz="2800">
                <a:solidFill>
                  <a:srgbClr val="00607A"/>
                </a:solidFill>
                <a:latin typeface="Arial" panose="020B0604020202020204" pitchFamily="34" charset="0"/>
              </a:defRPr>
            </a:lvl2pPr>
            <a:lvl3pPr marL="763588" indent="-363538"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u"/>
              <a:defRPr sz="2400">
                <a:solidFill>
                  <a:srgbClr val="00607A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zh-CN" altLang="en-US">
                <a:solidFill>
                  <a:srgbClr val="00708E"/>
                </a:solidFill>
              </a:rPr>
              <a:t>本质上是智力劳动</a:t>
            </a:r>
            <a:endParaRPr kumimoji="1" lang="en-US" altLang="zh-CN">
              <a:solidFill>
                <a:srgbClr val="00708E"/>
              </a:solidFill>
            </a:endParaRPr>
          </a:p>
          <a:p>
            <a:endParaRPr kumimoji="1" lang="en-US" altLang="zh-CN">
              <a:solidFill>
                <a:srgbClr val="00708E"/>
              </a:solidFill>
            </a:endParaRPr>
          </a:p>
          <a:p>
            <a:r>
              <a:rPr kumimoji="1" lang="zh-CN" altLang="en-US">
                <a:solidFill>
                  <a:srgbClr val="00708E"/>
                </a:solidFill>
              </a:rPr>
              <a:t>软件开发的本质困难</a:t>
            </a:r>
            <a:endParaRPr kumimoji="1" lang="en-US" altLang="zh-CN">
              <a:solidFill>
                <a:srgbClr val="00708E"/>
              </a:solidFill>
            </a:endParaRPr>
          </a:p>
          <a:p>
            <a:pPr lvl="2">
              <a:buFont typeface="Wingdings" pitchFamily="2" charset="2"/>
              <a:buChar char="l"/>
            </a:pPr>
            <a:r>
              <a:rPr kumimoji="1" lang="zh-CN" altLang="en-US">
                <a:solidFill>
                  <a:srgbClr val="00708E"/>
                </a:solidFill>
              </a:rPr>
              <a:t>复杂性</a:t>
            </a:r>
            <a:endParaRPr kumimoji="1" lang="en-US" altLang="zh-CN">
              <a:solidFill>
                <a:srgbClr val="00708E"/>
              </a:solidFill>
            </a:endParaRPr>
          </a:p>
          <a:p>
            <a:pPr lvl="2">
              <a:buFont typeface="Wingdings" pitchFamily="2" charset="2"/>
              <a:buChar char="l"/>
            </a:pPr>
            <a:r>
              <a:rPr kumimoji="1" lang="zh-CN" altLang="en-US">
                <a:solidFill>
                  <a:srgbClr val="00708E"/>
                </a:solidFill>
              </a:rPr>
              <a:t>不可见性</a:t>
            </a:r>
            <a:endParaRPr kumimoji="1" lang="en-US" altLang="zh-CN">
              <a:solidFill>
                <a:srgbClr val="00708E"/>
              </a:solidFill>
            </a:endParaRPr>
          </a:p>
          <a:p>
            <a:pPr lvl="2">
              <a:buFont typeface="Wingdings" pitchFamily="2" charset="2"/>
              <a:buChar char="l"/>
            </a:pPr>
            <a:r>
              <a:rPr kumimoji="1" lang="zh-CN" altLang="en-US">
                <a:solidFill>
                  <a:srgbClr val="00708E"/>
                </a:solidFill>
              </a:rPr>
              <a:t>可变性</a:t>
            </a:r>
            <a:endParaRPr kumimoji="1" lang="en-US" altLang="zh-CN">
              <a:solidFill>
                <a:srgbClr val="00708E"/>
              </a:solidFill>
            </a:endParaRPr>
          </a:p>
          <a:p>
            <a:pPr lvl="2">
              <a:buFont typeface="Wingdings" pitchFamily="2" charset="2"/>
              <a:buChar char="l"/>
            </a:pPr>
            <a:r>
              <a:rPr kumimoji="1" lang="zh-CN" altLang="en-US">
                <a:solidFill>
                  <a:srgbClr val="00708E"/>
                </a:solidFill>
              </a:rPr>
              <a:t>一致性</a:t>
            </a:r>
            <a:endParaRPr kumimoji="1" lang="en-US" altLang="zh-CN">
              <a:solidFill>
                <a:srgbClr val="00708E"/>
              </a:solidFill>
            </a:endParaRPr>
          </a:p>
        </p:txBody>
      </p:sp>
      <p:sp>
        <p:nvSpPr>
          <p:cNvPr id="20484" name="TextBox 4">
            <a:extLst>
              <a:ext uri="{FF2B5EF4-FFF2-40B4-BE49-F238E27FC236}">
                <a16:creationId xmlns:a16="http://schemas.microsoft.com/office/drawing/2014/main" id="{60C254D5-4AB2-AAA7-35F0-C3CAC08A8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5791200"/>
            <a:ext cx="55435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l"/>
              <a:defRPr sz="3200">
                <a:solidFill>
                  <a:srgbClr val="00607A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n"/>
              <a:defRPr sz="2800">
                <a:solidFill>
                  <a:srgbClr val="00607A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u"/>
              <a:defRPr sz="2400">
                <a:solidFill>
                  <a:srgbClr val="00607A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9pPr>
          </a:lstStyle>
          <a:p>
            <a:pPr algn="r">
              <a:buFont typeface="Wingdings" pitchFamily="2" charset="2"/>
              <a:buNone/>
            </a:pPr>
            <a:r>
              <a:rPr kumimoji="1" lang="en-US" altLang="zh-CN" sz="2000">
                <a:solidFill>
                  <a:schemeClr val="tx2"/>
                </a:solidFill>
              </a:rPr>
              <a:t>——Brooks</a:t>
            </a:r>
            <a:r>
              <a:rPr kumimoji="1" lang="zh-CN" altLang="en-US" sz="2000">
                <a:solidFill>
                  <a:schemeClr val="tx2"/>
                </a:solidFill>
              </a:rPr>
              <a:t> </a:t>
            </a:r>
            <a:r>
              <a:rPr kumimoji="1" lang="en-US" altLang="zh-CN" sz="2000">
                <a:solidFill>
                  <a:schemeClr val="tx2"/>
                </a:solidFill>
              </a:rPr>
              <a:t>《</a:t>
            </a:r>
            <a:r>
              <a:rPr kumimoji="1" lang="zh-CN" altLang="en-US" sz="2000">
                <a:solidFill>
                  <a:schemeClr val="tx2"/>
                </a:solidFill>
              </a:rPr>
              <a:t>人月神话</a:t>
            </a:r>
            <a:r>
              <a:rPr kumimoji="1" lang="en-US" altLang="zh-CN" sz="2000">
                <a:solidFill>
                  <a:schemeClr val="tx2"/>
                </a:solidFill>
              </a:rPr>
              <a:t>》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标题 1">
            <a:extLst>
              <a:ext uri="{FF2B5EF4-FFF2-40B4-BE49-F238E27FC236}">
                <a16:creationId xmlns:a16="http://schemas.microsoft.com/office/drawing/2014/main" id="{2E480FAE-A588-38E7-D4D5-523067918C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0775" y="46038"/>
            <a:ext cx="6900863" cy="838200"/>
          </a:xfrm>
        </p:spPr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本课程目标</a:t>
            </a:r>
          </a:p>
        </p:txBody>
      </p:sp>
      <p:sp>
        <p:nvSpPr>
          <p:cNvPr id="22530" name="内容占位符 2">
            <a:extLst>
              <a:ext uri="{FF2B5EF4-FFF2-40B4-BE49-F238E27FC236}">
                <a16:creationId xmlns:a16="http://schemas.microsoft.com/office/drawing/2014/main" id="{08D4D6C6-6110-B5DB-FFF8-8B8673A3AF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066800"/>
            <a:ext cx="9144000" cy="5486400"/>
          </a:xfrm>
        </p:spPr>
        <p:txBody>
          <a:bodyPr/>
          <a:lstStyle/>
          <a:p>
            <a:pPr eaLnBrk="1" hangingPunct="1"/>
            <a:r>
              <a:rPr lang="zh-CN" altLang="zh-CN" sz="2400">
                <a:ea typeface="宋体" panose="02010600030101010101" pitchFamily="2" charset="-122"/>
              </a:rPr>
              <a:t>理解</a:t>
            </a:r>
            <a:r>
              <a:rPr lang="zh-CN" altLang="zh-CN" sz="2400">
                <a:solidFill>
                  <a:srgbClr val="FF0000"/>
                </a:solidFill>
                <a:ea typeface="宋体" panose="02010600030101010101" pitchFamily="2" charset="-122"/>
              </a:rPr>
              <a:t>项目管理</a:t>
            </a:r>
            <a:r>
              <a:rPr lang="zh-CN" altLang="zh-CN" sz="2400">
                <a:ea typeface="宋体" panose="02010600030101010101" pitchFamily="2" charset="-122"/>
              </a:rPr>
              <a:t>的基本概念，掌握项目管理的常用方法。例如估算和计划跟踪，配置管理，风险管理等。</a:t>
            </a:r>
          </a:p>
          <a:p>
            <a:pPr eaLnBrk="1" hangingPunct="1"/>
            <a:r>
              <a:rPr lang="zh-CN" altLang="zh-CN" sz="2400">
                <a:ea typeface="宋体" panose="02010600030101010101" pitchFamily="2" charset="-122"/>
              </a:rPr>
              <a:t>掌握</a:t>
            </a:r>
            <a:r>
              <a:rPr lang="zh-CN" altLang="zh-CN" sz="2400">
                <a:solidFill>
                  <a:srgbClr val="FF0000"/>
                </a:solidFill>
                <a:ea typeface="宋体" panose="02010600030101010101" pitchFamily="2" charset="-122"/>
              </a:rPr>
              <a:t>产品质量</a:t>
            </a:r>
            <a:r>
              <a:rPr lang="zh-CN" altLang="zh-CN" sz="2400">
                <a:ea typeface="宋体" panose="02010600030101010101" pitchFamily="2" charset="-122"/>
              </a:rPr>
              <a:t>和</a:t>
            </a:r>
            <a:r>
              <a:rPr lang="zh-CN" altLang="zh-CN" sz="2400">
                <a:solidFill>
                  <a:srgbClr val="FF0000"/>
                </a:solidFill>
                <a:ea typeface="宋体" panose="02010600030101010101" pitchFamily="2" charset="-122"/>
              </a:rPr>
              <a:t>过程质量</a:t>
            </a:r>
            <a:r>
              <a:rPr lang="zh-CN" altLang="zh-CN" sz="2400">
                <a:ea typeface="宋体" panose="02010600030101010101" pitchFamily="2" charset="-122"/>
              </a:rPr>
              <a:t>的基本概念，理解通过过程质量管理来保障最终产品质量或服务质量的手段。</a:t>
            </a:r>
            <a:endParaRPr lang="zh-CN" altLang="en-US" sz="2400">
              <a:ea typeface="宋体" panose="02010600030101010101" pitchFamily="2" charset="-122"/>
            </a:endParaRPr>
          </a:p>
          <a:p>
            <a:pPr eaLnBrk="1" hangingPunct="1"/>
            <a:r>
              <a:rPr lang="zh-CN" altLang="zh-CN" sz="2400">
                <a:ea typeface="宋体" panose="02010600030101010101" pitchFamily="2" charset="-122"/>
              </a:rPr>
              <a:t>掌握</a:t>
            </a:r>
            <a:r>
              <a:rPr lang="zh-CN" altLang="zh-CN" sz="2400">
                <a:solidFill>
                  <a:srgbClr val="FF0000"/>
                </a:solidFill>
                <a:ea typeface="宋体" panose="02010600030101010101" pitchFamily="2" charset="-122"/>
              </a:rPr>
              <a:t>软件过程</a:t>
            </a:r>
            <a:r>
              <a:rPr lang="zh-CN" altLang="zh-CN" sz="2400">
                <a:ea typeface="宋体" panose="02010600030101010101" pitchFamily="2" charset="-122"/>
              </a:rPr>
              <a:t>的基本概念，了解常用软件过程方法。理解进行个人级、小组级和组织级软件过程的评价与改进方法。</a:t>
            </a:r>
          </a:p>
          <a:p>
            <a:pPr eaLnBrk="1" hangingPunct="1"/>
            <a:r>
              <a:rPr lang="zh-CN" altLang="zh-CN" sz="2400">
                <a:ea typeface="宋体" panose="02010600030101010101" pitchFamily="2" charset="-122"/>
              </a:rPr>
              <a:t>面临复杂项目的时候，能够选择适用的软件过程，对其进行合理</a:t>
            </a:r>
            <a:r>
              <a:rPr lang="zh-CN" altLang="en-US" sz="2400">
                <a:ea typeface="宋体" panose="02010600030101010101" pitchFamily="2" charset="-122"/>
              </a:rPr>
              <a:t>组合和</a:t>
            </a:r>
            <a:r>
              <a:rPr lang="zh-CN" altLang="zh-CN" sz="2400">
                <a:ea typeface="宋体" panose="02010600030101010101" pitchFamily="2" charset="-122"/>
              </a:rPr>
              <a:t>裁剪，并在此基础上合理组织和管理项目开发，达到预先设定的质量要求。</a:t>
            </a:r>
          </a:p>
        </p:txBody>
      </p:sp>
      <p:sp>
        <p:nvSpPr>
          <p:cNvPr id="22531" name="灯片编号占位符 3">
            <a:extLst>
              <a:ext uri="{FF2B5EF4-FFF2-40B4-BE49-F238E27FC236}">
                <a16:creationId xmlns:a16="http://schemas.microsoft.com/office/drawing/2014/main" id="{49AA1C79-9315-A087-036B-C8F6A806139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l"/>
              <a:defRPr sz="3200">
                <a:solidFill>
                  <a:srgbClr val="00607A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n"/>
              <a:defRPr sz="2800">
                <a:solidFill>
                  <a:srgbClr val="00607A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u"/>
              <a:defRPr sz="2400">
                <a:solidFill>
                  <a:srgbClr val="00607A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653F04D-4F3D-C047-93F2-62504A129506}" type="slidenum">
              <a:rPr lang="en-US" altLang="zh-CN" sz="1200" smtClean="0">
                <a:solidFill>
                  <a:schemeClr val="tx1"/>
                </a:solidFill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zh-CN" sz="12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标题 1">
            <a:extLst>
              <a:ext uri="{FF2B5EF4-FFF2-40B4-BE49-F238E27FC236}">
                <a16:creationId xmlns:a16="http://schemas.microsoft.com/office/drawing/2014/main" id="{A49766F9-9B79-B258-49D2-46ECE74A62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ea typeface="宋体" panose="02010600030101010101" pitchFamily="2" charset="-122"/>
              </a:rPr>
              <a:t>本课程要回答的十大问题（</a:t>
            </a:r>
            <a:r>
              <a:rPr kumimoji="1" lang="en-US" altLang="zh-CN">
                <a:ea typeface="宋体" panose="02010600030101010101" pitchFamily="2" charset="-122"/>
              </a:rPr>
              <a:t>1</a:t>
            </a:r>
            <a:r>
              <a:rPr kumimoji="1" lang="zh-CN" altLang="en-US"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23554" name="内容占位符 2">
            <a:extLst>
              <a:ext uri="{FF2B5EF4-FFF2-40B4-BE49-F238E27FC236}">
                <a16:creationId xmlns:a16="http://schemas.microsoft.com/office/drawing/2014/main" id="{17B3349C-6F8A-F5F1-97CB-4F4ECD0A40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052513"/>
            <a:ext cx="8763000" cy="4510087"/>
          </a:xfrm>
        </p:spPr>
        <p:txBody>
          <a:bodyPr/>
          <a:lstStyle/>
          <a:p>
            <a:r>
              <a:rPr kumimoji="1" lang="en-US" altLang="zh-CN" dirty="0">
                <a:ea typeface="宋体" panose="02010600030101010101" pitchFamily="2" charset="-122"/>
              </a:rPr>
              <a:t>1. </a:t>
            </a:r>
            <a:r>
              <a:rPr kumimoji="1" lang="zh-CN" altLang="en-US" dirty="0">
                <a:ea typeface="宋体" panose="02010600030101010101" pitchFamily="2" charset="-122"/>
              </a:rPr>
              <a:t>软件过程管理和软件项目管理是不是一回事？如果不是，两者差异是什么？</a:t>
            </a:r>
          </a:p>
          <a:p>
            <a:r>
              <a:rPr kumimoji="1" lang="en-US" altLang="zh-CN" dirty="0">
                <a:ea typeface="宋体" panose="02010600030101010101" pitchFamily="2" charset="-122"/>
              </a:rPr>
              <a:t>2. </a:t>
            </a:r>
            <a:r>
              <a:rPr kumimoji="1" lang="zh-CN" altLang="en-US" dirty="0">
                <a:ea typeface="宋体" panose="02010600030101010101" pitchFamily="2" charset="-122"/>
              </a:rPr>
              <a:t>软件估算过程中，项目经验</a:t>
            </a:r>
            <a:r>
              <a:rPr kumimoji="1" lang="en-US" altLang="zh-CN" dirty="0">
                <a:ea typeface="宋体" panose="02010600030101010101" pitchFamily="2" charset="-122"/>
              </a:rPr>
              <a:t>/</a:t>
            </a:r>
            <a:r>
              <a:rPr kumimoji="1" lang="zh-CN" altLang="en-US" dirty="0">
                <a:ea typeface="宋体" panose="02010600030101010101" pitchFamily="2" charset="-122"/>
              </a:rPr>
              <a:t>历史数据的作用是什么？您的答案经得起细问吗？比如，能具体解释如何把项目经验</a:t>
            </a:r>
            <a:r>
              <a:rPr kumimoji="1" lang="en-US" altLang="zh-CN" dirty="0">
                <a:ea typeface="宋体" panose="02010600030101010101" pitchFamily="2" charset="-122"/>
              </a:rPr>
              <a:t>/</a:t>
            </a:r>
            <a:r>
              <a:rPr kumimoji="1" lang="zh-CN" altLang="en-US" dirty="0">
                <a:ea typeface="宋体" panose="02010600030101010101" pitchFamily="2" charset="-122"/>
              </a:rPr>
              <a:t>历史数据转变成估算结果？估算结果经得起时间考验吗？比如，隔了</a:t>
            </a:r>
            <a:r>
              <a:rPr kumimoji="1" lang="en-US" altLang="zh-CN" dirty="0">
                <a:ea typeface="宋体" panose="02010600030101010101" pitchFamily="2" charset="-122"/>
              </a:rPr>
              <a:t>3</a:t>
            </a:r>
            <a:r>
              <a:rPr kumimoji="1" lang="zh-CN" altLang="en-US" dirty="0">
                <a:ea typeface="宋体" panose="02010600030101010101" pitchFamily="2" charset="-122"/>
              </a:rPr>
              <a:t>个月，能保证估算结果一致？</a:t>
            </a:r>
          </a:p>
          <a:p>
            <a:r>
              <a:rPr kumimoji="1" lang="en-US" altLang="zh-CN" dirty="0">
                <a:ea typeface="宋体" panose="02010600030101010101" pitchFamily="2" charset="-122"/>
              </a:rPr>
              <a:t>3. </a:t>
            </a:r>
            <a:r>
              <a:rPr kumimoji="1" lang="zh-CN" altLang="en-US" dirty="0">
                <a:ea typeface="宋体" panose="02010600030101010101" pitchFamily="2" charset="-122"/>
              </a:rPr>
              <a:t>所以，估算究竟追求的目标是什么？</a:t>
            </a:r>
          </a:p>
        </p:txBody>
      </p:sp>
      <p:sp>
        <p:nvSpPr>
          <p:cNvPr id="23555" name="灯片编号占位符 3">
            <a:extLst>
              <a:ext uri="{FF2B5EF4-FFF2-40B4-BE49-F238E27FC236}">
                <a16:creationId xmlns:a16="http://schemas.microsoft.com/office/drawing/2014/main" id="{24CCC512-BCD8-4872-34F5-957CA57DCDE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61544C6-98E7-DB4A-9137-FEFB85134E4B}" type="slidenum">
              <a:rPr lang="en-US" altLang="zh-CN" smtClean="0">
                <a:latin typeface="Verdana" panose="020B0604030504040204" pitchFamily="34" charset="0"/>
              </a:rPr>
              <a:pPr/>
              <a:t>6</a:t>
            </a:fld>
            <a:endParaRPr lang="en-US" altLang="zh-CN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标题 1">
            <a:extLst>
              <a:ext uri="{FF2B5EF4-FFF2-40B4-BE49-F238E27FC236}">
                <a16:creationId xmlns:a16="http://schemas.microsoft.com/office/drawing/2014/main" id="{DF4144D6-62E6-CD9E-B690-99ECD26A72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ea typeface="宋体" panose="02010600030101010101" pitchFamily="2" charset="-122"/>
              </a:rPr>
              <a:t>本课程要回答的十大问题（</a:t>
            </a:r>
            <a:r>
              <a:rPr kumimoji="1" lang="en-US" altLang="zh-CN">
                <a:ea typeface="宋体" panose="02010600030101010101" pitchFamily="2" charset="-122"/>
              </a:rPr>
              <a:t>2</a:t>
            </a:r>
            <a:r>
              <a:rPr kumimoji="1" lang="zh-CN" altLang="en-US"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24578" name="内容占位符 2">
            <a:extLst>
              <a:ext uri="{FF2B5EF4-FFF2-40B4-BE49-F238E27FC236}">
                <a16:creationId xmlns:a16="http://schemas.microsoft.com/office/drawing/2014/main" id="{55B7F00D-3264-A0AF-C4BB-FACE9D8E77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052513"/>
            <a:ext cx="8610600" cy="5348287"/>
          </a:xfrm>
        </p:spPr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4. </a:t>
            </a:r>
            <a:r>
              <a:rPr kumimoji="1" lang="zh-CN" altLang="en-US">
                <a:ea typeface="宋体" panose="02010600030101010101" pitchFamily="2" charset="-122"/>
              </a:rPr>
              <a:t>什么叫做</a:t>
            </a:r>
            <a:r>
              <a:rPr kumimoji="1" lang="en-US" altLang="zh-CN">
                <a:ea typeface="宋体" panose="02010600030101010101" pitchFamily="2" charset="-122"/>
              </a:rPr>
              <a:t>XX</a:t>
            </a:r>
            <a:r>
              <a:rPr kumimoji="1" lang="zh-CN" altLang="en-US">
                <a:ea typeface="宋体" panose="02010600030101010101" pitchFamily="2" charset="-122"/>
              </a:rPr>
              <a:t>管理？管理的要素有哪些？如何区分有管理（或者好的管理）还是没有管理（或者不好的管理）？这种判断如果只能事后从结果判断，有意义吗？</a:t>
            </a:r>
          </a:p>
          <a:p>
            <a:r>
              <a:rPr kumimoji="1" lang="en-US" altLang="zh-CN">
                <a:ea typeface="宋体" panose="02010600030101010101" pitchFamily="2" charset="-122"/>
              </a:rPr>
              <a:t>5. </a:t>
            </a:r>
            <a:r>
              <a:rPr kumimoji="1" lang="zh-CN" altLang="en-US">
                <a:ea typeface="宋体" panose="02010600030101010101" pitchFamily="2" charset="-122"/>
              </a:rPr>
              <a:t>接上一问题，什么叫做软件质量？当您宣称做了质量管理，实际上真的对质量有管理吗？</a:t>
            </a:r>
          </a:p>
        </p:txBody>
      </p:sp>
      <p:sp>
        <p:nvSpPr>
          <p:cNvPr id="24579" name="灯片编号占位符 3">
            <a:extLst>
              <a:ext uri="{FF2B5EF4-FFF2-40B4-BE49-F238E27FC236}">
                <a16:creationId xmlns:a16="http://schemas.microsoft.com/office/drawing/2014/main" id="{BEA898A9-CC69-36FC-7DCB-9D233C6E3A5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F45BB28-D33B-9D46-980B-D262BEA69687}" type="slidenum">
              <a:rPr lang="en-US" altLang="zh-CN" smtClean="0">
                <a:latin typeface="Verdana" panose="020B0604030504040204" pitchFamily="34" charset="0"/>
              </a:rPr>
              <a:pPr/>
              <a:t>7</a:t>
            </a:fld>
            <a:endParaRPr lang="en-US" altLang="zh-CN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标题 1">
            <a:extLst>
              <a:ext uri="{FF2B5EF4-FFF2-40B4-BE49-F238E27FC236}">
                <a16:creationId xmlns:a16="http://schemas.microsoft.com/office/drawing/2014/main" id="{8479045E-CB92-F975-458B-94B5530AC8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ea typeface="宋体" panose="02010600030101010101" pitchFamily="2" charset="-122"/>
              </a:rPr>
              <a:t>本课程要回答的十大问题（</a:t>
            </a:r>
            <a:r>
              <a:rPr kumimoji="1" lang="en-US" altLang="zh-CN">
                <a:ea typeface="宋体" panose="02010600030101010101" pitchFamily="2" charset="-122"/>
              </a:rPr>
              <a:t>3</a:t>
            </a:r>
            <a:r>
              <a:rPr kumimoji="1" lang="zh-CN" altLang="en-US"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25602" name="内容占位符 2">
            <a:extLst>
              <a:ext uri="{FF2B5EF4-FFF2-40B4-BE49-F238E27FC236}">
                <a16:creationId xmlns:a16="http://schemas.microsoft.com/office/drawing/2014/main" id="{8F25C8DF-2C4A-9623-31CC-BA75F6DE16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052513"/>
            <a:ext cx="8458200" cy="5348287"/>
          </a:xfrm>
        </p:spPr>
        <p:txBody>
          <a:bodyPr/>
          <a:lstStyle/>
          <a:p>
            <a:r>
              <a:rPr kumimoji="1" lang="en-US" altLang="zh-CN" sz="2800" dirty="0">
                <a:ea typeface="宋体" panose="02010600030101010101" pitchFamily="2" charset="-122"/>
              </a:rPr>
              <a:t>6. </a:t>
            </a:r>
            <a:r>
              <a:rPr kumimoji="1" lang="zh-CN" altLang="en-US" sz="2800" dirty="0">
                <a:ea typeface="宋体" panose="02010600030101010101" pitchFamily="2" charset="-122"/>
              </a:rPr>
              <a:t>说说敏捷吧。</a:t>
            </a:r>
          </a:p>
          <a:p>
            <a:pPr lvl="1"/>
            <a:r>
              <a:rPr kumimoji="1"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    客户合作胜于合同谈判，您会不先签订合同或类似文件就正式开始项目吗？</a:t>
            </a:r>
          </a:p>
          <a:p>
            <a:pPr lvl="1"/>
            <a:r>
              <a:rPr kumimoji="1"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    可以工作的代码胜过面面俱到的文档，试试二次开发？现如今，从头开始的软件项目还多吗？</a:t>
            </a:r>
          </a:p>
          <a:p>
            <a:pPr lvl="1"/>
            <a:r>
              <a:rPr kumimoji="1"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    个体和互动胜过流程和工具，您试试跟</a:t>
            </a:r>
            <a:r>
              <a:rPr kumimoji="1"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DevOps</a:t>
            </a:r>
            <a:r>
              <a:rPr kumimoji="1"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全栈工程师谈谈？当需要服务数亿或者数千万用户的</a:t>
            </a:r>
            <a:r>
              <a:rPr kumimoji="1" lang="zh-CN" altLang="en-US" sz="2000">
                <a:latin typeface="Arial" panose="020B0604020202020204" pitchFamily="34" charset="0"/>
                <a:ea typeface="宋体" panose="02010600030101010101" pitchFamily="2" charset="-122"/>
              </a:rPr>
              <a:t>时候，可以脱离过程</a:t>
            </a:r>
            <a:r>
              <a:rPr kumimoji="1"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，甚至简化过程吗？</a:t>
            </a:r>
          </a:p>
          <a:p>
            <a:pPr lvl="1"/>
            <a:r>
              <a:rPr kumimoji="1"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    响应变化胜过遵循计划，这究竟是甲方的想法还是您的想法？请仔细想一下！</a:t>
            </a:r>
          </a:p>
          <a:p>
            <a:r>
              <a:rPr kumimoji="1" lang="zh-CN" altLang="en-US" sz="2800" dirty="0">
                <a:ea typeface="宋体" panose="02010600030101010101" pitchFamily="2" charset="-122"/>
              </a:rPr>
              <a:t>当然，我们大可说敏捷宣言并不否认右项价值，那么问题来了，您如何判断右项已经做的足够了所以您可以开始重视左项的价值？</a:t>
            </a:r>
          </a:p>
          <a:p>
            <a:endParaRPr kumimoji="1" lang="zh-CN" altLang="en-US" dirty="0">
              <a:ea typeface="宋体" panose="02010600030101010101" pitchFamily="2" charset="-122"/>
            </a:endParaRPr>
          </a:p>
        </p:txBody>
      </p:sp>
      <p:sp>
        <p:nvSpPr>
          <p:cNvPr id="25603" name="灯片编号占位符 3">
            <a:extLst>
              <a:ext uri="{FF2B5EF4-FFF2-40B4-BE49-F238E27FC236}">
                <a16:creationId xmlns:a16="http://schemas.microsoft.com/office/drawing/2014/main" id="{5724953A-D96E-EC88-AA5B-E6D69D71FEE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DBFCFD6-D17C-CB40-A338-399C5DA60521}" type="slidenum">
              <a:rPr lang="en-US" altLang="zh-CN" smtClean="0">
                <a:latin typeface="Verdana" panose="020B0604030504040204" pitchFamily="34" charset="0"/>
              </a:rPr>
              <a:pPr/>
              <a:t>8</a:t>
            </a:fld>
            <a:endParaRPr lang="en-US" altLang="zh-CN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标题 1">
            <a:extLst>
              <a:ext uri="{FF2B5EF4-FFF2-40B4-BE49-F238E27FC236}">
                <a16:creationId xmlns:a16="http://schemas.microsoft.com/office/drawing/2014/main" id="{3132FA33-7145-4ED9-CA93-D7E863041F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ea typeface="宋体" panose="02010600030101010101" pitchFamily="2" charset="-122"/>
              </a:rPr>
              <a:t>本课程要回答的十大问题（</a:t>
            </a:r>
            <a:r>
              <a:rPr kumimoji="1" lang="en-US" altLang="zh-CN">
                <a:ea typeface="宋体" panose="02010600030101010101" pitchFamily="2" charset="-122"/>
              </a:rPr>
              <a:t>4</a:t>
            </a:r>
            <a:r>
              <a:rPr kumimoji="1" lang="zh-CN" altLang="en-US"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26626" name="内容占位符 2">
            <a:extLst>
              <a:ext uri="{FF2B5EF4-FFF2-40B4-BE49-F238E27FC236}">
                <a16:creationId xmlns:a16="http://schemas.microsoft.com/office/drawing/2014/main" id="{E63A7712-E417-4F55-1EF2-3C2229B3C2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7. </a:t>
            </a:r>
            <a:r>
              <a:rPr kumimoji="1" lang="zh-CN" altLang="en-US">
                <a:ea typeface="宋体" panose="02010600030101010101" pitchFamily="2" charset="-122"/>
              </a:rPr>
              <a:t>从没有度量就没有管理</a:t>
            </a:r>
            <a:r>
              <a:rPr kumimoji="1" lang="en-US" altLang="zh-CN">
                <a:ea typeface="宋体" panose="02010600030101010101" pitchFamily="2" charset="-122"/>
              </a:rPr>
              <a:t>/</a:t>
            </a:r>
            <a:r>
              <a:rPr kumimoji="1" lang="zh-CN" altLang="en-US">
                <a:ea typeface="宋体" panose="02010600030101010101" pitchFamily="2" charset="-122"/>
              </a:rPr>
              <a:t>改进，到软件项目度量毫无意义，到包含</a:t>
            </a:r>
            <a:r>
              <a:rPr kumimoji="1" lang="en-US" altLang="zh-CN">
                <a:ea typeface="宋体" panose="02010600030101010101" pitchFamily="2" charset="-122"/>
              </a:rPr>
              <a:t>2200</a:t>
            </a:r>
            <a:r>
              <a:rPr kumimoji="1" lang="zh-CN" altLang="en-US">
                <a:ea typeface="宋体" panose="02010600030101010101" pitchFamily="2" charset="-122"/>
              </a:rPr>
              <a:t>多指标项的研发效能度量，到研发效能引发血案，这是想闹哪样？究竟要不要度量？</a:t>
            </a:r>
          </a:p>
          <a:p>
            <a:r>
              <a:rPr kumimoji="1" lang="en-US" altLang="zh-CN">
                <a:ea typeface="宋体" panose="02010600030101010101" pitchFamily="2" charset="-122"/>
              </a:rPr>
              <a:t>8. </a:t>
            </a:r>
            <a:r>
              <a:rPr kumimoji="1" lang="zh-CN" altLang="en-US">
                <a:ea typeface="宋体" panose="02010600030101010101" pitchFamily="2" charset="-122"/>
              </a:rPr>
              <a:t>从极度反对</a:t>
            </a:r>
            <a:r>
              <a:rPr kumimoji="1" lang="en-US" altLang="zh-CN">
                <a:ea typeface="宋体" panose="02010600030101010101" pitchFamily="2" charset="-122"/>
              </a:rPr>
              <a:t>CMM</a:t>
            </a:r>
            <a:r>
              <a:rPr kumimoji="1" lang="zh-CN" altLang="en-US">
                <a:ea typeface="宋体" panose="02010600030101010101" pitchFamily="2" charset="-122"/>
              </a:rPr>
              <a:t>到自己搞开发运维一体化成熟度模型，所以，这是成熟度模型的问题？还是其他问题？</a:t>
            </a:r>
          </a:p>
        </p:txBody>
      </p:sp>
      <p:sp>
        <p:nvSpPr>
          <p:cNvPr id="26627" name="灯片编号占位符 3">
            <a:extLst>
              <a:ext uri="{FF2B5EF4-FFF2-40B4-BE49-F238E27FC236}">
                <a16:creationId xmlns:a16="http://schemas.microsoft.com/office/drawing/2014/main" id="{61E17D90-5E5B-6712-9954-97252261B6F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77B6CEA-C0E7-4E43-B28C-CCB16FC58FD9}" type="slidenum">
              <a:rPr lang="en-US" altLang="zh-CN" smtClean="0">
                <a:latin typeface="Verdana" panose="020B0604030504040204" pitchFamily="34" charset="0"/>
              </a:rPr>
              <a:pPr/>
              <a:t>9</a:t>
            </a:fld>
            <a:endParaRPr lang="en-US" altLang="zh-CN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标题 1">
            <a:extLst>
              <a:ext uri="{FF2B5EF4-FFF2-40B4-BE49-F238E27FC236}">
                <a16:creationId xmlns:a16="http://schemas.microsoft.com/office/drawing/2014/main" id="{AF4B5A06-ADF4-0812-E887-FD1ED83F70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ea typeface="宋体" panose="02010600030101010101" pitchFamily="2" charset="-122"/>
              </a:rPr>
              <a:t>本课程要回答的十大问题（</a:t>
            </a:r>
            <a:r>
              <a:rPr kumimoji="1" lang="en-US" altLang="zh-CN">
                <a:ea typeface="宋体" panose="02010600030101010101" pitchFamily="2" charset="-122"/>
              </a:rPr>
              <a:t>5</a:t>
            </a:r>
            <a:r>
              <a:rPr kumimoji="1" lang="zh-CN" altLang="en-US"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27650" name="内容占位符 2">
            <a:extLst>
              <a:ext uri="{FF2B5EF4-FFF2-40B4-BE49-F238E27FC236}">
                <a16:creationId xmlns:a16="http://schemas.microsoft.com/office/drawing/2014/main" id="{84C1AF2C-7F03-801A-8828-97539EC632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9. </a:t>
            </a:r>
            <a:r>
              <a:rPr kumimoji="1" lang="zh-CN" altLang="en-US">
                <a:ea typeface="宋体" panose="02010600030101010101" pitchFamily="2" charset="-122"/>
              </a:rPr>
              <a:t>定量管理的本质是什么？用数据就是定量管理了？</a:t>
            </a:r>
            <a:r>
              <a:rPr kumimoji="1" lang="en-US" altLang="zh-CN">
                <a:ea typeface="宋体" panose="02010600030101010101" pitchFamily="2" charset="-122"/>
              </a:rPr>
              <a:t>DevOps</a:t>
            </a:r>
            <a:r>
              <a:rPr kumimoji="1" lang="zh-CN" altLang="en-US">
                <a:ea typeface="宋体" panose="02010600030101010101" pitchFamily="2" charset="-122"/>
              </a:rPr>
              <a:t>模式下，还需要定量管理吗？</a:t>
            </a:r>
          </a:p>
          <a:p>
            <a:r>
              <a:rPr kumimoji="1" lang="en-US" altLang="zh-CN">
                <a:ea typeface="宋体" panose="02010600030101010101" pitchFamily="2" charset="-122"/>
              </a:rPr>
              <a:t>10. </a:t>
            </a:r>
            <a:r>
              <a:rPr kumimoji="1" lang="zh-CN" altLang="en-US">
                <a:ea typeface="宋体" panose="02010600030101010101" pitchFamily="2" charset="-122"/>
              </a:rPr>
              <a:t>关于工程实践。需求分析究竟要解决什么问题？设计究竟要设计什么？测试的目的是什么？为实现这个目的，测试实践的重点应该是什么？</a:t>
            </a:r>
          </a:p>
        </p:txBody>
      </p:sp>
      <p:sp>
        <p:nvSpPr>
          <p:cNvPr id="27651" name="灯片编号占位符 3">
            <a:extLst>
              <a:ext uri="{FF2B5EF4-FFF2-40B4-BE49-F238E27FC236}">
                <a16:creationId xmlns:a16="http://schemas.microsoft.com/office/drawing/2014/main" id="{D1E33A2B-5114-7648-B3C1-8F50FBF529D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FCF12F1-BFF5-A443-82A6-22DFE0142C0A}" type="slidenum">
              <a:rPr lang="en-US" altLang="zh-CN" smtClean="0">
                <a:latin typeface="Verdana" panose="020B0604030504040204" pitchFamily="34" charset="0"/>
              </a:rPr>
              <a:pPr/>
              <a:t>10</a:t>
            </a:fld>
            <a:endParaRPr lang="en-US" altLang="zh-CN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标题 1">
            <a:extLst>
              <a:ext uri="{FF2B5EF4-FFF2-40B4-BE49-F238E27FC236}">
                <a16:creationId xmlns:a16="http://schemas.microsoft.com/office/drawing/2014/main" id="{6290246A-60A7-8FCF-F210-72C6DC4693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0775" y="76200"/>
            <a:ext cx="6900863" cy="838200"/>
          </a:xfrm>
        </p:spPr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关于本课程的一些假设前提</a:t>
            </a:r>
          </a:p>
        </p:txBody>
      </p:sp>
      <p:sp>
        <p:nvSpPr>
          <p:cNvPr id="28674" name="内容占位符 2">
            <a:extLst>
              <a:ext uri="{FF2B5EF4-FFF2-40B4-BE49-F238E27FC236}">
                <a16:creationId xmlns:a16="http://schemas.microsoft.com/office/drawing/2014/main" id="{C04B1EC6-561B-D1FD-A46C-1EAFF54A81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066800"/>
            <a:ext cx="9144000" cy="54864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400">
                <a:ea typeface="宋体" panose="02010600030101010101" pitchFamily="2" charset="-122"/>
              </a:rPr>
              <a:t>软件开发本质上是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智力劳动</a:t>
            </a:r>
            <a:r>
              <a:rPr lang="zh-CN" altLang="en-US" sz="2400">
                <a:ea typeface="宋体" panose="02010600030101010101" pitchFamily="2" charset="-122"/>
              </a:rPr>
              <a:t>，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开发者心理</a:t>
            </a:r>
            <a:r>
              <a:rPr lang="zh-CN" altLang="en-US" sz="2400">
                <a:ea typeface="宋体" panose="02010600030101010101" pitchFamily="2" charset="-122"/>
              </a:rPr>
              <a:t>方面的因素不可忽视</a:t>
            </a:r>
            <a:endParaRPr lang="en-US" altLang="zh-CN" sz="240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400">
                <a:ea typeface="宋体" panose="02010600030101010101" pitchFamily="2" charset="-122"/>
              </a:rPr>
              <a:t>大部分情况下，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管理</a:t>
            </a:r>
            <a:r>
              <a:rPr lang="zh-CN" altLang="en-US" sz="2400">
                <a:ea typeface="宋体" panose="02010600030101010101" pitchFamily="2" charset="-122"/>
              </a:rPr>
              <a:t>仅仅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是</a:t>
            </a:r>
            <a:r>
              <a:rPr lang="zh-CN" altLang="en-US" sz="2400">
                <a:ea typeface="宋体" panose="02010600030101010101" pitchFamily="2" charset="-122"/>
              </a:rPr>
              <a:t>试图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复制</a:t>
            </a:r>
            <a:r>
              <a:rPr lang="zh-CN" altLang="en-US" sz="2400">
                <a:ea typeface="宋体" panose="02010600030101010101" pitchFamily="2" charset="-122"/>
              </a:rPr>
              <a:t>其他地方（场景）的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成功</a:t>
            </a:r>
            <a:r>
              <a:rPr lang="zh-CN" altLang="en-US" sz="2400">
                <a:ea typeface="宋体" panose="02010600030101010101" pitchFamily="2" charset="-122"/>
              </a:rPr>
              <a:t>，但是这种复制一般并不容易</a:t>
            </a:r>
            <a:endParaRPr lang="en-US" altLang="zh-CN" sz="240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400">
                <a:ea typeface="宋体" panose="02010600030101010101" pitchFamily="2" charset="-122"/>
              </a:rPr>
              <a:t>软件开发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四大本质难题永远存在</a:t>
            </a:r>
            <a:r>
              <a:rPr lang="zh-CN" altLang="en-US" sz="2400">
                <a:ea typeface="宋体" panose="02010600030101010101" pitchFamily="2" charset="-122"/>
              </a:rPr>
              <a:t>，不可能彻底解决，在不同时期凸显程度有差异</a:t>
            </a:r>
            <a:endParaRPr lang="en-US" altLang="zh-CN" sz="2400"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400">
                <a:ea typeface="宋体" panose="02010600030101010101" pitchFamily="2" charset="-122"/>
              </a:rPr>
              <a:t>项目管理是为了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降低</a:t>
            </a:r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/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减少各种无谓损耗</a:t>
            </a:r>
            <a:r>
              <a:rPr lang="zh-CN" altLang="en-US" sz="2400">
                <a:ea typeface="宋体" panose="02010600030101010101" pitchFamily="2" charset="-122"/>
              </a:rPr>
              <a:t>来实现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本该有</a:t>
            </a:r>
            <a:r>
              <a:rPr lang="zh-CN" altLang="en-US" sz="2400">
                <a:ea typeface="宋体" panose="02010600030101010101" pitchFamily="2" charset="-122"/>
              </a:rPr>
              <a:t>的效能</a:t>
            </a:r>
            <a:endParaRPr lang="en-US" altLang="zh-CN" sz="240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400">
                <a:ea typeface="宋体" panose="02010600030101010101" pitchFamily="2" charset="-122"/>
              </a:rPr>
              <a:t>软件过程改进为了达到更好的效能，这其中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质量（缺陷）</a:t>
            </a:r>
            <a:r>
              <a:rPr lang="zh-CN" altLang="en-US" sz="2400">
                <a:ea typeface="宋体" panose="02010600030101010101" pitchFamily="2" charset="-122"/>
              </a:rPr>
              <a:t>是首要目标或限制</a:t>
            </a:r>
            <a:endParaRPr lang="zh-CN" altLang="zh-CN" sz="2400">
              <a:ea typeface="宋体" panose="02010600030101010101" pitchFamily="2" charset="-122"/>
            </a:endParaRPr>
          </a:p>
        </p:txBody>
      </p:sp>
      <p:sp>
        <p:nvSpPr>
          <p:cNvPr id="28675" name="灯片编号占位符 3">
            <a:extLst>
              <a:ext uri="{FF2B5EF4-FFF2-40B4-BE49-F238E27FC236}">
                <a16:creationId xmlns:a16="http://schemas.microsoft.com/office/drawing/2014/main" id="{A7DFD070-AB7E-13AE-5320-95466A67EF2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l"/>
              <a:defRPr sz="3200">
                <a:solidFill>
                  <a:srgbClr val="00607A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n"/>
              <a:defRPr sz="2800">
                <a:solidFill>
                  <a:srgbClr val="00607A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u"/>
              <a:defRPr sz="2400">
                <a:solidFill>
                  <a:srgbClr val="00607A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D189EB6-D38E-5640-91EE-F9B8F6A5C074}" type="slidenum">
              <a:rPr lang="en-US" altLang="zh-CN" sz="1200" smtClean="0">
                <a:solidFill>
                  <a:schemeClr val="tx1"/>
                </a:solidFill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zh-CN" sz="12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标题 1">
            <a:extLst>
              <a:ext uri="{FF2B5EF4-FFF2-40B4-BE49-F238E27FC236}">
                <a16:creationId xmlns:a16="http://schemas.microsoft.com/office/drawing/2014/main" id="{5ADB12FF-1E05-483D-E2D6-DB17486F90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ea typeface="宋体" panose="02010600030101010101" pitchFamily="2" charset="-122"/>
              </a:rPr>
              <a:t>内容安排  （</a:t>
            </a:r>
            <a:r>
              <a:rPr kumimoji="1" lang="en-US" altLang="zh-CN">
                <a:ea typeface="宋体" panose="02010600030101010101" pitchFamily="2" charset="-122"/>
              </a:rPr>
              <a:t>1</a:t>
            </a:r>
            <a:r>
              <a:rPr kumimoji="1" lang="zh-CN" altLang="en-US"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29698" name="内容占位符 2">
            <a:extLst>
              <a:ext uri="{FF2B5EF4-FFF2-40B4-BE49-F238E27FC236}">
                <a16:creationId xmlns:a16="http://schemas.microsoft.com/office/drawing/2014/main" id="{C69D1A65-AEF3-2432-84C2-C031184614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914400"/>
            <a:ext cx="9144000" cy="5348288"/>
          </a:xfrm>
        </p:spPr>
        <p:txBody>
          <a:bodyPr/>
          <a:lstStyle/>
          <a:p>
            <a:r>
              <a:rPr kumimoji="1" lang="zh-CN" altLang="en-US" dirty="0">
                <a:ea typeface="宋体" panose="02010600030101010101" pitchFamily="2" charset="-122"/>
              </a:rPr>
              <a:t>第一讲 概述</a:t>
            </a:r>
            <a:endParaRPr kumimoji="1" lang="en-US" altLang="zh-CN" dirty="0">
              <a:ea typeface="宋体" panose="02010600030101010101" pitchFamily="2" charset="-122"/>
            </a:endParaRPr>
          </a:p>
          <a:p>
            <a:pPr lvl="1"/>
            <a:r>
              <a:rPr kumimoji="1"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基本概念</a:t>
            </a:r>
            <a:endParaRPr kumimoji="1"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kumimoji="1" lang="zh-CN" altLang="en-US" dirty="0">
                <a:ea typeface="宋体" panose="02010600030101010101" pitchFamily="2" charset="-122"/>
              </a:rPr>
              <a:t>第二讲 软件过程的历史演变和经典工作（</a:t>
            </a:r>
            <a:r>
              <a:rPr kumimoji="1" lang="en-US" altLang="zh-CN" dirty="0">
                <a:ea typeface="宋体" panose="02010600030101010101" pitchFamily="2" charset="-122"/>
              </a:rPr>
              <a:t>1</a:t>
            </a:r>
            <a:r>
              <a:rPr kumimoji="1" lang="zh-CN" altLang="en-US" dirty="0">
                <a:ea typeface="宋体" panose="02010600030101010101" pitchFamily="2" charset="-122"/>
              </a:rPr>
              <a:t>）</a:t>
            </a:r>
            <a:endParaRPr kumimoji="1" lang="en-US" altLang="zh-CN" dirty="0">
              <a:ea typeface="宋体" panose="02010600030101010101" pitchFamily="2" charset="-122"/>
            </a:endParaRPr>
          </a:p>
          <a:p>
            <a:pPr lvl="1"/>
            <a:r>
              <a:rPr kumimoji="1"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软件开发和应用特征驱动</a:t>
            </a:r>
            <a:endParaRPr kumimoji="1"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/>
            <a:r>
              <a:rPr kumimoji="1"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当前挑战和未来</a:t>
            </a:r>
            <a:endParaRPr kumimoji="1"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/>
            <a:r>
              <a:rPr kumimoji="1"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不同阶段的经典（瀑布、</a:t>
            </a:r>
            <a:r>
              <a:rPr kumimoji="1"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CMM</a:t>
            </a:r>
            <a:r>
              <a:rPr kumimoji="1"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、敏捷、等等）</a:t>
            </a:r>
            <a:endParaRPr kumimoji="1"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kumimoji="1" lang="zh-CN" altLang="en-US" dirty="0">
                <a:ea typeface="宋体" panose="02010600030101010101" pitchFamily="2" charset="-122"/>
              </a:rPr>
              <a:t>第三讲软件过程的历史演变和经典工作（</a:t>
            </a:r>
            <a:r>
              <a:rPr kumimoji="1" lang="en-US" altLang="zh-CN" dirty="0">
                <a:ea typeface="宋体" panose="02010600030101010101" pitchFamily="2" charset="-122"/>
              </a:rPr>
              <a:t>2</a:t>
            </a:r>
            <a:r>
              <a:rPr kumimoji="1" lang="zh-CN" altLang="en-US" dirty="0">
                <a:ea typeface="宋体" panose="02010600030101010101" pitchFamily="2" charset="-122"/>
              </a:rPr>
              <a:t>）</a:t>
            </a:r>
            <a:endParaRPr kumimoji="1" lang="en-US" altLang="zh-CN" dirty="0">
              <a:ea typeface="宋体" panose="02010600030101010101" pitchFamily="2" charset="-122"/>
            </a:endParaRPr>
          </a:p>
          <a:p>
            <a:pPr lvl="1"/>
            <a:r>
              <a:rPr kumimoji="1"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技术热点</a:t>
            </a:r>
            <a:r>
              <a:rPr kumimoji="1"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ABC</a:t>
            </a:r>
            <a:r>
              <a:rPr kumimoji="1"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kumimoji="1"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DevOps</a:t>
            </a:r>
            <a:r>
              <a:rPr kumimoji="1"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（自学）</a:t>
            </a:r>
            <a:endParaRPr kumimoji="1"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kumimoji="1"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课程实践第一阶段（为一个特定项目制订一份项目计划）</a:t>
            </a:r>
            <a:endParaRPr kumimoji="1" lang="en-US" altLang="zh-CN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29699" name="幻灯片编号占位符 3">
            <a:extLst>
              <a:ext uri="{FF2B5EF4-FFF2-40B4-BE49-F238E27FC236}">
                <a16:creationId xmlns:a16="http://schemas.microsoft.com/office/drawing/2014/main" id="{4EF40C95-F25B-C252-5F1D-B8459F4D2E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ADD858E-C617-C541-8D83-78CEFB2B8D4D}" type="slidenum">
              <a:rPr lang="en-US" altLang="zh-CN" smtClean="0">
                <a:latin typeface="Verdana" panose="020B0604030504040204" pitchFamily="34" charset="0"/>
              </a:rPr>
              <a:pPr/>
              <a:t>12</a:t>
            </a:fld>
            <a:endParaRPr lang="en-US" altLang="zh-CN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标题 1">
            <a:extLst>
              <a:ext uri="{FF2B5EF4-FFF2-40B4-BE49-F238E27FC236}">
                <a16:creationId xmlns:a16="http://schemas.microsoft.com/office/drawing/2014/main" id="{906EB4F0-7434-081A-FE5E-7E17BC1239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ea typeface="宋体" panose="02010600030101010101" pitchFamily="2" charset="-122"/>
              </a:rPr>
              <a:t>内容安排（</a:t>
            </a:r>
            <a:r>
              <a:rPr kumimoji="1" lang="en-US" altLang="zh-CN">
                <a:ea typeface="宋体" panose="02010600030101010101" pitchFamily="2" charset="-122"/>
              </a:rPr>
              <a:t>2</a:t>
            </a:r>
            <a:r>
              <a:rPr kumimoji="1" lang="zh-CN" altLang="en-US"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30722" name="内容占位符 2">
            <a:extLst>
              <a:ext uri="{FF2B5EF4-FFF2-40B4-BE49-F238E27FC236}">
                <a16:creationId xmlns:a16="http://schemas.microsoft.com/office/drawing/2014/main" id="{D76CA768-FE2C-0281-67E2-2FC957EA3D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052513"/>
            <a:ext cx="9220200" cy="5348287"/>
          </a:xfrm>
        </p:spPr>
        <p:txBody>
          <a:bodyPr/>
          <a:lstStyle/>
          <a:p>
            <a:r>
              <a:rPr kumimoji="1" lang="zh-CN" altLang="en-US" dirty="0">
                <a:ea typeface="宋体" panose="02010600030101010101" pitchFamily="2" charset="-122"/>
              </a:rPr>
              <a:t>第四、五讲  估算、计划和跟踪</a:t>
            </a:r>
            <a:endParaRPr kumimoji="1" lang="en-US" altLang="zh-CN" dirty="0">
              <a:ea typeface="宋体" panose="02010600030101010101" pitchFamily="2" charset="-122"/>
            </a:endParaRPr>
          </a:p>
          <a:p>
            <a:pPr lvl="1"/>
            <a:r>
              <a:rPr kumimoji="1"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估算方法、计划框架、挣值管理方法</a:t>
            </a:r>
            <a:endParaRPr kumimoji="1"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kumimoji="1" lang="zh-CN" altLang="en-US" dirty="0">
                <a:ea typeface="宋体" panose="02010600030101010101" pitchFamily="2" charset="-122"/>
              </a:rPr>
              <a:t>第六、七讲 质量管理</a:t>
            </a:r>
            <a:endParaRPr kumimoji="1" lang="en-US" altLang="zh-CN" dirty="0">
              <a:ea typeface="宋体" panose="02010600030101010101" pitchFamily="2" charset="-122"/>
            </a:endParaRPr>
          </a:p>
          <a:p>
            <a:pPr lvl="1"/>
            <a:r>
              <a:rPr kumimoji="1"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质量是什么？质量管理手段和路线图</a:t>
            </a:r>
            <a:endParaRPr kumimoji="1"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kumimoji="1" lang="zh-CN" altLang="en-US" dirty="0">
                <a:ea typeface="宋体" panose="02010600030101010101" pitchFamily="2" charset="-122"/>
              </a:rPr>
              <a:t>第八讲 风险管理</a:t>
            </a:r>
            <a:endParaRPr kumimoji="1" lang="en-US" altLang="zh-CN" dirty="0">
              <a:ea typeface="宋体" panose="02010600030101010101" pitchFamily="2" charset="-122"/>
            </a:endParaRPr>
          </a:p>
          <a:p>
            <a:r>
              <a:rPr kumimoji="1" lang="zh-CN" altLang="en-US" dirty="0">
                <a:ea typeface="宋体" panose="02010600030101010101" pitchFamily="2" charset="-122"/>
              </a:rPr>
              <a:t>第九讲 工程技术管理</a:t>
            </a:r>
            <a:endParaRPr kumimoji="1" lang="en-US" altLang="zh-CN" dirty="0">
              <a:ea typeface="宋体" panose="02010600030101010101" pitchFamily="2" charset="-122"/>
            </a:endParaRPr>
          </a:p>
          <a:p>
            <a:pPr lvl="1"/>
            <a:r>
              <a:rPr kumimoji="1"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需求开发管理、技术方案管理、方案决策、</a:t>
            </a:r>
            <a:r>
              <a:rPr kumimoji="1"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V&amp;V</a:t>
            </a:r>
            <a:r>
              <a:rPr kumimoji="1"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管理</a:t>
            </a:r>
            <a:endParaRPr kumimoji="1"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kumimoji="1"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课程实践第二阶段（完善第一阶段的项目计划）</a:t>
            </a:r>
            <a:endParaRPr kumimoji="1" lang="en-US" altLang="zh-CN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23" name="幻灯片编号占位符 3">
            <a:extLst>
              <a:ext uri="{FF2B5EF4-FFF2-40B4-BE49-F238E27FC236}">
                <a16:creationId xmlns:a16="http://schemas.microsoft.com/office/drawing/2014/main" id="{A284DEC6-9FC2-FF48-6186-CB2F7DF33A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EE2AB54-8D4A-A64B-B786-F7A807195131}" type="slidenum">
              <a:rPr lang="en-US" altLang="zh-CN" smtClean="0">
                <a:latin typeface="Verdana" panose="020B0604030504040204" pitchFamily="34" charset="0"/>
              </a:rPr>
              <a:pPr/>
              <a:t>13</a:t>
            </a:fld>
            <a:endParaRPr lang="en-US" altLang="zh-CN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标题 1">
            <a:extLst>
              <a:ext uri="{FF2B5EF4-FFF2-40B4-BE49-F238E27FC236}">
                <a16:creationId xmlns:a16="http://schemas.microsoft.com/office/drawing/2014/main" id="{33F757A8-3CBA-3172-EFC7-AF57934C73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ea typeface="宋体" panose="02010600030101010101" pitchFamily="2" charset="-122"/>
              </a:rPr>
              <a:t>内容安排（</a:t>
            </a:r>
            <a:r>
              <a:rPr kumimoji="1" lang="en-US" altLang="zh-CN">
                <a:ea typeface="宋体" panose="02010600030101010101" pitchFamily="2" charset="-122"/>
              </a:rPr>
              <a:t>3</a:t>
            </a:r>
            <a:r>
              <a:rPr kumimoji="1" lang="zh-CN" altLang="en-US"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31746" name="内容占位符 2">
            <a:extLst>
              <a:ext uri="{FF2B5EF4-FFF2-40B4-BE49-F238E27FC236}">
                <a16:creationId xmlns:a16="http://schemas.microsoft.com/office/drawing/2014/main" id="{205C70B1-4D90-238A-3FDA-F1FB250BB8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052513"/>
            <a:ext cx="8991600" cy="5348287"/>
          </a:xfrm>
        </p:spPr>
        <p:txBody>
          <a:bodyPr/>
          <a:lstStyle/>
          <a:p>
            <a:r>
              <a:rPr kumimoji="1" lang="zh-CN" altLang="en-US" dirty="0">
                <a:ea typeface="宋体" panose="02010600030101010101" pitchFamily="2" charset="-122"/>
              </a:rPr>
              <a:t>第十、十一和十二讲 统计与定量管理</a:t>
            </a:r>
            <a:endParaRPr kumimoji="1" lang="en-US" altLang="zh-CN" dirty="0">
              <a:ea typeface="宋体" panose="02010600030101010101" pitchFamily="2" charset="-122"/>
            </a:endParaRPr>
          </a:p>
          <a:p>
            <a:pPr lvl="1"/>
            <a:r>
              <a:rPr kumimoji="1"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常用统计方法、软件过程建模与仿真技术、软件项目的定理管理</a:t>
            </a:r>
            <a:endParaRPr kumimoji="1"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kumimoji="1" lang="zh-CN" altLang="en-US" dirty="0">
                <a:ea typeface="宋体" panose="02010600030101010101" pitchFamily="2" charset="-122"/>
              </a:rPr>
              <a:t>第十三讲  </a:t>
            </a:r>
            <a:r>
              <a:rPr kumimoji="1" lang="en-US" altLang="zh-CN" dirty="0">
                <a:ea typeface="宋体" panose="02010600030101010101" pitchFamily="2" charset="-122"/>
              </a:rPr>
              <a:t>GQM</a:t>
            </a:r>
            <a:r>
              <a:rPr kumimoji="1" lang="zh-CN" altLang="en-US" dirty="0">
                <a:ea typeface="宋体" panose="02010600030101010101" pitchFamily="2" charset="-122"/>
              </a:rPr>
              <a:t>度量体系</a:t>
            </a:r>
            <a:endParaRPr kumimoji="1" lang="en-US" altLang="zh-CN" dirty="0">
              <a:ea typeface="宋体" panose="02010600030101010101" pitchFamily="2" charset="-122"/>
            </a:endParaRPr>
          </a:p>
          <a:p>
            <a:r>
              <a:rPr kumimoji="1" lang="zh-CN" altLang="en-US" dirty="0">
                <a:ea typeface="宋体" panose="02010600030101010101" pitchFamily="2" charset="-122"/>
              </a:rPr>
              <a:t>第十四讲  配置管理</a:t>
            </a:r>
            <a:endParaRPr kumimoji="1" lang="en-US" altLang="zh-CN" dirty="0">
              <a:ea typeface="宋体" panose="02010600030101010101" pitchFamily="2" charset="-122"/>
            </a:endParaRPr>
          </a:p>
          <a:p>
            <a:endParaRPr kumimoji="1"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47" name="幻灯片编号占位符 3">
            <a:extLst>
              <a:ext uri="{FF2B5EF4-FFF2-40B4-BE49-F238E27FC236}">
                <a16:creationId xmlns:a16="http://schemas.microsoft.com/office/drawing/2014/main" id="{E46B3E42-0AAC-B0D0-A46C-F3167D136C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D58C6E8-468D-0740-916C-311CEE0D2024}" type="slidenum">
              <a:rPr lang="en-US" altLang="zh-CN" smtClean="0">
                <a:latin typeface="Verdana" panose="020B0604030504040204" pitchFamily="34" charset="0"/>
              </a:rPr>
              <a:pPr/>
              <a:t>14</a:t>
            </a:fld>
            <a:endParaRPr lang="en-US" altLang="zh-CN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标题 1">
            <a:extLst>
              <a:ext uri="{FF2B5EF4-FFF2-40B4-BE49-F238E27FC236}">
                <a16:creationId xmlns:a16="http://schemas.microsoft.com/office/drawing/2014/main" id="{33F757A8-3CBA-3172-EFC7-AF57934C73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ea typeface="宋体" panose="02010600030101010101" pitchFamily="2" charset="-122"/>
              </a:rPr>
              <a:t>内容安排（</a:t>
            </a:r>
            <a:r>
              <a:rPr kumimoji="1" lang="en-US" altLang="zh-CN" dirty="0">
                <a:ea typeface="宋体" panose="02010600030101010101" pitchFamily="2" charset="-122"/>
              </a:rPr>
              <a:t>4</a:t>
            </a:r>
            <a:r>
              <a:rPr kumimoji="1" lang="zh-CN" altLang="en-US" dirty="0"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31746" name="内容占位符 2">
            <a:extLst>
              <a:ext uri="{FF2B5EF4-FFF2-40B4-BE49-F238E27FC236}">
                <a16:creationId xmlns:a16="http://schemas.microsoft.com/office/drawing/2014/main" id="{205C70B1-4D90-238A-3FDA-F1FB250BB8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052513"/>
            <a:ext cx="8991600" cy="5348287"/>
          </a:xfrm>
        </p:spPr>
        <p:txBody>
          <a:bodyPr/>
          <a:lstStyle/>
          <a:p>
            <a:r>
              <a:rPr kumimoji="1" lang="zh-CN" altLang="en-US" dirty="0">
                <a:ea typeface="宋体" panose="02010600030101010101" pitchFamily="2" charset="-122"/>
              </a:rPr>
              <a:t>第十五讲  缺陷预防与根因分析</a:t>
            </a:r>
            <a:endParaRPr kumimoji="1" lang="en-US" altLang="zh-CN" dirty="0">
              <a:ea typeface="宋体" panose="02010600030101010101" pitchFamily="2" charset="-122"/>
            </a:endParaRPr>
          </a:p>
          <a:p>
            <a:r>
              <a:rPr kumimoji="1" lang="zh-CN" altLang="en-US" dirty="0">
                <a:ea typeface="宋体" panose="02010600030101010101" pitchFamily="2" charset="-122"/>
              </a:rPr>
              <a:t>第十六、十七讲 过程管理</a:t>
            </a:r>
            <a:endParaRPr kumimoji="1" lang="en-US" altLang="zh-CN" dirty="0">
              <a:ea typeface="宋体" panose="02010600030101010101" pitchFamily="2" charset="-122"/>
            </a:endParaRPr>
          </a:p>
          <a:p>
            <a:pPr lvl="1"/>
            <a:r>
              <a:rPr kumimoji="1"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基本概念和方法</a:t>
            </a:r>
            <a:endParaRPr kumimoji="1"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/>
            <a:r>
              <a:rPr kumimoji="1"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参考模型</a:t>
            </a:r>
            <a:endParaRPr kumimoji="1"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/>
            <a:r>
              <a:rPr kumimoji="1"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基础设施</a:t>
            </a:r>
            <a:endParaRPr kumimoji="1"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/>
            <a:r>
              <a:rPr kumimoji="1"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过程裁剪和融合 </a:t>
            </a:r>
            <a:endParaRPr kumimoji="1"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47" name="幻灯片编号占位符 3">
            <a:extLst>
              <a:ext uri="{FF2B5EF4-FFF2-40B4-BE49-F238E27FC236}">
                <a16:creationId xmlns:a16="http://schemas.microsoft.com/office/drawing/2014/main" id="{E46B3E42-0AAC-B0D0-A46C-F3167D136C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D58C6E8-468D-0740-916C-311CEE0D2024}" type="slidenum">
              <a:rPr lang="en-US" altLang="zh-CN" smtClean="0">
                <a:latin typeface="Verdana" panose="020B0604030504040204" pitchFamily="34" charset="0"/>
              </a:rPr>
              <a:pPr/>
              <a:t>15</a:t>
            </a:fld>
            <a:endParaRPr lang="en-US" altLang="zh-CN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040604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标题 1">
            <a:extLst>
              <a:ext uri="{FF2B5EF4-FFF2-40B4-BE49-F238E27FC236}">
                <a16:creationId xmlns:a16="http://schemas.microsoft.com/office/drawing/2014/main" id="{4E6A4B5C-11CD-D6ED-6624-0ADE190A67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课程组织</a:t>
            </a:r>
          </a:p>
        </p:txBody>
      </p:sp>
      <p:sp>
        <p:nvSpPr>
          <p:cNvPr id="32770" name="内容占位符 2">
            <a:extLst>
              <a:ext uri="{FF2B5EF4-FFF2-40B4-BE49-F238E27FC236}">
                <a16:creationId xmlns:a16="http://schemas.microsoft.com/office/drawing/2014/main" id="{F6FB99A3-E329-8537-5E82-349959471A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143000"/>
            <a:ext cx="8991600" cy="5029200"/>
          </a:xfrm>
        </p:spPr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上课，单双周安排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平时作业组成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大部分课堂讲座结束前会有安排课堂讨论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（真题！）</a:t>
            </a:r>
            <a:endParaRPr lang="en-US" altLang="zh-CN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2" eaLnBrk="1" hangingPunct="1"/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答得好 加分</a:t>
            </a:r>
            <a:endParaRPr lang="en-US" altLang="zh-CN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2" eaLnBrk="1" hangingPunct="1"/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答得不好 不加分</a:t>
            </a:r>
            <a:endParaRPr lang="en-US" altLang="zh-CN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2" eaLnBrk="1" hangingPunct="1"/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人没来 扣分</a:t>
            </a:r>
            <a:endParaRPr lang="en-US" altLang="zh-CN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期末考试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2771" name="灯片编号占位符 3">
            <a:extLst>
              <a:ext uri="{FF2B5EF4-FFF2-40B4-BE49-F238E27FC236}">
                <a16:creationId xmlns:a16="http://schemas.microsoft.com/office/drawing/2014/main" id="{C32E17EF-C2A2-1DB3-1419-62B48A50A6E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l"/>
              <a:defRPr sz="3200">
                <a:solidFill>
                  <a:srgbClr val="00607A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n"/>
              <a:defRPr sz="2800">
                <a:solidFill>
                  <a:srgbClr val="00607A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u"/>
              <a:defRPr sz="2400">
                <a:solidFill>
                  <a:srgbClr val="00607A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24F9FDA-A361-5643-8657-D8FD9C44396B}" type="slidenum">
              <a:rPr lang="en-US" altLang="zh-CN" sz="1200" smtClean="0">
                <a:solidFill>
                  <a:schemeClr val="tx1"/>
                </a:solidFill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zh-CN" sz="12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标题 1">
            <a:extLst>
              <a:ext uri="{FF2B5EF4-FFF2-40B4-BE49-F238E27FC236}">
                <a16:creationId xmlns:a16="http://schemas.microsoft.com/office/drawing/2014/main" id="{48199499-4DFD-761E-212A-1964359633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获得学分的方式</a:t>
            </a:r>
          </a:p>
        </p:txBody>
      </p:sp>
      <p:sp>
        <p:nvSpPr>
          <p:cNvPr id="33794" name="内容占位符 2">
            <a:extLst>
              <a:ext uri="{FF2B5EF4-FFF2-40B4-BE49-F238E27FC236}">
                <a16:creationId xmlns:a16="http://schemas.microsoft.com/office/drawing/2014/main" id="{0EEDF40E-7171-9DF8-FFB2-0DE30CE644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295400"/>
            <a:ext cx="8077200" cy="4267200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方式一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zh-CN" altLang="en-US" dirty="0">
                <a:ea typeface="宋体" panose="02010600030101010101" pitchFamily="2" charset="-122"/>
              </a:rPr>
              <a:t>暂定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</a:p>
          <a:p>
            <a:pPr lvl="1" eaLnBrk="1" hangingPunct="1"/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平时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30%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（提问、练习、课程实践等）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考试 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70%</a:t>
            </a: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方式二（补考）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课程论文 （基于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50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 篇左右论文整理读后感）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考试    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70%</a:t>
            </a:r>
          </a:p>
        </p:txBody>
      </p:sp>
      <p:sp>
        <p:nvSpPr>
          <p:cNvPr id="33795" name="灯片编号占位符 3">
            <a:extLst>
              <a:ext uri="{FF2B5EF4-FFF2-40B4-BE49-F238E27FC236}">
                <a16:creationId xmlns:a16="http://schemas.microsoft.com/office/drawing/2014/main" id="{F73D1638-BD95-C271-386A-507249DFD3F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l"/>
              <a:defRPr sz="3200">
                <a:solidFill>
                  <a:srgbClr val="00607A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n"/>
              <a:defRPr sz="2800">
                <a:solidFill>
                  <a:srgbClr val="00607A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u"/>
              <a:defRPr sz="2400">
                <a:solidFill>
                  <a:srgbClr val="00607A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63D69D8-55E7-F84D-A601-A1807ED6399F}" type="slidenum">
              <a:rPr lang="en-US" altLang="zh-CN" sz="1200" smtClean="0">
                <a:solidFill>
                  <a:schemeClr val="tx1"/>
                </a:solidFill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zh-CN" sz="12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标题 1">
            <a:extLst>
              <a:ext uri="{FF2B5EF4-FFF2-40B4-BE49-F238E27FC236}">
                <a16:creationId xmlns:a16="http://schemas.microsoft.com/office/drawing/2014/main" id="{AFE05007-37D6-0566-A9C1-205D37CB12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ea typeface="宋体" panose="02010600030101010101" pitchFamily="2" charset="-122"/>
              </a:rPr>
              <a:t>教材和参考书</a:t>
            </a:r>
          </a:p>
        </p:txBody>
      </p:sp>
      <p:sp>
        <p:nvSpPr>
          <p:cNvPr id="35842" name="幻灯片编号占位符 3">
            <a:extLst>
              <a:ext uri="{FF2B5EF4-FFF2-40B4-BE49-F238E27FC236}">
                <a16:creationId xmlns:a16="http://schemas.microsoft.com/office/drawing/2014/main" id="{72636637-1F14-DC06-2826-52C1274985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3B1D017-DA9D-5641-B055-1CB2BC70DF78}" type="slidenum">
              <a:rPr lang="en-US" altLang="zh-CN" smtClean="0">
                <a:latin typeface="Verdana" panose="020B0604030504040204" pitchFamily="34" charset="0"/>
              </a:rPr>
              <a:pPr/>
              <a:t>18</a:t>
            </a:fld>
            <a:endParaRPr lang="en-US" altLang="zh-CN">
              <a:latin typeface="Verdana" panose="020B0604030504040204" pitchFamily="34" charset="0"/>
            </a:endParaRPr>
          </a:p>
        </p:txBody>
      </p:sp>
      <p:pic>
        <p:nvPicPr>
          <p:cNvPr id="35843" name="图片 5">
            <a:extLst>
              <a:ext uri="{FF2B5EF4-FFF2-40B4-BE49-F238E27FC236}">
                <a16:creationId xmlns:a16="http://schemas.microsoft.com/office/drawing/2014/main" id="{5882E488-C2C7-501A-8FAD-A0EFB3FC85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3397250"/>
            <a:ext cx="1525588" cy="206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4" name="内容占位符 2">
            <a:extLst>
              <a:ext uri="{FF2B5EF4-FFF2-40B4-BE49-F238E27FC236}">
                <a16:creationId xmlns:a16="http://schemas.microsoft.com/office/drawing/2014/main" id="{E50B6CFA-F164-C3C3-EA84-6E6163530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169988"/>
            <a:ext cx="6400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63538" indent="-363538"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l"/>
              <a:defRPr sz="3200">
                <a:solidFill>
                  <a:srgbClr val="00607A"/>
                </a:solidFill>
                <a:latin typeface="Arial" panose="020B0604020202020204" pitchFamily="34" charset="0"/>
              </a:defRPr>
            </a:lvl1pPr>
            <a:lvl2pPr marL="715963" indent="-352425"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n"/>
              <a:defRPr sz="2800">
                <a:solidFill>
                  <a:srgbClr val="00607A"/>
                </a:solidFill>
                <a:latin typeface="Arial" panose="020B0604020202020204" pitchFamily="34" charset="0"/>
              </a:defRPr>
            </a:lvl2pPr>
            <a:lvl3pPr marL="1079500" indent="-363538"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u"/>
              <a:defRPr sz="2400">
                <a:solidFill>
                  <a:srgbClr val="00607A"/>
                </a:solidFill>
                <a:latin typeface="Arial" panose="020B0604020202020204" pitchFamily="34" charset="0"/>
              </a:defRPr>
            </a:lvl3pPr>
            <a:lvl4pPr marL="1431925" indent="-352425">
              <a:spcBef>
                <a:spcPct val="20000"/>
              </a:spcBef>
              <a:buChar char="–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4pPr>
            <a:lvl5pPr marL="1795463" indent="-363538">
              <a:spcBef>
                <a:spcPct val="20000"/>
              </a:spcBef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5pPr>
            <a:lvl6pPr marL="2252663" indent="-363538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6pPr>
            <a:lvl7pPr marL="2709863" indent="-363538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7pPr>
            <a:lvl8pPr marL="3167063" indent="-363538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8pPr>
            <a:lvl9pPr marL="3624263" indent="-363538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708E"/>
                </a:solidFill>
              </a:rPr>
              <a:t>《DevOps</a:t>
            </a:r>
            <a:r>
              <a:rPr lang="zh-CN" altLang="en-US">
                <a:solidFill>
                  <a:srgbClr val="00708E"/>
                </a:solidFill>
              </a:rPr>
              <a:t> 原理、方法与实践</a:t>
            </a:r>
            <a:r>
              <a:rPr lang="en-US" altLang="zh-CN">
                <a:solidFill>
                  <a:srgbClr val="00708E"/>
                </a:solidFill>
              </a:rPr>
              <a:t>》</a:t>
            </a:r>
            <a:r>
              <a:rPr lang="zh-CN" altLang="en-US">
                <a:solidFill>
                  <a:srgbClr val="00708E"/>
                </a:solidFill>
              </a:rPr>
              <a:t>（第二版）     机械工业出版社</a:t>
            </a:r>
          </a:p>
          <a:p>
            <a:pPr eaLnBrk="1" hangingPunct="1"/>
            <a:endParaRPr lang="en-US" altLang="zh-CN">
              <a:solidFill>
                <a:srgbClr val="00708E"/>
              </a:solidFill>
            </a:endParaRPr>
          </a:p>
        </p:txBody>
      </p:sp>
      <p:sp>
        <p:nvSpPr>
          <p:cNvPr id="35845" name="内容占位符 2">
            <a:extLst>
              <a:ext uri="{FF2B5EF4-FFF2-40B4-BE49-F238E27FC236}">
                <a16:creationId xmlns:a16="http://schemas.microsoft.com/office/drawing/2014/main" id="{6EBD7A03-C8F1-133C-4A39-5A131AC624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779838"/>
            <a:ext cx="64770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63538" indent="-363538"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l"/>
              <a:defRPr sz="3200">
                <a:solidFill>
                  <a:srgbClr val="00607A"/>
                </a:solidFill>
                <a:latin typeface="Arial" panose="020B0604020202020204" pitchFamily="34" charset="0"/>
              </a:defRPr>
            </a:lvl1pPr>
            <a:lvl2pPr marL="715963" indent="-352425"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n"/>
              <a:defRPr sz="2800">
                <a:solidFill>
                  <a:srgbClr val="00607A"/>
                </a:solidFill>
                <a:latin typeface="Arial" panose="020B0604020202020204" pitchFamily="34" charset="0"/>
              </a:defRPr>
            </a:lvl2pPr>
            <a:lvl3pPr marL="1079500" indent="-363538"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u"/>
              <a:defRPr sz="2400">
                <a:solidFill>
                  <a:srgbClr val="00607A"/>
                </a:solidFill>
                <a:latin typeface="Arial" panose="020B0604020202020204" pitchFamily="34" charset="0"/>
              </a:defRPr>
            </a:lvl3pPr>
            <a:lvl4pPr marL="1431925" indent="-352425">
              <a:spcBef>
                <a:spcPct val="20000"/>
              </a:spcBef>
              <a:buChar char="–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4pPr>
            <a:lvl5pPr marL="1795463" indent="-363538">
              <a:spcBef>
                <a:spcPct val="20000"/>
              </a:spcBef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5pPr>
            <a:lvl6pPr marL="2252663" indent="-363538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6pPr>
            <a:lvl7pPr marL="2709863" indent="-363538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7pPr>
            <a:lvl8pPr marL="3167063" indent="-363538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8pPr>
            <a:lvl9pPr marL="3624263" indent="-363538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708E"/>
                </a:solidFill>
              </a:rPr>
              <a:t>《</a:t>
            </a:r>
            <a:r>
              <a:rPr lang="zh-CN" altLang="en-US">
                <a:solidFill>
                  <a:srgbClr val="00708E"/>
                </a:solidFill>
              </a:rPr>
              <a:t>软件过程与管理</a:t>
            </a:r>
            <a:r>
              <a:rPr lang="en-US" altLang="zh-CN">
                <a:solidFill>
                  <a:srgbClr val="00708E"/>
                </a:solidFill>
              </a:rPr>
              <a:t>》</a:t>
            </a:r>
          </a:p>
          <a:p>
            <a:pPr algn="r" eaLnBrk="1" hangingPunct="1">
              <a:buFont typeface="Wingdings" pitchFamily="2" charset="2"/>
              <a:buNone/>
            </a:pPr>
            <a:r>
              <a:rPr lang="zh-CN" altLang="en-US">
                <a:solidFill>
                  <a:srgbClr val="00708E"/>
                </a:solidFill>
              </a:rPr>
              <a:t> 机械工业出版社</a:t>
            </a:r>
            <a:endParaRPr lang="en-US" altLang="zh-CN">
              <a:solidFill>
                <a:srgbClr val="00708E"/>
              </a:solidFill>
            </a:endParaRPr>
          </a:p>
          <a:p>
            <a:pPr eaLnBrk="1" hangingPunct="1"/>
            <a:endParaRPr lang="en-US" altLang="zh-CN">
              <a:solidFill>
                <a:srgbClr val="00708E"/>
              </a:solidFill>
            </a:endParaRPr>
          </a:p>
        </p:txBody>
      </p:sp>
      <p:pic>
        <p:nvPicPr>
          <p:cNvPr id="35846" name="内容占位符 3">
            <a:extLst>
              <a:ext uri="{FF2B5EF4-FFF2-40B4-BE49-F238E27FC236}">
                <a16:creationId xmlns:a16="http://schemas.microsoft.com/office/drawing/2014/main" id="{56039CBF-C90E-4BDE-53D3-900A3A96F74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988175" y="1131888"/>
            <a:ext cx="1547813" cy="2138362"/>
          </a:xfrm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标题 1">
            <a:extLst>
              <a:ext uri="{FF2B5EF4-FFF2-40B4-BE49-F238E27FC236}">
                <a16:creationId xmlns:a16="http://schemas.microsoft.com/office/drawing/2014/main" id="{E6F4BD98-4215-5150-EB56-1AD6314106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我的联系方式</a:t>
            </a:r>
          </a:p>
        </p:txBody>
      </p:sp>
      <p:sp>
        <p:nvSpPr>
          <p:cNvPr id="36866" name="内容占位符 2">
            <a:extLst>
              <a:ext uri="{FF2B5EF4-FFF2-40B4-BE49-F238E27FC236}">
                <a16:creationId xmlns:a16="http://schemas.microsoft.com/office/drawing/2014/main" id="{F4AD88B2-BA2C-C987-F324-5ABAEBE01B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200" y="2133600"/>
            <a:ext cx="8763000" cy="3657600"/>
          </a:xfrm>
        </p:spPr>
        <p:txBody>
          <a:bodyPr/>
          <a:lstStyle/>
          <a:p>
            <a:pPr marL="0" indent="0" algn="just" eaLnBrk="1" hangingPunct="1">
              <a:buFont typeface="Arial" panose="020B0604020202020204" pitchFamily="34" charset="0"/>
              <a:buNone/>
            </a:pPr>
            <a:r>
              <a:rPr lang="zh-CN" altLang="en-US">
                <a:ea typeface="宋体" panose="02010600030101010101" pitchFamily="2" charset="-122"/>
              </a:rPr>
              <a:t>荣国平</a:t>
            </a:r>
            <a:endParaRPr lang="en-US" altLang="zh-CN">
              <a:ea typeface="宋体" panose="02010600030101010101" pitchFamily="2" charset="-122"/>
            </a:endParaRPr>
          </a:p>
          <a:p>
            <a:pPr marL="0" indent="0" algn="just" eaLnBrk="1" hangingPunct="1">
              <a:buFont typeface="Arial" panose="020B0604020202020204" pitchFamily="34" charset="0"/>
              <a:buNone/>
            </a:pPr>
            <a:r>
              <a:rPr lang="zh-CN" altLang="en-US">
                <a:ea typeface="宋体" panose="02010600030101010101" pitchFamily="2" charset="-122"/>
              </a:rPr>
              <a:t>费彝民楼</a:t>
            </a:r>
            <a:r>
              <a:rPr lang="en-US" altLang="zh-CN">
                <a:ea typeface="宋体" panose="02010600030101010101" pitchFamily="2" charset="-122"/>
              </a:rPr>
              <a:t>B-917</a:t>
            </a:r>
          </a:p>
          <a:p>
            <a:pPr marL="0" indent="0" algn="just" eaLnBrk="1" hangingPunct="1">
              <a:buFont typeface="Arial" panose="020B0604020202020204" pitchFamily="34" charset="0"/>
              <a:buNone/>
            </a:pPr>
            <a:r>
              <a:rPr lang="en-US" altLang="zh-CN">
                <a:ea typeface="宋体" panose="02010600030101010101" pitchFamily="2" charset="-122"/>
              </a:rPr>
              <a:t>ronggp@nju.edu.cn</a:t>
            </a:r>
          </a:p>
          <a:p>
            <a:pPr marL="0" indent="0" algn="just" eaLnBrk="1" hangingPunct="1">
              <a:buFont typeface="Arial" panose="020B0604020202020204" pitchFamily="34" charset="0"/>
              <a:buNone/>
            </a:pPr>
            <a:r>
              <a:rPr lang="en-US" altLang="zh-CN">
                <a:ea typeface="宋体" panose="02010600030101010101" pitchFamily="2" charset="-122"/>
              </a:rPr>
              <a:t>https://softeng.nju.edu.cn/faculty/GuopingRong/</a:t>
            </a:r>
          </a:p>
        </p:txBody>
      </p:sp>
      <p:sp>
        <p:nvSpPr>
          <p:cNvPr id="36867" name="灯片编号占位符 3">
            <a:extLst>
              <a:ext uri="{FF2B5EF4-FFF2-40B4-BE49-F238E27FC236}">
                <a16:creationId xmlns:a16="http://schemas.microsoft.com/office/drawing/2014/main" id="{397E6A9C-ABC6-763F-9567-D662276B3AB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l"/>
              <a:defRPr sz="3200">
                <a:solidFill>
                  <a:srgbClr val="00607A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n"/>
              <a:defRPr sz="2800">
                <a:solidFill>
                  <a:srgbClr val="00607A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u"/>
              <a:defRPr sz="2400">
                <a:solidFill>
                  <a:srgbClr val="00607A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70C3167-E0ED-4646-BB85-8171958A8608}" type="slidenum">
              <a:rPr lang="en-US" altLang="zh-CN" sz="1200" smtClean="0">
                <a:solidFill>
                  <a:schemeClr val="tx1"/>
                </a:solidFill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zh-CN" sz="12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PowerPoint Template">
  <a:themeElements>
    <a:clrScheme name="sample 1">
      <a:dk1>
        <a:srgbClr val="163794"/>
      </a:dk1>
      <a:lt1>
        <a:srgbClr val="FFFFFF"/>
      </a:lt1>
      <a:dk2>
        <a:srgbClr val="000000"/>
      </a:dk2>
      <a:lt2>
        <a:srgbClr val="C0C0C0"/>
      </a:lt2>
      <a:accent1>
        <a:srgbClr val="009999"/>
      </a:accent1>
      <a:accent2>
        <a:srgbClr val="990000"/>
      </a:accent2>
      <a:accent3>
        <a:srgbClr val="FFFFFF"/>
      </a:accent3>
      <a:accent4>
        <a:srgbClr val="112D7E"/>
      </a:accent4>
      <a:accent5>
        <a:srgbClr val="AACACA"/>
      </a:accent5>
      <a:accent6>
        <a:srgbClr val="8A0000"/>
      </a:accent6>
      <a:hlink>
        <a:srgbClr val="6699FF"/>
      </a:hlink>
      <a:folHlink>
        <a:srgbClr val="969696"/>
      </a:folHlink>
    </a:clrScheme>
    <a:fontScheme name="sample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163794"/>
        </a:dk1>
        <a:lt1>
          <a:srgbClr val="FFFFFF"/>
        </a:lt1>
        <a:dk2>
          <a:srgbClr val="000000"/>
        </a:dk2>
        <a:lt2>
          <a:srgbClr val="C0C0C0"/>
        </a:lt2>
        <a:accent1>
          <a:srgbClr val="009999"/>
        </a:accent1>
        <a:accent2>
          <a:srgbClr val="990000"/>
        </a:accent2>
        <a:accent3>
          <a:srgbClr val="FFFFFF"/>
        </a:accent3>
        <a:accent4>
          <a:srgbClr val="112D7E"/>
        </a:accent4>
        <a:accent5>
          <a:srgbClr val="AACACA"/>
        </a:accent5>
        <a:accent6>
          <a:srgbClr val="8A0000"/>
        </a:accent6>
        <a:hlink>
          <a:srgbClr val="66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29698D"/>
        </a:dk1>
        <a:lt1>
          <a:srgbClr val="FFFFFF"/>
        </a:lt1>
        <a:dk2>
          <a:srgbClr val="000000"/>
        </a:dk2>
        <a:lt2>
          <a:srgbClr val="A1BABD"/>
        </a:lt2>
        <a:accent1>
          <a:srgbClr val="FF5050"/>
        </a:accent1>
        <a:accent2>
          <a:srgbClr val="FF9933"/>
        </a:accent2>
        <a:accent3>
          <a:srgbClr val="FFFFFF"/>
        </a:accent3>
        <a:accent4>
          <a:srgbClr val="215978"/>
        </a:accent4>
        <a:accent5>
          <a:srgbClr val="FFB3B3"/>
        </a:accent5>
        <a:accent6>
          <a:srgbClr val="E78A2D"/>
        </a:accent6>
        <a:hlink>
          <a:srgbClr val="00CC99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99"/>
        </a:dk1>
        <a:lt1>
          <a:srgbClr val="FFFFFF"/>
        </a:lt1>
        <a:dk2>
          <a:srgbClr val="000000"/>
        </a:dk2>
        <a:lt2>
          <a:srgbClr val="C0C0C0"/>
        </a:lt2>
        <a:accent1>
          <a:srgbClr val="72B88E"/>
        </a:accent1>
        <a:accent2>
          <a:srgbClr val="C78DD7"/>
        </a:accent2>
        <a:accent3>
          <a:srgbClr val="FFFFFF"/>
        </a:accent3>
        <a:accent4>
          <a:srgbClr val="565682"/>
        </a:accent4>
        <a:accent5>
          <a:srgbClr val="BCD8C6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课程实践</Template>
  <TotalTime>9341</TotalTime>
  <Words>1367</Words>
  <Application>Microsoft Office PowerPoint</Application>
  <PresentationFormat>全屏显示(4:3)</PresentationFormat>
  <Paragraphs>158</Paragraphs>
  <Slides>19</Slides>
  <Notes>5</Notes>
  <HiddenSlides>3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5" baseType="lpstr">
      <vt:lpstr>Microsoft YaHei</vt:lpstr>
      <vt:lpstr>Arial</vt:lpstr>
      <vt:lpstr>Calibri</vt:lpstr>
      <vt:lpstr>Verdana</vt:lpstr>
      <vt:lpstr>Wingdings</vt:lpstr>
      <vt:lpstr>PowerPoint Template</vt:lpstr>
      <vt:lpstr>软件质量与管理 课程介绍</vt:lpstr>
      <vt:lpstr>课程动机——为什么要有这门课程？</vt:lpstr>
      <vt:lpstr>软件工程究竟是什么？</vt:lpstr>
      <vt:lpstr>什么是软件开发？</vt:lpstr>
      <vt:lpstr>本课程目标</vt:lpstr>
      <vt:lpstr>本课程要回答的十大问题（1）</vt:lpstr>
      <vt:lpstr>本课程要回答的十大问题（2）</vt:lpstr>
      <vt:lpstr>本课程要回答的十大问题（3）</vt:lpstr>
      <vt:lpstr>本课程要回答的十大问题（4）</vt:lpstr>
      <vt:lpstr>本课程要回答的十大问题（5）</vt:lpstr>
      <vt:lpstr>关于本课程的一些假设前提</vt:lpstr>
      <vt:lpstr>内容安排  （1）</vt:lpstr>
      <vt:lpstr>内容安排（2）</vt:lpstr>
      <vt:lpstr>内容安排（3）</vt:lpstr>
      <vt:lpstr>内容安排（4）</vt:lpstr>
      <vt:lpstr>课程组织</vt:lpstr>
      <vt:lpstr>获得学分的方式</vt:lpstr>
      <vt:lpstr>教材和参考书</vt:lpstr>
      <vt:lpstr>我的联系方式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xinyu</cp:lastModifiedBy>
  <cp:revision>205</cp:revision>
  <cp:lastPrinted>1601-01-01T00:00:00Z</cp:lastPrinted>
  <dcterms:created xsi:type="dcterms:W3CDTF">1601-01-01T00:00:00Z</dcterms:created>
  <dcterms:modified xsi:type="dcterms:W3CDTF">2025-02-12T09:51:43Z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