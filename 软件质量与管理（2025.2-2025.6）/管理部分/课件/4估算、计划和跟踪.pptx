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40"/>
  </p:notesMasterIdLst>
  <p:sldIdLst>
    <p:sldId id="427" r:id="rId2"/>
    <p:sldId id="445" r:id="rId3"/>
    <p:sldId id="580" r:id="rId4"/>
    <p:sldId id="563" r:id="rId5"/>
    <p:sldId id="564" r:id="rId6"/>
    <p:sldId id="570" r:id="rId7"/>
    <p:sldId id="458" r:id="rId8"/>
    <p:sldId id="460" r:id="rId9"/>
    <p:sldId id="461" r:id="rId10"/>
    <p:sldId id="462" r:id="rId11"/>
    <p:sldId id="464" r:id="rId12"/>
    <p:sldId id="567" r:id="rId13"/>
    <p:sldId id="568" r:id="rId14"/>
    <p:sldId id="569" r:id="rId15"/>
    <p:sldId id="577" r:id="rId16"/>
    <p:sldId id="578" r:id="rId17"/>
    <p:sldId id="582" r:id="rId18"/>
    <p:sldId id="583" r:id="rId19"/>
    <p:sldId id="451" r:id="rId20"/>
    <p:sldId id="571" r:id="rId21"/>
    <p:sldId id="309" r:id="rId22"/>
    <p:sldId id="313" r:id="rId23"/>
    <p:sldId id="575" r:id="rId24"/>
    <p:sldId id="323" r:id="rId25"/>
    <p:sldId id="324" r:id="rId26"/>
    <p:sldId id="325" r:id="rId27"/>
    <p:sldId id="326" r:id="rId28"/>
    <p:sldId id="572" r:id="rId29"/>
    <p:sldId id="320" r:id="rId30"/>
    <p:sldId id="321" r:id="rId31"/>
    <p:sldId id="332" r:id="rId32"/>
    <p:sldId id="333" r:id="rId33"/>
    <p:sldId id="334" r:id="rId34"/>
    <p:sldId id="562" r:id="rId35"/>
    <p:sldId id="322" r:id="rId36"/>
    <p:sldId id="335" r:id="rId37"/>
    <p:sldId id="336" r:id="rId38"/>
    <p:sldId id="337" r:id="rId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Microsof" lastIdx="1" clrIdx="0"/>
  <p:cmAuthor id="2" name="Microsoft Office 用户" initials="Microsof [2]"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72" autoAdjust="0"/>
    <p:restoredTop sz="74966" autoAdjust="0"/>
  </p:normalViewPr>
  <p:slideViewPr>
    <p:cSldViewPr>
      <p:cViewPr varScale="1">
        <p:scale>
          <a:sx n="94" d="100"/>
          <a:sy n="94" d="100"/>
        </p:scale>
        <p:origin x="3000" y="192"/>
      </p:cViewPr>
      <p:guideLst>
        <p:guide orient="horz" pos="2160"/>
        <p:guide pos="2880"/>
      </p:guideLst>
    </p:cSldViewPr>
  </p:slideViewPr>
  <p:outlineViewPr>
    <p:cViewPr>
      <p:scale>
        <a:sx n="33" d="100"/>
        <a:sy n="33" d="100"/>
      </p:scale>
      <p:origin x="0" y="0"/>
    </p:cViewPr>
  </p:outlineViewPr>
  <p:notesTextViewPr>
    <p:cViewPr>
      <p:scale>
        <a:sx n="80" d="100"/>
        <a:sy n="8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2025/6/3</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extLst>
      <p:ext uri="{BB962C8B-B14F-4D97-AF65-F5344CB8AC3E}">
        <p14:creationId xmlns:p14="http://schemas.microsoft.com/office/powerpoint/2010/main" val="1683495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3</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4256851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5</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242617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6</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4248840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extLst>
      <p:ext uri="{BB962C8B-B14F-4D97-AF65-F5344CB8AC3E}">
        <p14:creationId xmlns:p14="http://schemas.microsoft.com/office/powerpoint/2010/main" val="53895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8</a:t>
            </a:fld>
            <a:endParaRPr lang="zh-CN" altLang="en-US"/>
          </a:p>
        </p:txBody>
      </p:sp>
    </p:spTree>
    <p:extLst>
      <p:ext uri="{BB962C8B-B14F-4D97-AF65-F5344CB8AC3E}">
        <p14:creationId xmlns:p14="http://schemas.microsoft.com/office/powerpoint/2010/main" val="2043802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extLst>
      <p:ext uri="{BB962C8B-B14F-4D97-AF65-F5344CB8AC3E}">
        <p14:creationId xmlns:p14="http://schemas.microsoft.com/office/powerpoint/2010/main" val="1135954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10</a:t>
            </a:fld>
            <a:endParaRPr lang="zh-CN" altLang="en-US"/>
          </a:p>
        </p:txBody>
      </p:sp>
    </p:spTree>
    <p:extLst>
      <p:ext uri="{BB962C8B-B14F-4D97-AF65-F5344CB8AC3E}">
        <p14:creationId xmlns:p14="http://schemas.microsoft.com/office/powerpoint/2010/main" val="1541171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11</a:t>
            </a:fld>
            <a:endParaRPr lang="zh-CN" altLang="en-US"/>
          </a:p>
        </p:txBody>
      </p:sp>
    </p:spTree>
    <p:extLst>
      <p:ext uri="{BB962C8B-B14F-4D97-AF65-F5344CB8AC3E}">
        <p14:creationId xmlns:p14="http://schemas.microsoft.com/office/powerpoint/2010/main" val="100706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5"/>
          <p:cNvSpPr>
            <a:spLocks noGrp="1" noChangeArrowheads="1"/>
          </p:cNvSpPr>
          <p:nvPr>
            <p:ph type="sldNum" sz="quarter" idx="5"/>
          </p:nvPr>
        </p:nvSpPr>
        <p:spPr>
          <a:noFill/>
        </p:spPr>
        <p:txBody>
          <a:bodyPr/>
          <a:lstStyle/>
          <a:p>
            <a:fld id="{90D59CE4-1FD5-4D9E-B126-566742FED0ED}" type="slidenum">
              <a:rPr lang="en-US" altLang="zh-CN" smtClean="0"/>
              <a:pPr/>
              <a:t>12</a:t>
            </a:fld>
            <a:endParaRPr lang="en-US" altLang="zh-CN"/>
          </a:p>
        </p:txBody>
      </p:sp>
      <p:sp>
        <p:nvSpPr>
          <p:cNvPr id="98307" name="Rectangle 2"/>
          <p:cNvSpPr>
            <a:spLocks noGrp="1" noRot="1" noChangeAspect="1" noChangeArrowheads="1" noTextEdit="1"/>
          </p:cNvSpPr>
          <p:nvPr>
            <p:ph type="sldImg"/>
          </p:nvPr>
        </p:nvSpPr>
        <p:spPr>
          <a:xfrm>
            <a:off x="1909763" y="688975"/>
            <a:ext cx="3060700" cy="2295525"/>
          </a:xfrm>
          <a:ln cap="flat"/>
        </p:spPr>
      </p:sp>
      <p:sp>
        <p:nvSpPr>
          <p:cNvPr id="98308"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221389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5"/>
          <p:cNvSpPr>
            <a:spLocks noGrp="1" noChangeArrowheads="1"/>
          </p:cNvSpPr>
          <p:nvPr>
            <p:ph type="sldNum" sz="quarter" idx="5"/>
          </p:nvPr>
        </p:nvSpPr>
        <p:spPr>
          <a:noFill/>
        </p:spPr>
        <p:txBody>
          <a:bodyPr/>
          <a:lstStyle/>
          <a:p>
            <a:fld id="{BEC38AF2-1CD7-44BA-932D-6DEF0CC3E4C3}" type="slidenum">
              <a:rPr lang="en-US" altLang="zh-CN" smtClean="0"/>
              <a:pPr/>
              <a:t>13</a:t>
            </a:fld>
            <a:endParaRPr lang="en-US" altLang="zh-CN"/>
          </a:p>
        </p:txBody>
      </p:sp>
      <p:sp>
        <p:nvSpPr>
          <p:cNvPr id="99331" name="Rectangle 2"/>
          <p:cNvSpPr>
            <a:spLocks noGrp="1" noRot="1" noChangeAspect="1" noChangeArrowheads="1" noTextEdit="1"/>
          </p:cNvSpPr>
          <p:nvPr>
            <p:ph type="sldImg"/>
          </p:nvPr>
        </p:nvSpPr>
        <p:spPr>
          <a:xfrm>
            <a:off x="1909763" y="688975"/>
            <a:ext cx="3060700" cy="2295525"/>
          </a:xfrm>
          <a:ln cap="flat"/>
        </p:spPr>
      </p:sp>
      <p:sp>
        <p:nvSpPr>
          <p:cNvPr id="99332"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142930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5"/>
          <p:cNvSpPr>
            <a:spLocks noGrp="1" noChangeArrowheads="1"/>
          </p:cNvSpPr>
          <p:nvPr>
            <p:ph type="sldNum" sz="quarter" idx="5"/>
          </p:nvPr>
        </p:nvSpPr>
        <p:spPr>
          <a:noFill/>
        </p:spPr>
        <p:txBody>
          <a:bodyPr/>
          <a:lstStyle/>
          <a:p>
            <a:fld id="{BF4B360F-8BAD-4E23-A732-265577B1AC07}" type="slidenum">
              <a:rPr lang="en-US" altLang="zh-CN" smtClean="0"/>
              <a:pPr/>
              <a:t>15</a:t>
            </a:fld>
            <a:endParaRPr lang="en-US" altLang="zh-CN"/>
          </a:p>
        </p:txBody>
      </p:sp>
      <p:sp>
        <p:nvSpPr>
          <p:cNvPr id="153603" name="Rectangle 2"/>
          <p:cNvSpPr>
            <a:spLocks noGrp="1" noRot="1" noChangeAspect="1" noChangeArrowheads="1" noTextEdit="1"/>
          </p:cNvSpPr>
          <p:nvPr>
            <p:ph type="sldImg"/>
          </p:nvPr>
        </p:nvSpPr>
        <p:spPr>
          <a:xfrm>
            <a:off x="1947863" y="720725"/>
            <a:ext cx="2984500" cy="2238375"/>
          </a:xfrm>
          <a:ln cap="flat"/>
        </p:spPr>
      </p:sp>
      <p:sp>
        <p:nvSpPr>
          <p:cNvPr id="153604" name="Rectangle 3"/>
          <p:cNvSpPr>
            <a:spLocks noGrp="1" noChangeArrowheads="1"/>
          </p:cNvSpPr>
          <p:nvPr>
            <p:ph type="body" idx="1"/>
          </p:nvPr>
        </p:nvSpPr>
        <p:spPr>
          <a:xfrm>
            <a:off x="578461" y="3115115"/>
            <a:ext cx="5955524" cy="6508237"/>
          </a:xfrm>
          <a:noFill/>
          <a:ln/>
        </p:spPr>
        <p:txBody>
          <a:bodyPr lIns="102092" tIns="52869" rIns="102092" bIns="52869"/>
          <a:lstStyle/>
          <a:p>
            <a:pPr defTabSz="1066140"/>
            <a:endParaRPr lang="zh-CN" altLang="zh-CN" dirty="0"/>
          </a:p>
        </p:txBody>
      </p:sp>
    </p:spTree>
    <p:extLst>
      <p:ext uri="{BB962C8B-B14F-4D97-AF65-F5344CB8AC3E}">
        <p14:creationId xmlns:p14="http://schemas.microsoft.com/office/powerpoint/2010/main" val="1380678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5"/>
          <p:cNvSpPr>
            <a:spLocks noGrp="1" noChangeArrowheads="1"/>
          </p:cNvSpPr>
          <p:nvPr>
            <p:ph type="sldNum" sz="quarter" idx="5"/>
          </p:nvPr>
        </p:nvSpPr>
        <p:spPr>
          <a:noFill/>
        </p:spPr>
        <p:txBody>
          <a:bodyPr/>
          <a:lstStyle/>
          <a:p>
            <a:fld id="{D717BD10-D881-4628-9391-C8F7E00FC9FF}" type="slidenum">
              <a:rPr lang="en-US" altLang="zh-CN" smtClean="0"/>
              <a:pPr/>
              <a:t>16</a:t>
            </a:fld>
            <a:endParaRPr lang="en-US" altLang="zh-CN"/>
          </a:p>
        </p:txBody>
      </p:sp>
      <p:sp>
        <p:nvSpPr>
          <p:cNvPr id="154627" name="Rectangle 2"/>
          <p:cNvSpPr>
            <a:spLocks noGrp="1" noRot="1" noChangeAspect="1" noChangeArrowheads="1" noTextEdit="1"/>
          </p:cNvSpPr>
          <p:nvPr>
            <p:ph type="sldImg"/>
          </p:nvPr>
        </p:nvSpPr>
        <p:spPr>
          <a:xfrm>
            <a:off x="1947863" y="720725"/>
            <a:ext cx="2984500" cy="2238375"/>
          </a:xfrm>
          <a:ln cap="flat"/>
        </p:spPr>
      </p:sp>
      <p:sp>
        <p:nvSpPr>
          <p:cNvPr id="154628" name="Rectangle 3"/>
          <p:cNvSpPr>
            <a:spLocks noGrp="1" noChangeArrowheads="1"/>
          </p:cNvSpPr>
          <p:nvPr>
            <p:ph type="body" idx="1"/>
          </p:nvPr>
        </p:nvSpPr>
        <p:spPr>
          <a:xfrm>
            <a:off x="578461" y="3115115"/>
            <a:ext cx="5955524" cy="6508237"/>
          </a:xfrm>
          <a:noFill/>
          <a:ln/>
        </p:spPr>
        <p:txBody>
          <a:bodyPr lIns="102092" tIns="52869" rIns="102092" bIns="52869"/>
          <a:lstStyle/>
          <a:p>
            <a:pPr defTabSz="1066140"/>
            <a:endParaRPr lang="zh-CN" altLang="zh-CN" dirty="0"/>
          </a:p>
        </p:txBody>
      </p:sp>
    </p:spTree>
    <p:extLst>
      <p:ext uri="{BB962C8B-B14F-4D97-AF65-F5344CB8AC3E}">
        <p14:creationId xmlns:p14="http://schemas.microsoft.com/office/powerpoint/2010/main" val="2464282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68BBDFF6-09F2-4148-9FBE-EAEC59E6E8F5}" type="slidenum">
              <a:rPr lang="zh-CN" altLang="en-US" smtClean="0"/>
              <a:pPr>
                <a:defRPr/>
              </a:pPr>
              <a:t>17</a:t>
            </a:fld>
            <a:endParaRPr lang="en-US" altLang="zh-CN"/>
          </a:p>
        </p:txBody>
      </p:sp>
    </p:spTree>
    <p:extLst>
      <p:ext uri="{BB962C8B-B14F-4D97-AF65-F5344CB8AC3E}">
        <p14:creationId xmlns:p14="http://schemas.microsoft.com/office/powerpoint/2010/main" val="637798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度量帮助过程的实践者了解过程状态，理解过程偏差。</a:t>
            </a:r>
            <a:endParaRPr lang="en-US" altLang="zh-CN" sz="1200" kern="1200" dirty="0">
              <a:solidFill>
                <a:schemeClr val="tx1"/>
              </a:solidFill>
              <a:latin typeface="+mn-lt"/>
              <a:ea typeface="+mn-ea"/>
              <a:cs typeface="+mn-cs"/>
            </a:endParaRPr>
          </a:p>
          <a:p>
            <a:pPr lvl="0"/>
            <a:r>
              <a:rPr lang="zh-CN" altLang="en-US" dirty="0"/>
              <a:t>选择的规模度量方式必须反映开发成本；</a:t>
            </a:r>
          </a:p>
          <a:p>
            <a:pPr lvl="0"/>
            <a:r>
              <a:rPr lang="zh-CN" altLang="en-US" dirty="0"/>
              <a:t>选择的度量方式必须精确；</a:t>
            </a:r>
          </a:p>
          <a:p>
            <a:pPr lvl="0"/>
            <a:r>
              <a:rPr lang="zh-CN" altLang="en-US" dirty="0"/>
              <a:t>选择的度量方式必须能用自动化方法来统计；</a:t>
            </a:r>
          </a:p>
          <a:p>
            <a:pPr lvl="0"/>
            <a:r>
              <a:rPr lang="zh-CN" altLang="en-US" dirty="0"/>
              <a:t>选择的度量方式必须有助于早期规划；</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19</a:t>
            </a:fld>
            <a:endParaRPr lang="zh-CN" altLang="en-US"/>
          </a:p>
        </p:txBody>
      </p:sp>
    </p:spTree>
    <p:extLst>
      <p:ext uri="{BB962C8B-B14F-4D97-AF65-F5344CB8AC3E}">
        <p14:creationId xmlns:p14="http://schemas.microsoft.com/office/powerpoint/2010/main" val="1387549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20</a:t>
            </a:fld>
            <a:endParaRPr lang="zh-CN" altLang="en-US"/>
          </a:p>
        </p:txBody>
      </p:sp>
    </p:spTree>
    <p:extLst>
      <p:ext uri="{BB962C8B-B14F-4D97-AF65-F5344CB8AC3E}">
        <p14:creationId xmlns:p14="http://schemas.microsoft.com/office/powerpoint/2010/main" val="38427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23</a:t>
            </a:fld>
            <a:endParaRPr lang="zh-CN" altLang="en-US"/>
          </a:p>
        </p:txBody>
      </p:sp>
    </p:spTree>
    <p:extLst>
      <p:ext uri="{BB962C8B-B14F-4D97-AF65-F5344CB8AC3E}">
        <p14:creationId xmlns:p14="http://schemas.microsoft.com/office/powerpoint/2010/main" val="40227854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前者描述了项目所有的任务清单、任务之间的先后顺序以及每个任务所需时间资源；后者描述了整个各个任务在日程上的安排，即各个任务计划哪天开始和计划哪天结束。</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24</a:t>
            </a:fld>
            <a:endParaRPr lang="zh-CN" altLang="en-US"/>
          </a:p>
        </p:txBody>
      </p:sp>
    </p:spTree>
    <p:extLst>
      <p:ext uri="{BB962C8B-B14F-4D97-AF65-F5344CB8AC3E}">
        <p14:creationId xmlns:p14="http://schemas.microsoft.com/office/powerpoint/2010/main" val="2990823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28</a:t>
            </a:fld>
            <a:endParaRPr lang="zh-CN" altLang="en-US"/>
          </a:p>
        </p:txBody>
      </p:sp>
    </p:spTree>
    <p:extLst>
      <p:ext uri="{BB962C8B-B14F-4D97-AF65-F5344CB8AC3E}">
        <p14:creationId xmlns:p14="http://schemas.microsoft.com/office/powerpoint/2010/main" val="2368366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正如</a:t>
            </a:r>
            <a:r>
              <a:rPr lang="en-US" altLang="zh-CN" sz="1200" kern="1200" dirty="0">
                <a:solidFill>
                  <a:schemeClr val="tx1"/>
                </a:solidFill>
                <a:latin typeface="+mn-lt"/>
                <a:ea typeface="+mn-ea"/>
                <a:cs typeface="+mn-cs"/>
              </a:rPr>
              <a:t>Brooks</a:t>
            </a:r>
            <a:r>
              <a:rPr lang="zh-CN" altLang="zh-CN" sz="1200" kern="1200" dirty="0">
                <a:solidFill>
                  <a:schemeClr val="tx1"/>
                </a:solidFill>
                <a:latin typeface="+mn-lt"/>
                <a:ea typeface="+mn-ea"/>
                <a:cs typeface="+mn-cs"/>
              </a:rPr>
              <a:t>在《人月神话》一书中指出的那样，项目延迟整整一年是一次延迟一天慢慢积累起来的。开展及时有效的项目跟踪就是期望及时发现项目实际进展与计划之间的偏差，及时处理这些偏差，从而消除累计的偏差对项目造成的负面影响。</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例如，在软件工程实践中，有一条流传非常广泛的经验总结，即向一个已经落后的项目中增加人手，往往导致项目更加落后。而在实践中，一旦出现项目落后的情况，往往都会采取增加人手的方法来应对。</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29</a:t>
            </a:fld>
            <a:endParaRPr lang="zh-CN" altLang="en-US"/>
          </a:p>
        </p:txBody>
      </p:sp>
    </p:spTree>
    <p:extLst>
      <p:ext uri="{BB962C8B-B14F-4D97-AF65-F5344CB8AC3E}">
        <p14:creationId xmlns:p14="http://schemas.microsoft.com/office/powerpoint/2010/main" val="14864607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zh-CN" sz="1200" kern="1200" dirty="0">
                <a:solidFill>
                  <a:schemeClr val="tx1"/>
                </a:solidFill>
                <a:latin typeface="+mn-lt"/>
                <a:ea typeface="+mn-ea"/>
                <a:cs typeface="+mn-cs"/>
              </a:rPr>
              <a:t>简单实现</a:t>
            </a:r>
          </a:p>
          <a:p>
            <a:r>
              <a:rPr lang="zh-CN" altLang="zh-CN" sz="1200" kern="1200" dirty="0">
                <a:solidFill>
                  <a:schemeClr val="tx1"/>
                </a:solidFill>
                <a:latin typeface="+mn-lt"/>
                <a:ea typeface="+mn-ea"/>
                <a:cs typeface="+mn-cs"/>
              </a:rPr>
              <a:t>这种方式仅仅关注进度信息。在实现时，首先需要建立</a:t>
            </a:r>
            <a:r>
              <a:rPr lang="en-US" altLang="zh-CN" sz="1200" kern="1200" dirty="0">
                <a:solidFill>
                  <a:schemeClr val="tx1"/>
                </a:solidFill>
                <a:latin typeface="+mn-lt"/>
                <a:ea typeface="+mn-ea"/>
                <a:cs typeface="+mn-cs"/>
              </a:rPr>
              <a:t>WBS</a:t>
            </a:r>
            <a:r>
              <a:rPr lang="zh-CN" altLang="zh-CN" sz="1200" kern="1200" dirty="0">
                <a:solidFill>
                  <a:schemeClr val="tx1"/>
                </a:solidFill>
                <a:latin typeface="+mn-lt"/>
                <a:ea typeface="+mn-ea"/>
                <a:cs typeface="+mn-cs"/>
              </a:rPr>
              <a:t>，定义工作范围；其次为</a:t>
            </a:r>
            <a:r>
              <a:rPr lang="en-US" altLang="zh-CN" sz="1200" kern="1200" dirty="0">
                <a:solidFill>
                  <a:schemeClr val="tx1"/>
                </a:solidFill>
                <a:latin typeface="+mn-lt"/>
                <a:ea typeface="+mn-ea"/>
                <a:cs typeface="+mn-cs"/>
              </a:rPr>
              <a:t>WBS</a:t>
            </a:r>
            <a:r>
              <a:rPr lang="zh-CN" altLang="zh-CN" sz="1200" kern="1200" dirty="0">
                <a:solidFill>
                  <a:schemeClr val="tx1"/>
                </a:solidFill>
                <a:latin typeface="+mn-lt"/>
                <a:ea typeface="+mn-ea"/>
                <a:cs typeface="+mn-cs"/>
              </a:rPr>
              <a:t>中每一项工作定义一个价值（</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）；最后按照一定的规则将某一数值赋给已经完成的工作或者正在进行的工作。常用规则分别为</a:t>
            </a:r>
            <a:r>
              <a:rPr lang="en-US" altLang="zh-CN" sz="1200" kern="1200" dirty="0">
                <a:solidFill>
                  <a:schemeClr val="tx1"/>
                </a:solidFill>
                <a:latin typeface="+mn-lt"/>
                <a:ea typeface="+mn-ea"/>
                <a:cs typeface="+mn-cs"/>
              </a:rPr>
              <a:t>0-100</a:t>
            </a:r>
            <a:r>
              <a:rPr lang="zh-CN" altLang="zh-CN" sz="1200" kern="1200" dirty="0">
                <a:solidFill>
                  <a:schemeClr val="tx1"/>
                </a:solidFill>
                <a:latin typeface="+mn-lt"/>
                <a:ea typeface="+mn-ea"/>
                <a:cs typeface="+mn-cs"/>
              </a:rPr>
              <a:t>规则和</a:t>
            </a:r>
            <a:r>
              <a:rPr lang="en-US" altLang="zh-CN" sz="1200" kern="1200" dirty="0">
                <a:solidFill>
                  <a:schemeClr val="tx1"/>
                </a:solidFill>
                <a:latin typeface="+mn-lt"/>
                <a:ea typeface="+mn-ea"/>
                <a:cs typeface="+mn-cs"/>
              </a:rPr>
              <a:t>50-50</a:t>
            </a:r>
            <a:r>
              <a:rPr lang="zh-CN" altLang="zh-CN" sz="1200" kern="1200" dirty="0">
                <a:solidFill>
                  <a:schemeClr val="tx1"/>
                </a:solidFill>
                <a:latin typeface="+mn-lt"/>
                <a:ea typeface="+mn-ea"/>
                <a:cs typeface="+mn-cs"/>
              </a:rPr>
              <a:t>规则，前者只有当某项任务完成时，该任务的</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值将转化成</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值；后者只需要开始某项任务，即可以赋原</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值的</a:t>
            </a:r>
            <a:r>
              <a:rPr lang="en-US" altLang="zh-CN" sz="1200" kern="1200" dirty="0">
                <a:solidFill>
                  <a:schemeClr val="tx1"/>
                </a:solidFill>
                <a:latin typeface="+mn-lt"/>
                <a:ea typeface="+mn-ea"/>
                <a:cs typeface="+mn-cs"/>
              </a:rPr>
              <a:t>50%</a:t>
            </a:r>
            <a:r>
              <a:rPr lang="zh-CN" altLang="zh-CN" sz="1200" kern="1200" dirty="0">
                <a:solidFill>
                  <a:schemeClr val="tx1"/>
                </a:solidFill>
                <a:latin typeface="+mn-lt"/>
                <a:ea typeface="+mn-ea"/>
                <a:cs typeface="+mn-cs"/>
              </a:rPr>
              <a:t>作为</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值，完成时，再加上另外的</a:t>
            </a:r>
            <a:r>
              <a:rPr lang="en-US" altLang="zh-CN" sz="1200" kern="1200" dirty="0">
                <a:solidFill>
                  <a:schemeClr val="tx1"/>
                </a:solidFill>
                <a:latin typeface="+mn-lt"/>
                <a:ea typeface="+mn-ea"/>
                <a:cs typeface="+mn-cs"/>
              </a:rPr>
              <a:t>50%</a:t>
            </a:r>
            <a:r>
              <a:rPr lang="zh-CN" altLang="zh-CN" sz="1200" kern="1200" dirty="0">
                <a:solidFill>
                  <a:schemeClr val="tx1"/>
                </a:solidFill>
                <a:latin typeface="+mn-lt"/>
                <a:ea typeface="+mn-ea"/>
                <a:cs typeface="+mn-cs"/>
              </a:rPr>
              <a:t>。而实际完成的工作所需成本</a:t>
            </a:r>
            <a:r>
              <a:rPr lang="en-US" altLang="zh-CN" sz="1200" kern="1200" dirty="0">
                <a:solidFill>
                  <a:schemeClr val="tx1"/>
                </a:solidFill>
                <a:latin typeface="+mn-lt"/>
                <a:ea typeface="+mn-ea"/>
                <a:cs typeface="+mn-cs"/>
              </a:rPr>
              <a:t>AC</a:t>
            </a:r>
            <a:r>
              <a:rPr lang="zh-CN" altLang="zh-CN" sz="1200" kern="1200" dirty="0">
                <a:solidFill>
                  <a:schemeClr val="tx1"/>
                </a:solidFill>
                <a:latin typeface="+mn-lt"/>
                <a:ea typeface="+mn-ea"/>
                <a:cs typeface="+mn-cs"/>
              </a:rPr>
              <a:t>不对</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值产生任何影响。</a:t>
            </a:r>
          </a:p>
          <a:p>
            <a:pPr lvl="0"/>
            <a:r>
              <a:rPr lang="zh-CN" altLang="zh-CN" sz="1200" kern="1200" dirty="0">
                <a:solidFill>
                  <a:schemeClr val="tx1"/>
                </a:solidFill>
                <a:latin typeface="+mn-lt"/>
                <a:ea typeface="+mn-ea"/>
                <a:cs typeface="+mn-cs"/>
              </a:rPr>
              <a:t>中级实现</a:t>
            </a:r>
          </a:p>
          <a:p>
            <a:r>
              <a:rPr lang="zh-CN" altLang="zh-CN" sz="1200" kern="1200" dirty="0">
                <a:solidFill>
                  <a:schemeClr val="tx1"/>
                </a:solidFill>
                <a:latin typeface="+mn-lt"/>
                <a:ea typeface="+mn-ea"/>
                <a:cs typeface="+mn-cs"/>
              </a:rPr>
              <a:t>在简单实现的基础上，加入日程偏差的计算。典型计算方式有：</a:t>
            </a:r>
          </a:p>
          <a:p>
            <a:pPr lvl="0"/>
            <a:r>
              <a:rPr lang="zh-CN" altLang="zh-CN" sz="1200" kern="1200" dirty="0">
                <a:solidFill>
                  <a:schemeClr val="tx1"/>
                </a:solidFill>
                <a:latin typeface="+mn-lt"/>
                <a:ea typeface="+mn-ea"/>
                <a:cs typeface="+mn-cs"/>
              </a:rPr>
              <a:t>日程偏差</a:t>
            </a:r>
            <a:r>
              <a:rPr lang="en-US" altLang="zh-CN" sz="1200" kern="1200" dirty="0">
                <a:solidFill>
                  <a:schemeClr val="tx1"/>
                </a:solidFill>
                <a:latin typeface="+mn-lt"/>
                <a:ea typeface="+mn-ea"/>
                <a:cs typeface="+mn-cs"/>
              </a:rPr>
              <a:t>SV = EV – PV;</a:t>
            </a:r>
            <a:endParaRPr lang="zh-CN" altLang="zh-CN" sz="1200" kern="1200" dirty="0">
              <a:solidFill>
                <a:schemeClr val="tx1"/>
              </a:solidFill>
              <a:latin typeface="+mn-lt"/>
              <a:ea typeface="+mn-ea"/>
              <a:cs typeface="+mn-cs"/>
            </a:endParaRPr>
          </a:p>
          <a:p>
            <a:pPr lvl="0"/>
            <a:r>
              <a:rPr lang="zh-CN" altLang="zh-CN" sz="1200" kern="1200" dirty="0">
                <a:solidFill>
                  <a:schemeClr val="tx1"/>
                </a:solidFill>
                <a:latin typeface="+mn-lt"/>
                <a:ea typeface="+mn-ea"/>
                <a:cs typeface="+mn-cs"/>
              </a:rPr>
              <a:t>日程偏差指数</a:t>
            </a:r>
            <a:r>
              <a:rPr lang="en-US" altLang="zh-CN" sz="1200" kern="1200" dirty="0">
                <a:solidFill>
                  <a:schemeClr val="tx1"/>
                </a:solidFill>
                <a:latin typeface="+mn-lt"/>
                <a:ea typeface="+mn-ea"/>
                <a:cs typeface="+mn-cs"/>
              </a:rPr>
              <a:t>SPI = EV/PV</a:t>
            </a:r>
            <a:r>
              <a:rPr lang="zh-CN" altLang="zh-CN" sz="1200" kern="1200" dirty="0">
                <a:solidFill>
                  <a:schemeClr val="tx1"/>
                </a:solidFill>
                <a:latin typeface="+mn-lt"/>
                <a:ea typeface="+mn-ea"/>
                <a:cs typeface="+mn-cs"/>
              </a:rPr>
              <a:t>；</a:t>
            </a:r>
          </a:p>
          <a:p>
            <a:pPr lvl="0"/>
            <a:r>
              <a:rPr lang="zh-CN" altLang="zh-CN" sz="1200" kern="1200" dirty="0">
                <a:solidFill>
                  <a:schemeClr val="tx1"/>
                </a:solidFill>
                <a:latin typeface="+mn-lt"/>
                <a:ea typeface="+mn-ea"/>
                <a:cs typeface="+mn-cs"/>
              </a:rPr>
              <a:t>高级实现</a:t>
            </a:r>
          </a:p>
          <a:p>
            <a:r>
              <a:rPr lang="zh-CN" altLang="zh-CN" sz="1200" kern="1200" dirty="0">
                <a:solidFill>
                  <a:schemeClr val="tx1"/>
                </a:solidFill>
                <a:latin typeface="+mn-lt"/>
                <a:ea typeface="+mn-ea"/>
                <a:cs typeface="+mn-cs"/>
              </a:rPr>
              <a:t>在中级实现的基础上，还需要考察项目的实际成本。</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30</a:t>
            </a:fld>
            <a:endParaRPr lang="zh-CN" altLang="en-US"/>
          </a:p>
        </p:txBody>
      </p:sp>
    </p:spTree>
    <p:extLst>
      <p:ext uri="{BB962C8B-B14F-4D97-AF65-F5344CB8AC3E}">
        <p14:creationId xmlns:p14="http://schemas.microsoft.com/office/powerpoint/2010/main" val="2430466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en-US" altLang="zh-CN" dirty="0"/>
              <a:t>BAC</a:t>
            </a:r>
            <a:r>
              <a:rPr lang="zh-CN" altLang="zh-CN" dirty="0"/>
              <a:t>表示按照</a:t>
            </a:r>
            <a:r>
              <a:rPr lang="en-US" altLang="zh-CN" dirty="0"/>
              <a:t>PV</a:t>
            </a:r>
            <a:r>
              <a:rPr lang="zh-CN" altLang="zh-CN" dirty="0"/>
              <a:t>值的曲线，当项目完成的时候所需预算或者时间。</a:t>
            </a:r>
          </a:p>
          <a:p>
            <a:pPr lvl="0"/>
            <a:r>
              <a:rPr lang="zh-CN" altLang="zh-CN" dirty="0"/>
              <a:t>成本差异</a:t>
            </a:r>
            <a:r>
              <a:rPr lang="en-US" altLang="zh-CN" dirty="0"/>
              <a:t>CV = EV-AC</a:t>
            </a:r>
            <a:r>
              <a:rPr lang="zh-CN" altLang="zh-CN" dirty="0"/>
              <a:t>，表示的是已经完成的工作与所消耗的成本的差异。可以表示为消耗的时间，也可以表示为消耗的资金。</a:t>
            </a:r>
          </a:p>
          <a:p>
            <a:pPr lvl="0"/>
            <a:r>
              <a:rPr lang="zh-CN" altLang="zh-CN" dirty="0"/>
              <a:t>成本差异指数</a:t>
            </a:r>
            <a:r>
              <a:rPr lang="en-US" altLang="zh-CN" dirty="0"/>
              <a:t>CPI = EV/AC</a:t>
            </a:r>
            <a:r>
              <a:rPr lang="zh-CN" altLang="zh-CN" dirty="0"/>
              <a:t>，表示单位成本创造的价值，很显然，</a:t>
            </a:r>
            <a:r>
              <a:rPr lang="en-US" altLang="zh-CN" dirty="0"/>
              <a:t>CPI&lt;1</a:t>
            </a:r>
            <a:r>
              <a:rPr lang="zh-CN" altLang="zh-CN" dirty="0"/>
              <a:t>说明成本超支；</a:t>
            </a:r>
            <a:r>
              <a:rPr lang="en-US" altLang="zh-CN" dirty="0"/>
              <a:t>CPI=1</a:t>
            </a:r>
            <a:r>
              <a:rPr lang="zh-CN" altLang="zh-CN" dirty="0"/>
              <a:t>说明成本与预期一致；</a:t>
            </a:r>
            <a:r>
              <a:rPr lang="en-US" altLang="zh-CN" dirty="0"/>
              <a:t>CPI&gt;1</a:t>
            </a:r>
            <a:r>
              <a:rPr lang="zh-CN" altLang="zh-CN" dirty="0"/>
              <a:t>说明成本低于预期。</a:t>
            </a:r>
          </a:p>
          <a:p>
            <a:pPr lvl="0"/>
            <a:r>
              <a:rPr lang="zh-CN" altLang="zh-CN" dirty="0"/>
              <a:t>日程偏差</a:t>
            </a:r>
            <a:r>
              <a:rPr lang="en-US" altLang="zh-CN" dirty="0"/>
              <a:t>SV = EV – PV</a:t>
            </a:r>
            <a:r>
              <a:rPr lang="zh-CN" altLang="zh-CN" dirty="0"/>
              <a:t>，表示进度偏差。显然</a:t>
            </a:r>
            <a:r>
              <a:rPr lang="en-US" altLang="zh-CN" dirty="0"/>
              <a:t>SV&lt;0</a:t>
            </a:r>
            <a:r>
              <a:rPr lang="zh-CN" altLang="zh-CN" dirty="0"/>
              <a:t>表示进度落后；</a:t>
            </a:r>
            <a:r>
              <a:rPr lang="en-US" altLang="zh-CN" dirty="0"/>
              <a:t>SV=0</a:t>
            </a:r>
            <a:r>
              <a:rPr lang="zh-CN" altLang="zh-CN" dirty="0"/>
              <a:t>表示进度正常；</a:t>
            </a:r>
            <a:r>
              <a:rPr lang="en-US" altLang="zh-CN" dirty="0"/>
              <a:t>SV&gt;0</a:t>
            </a:r>
            <a:r>
              <a:rPr lang="zh-CN" altLang="zh-CN" dirty="0"/>
              <a:t>表示进度超前。</a:t>
            </a:r>
          </a:p>
          <a:p>
            <a:pPr lvl="0"/>
            <a:r>
              <a:rPr lang="zh-CN" altLang="zh-CN" dirty="0"/>
              <a:t>日程偏差指数</a:t>
            </a:r>
            <a:r>
              <a:rPr lang="en-US" altLang="zh-CN" dirty="0"/>
              <a:t>SPI = EV/PV</a:t>
            </a:r>
            <a:r>
              <a:rPr lang="zh-CN" altLang="zh-CN" dirty="0"/>
              <a:t>。</a:t>
            </a:r>
          </a:p>
          <a:p>
            <a:r>
              <a:rPr lang="zh-CN" altLang="zh-CN" dirty="0"/>
              <a:t>预计完成成本</a:t>
            </a:r>
            <a:r>
              <a:rPr lang="en-US" altLang="zh-CN" dirty="0"/>
              <a:t>EAC = AC+(BAC-EV)/CPI = BAC/CPI</a:t>
            </a:r>
            <a:r>
              <a:rPr lang="zh-CN" altLang="zh-CN" dirty="0"/>
              <a:t>，表示的是按照目前的进展已经成本消耗情况，整个项目完成的时候所需消耗的成本。</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32</a:t>
            </a:fld>
            <a:endParaRPr lang="zh-CN" altLang="en-US"/>
          </a:p>
        </p:txBody>
      </p:sp>
    </p:spTree>
    <p:extLst>
      <p:ext uri="{BB962C8B-B14F-4D97-AF65-F5344CB8AC3E}">
        <p14:creationId xmlns:p14="http://schemas.microsoft.com/office/powerpoint/2010/main" val="547583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典型的用以表示里程碑的事件有完成某项工作、获得干系人签字认可、完成某产物的评审和修改或者交付某产物等。里程碑的作用除了表示某项工作的完成并借以体现工作的进度之外，里程碑也可用来考察项目其他方面的状态，如质量、性能甚至包括实现策略等。里程碑评审就是为了实现上述目标的活动。</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36</a:t>
            </a:fld>
            <a:endParaRPr lang="zh-CN" altLang="en-US"/>
          </a:p>
        </p:txBody>
      </p:sp>
    </p:spTree>
    <p:extLst>
      <p:ext uri="{BB962C8B-B14F-4D97-AF65-F5344CB8AC3E}">
        <p14:creationId xmlns:p14="http://schemas.microsoft.com/office/powerpoint/2010/main" val="1810114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对于项目各类计划进行跟踪的结果无非有两种，一种是项目按照计划在正常开展，另外一种是项目显著偏离了计划。前者不需要项目小组采取特别的措施，而后者则要求项目小组必须采取相应的纠偏措施，而且需要管理纠偏措施直到结项。当然，这里的显著偏离计划，往往要求项目小组根据实际情况定义一定的控制阈值。即当偏差超出阈值的时候，才需要采取措施。高级项目管理往往需要引入统计过程控制方法来识别阈值。</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38</a:t>
            </a:fld>
            <a:endParaRPr lang="zh-CN" altLang="en-US"/>
          </a:p>
        </p:txBody>
      </p:sp>
    </p:spTree>
    <p:extLst>
      <p:ext uri="{BB962C8B-B14F-4D97-AF65-F5344CB8AC3E}">
        <p14:creationId xmlns:p14="http://schemas.microsoft.com/office/powerpoint/2010/main" val="2370538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南京大学软件学院</a:t>
            </a:r>
            <a:endParaRPr lang="en-US" altLang="zh-CN" dirty="0">
              <a:ea typeface="宋体" pitchFamily="2" charset="-122"/>
            </a:endParaRPr>
          </a:p>
          <a:p>
            <a:pPr eaLnBrk="1" hangingPunct="1">
              <a:lnSpc>
                <a:spcPct val="90000"/>
              </a:lnSpc>
              <a:buFont typeface="Arial" charset="0"/>
              <a:buNone/>
            </a:pPr>
            <a:r>
              <a:rPr lang="en-US" altLang="zh-CN">
                <a:ea typeface="宋体" pitchFamily="2" charset="-122"/>
              </a:rPr>
              <a:t>2025 </a:t>
            </a:r>
            <a:r>
              <a:rPr lang="zh-CN" altLang="en-US" dirty="0">
                <a:ea typeface="宋体" pitchFamily="2" charset="-122"/>
              </a:rPr>
              <a:t>年 春</a:t>
            </a:r>
            <a:endParaRPr lang="en-US" altLang="zh-CN" dirty="0">
              <a:ea typeface="宋体" pitchFamily="2" charset="-122"/>
            </a:endParaRPr>
          </a:p>
          <a:p>
            <a:pPr eaLnBrk="1" hangingPunct="1">
              <a:lnSpc>
                <a:spcPct val="90000"/>
              </a:lnSpc>
              <a:buFont typeface="Arial" charset="0"/>
              <a:buNone/>
            </a:pPr>
            <a:endParaRPr lang="zh-CN" altLang="en-US"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dirty="0">
                <a:ea typeface="宋体" pitchFamily="2" charset="-122"/>
              </a:rPr>
              <a:t>软件质量与管理 第四讲</a:t>
            </a:r>
            <a:br>
              <a:rPr lang="en-US" altLang="zh-CN" dirty="0">
                <a:ea typeface="宋体" pitchFamily="2" charset="-122"/>
              </a:rPr>
            </a:br>
            <a:r>
              <a:rPr lang="zh-CN" altLang="en-US" sz="3600" dirty="0">
                <a:ea typeface="宋体" pitchFamily="2" charset="-122"/>
              </a:rPr>
              <a:t>估算、计划和跟踪</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solidFill>
                  <a:srgbClr val="FF0000"/>
                </a:solidFill>
              </a:rPr>
              <a:t>估算</a:t>
            </a:r>
            <a:endParaRPr lang="en-US" altLang="zh-CN" dirty="0">
              <a:solidFill>
                <a:srgbClr val="FF0000"/>
              </a:solidFill>
            </a:endParaRPr>
          </a:p>
          <a:p>
            <a:pPr lvl="1"/>
            <a:r>
              <a:rPr lang="zh-CN" altLang="en-US" dirty="0">
                <a:solidFill>
                  <a:srgbClr val="FF0000"/>
                </a:solidFill>
              </a:rPr>
              <a:t>估算概述</a:t>
            </a:r>
            <a:endParaRPr lang="en-US" altLang="zh-CN" dirty="0">
              <a:solidFill>
                <a:srgbClr val="FF0000"/>
              </a:solidFill>
            </a:endParaRPr>
          </a:p>
          <a:p>
            <a:pPr lvl="1"/>
            <a:r>
              <a:rPr lang="en-US" altLang="zh-CN" dirty="0">
                <a:solidFill>
                  <a:srgbClr val="FF0000"/>
                </a:solidFill>
              </a:rPr>
              <a:t>TSP/PSP</a:t>
            </a:r>
            <a:r>
              <a:rPr lang="zh-CN" altLang="en-US" dirty="0">
                <a:solidFill>
                  <a:srgbClr val="FF0000"/>
                </a:solidFill>
              </a:rPr>
              <a:t>和</a:t>
            </a:r>
            <a:r>
              <a:rPr lang="en-US" altLang="zh-CN" dirty="0">
                <a:solidFill>
                  <a:srgbClr val="FF0000"/>
                </a:solidFill>
              </a:rPr>
              <a:t>PROBE</a:t>
            </a:r>
          </a:p>
          <a:p>
            <a:pPr lvl="1"/>
            <a:r>
              <a:rPr lang="en-US" altLang="zh-CN" dirty="0">
                <a:solidFill>
                  <a:srgbClr val="FF0000"/>
                </a:solidFill>
              </a:rPr>
              <a:t>SCRUM</a:t>
            </a:r>
            <a:r>
              <a:rPr lang="zh-CN" altLang="en-US" dirty="0">
                <a:solidFill>
                  <a:srgbClr val="FF0000"/>
                </a:solidFill>
              </a:rPr>
              <a:t>和故事点</a:t>
            </a:r>
            <a:endParaRPr lang="en-US" altLang="zh-CN" dirty="0">
              <a:solidFill>
                <a:srgbClr val="FF0000"/>
              </a:solidFill>
            </a:endParaRPr>
          </a:p>
          <a:p>
            <a:r>
              <a:rPr lang="zh-CN" altLang="en-US" dirty="0"/>
              <a:t>计划和跟踪</a:t>
            </a:r>
            <a:endParaRPr lang="en-US" altLang="zh-CN" dirty="0"/>
          </a:p>
          <a:p>
            <a:pPr lvl="1"/>
            <a:r>
              <a:rPr lang="zh-CN" altLang="en-US" sz="2400" dirty="0"/>
              <a:t>团队项目规划</a:t>
            </a:r>
            <a:endParaRPr lang="en-US" altLang="zh-CN" sz="2400" dirty="0"/>
          </a:p>
          <a:p>
            <a:pPr marL="363538" lvl="1" indent="0">
              <a:buNone/>
            </a:pPr>
            <a:r>
              <a:rPr lang="zh-CN" altLang="en-US" sz="2400" i="1" dirty="0"/>
              <a:t>工作分解结构、开发策略与计划、生命周期模型、日程</a:t>
            </a:r>
            <a:r>
              <a:rPr lang="en-US" altLang="zh-CN" sz="2400" i="1" dirty="0"/>
              <a:t>/</a:t>
            </a:r>
            <a:r>
              <a:rPr lang="zh-CN" altLang="en-US" sz="2400" i="1" dirty="0"/>
              <a:t>质量</a:t>
            </a:r>
            <a:r>
              <a:rPr lang="en-US" altLang="zh-CN" sz="2400" i="1" dirty="0"/>
              <a:t>/</a:t>
            </a:r>
            <a:r>
              <a:rPr lang="zh-CN" altLang="en-US" sz="2400" i="1" dirty="0"/>
              <a:t>风险计划等</a:t>
            </a:r>
            <a:endParaRPr lang="en-US" altLang="zh-CN" sz="2400" i="1" dirty="0"/>
          </a:p>
          <a:p>
            <a:pPr lvl="1"/>
            <a:r>
              <a:rPr lang="zh-CN" altLang="en-US" sz="2400" dirty="0"/>
              <a:t>团队项目跟踪与管理</a:t>
            </a:r>
            <a:endParaRPr lang="en-US" altLang="zh-CN" sz="2400" dirty="0"/>
          </a:p>
          <a:p>
            <a:pPr marL="363538" lvl="1" indent="0">
              <a:buNone/>
            </a:pPr>
            <a:r>
              <a:rPr lang="zh-CN" altLang="en-US" sz="2400" i="1" dirty="0"/>
              <a:t>挣值管理、里程碑评审、纠偏活动管理</a:t>
            </a:r>
            <a:endParaRPr lang="en-US" altLang="zh-CN" sz="2400" i="1" dirty="0"/>
          </a:p>
          <a:p>
            <a:r>
              <a:rPr lang="zh-CN" altLang="en-US" sz="2800" dirty="0"/>
              <a:t>项目总结</a:t>
            </a:r>
            <a:endParaRPr lang="en-US" altLang="zh-CN" sz="2800" dirty="0"/>
          </a:p>
          <a:p>
            <a:pPr lvl="1"/>
            <a:endParaRPr lang="zh-CN" altLang="en-US" dirty="0"/>
          </a:p>
        </p:txBody>
      </p:sp>
    </p:spTree>
    <p:extLst>
      <p:ext uri="{BB962C8B-B14F-4D97-AF65-F5344CB8AC3E}">
        <p14:creationId xmlns:p14="http://schemas.microsoft.com/office/powerpoint/2010/main" val="401180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关于估算</a:t>
            </a:r>
            <a:endParaRPr lang="en-US" altLang="zh-CN" dirty="0"/>
          </a:p>
        </p:txBody>
      </p:sp>
      <p:sp>
        <p:nvSpPr>
          <p:cNvPr id="19459" name="Rectangle 3"/>
          <p:cNvSpPr>
            <a:spLocks noGrp="1" noChangeArrowheads="1"/>
          </p:cNvSpPr>
          <p:nvPr>
            <p:ph idx="1"/>
          </p:nvPr>
        </p:nvSpPr>
        <p:spPr>
          <a:xfrm>
            <a:off x="179512" y="1124744"/>
            <a:ext cx="7410450" cy="4818856"/>
          </a:xfrm>
        </p:spPr>
        <p:txBody>
          <a:bodyPr lIns="109538" tIns="52388" rIns="109538" bIns="52388"/>
          <a:lstStyle/>
          <a:p>
            <a:r>
              <a:rPr lang="zh-CN" altLang="en-US" dirty="0"/>
              <a:t>估算目的是给各类计划提供决策依据</a:t>
            </a:r>
            <a:endParaRPr lang="en-US" altLang="zh-CN" dirty="0"/>
          </a:p>
          <a:p>
            <a:r>
              <a:rPr lang="zh-CN" altLang="en-US" dirty="0"/>
              <a:t>估算对象（</a:t>
            </a:r>
            <a:r>
              <a:rPr lang="zh-CN" altLang="en-US" b="1" dirty="0"/>
              <a:t>规模、时间</a:t>
            </a:r>
            <a:r>
              <a:rPr lang="zh-CN" altLang="en-US" dirty="0"/>
              <a:t>和</a:t>
            </a:r>
            <a:r>
              <a:rPr lang="zh-CN" altLang="en-US" b="1" dirty="0"/>
              <a:t>日程</a:t>
            </a:r>
            <a:r>
              <a:rPr lang="zh-CN" altLang="en-US" dirty="0"/>
              <a:t>）</a:t>
            </a:r>
          </a:p>
          <a:p>
            <a:r>
              <a:rPr lang="zh-CN" altLang="en-US" dirty="0"/>
              <a:t>估算的常见困惑</a:t>
            </a:r>
            <a:endParaRPr lang="en-US" altLang="zh-CN" dirty="0"/>
          </a:p>
          <a:p>
            <a:pPr lvl="1"/>
            <a:r>
              <a:rPr lang="zh-CN" altLang="en-US" dirty="0"/>
              <a:t>项目交付日期、团队组成等都确定了，估算的意义在哪里？</a:t>
            </a:r>
            <a:endParaRPr lang="en-US" altLang="zh-CN" dirty="0"/>
          </a:p>
          <a:p>
            <a:pPr lvl="1"/>
            <a:r>
              <a:rPr lang="zh-CN" altLang="en-US" dirty="0"/>
              <a:t>哪种估算方法好？</a:t>
            </a:r>
            <a:endParaRPr lang="en-US" altLang="zh-CN" dirty="0"/>
          </a:p>
          <a:p>
            <a:pPr lvl="1"/>
            <a:r>
              <a:rPr lang="zh-CN" altLang="en-US" dirty="0"/>
              <a:t>哪个估算结果更好（靠谱）？</a:t>
            </a:r>
            <a:endParaRPr lang="en-US" altLang="zh-CN" dirty="0"/>
          </a:p>
          <a:p>
            <a:pPr lvl="1"/>
            <a:r>
              <a:rPr lang="zh-CN" altLang="en-US" dirty="0"/>
              <a:t>究竟该如何做好估算？</a:t>
            </a:r>
            <a:endParaRPr lang="en-US" altLang="zh-CN" dirty="0"/>
          </a:p>
          <a:p>
            <a:pPr lvl="1"/>
            <a:r>
              <a:rPr lang="en-US" altLang="zh-CN" dirty="0"/>
              <a:t>……</a:t>
            </a:r>
            <a:endParaRPr lang="zh-CN" altLang="en-US" dirty="0"/>
          </a:p>
        </p:txBody>
      </p:sp>
    </p:spTree>
    <p:extLst>
      <p:ext uri="{BB962C8B-B14F-4D97-AF65-F5344CB8AC3E}">
        <p14:creationId xmlns:p14="http://schemas.microsoft.com/office/powerpoint/2010/main" val="3988537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估算练习 </a:t>
            </a:r>
            <a:r>
              <a:rPr lang="en-US" altLang="zh-CN" dirty="0"/>
              <a:t>-1</a:t>
            </a:r>
            <a:endParaRPr lang="zh-CN" altLang="en-US" dirty="0"/>
          </a:p>
        </p:txBody>
      </p:sp>
      <p:sp>
        <p:nvSpPr>
          <p:cNvPr id="3" name="内容占位符 2"/>
          <p:cNvSpPr>
            <a:spLocks noGrp="1"/>
          </p:cNvSpPr>
          <p:nvPr>
            <p:ph idx="1"/>
          </p:nvPr>
        </p:nvSpPr>
        <p:spPr/>
        <p:txBody>
          <a:bodyPr/>
          <a:lstStyle/>
          <a:p>
            <a:r>
              <a:rPr lang="zh-CN" altLang="en-US" i="1" dirty="0"/>
              <a:t>计算一组实数的均值和标准差，用</a:t>
            </a:r>
            <a:r>
              <a:rPr lang="en-US" altLang="zh-CN" i="1" dirty="0"/>
              <a:t>JAVA</a:t>
            </a:r>
            <a:r>
              <a:rPr lang="zh-CN" altLang="en-US" i="1" dirty="0"/>
              <a:t>程序读取文本文件中的一组实数，然后计算其均值和标准差</a:t>
            </a:r>
            <a:endParaRPr lang="en-US" altLang="zh-CN" i="1" dirty="0"/>
          </a:p>
          <a:p>
            <a:endParaRPr lang="en-US" altLang="zh-CN" i="1" dirty="0"/>
          </a:p>
          <a:p>
            <a:r>
              <a:rPr lang="zh-CN" altLang="en-US" dirty="0"/>
              <a:t>试估算代码行和所需开发时间（分钟）</a:t>
            </a:r>
            <a:endParaRPr lang="en-US" altLang="zh-CN" dirty="0"/>
          </a:p>
          <a:p>
            <a:pPr lvl="1"/>
            <a:r>
              <a:rPr lang="zh-CN" altLang="en-US" dirty="0"/>
              <a:t>代码行？</a:t>
            </a:r>
            <a:endParaRPr lang="en-US" altLang="zh-CN" dirty="0"/>
          </a:p>
          <a:p>
            <a:pPr lvl="1"/>
            <a:r>
              <a:rPr lang="zh-CN" altLang="en-US" dirty="0"/>
              <a:t>开发时间？</a:t>
            </a:r>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1069117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关于估算的一些事实</a:t>
            </a:r>
          </a:p>
        </p:txBody>
      </p:sp>
      <p:sp>
        <p:nvSpPr>
          <p:cNvPr id="19459" name="Rectangle 3"/>
          <p:cNvSpPr>
            <a:spLocks noGrp="1" noChangeArrowheads="1"/>
          </p:cNvSpPr>
          <p:nvPr>
            <p:ph idx="1"/>
          </p:nvPr>
        </p:nvSpPr>
        <p:spPr>
          <a:xfrm>
            <a:off x="179512" y="1124744"/>
            <a:ext cx="8659688" cy="2837656"/>
          </a:xfrm>
        </p:spPr>
        <p:txBody>
          <a:bodyPr lIns="109538" tIns="52388" rIns="109538" bIns="52388"/>
          <a:lstStyle/>
          <a:p>
            <a:r>
              <a:rPr lang="zh-CN" altLang="en-US" dirty="0"/>
              <a:t>估算是主观猜测</a:t>
            </a:r>
            <a:endParaRPr lang="en-US" altLang="zh-CN" dirty="0"/>
          </a:p>
          <a:p>
            <a:r>
              <a:rPr lang="zh-CN" altLang="en-US" dirty="0"/>
              <a:t>估算能力很难提升</a:t>
            </a:r>
            <a:endParaRPr lang="en-US" altLang="zh-CN" dirty="0"/>
          </a:p>
          <a:p>
            <a:r>
              <a:rPr lang="zh-CN" altLang="en-US" dirty="0"/>
              <a:t>没有任何人知道准确的数字究竟是什么</a:t>
            </a:r>
            <a:endParaRPr lang="en-US" altLang="zh-CN" dirty="0"/>
          </a:p>
          <a:p>
            <a:r>
              <a:rPr lang="zh-CN" altLang="en-US" dirty="0"/>
              <a:t>多项实证研究表明，是否使用估算模型（例如，</a:t>
            </a:r>
            <a:r>
              <a:rPr lang="en-US" altLang="zh-CN" dirty="0"/>
              <a:t>COCOMO</a:t>
            </a:r>
            <a:r>
              <a:rPr lang="zh-CN" altLang="en-US" dirty="0"/>
              <a:t>）并没有显著差异</a:t>
            </a:r>
          </a:p>
        </p:txBody>
      </p:sp>
      <p:sp>
        <p:nvSpPr>
          <p:cNvPr id="2" name="文本框 1">
            <a:extLst>
              <a:ext uri="{FF2B5EF4-FFF2-40B4-BE49-F238E27FC236}">
                <a16:creationId xmlns:a16="http://schemas.microsoft.com/office/drawing/2014/main" id="{D9F99C7A-E9E0-CF46-A6B9-95EEB235A0EA}"/>
              </a:ext>
            </a:extLst>
          </p:cNvPr>
          <p:cNvSpPr txBox="1"/>
          <p:nvPr/>
        </p:nvSpPr>
        <p:spPr>
          <a:xfrm>
            <a:off x="696439" y="4648200"/>
            <a:ext cx="7751122" cy="923330"/>
          </a:xfrm>
          <a:prstGeom prst="rect">
            <a:avLst/>
          </a:prstGeom>
          <a:noFill/>
        </p:spPr>
        <p:txBody>
          <a:bodyPr wrap="square" rtlCol="0">
            <a:spAutoFit/>
          </a:bodyPr>
          <a:lstStyle/>
          <a:p>
            <a:r>
              <a:rPr lang="zh-CN" altLang="en-US" sz="5400" dirty="0">
                <a:solidFill>
                  <a:srgbClr val="FF0000"/>
                </a:solidFill>
              </a:rPr>
              <a:t>那究竟该如何做软件估算？</a:t>
            </a:r>
            <a:endParaRPr kumimoji="1" lang="zh-CN" altLang="en-US" sz="5400" dirty="0">
              <a:solidFill>
                <a:srgbClr val="FF0000"/>
              </a:solidFill>
            </a:endParaRPr>
          </a:p>
        </p:txBody>
      </p:sp>
    </p:spTree>
    <p:extLst>
      <p:ext uri="{BB962C8B-B14F-4D97-AF65-F5344CB8AC3E}">
        <p14:creationId xmlns:p14="http://schemas.microsoft.com/office/powerpoint/2010/main" val="3981681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部分相关知识点回顾</a:t>
            </a:r>
            <a:endParaRPr lang="en-US" altLang="zh-CN" dirty="0"/>
          </a:p>
        </p:txBody>
      </p:sp>
      <p:sp>
        <p:nvSpPr>
          <p:cNvPr id="19459" name="Rectangle 3"/>
          <p:cNvSpPr>
            <a:spLocks noGrp="1" noChangeArrowheads="1"/>
          </p:cNvSpPr>
          <p:nvPr>
            <p:ph idx="1"/>
          </p:nvPr>
        </p:nvSpPr>
        <p:spPr>
          <a:xfrm>
            <a:off x="179512" y="1124744"/>
            <a:ext cx="8888288" cy="4570412"/>
          </a:xfrm>
        </p:spPr>
        <p:txBody>
          <a:bodyPr lIns="109538" tIns="52388" rIns="109538" bIns="52388"/>
          <a:lstStyle/>
          <a:p>
            <a:r>
              <a:rPr lang="zh-CN" altLang="en-US" dirty="0"/>
              <a:t>软件开发是知识工作</a:t>
            </a:r>
            <a:r>
              <a:rPr lang="en-US" altLang="zh-CN" dirty="0"/>
              <a:t>——</a:t>
            </a:r>
            <a:r>
              <a:rPr lang="zh-CN" altLang="en-US" dirty="0"/>
              <a:t>可重复性不高</a:t>
            </a:r>
            <a:endParaRPr lang="en-US" altLang="zh-CN" dirty="0"/>
          </a:p>
          <a:p>
            <a:r>
              <a:rPr lang="zh-CN" altLang="en-US" dirty="0"/>
              <a:t>软件工程师是知识工作者，需要被激励</a:t>
            </a:r>
            <a:endParaRPr lang="en-US" altLang="zh-CN" dirty="0"/>
          </a:p>
          <a:p>
            <a:pPr marL="0" indent="0">
              <a:buNone/>
            </a:pPr>
            <a:endParaRPr lang="en-US" altLang="zh-CN" dirty="0"/>
          </a:p>
          <a:p>
            <a:pPr marL="0" indent="0">
              <a:buNone/>
            </a:pPr>
            <a:endParaRPr lang="en-US" altLang="zh-CN" dirty="0"/>
          </a:p>
          <a:p>
            <a:r>
              <a:rPr lang="zh-CN" altLang="en-US" dirty="0"/>
              <a:t>激励理论的两大因素：</a:t>
            </a:r>
            <a:endParaRPr lang="en-US" altLang="zh-CN" dirty="0"/>
          </a:p>
          <a:p>
            <a:pPr lvl="1"/>
            <a:r>
              <a:rPr lang="en-US" altLang="zh-CN" sz="3200" dirty="0"/>
              <a:t>V</a:t>
            </a:r>
            <a:r>
              <a:rPr lang="zh-CN" altLang="en-US" sz="3200" dirty="0"/>
              <a:t>（价值）</a:t>
            </a:r>
            <a:endParaRPr lang="en-US" altLang="zh-CN" sz="3200" dirty="0"/>
          </a:p>
          <a:p>
            <a:pPr lvl="1"/>
            <a:r>
              <a:rPr lang="en-US" altLang="zh-CN" sz="3200" b="1" dirty="0">
                <a:solidFill>
                  <a:srgbClr val="FF0000"/>
                </a:solidFill>
              </a:rPr>
              <a:t>E</a:t>
            </a:r>
            <a:r>
              <a:rPr lang="zh-CN" altLang="en-US" sz="3200" b="1" dirty="0">
                <a:solidFill>
                  <a:srgbClr val="FF0000"/>
                </a:solidFill>
              </a:rPr>
              <a:t>（期望</a:t>
            </a:r>
            <a:r>
              <a:rPr lang="en-US" altLang="zh-CN" sz="3200" b="1" dirty="0">
                <a:solidFill>
                  <a:srgbClr val="FF0000"/>
                </a:solidFill>
              </a:rPr>
              <a:t>/</a:t>
            </a:r>
            <a:r>
              <a:rPr lang="zh-CN" altLang="en-US" sz="3200" b="1" dirty="0">
                <a:solidFill>
                  <a:srgbClr val="FF0000"/>
                </a:solidFill>
              </a:rPr>
              <a:t>把握）</a:t>
            </a:r>
          </a:p>
        </p:txBody>
      </p:sp>
      <p:sp>
        <p:nvSpPr>
          <p:cNvPr id="5" name="文本框 4">
            <a:extLst>
              <a:ext uri="{FF2B5EF4-FFF2-40B4-BE49-F238E27FC236}">
                <a16:creationId xmlns:a16="http://schemas.microsoft.com/office/drawing/2014/main" id="{A51E1A25-90DE-9D40-B110-5BF4BBFF51AA}"/>
              </a:ext>
            </a:extLst>
          </p:cNvPr>
          <p:cNvSpPr txBox="1"/>
          <p:nvPr/>
        </p:nvSpPr>
        <p:spPr>
          <a:xfrm>
            <a:off x="990600" y="2554069"/>
            <a:ext cx="6629400" cy="646331"/>
          </a:xfrm>
          <a:prstGeom prst="rect">
            <a:avLst/>
          </a:prstGeom>
          <a:noFill/>
        </p:spPr>
        <p:txBody>
          <a:bodyPr wrap="square">
            <a:spAutoFit/>
          </a:bodyPr>
          <a:lstStyle/>
          <a:p>
            <a:r>
              <a:rPr lang="zh-CN" altLang="en-US" sz="3600" b="1" dirty="0">
                <a:solidFill>
                  <a:srgbClr val="FF0000"/>
                </a:solidFill>
                <a:latin typeface="+mn-lt"/>
                <a:ea typeface="黑体" pitchFamily="49" charset="-122"/>
              </a:rPr>
              <a:t>激励程度 </a:t>
            </a:r>
            <a:r>
              <a:rPr lang="en-US" altLang="zh-CN" sz="3600" b="1" dirty="0">
                <a:solidFill>
                  <a:srgbClr val="FF0000"/>
                </a:solidFill>
                <a:latin typeface="+mn-lt"/>
                <a:ea typeface="黑体" pitchFamily="49" charset="-122"/>
              </a:rPr>
              <a:t>M</a:t>
            </a:r>
            <a:r>
              <a:rPr lang="zh-CN" altLang="en-US" sz="3600" b="1" dirty="0">
                <a:solidFill>
                  <a:srgbClr val="FF0000"/>
                </a:solidFill>
                <a:latin typeface="+mn-lt"/>
                <a:ea typeface="黑体" pitchFamily="49" charset="-122"/>
              </a:rPr>
              <a:t> </a:t>
            </a:r>
            <a:r>
              <a:rPr lang="en-US" altLang="zh-CN" sz="3600" b="1" dirty="0">
                <a:solidFill>
                  <a:srgbClr val="FF0000"/>
                </a:solidFill>
                <a:latin typeface="+mn-lt"/>
                <a:ea typeface="黑体" pitchFamily="49" charset="-122"/>
              </a:rPr>
              <a:t>=</a:t>
            </a:r>
            <a:r>
              <a:rPr lang="zh-CN" altLang="en-US" sz="3600" b="1" dirty="0">
                <a:solidFill>
                  <a:srgbClr val="FF0000"/>
                </a:solidFill>
                <a:latin typeface="+mn-lt"/>
                <a:ea typeface="黑体" pitchFamily="49" charset="-122"/>
              </a:rPr>
              <a:t> </a:t>
            </a:r>
            <a:r>
              <a:rPr lang="en-US" altLang="zh-CN" sz="3600" b="1" dirty="0">
                <a:solidFill>
                  <a:srgbClr val="FF0000"/>
                </a:solidFill>
                <a:latin typeface="+mn-lt"/>
                <a:ea typeface="黑体" pitchFamily="49" charset="-122"/>
              </a:rPr>
              <a:t>V</a:t>
            </a:r>
            <a:r>
              <a:rPr lang="zh-CN" altLang="en-US" sz="3600" b="1" dirty="0">
                <a:solidFill>
                  <a:srgbClr val="FF0000"/>
                </a:solidFill>
                <a:latin typeface="+mn-lt"/>
                <a:ea typeface="黑体" pitchFamily="49" charset="-122"/>
              </a:rPr>
              <a:t> * </a:t>
            </a:r>
            <a:r>
              <a:rPr lang="en-US" altLang="zh-CN" sz="3600" b="1" dirty="0">
                <a:solidFill>
                  <a:srgbClr val="FF0000"/>
                </a:solidFill>
                <a:latin typeface="+mn-lt"/>
                <a:ea typeface="黑体" pitchFamily="49" charset="-122"/>
              </a:rPr>
              <a:t>E</a:t>
            </a:r>
            <a:endParaRPr lang="zh-CN" altLang="en-US" sz="3600" b="1" dirty="0">
              <a:solidFill>
                <a:srgbClr val="FF0000"/>
              </a:solidFill>
              <a:latin typeface="+mn-lt"/>
              <a:ea typeface="黑体" pitchFamily="49" charset="-122"/>
            </a:endParaRPr>
          </a:p>
        </p:txBody>
      </p:sp>
    </p:spTree>
    <p:extLst>
      <p:ext uri="{BB962C8B-B14F-4D97-AF65-F5344CB8AC3E}">
        <p14:creationId xmlns:p14="http://schemas.microsoft.com/office/powerpoint/2010/main" val="2973234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PROBE</a:t>
            </a:r>
            <a:r>
              <a:rPr lang="zh-CN" altLang="en-US" dirty="0"/>
              <a:t>估算方法</a:t>
            </a:r>
          </a:p>
        </p:txBody>
      </p:sp>
      <p:sp>
        <p:nvSpPr>
          <p:cNvPr id="3" name="内容占位符 2"/>
          <p:cNvSpPr>
            <a:spLocks noGrp="1"/>
          </p:cNvSpPr>
          <p:nvPr>
            <p:ph idx="1"/>
          </p:nvPr>
        </p:nvSpPr>
        <p:spPr>
          <a:xfrm>
            <a:off x="0" y="1085850"/>
            <a:ext cx="9144000" cy="4686300"/>
          </a:xfrm>
        </p:spPr>
        <p:txBody>
          <a:bodyPr/>
          <a:lstStyle/>
          <a:p>
            <a:r>
              <a:rPr lang="zh-CN" altLang="en-US" dirty="0"/>
              <a:t>规模度量</a:t>
            </a:r>
            <a:r>
              <a:rPr lang="en-US" altLang="zh-CN" dirty="0"/>
              <a:t>/</a:t>
            </a:r>
            <a:r>
              <a:rPr lang="zh-CN" altLang="en-US" dirty="0"/>
              <a:t>估算的困境</a:t>
            </a:r>
            <a:endParaRPr lang="en-US" altLang="zh-CN" dirty="0"/>
          </a:p>
          <a:p>
            <a:pPr lvl="1"/>
            <a:r>
              <a:rPr lang="zh-CN" altLang="en-US" dirty="0"/>
              <a:t>以 </a:t>
            </a:r>
            <a:r>
              <a:rPr lang="en-US" altLang="zh-CN" dirty="0"/>
              <a:t>LOC </a:t>
            </a:r>
            <a:r>
              <a:rPr lang="zh-CN" altLang="en-US" dirty="0"/>
              <a:t> </a:t>
            </a:r>
            <a:r>
              <a:rPr lang="en-US" altLang="zh-CN" dirty="0"/>
              <a:t>VS. </a:t>
            </a:r>
            <a:r>
              <a:rPr lang="zh-CN" altLang="en-US" dirty="0"/>
              <a:t> </a:t>
            </a:r>
            <a:r>
              <a:rPr lang="en-US" altLang="zh-CN" dirty="0"/>
              <a:t>FP</a:t>
            </a:r>
            <a:r>
              <a:rPr lang="zh-CN" altLang="en-US" dirty="0"/>
              <a:t> 为例</a:t>
            </a:r>
            <a:endParaRPr lang="en-US" altLang="zh-CN" dirty="0"/>
          </a:p>
          <a:p>
            <a:pPr lvl="2"/>
            <a:r>
              <a:rPr lang="zh-CN" altLang="en-US" dirty="0">
                <a:solidFill>
                  <a:srgbClr val="FF0000"/>
                </a:solidFill>
              </a:rPr>
              <a:t>精确度量</a:t>
            </a:r>
            <a:r>
              <a:rPr lang="zh-CN" altLang="en-US" dirty="0"/>
              <a:t>方式往往不便于</a:t>
            </a:r>
            <a:r>
              <a:rPr lang="zh-CN" altLang="en-US" dirty="0">
                <a:solidFill>
                  <a:srgbClr val="FF0000"/>
                </a:solidFill>
              </a:rPr>
              <a:t>早期规划</a:t>
            </a:r>
            <a:r>
              <a:rPr lang="en-US" altLang="zh-CN" dirty="0"/>
              <a:t>/</a:t>
            </a:r>
            <a:r>
              <a:rPr lang="zh-CN" altLang="en-US" dirty="0"/>
              <a:t>估算；</a:t>
            </a:r>
          </a:p>
          <a:p>
            <a:pPr lvl="2"/>
            <a:r>
              <a:rPr lang="zh-CN" altLang="en-US" dirty="0"/>
              <a:t>有助于</a:t>
            </a:r>
            <a:r>
              <a:rPr lang="zh-CN" altLang="en-US" dirty="0">
                <a:solidFill>
                  <a:srgbClr val="FF0000"/>
                </a:solidFill>
              </a:rPr>
              <a:t>早期规划</a:t>
            </a:r>
            <a:r>
              <a:rPr lang="en-US" altLang="zh-CN" dirty="0"/>
              <a:t>/</a:t>
            </a:r>
            <a:r>
              <a:rPr lang="zh-CN" altLang="en-US" dirty="0"/>
              <a:t>估算的度量往往难以产生</a:t>
            </a:r>
            <a:r>
              <a:rPr lang="zh-CN" altLang="en-US" dirty="0">
                <a:solidFill>
                  <a:srgbClr val="FF0000"/>
                </a:solidFill>
              </a:rPr>
              <a:t>精确度量</a:t>
            </a:r>
            <a:r>
              <a:rPr lang="zh-CN" altLang="en-US" dirty="0"/>
              <a:t>结果；</a:t>
            </a:r>
            <a:endParaRPr lang="en-US" altLang="zh-CN" dirty="0"/>
          </a:p>
          <a:p>
            <a:r>
              <a:rPr lang="en-US" altLang="zh-CN" dirty="0"/>
              <a:t>PROBE(PROxy Based Estimation)</a:t>
            </a:r>
            <a:r>
              <a:rPr lang="zh-CN" altLang="en-US" dirty="0"/>
              <a:t>的作用</a:t>
            </a:r>
          </a:p>
          <a:p>
            <a:pPr lvl="1"/>
            <a:r>
              <a:rPr lang="zh-CN" altLang="en-US" dirty="0">
                <a:solidFill>
                  <a:srgbClr val="FF0000"/>
                </a:solidFill>
              </a:rPr>
              <a:t>精确度量</a:t>
            </a:r>
            <a:r>
              <a:rPr lang="zh-CN" altLang="en-US" dirty="0"/>
              <a:t>和</a:t>
            </a:r>
            <a:r>
              <a:rPr lang="zh-CN" altLang="en-US" dirty="0">
                <a:solidFill>
                  <a:srgbClr val="FF0000"/>
                </a:solidFill>
              </a:rPr>
              <a:t>早期规划</a:t>
            </a:r>
            <a:r>
              <a:rPr lang="zh-CN" altLang="en-US" dirty="0"/>
              <a:t>之间的桥梁</a:t>
            </a:r>
          </a:p>
        </p:txBody>
      </p:sp>
    </p:spTree>
    <p:extLst>
      <p:ext uri="{BB962C8B-B14F-4D97-AF65-F5344CB8AC3E}">
        <p14:creationId xmlns:p14="http://schemas.microsoft.com/office/powerpoint/2010/main" val="736232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PROBE</a:t>
            </a:r>
            <a:r>
              <a:rPr lang="zh-CN" altLang="en-US" dirty="0"/>
              <a:t>原理示例</a:t>
            </a:r>
          </a:p>
        </p:txBody>
      </p:sp>
      <p:graphicFrame>
        <p:nvGraphicFramePr>
          <p:cNvPr id="4" name="表格 3"/>
          <p:cNvGraphicFramePr>
            <a:graphicFrameLocks noGrp="1"/>
          </p:cNvGraphicFramePr>
          <p:nvPr>
            <p:extLst>
              <p:ext uri="{D42A27DB-BD31-4B8C-83A1-F6EECF244321}">
                <p14:modId xmlns:p14="http://schemas.microsoft.com/office/powerpoint/2010/main" val="4239323467"/>
              </p:ext>
            </p:extLst>
          </p:nvPr>
        </p:nvGraphicFramePr>
        <p:xfrm>
          <a:off x="297180" y="2371744"/>
          <a:ext cx="8435281" cy="3665568"/>
        </p:xfrm>
        <a:graphic>
          <a:graphicData uri="http://schemas.openxmlformats.org/drawingml/2006/table">
            <a:tbl>
              <a:tblPr/>
              <a:tblGrid>
                <a:gridCol w="1545288">
                  <a:extLst>
                    <a:ext uri="{9D8B030D-6E8A-4147-A177-3AD203B41FA5}">
                      <a16:colId xmlns:a16="http://schemas.microsoft.com/office/drawing/2014/main" val="20000"/>
                    </a:ext>
                  </a:extLst>
                </a:gridCol>
                <a:gridCol w="2440459">
                  <a:extLst>
                    <a:ext uri="{9D8B030D-6E8A-4147-A177-3AD203B41FA5}">
                      <a16:colId xmlns:a16="http://schemas.microsoft.com/office/drawing/2014/main" val="20001"/>
                    </a:ext>
                  </a:extLst>
                </a:gridCol>
                <a:gridCol w="4449534">
                  <a:extLst>
                    <a:ext uri="{9D8B030D-6E8A-4147-A177-3AD203B41FA5}">
                      <a16:colId xmlns:a16="http://schemas.microsoft.com/office/drawing/2014/main" val="20002"/>
                    </a:ext>
                  </a:extLst>
                </a:gridCol>
              </a:tblGrid>
              <a:tr h="610928">
                <a:tc>
                  <a:txBody>
                    <a:bodyPr/>
                    <a:lstStyle/>
                    <a:p>
                      <a:pPr indent="266700" algn="just">
                        <a:spcAft>
                          <a:spcPts val="0"/>
                        </a:spcAft>
                      </a:pPr>
                      <a:r>
                        <a:rPr lang="zh-CN" sz="2400" b="1" kern="100" dirty="0">
                          <a:latin typeface="Calibri"/>
                          <a:ea typeface="宋体"/>
                          <a:cs typeface="Times New Roman"/>
                        </a:rPr>
                        <a:t>序号</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dirty="0">
                          <a:latin typeface="Calibri"/>
                          <a:ea typeface="宋体"/>
                          <a:cs typeface="Times New Roman"/>
                        </a:rPr>
                        <a:t>用途</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dirty="0">
                          <a:latin typeface="Calibri"/>
                          <a:ea typeface="宋体"/>
                          <a:cs typeface="Times New Roman"/>
                        </a:rPr>
                        <a:t>相对大小及数量</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10928">
                <a:tc>
                  <a:txBody>
                    <a:bodyPr/>
                    <a:lstStyle/>
                    <a:p>
                      <a:pPr indent="266700" algn="just">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a:t>
                      </a:r>
                      <a:r>
                        <a:rPr lang="zh-CN" sz="2400" kern="100">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0928">
                <a:tc>
                  <a:txBody>
                    <a:bodyPr/>
                    <a:lstStyle/>
                    <a:p>
                      <a:pPr indent="266700" algn="just">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个大卧室；</a:t>
                      </a:r>
                      <a:r>
                        <a:rPr lang="en-US" sz="2400" kern="100" dirty="0">
                          <a:latin typeface="Calibri"/>
                          <a:ea typeface="宋体"/>
                          <a:cs typeface="Times New Roman"/>
                        </a:rPr>
                        <a:t>2</a:t>
                      </a:r>
                      <a:r>
                        <a:rPr lang="zh-CN" sz="2400" kern="100" dirty="0">
                          <a:latin typeface="Calibri"/>
                          <a:ea typeface="宋体"/>
                          <a:cs typeface="Times New Roman"/>
                        </a:rPr>
                        <a:t>个小卧室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10928">
                <a:tc>
                  <a:txBody>
                    <a:bodyPr/>
                    <a:lstStyle/>
                    <a:p>
                      <a:pPr indent="266700" algn="just">
                        <a:spcAft>
                          <a:spcPts val="0"/>
                        </a:spcAft>
                      </a:pPr>
                      <a:r>
                        <a:rPr lang="en-US" sz="2400" kern="100" dirty="0">
                          <a:latin typeface="Calibri"/>
                          <a:ea typeface="宋体"/>
                          <a:cs typeface="Times New Roman"/>
                        </a:rPr>
                        <a:t>3</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个中等大小；</a:t>
                      </a:r>
                      <a:r>
                        <a:rPr lang="en-US" sz="2400" kern="100" dirty="0">
                          <a:latin typeface="Calibri"/>
                          <a:ea typeface="宋体"/>
                          <a:cs typeface="Times New Roman"/>
                        </a:rPr>
                        <a:t>1</a:t>
                      </a:r>
                      <a:r>
                        <a:rPr lang="zh-CN" sz="2400" kern="100" dirty="0">
                          <a:latin typeface="Calibri"/>
                          <a:ea typeface="宋体"/>
                          <a:cs typeface="Times New Roman"/>
                        </a:rPr>
                        <a:t>个小型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0928">
                <a:tc>
                  <a:txBody>
                    <a:bodyPr/>
                    <a:lstStyle/>
                    <a:p>
                      <a:pPr indent="266700" algn="just">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10928">
                <a:tc>
                  <a:txBody>
                    <a:bodyPr/>
                    <a:lstStyle/>
                    <a:p>
                      <a:pPr indent="266700" algn="just">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个大客厅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内容占位符 2">
            <a:extLst>
              <a:ext uri="{FF2B5EF4-FFF2-40B4-BE49-F238E27FC236}">
                <a16:creationId xmlns:a16="http://schemas.microsoft.com/office/drawing/2014/main" id="{45992D2A-C76B-C84D-A121-A880CD686E94}"/>
              </a:ext>
            </a:extLst>
          </p:cNvPr>
          <p:cNvSpPr>
            <a:spLocks noGrp="1"/>
          </p:cNvSpPr>
          <p:nvPr>
            <p:ph idx="1"/>
          </p:nvPr>
        </p:nvSpPr>
        <p:spPr>
          <a:xfrm>
            <a:off x="152400" y="1066800"/>
            <a:ext cx="8458199" cy="954107"/>
          </a:xfrm>
          <a:noFill/>
        </p:spPr>
        <p:txBody>
          <a:bodyPr wrap="square" rtlCol="0">
            <a:spAutoFit/>
          </a:bodyPr>
          <a:lstStyle/>
          <a:p>
            <a:pPr marL="0" indent="0">
              <a:spcBef>
                <a:spcPct val="0"/>
              </a:spcBef>
              <a:buNone/>
            </a:pPr>
            <a:r>
              <a:rPr lang="zh-CN" altLang="en-US" sz="2800" b="1" kern="1200" dirty="0">
                <a:solidFill>
                  <a:schemeClr val="tx1"/>
                </a:solidFill>
                <a:latin typeface="Arial" charset="0"/>
                <a:ea typeface="宋体" pitchFamily="2" charset="-122"/>
              </a:rPr>
              <a:t>估算一栋房屋的建造成本，大部分人没有概念。然而，在早期规划中，会有如下认识</a:t>
            </a:r>
            <a:r>
              <a:rPr lang="en-US" altLang="zh-CN" sz="2800" b="1" kern="1200" dirty="0">
                <a:solidFill>
                  <a:schemeClr val="tx1"/>
                </a:solidFill>
                <a:latin typeface="Arial" charset="0"/>
                <a:ea typeface="宋体" pitchFamily="2" charset="-122"/>
              </a:rPr>
              <a:t>/</a:t>
            </a:r>
            <a:r>
              <a:rPr lang="zh-CN" altLang="en-US" sz="2800" b="1" kern="1200" dirty="0">
                <a:solidFill>
                  <a:schemeClr val="tx1"/>
                </a:solidFill>
                <a:latin typeface="Arial" charset="0"/>
                <a:ea typeface="宋体" pitchFamily="2" charset="-122"/>
              </a:rPr>
              <a:t>需求：</a:t>
            </a:r>
            <a:endParaRPr lang="en-US" altLang="zh-CN" sz="2800" b="1" kern="1200" dirty="0">
              <a:solidFill>
                <a:schemeClr val="tx1"/>
              </a:solidFill>
              <a:latin typeface="Arial" charset="0"/>
              <a:ea typeface="宋体" pitchFamily="2" charset="-122"/>
            </a:endParaRPr>
          </a:p>
        </p:txBody>
      </p:sp>
    </p:spTree>
    <p:extLst>
      <p:ext uri="{BB962C8B-B14F-4D97-AF65-F5344CB8AC3E}">
        <p14:creationId xmlns:p14="http://schemas.microsoft.com/office/powerpoint/2010/main" val="2039125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相对大小矩阵</a:t>
            </a:r>
          </a:p>
        </p:txBody>
      </p:sp>
      <p:graphicFrame>
        <p:nvGraphicFramePr>
          <p:cNvPr id="4" name="表格 3"/>
          <p:cNvGraphicFramePr>
            <a:graphicFrameLocks noGrp="1"/>
          </p:cNvGraphicFramePr>
          <p:nvPr>
            <p:extLst>
              <p:ext uri="{D42A27DB-BD31-4B8C-83A1-F6EECF244321}">
                <p14:modId xmlns:p14="http://schemas.microsoft.com/office/powerpoint/2010/main" val="1833866721"/>
              </p:ext>
            </p:extLst>
          </p:nvPr>
        </p:nvGraphicFramePr>
        <p:xfrm>
          <a:off x="27112" y="1014914"/>
          <a:ext cx="5992688" cy="3353886"/>
        </p:xfrm>
        <a:graphic>
          <a:graphicData uri="http://schemas.openxmlformats.org/drawingml/2006/table">
            <a:tbl>
              <a:tblPr/>
              <a:tblGrid>
                <a:gridCol w="1420688">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1021432">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小型</a:t>
                      </a:r>
                    </a:p>
                    <a:p>
                      <a:pPr indent="266700" algn="just">
                        <a:spcAft>
                          <a:spcPts val="0"/>
                        </a:spcAft>
                      </a:pPr>
                      <a:r>
                        <a:rPr lang="en-US" sz="2400" kern="100" dirty="0">
                          <a:latin typeface="Calibri"/>
                          <a:ea typeface="宋体"/>
                          <a:cs typeface="Times New Roman"/>
                        </a:rPr>
                        <a:t>(</a:t>
                      </a:r>
                      <a:r>
                        <a:rPr lang="zh-CN" sz="2400" kern="100" dirty="0">
                          <a:latin typeface="Calibri"/>
                          <a:ea typeface="宋体"/>
                          <a:cs typeface="Times New Roman"/>
                        </a:rPr>
                        <a:t>平方尺</a:t>
                      </a:r>
                      <a:r>
                        <a:rPr lang="en-US" sz="2400"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中等</a:t>
                      </a:r>
                    </a:p>
                    <a:p>
                      <a:pPr indent="266700" algn="just">
                        <a:spcAft>
                          <a:spcPts val="0"/>
                        </a:spcAft>
                      </a:pPr>
                      <a:r>
                        <a:rPr lang="en-US" sz="2400" kern="100">
                          <a:latin typeface="Calibri"/>
                          <a:ea typeface="宋体"/>
                          <a:cs typeface="Times New Roman"/>
                        </a:rPr>
                        <a:t>(</a:t>
                      </a:r>
                      <a:r>
                        <a:rPr lang="zh-CN" sz="2400" kern="100">
                          <a:latin typeface="Calibri"/>
                          <a:ea typeface="宋体"/>
                          <a:cs typeface="Times New Roman"/>
                        </a:rPr>
                        <a:t>平方尺</a:t>
                      </a:r>
                      <a:r>
                        <a:rPr lang="en-US" sz="2400" kern="100">
                          <a:latin typeface="Calibri"/>
                          <a:ea typeface="宋体"/>
                          <a:cs typeface="Times New Roman"/>
                        </a:rPr>
                        <a: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大型</a:t>
                      </a:r>
                    </a:p>
                    <a:p>
                      <a:pPr indent="266700" algn="just">
                        <a:spcAft>
                          <a:spcPts val="0"/>
                        </a:spcAft>
                      </a:pPr>
                      <a:r>
                        <a:rPr lang="en-US" sz="2400" kern="100" dirty="0">
                          <a:latin typeface="Calibri"/>
                          <a:ea typeface="宋体"/>
                          <a:cs typeface="Times New Roman"/>
                        </a:rPr>
                        <a:t>(</a:t>
                      </a:r>
                      <a:r>
                        <a:rPr lang="zh-CN" sz="2400" kern="100" dirty="0">
                          <a:latin typeface="Calibri"/>
                          <a:ea typeface="宋体"/>
                          <a:cs typeface="Times New Roman"/>
                        </a:rPr>
                        <a:t>平方尺</a:t>
                      </a:r>
                      <a:r>
                        <a:rPr lang="en-US" sz="2400"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8442">
                <a:tc>
                  <a:txBody>
                    <a:bodyPr/>
                    <a:lstStyle/>
                    <a:p>
                      <a:pPr indent="266700" algn="just">
                        <a:spcAft>
                          <a:spcPts val="0"/>
                        </a:spcAft>
                      </a:pPr>
                      <a:r>
                        <a:rPr lang="zh-CN" sz="2400" kern="100" dirty="0">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90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140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200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1003">
                <a:tc>
                  <a:txBody>
                    <a:bodyPr/>
                    <a:lstStyle/>
                    <a:p>
                      <a:pPr indent="266700" algn="just">
                        <a:spcAft>
                          <a:spcPts val="0"/>
                        </a:spcAft>
                      </a:pPr>
                      <a:r>
                        <a:rPr lang="zh-CN" sz="2400" kern="100" dirty="0">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25</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60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120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1003">
                <a:tc>
                  <a:txBody>
                    <a:bodyPr/>
                    <a:lstStyle/>
                    <a:p>
                      <a:pPr indent="266700" algn="just">
                        <a:spcAft>
                          <a:spcPts val="0"/>
                        </a:spcAft>
                      </a:pPr>
                      <a:r>
                        <a:rPr lang="zh-CN" sz="2400" kern="100">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100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130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160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1003">
                <a:tc>
                  <a:txBody>
                    <a:bodyPr/>
                    <a:lstStyle/>
                    <a:p>
                      <a:pPr indent="266700" algn="just">
                        <a:spcAft>
                          <a:spcPts val="0"/>
                        </a:spcAft>
                      </a:pPr>
                      <a:r>
                        <a:rPr lang="zh-CN" sz="2400" kern="100">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150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250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400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1003">
                <a:tc>
                  <a:txBody>
                    <a:bodyPr/>
                    <a:lstStyle/>
                    <a:p>
                      <a:pPr indent="266700" algn="just">
                        <a:spcAft>
                          <a:spcPts val="0"/>
                        </a:spcAft>
                      </a:pPr>
                      <a:r>
                        <a:rPr lang="zh-CN" sz="2400" kern="100">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150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240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340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0658" name="Rectangle 2"/>
          <p:cNvSpPr>
            <a:spLocks noChangeArrowheads="1"/>
          </p:cNvSpPr>
          <p:nvPr/>
        </p:nvSpPr>
        <p:spPr bwMode="auto">
          <a:xfrm>
            <a:off x="39835" y="1660524"/>
            <a:ext cx="655639" cy="214314"/>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pitchFamily="34" charset="0"/>
                <a:ea typeface="宋体" pitchFamily="2" charset="-122"/>
                <a:cs typeface="宋体" pitchFamily="2" charset="-122"/>
              </a:rPr>
              <a:t>类型</a:t>
            </a:r>
            <a:endParaRPr kumimoji="0" lang="zh-CN"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70659" name="Rectangle 3"/>
          <p:cNvSpPr>
            <a:spLocks noChangeArrowheads="1"/>
          </p:cNvSpPr>
          <p:nvPr/>
        </p:nvSpPr>
        <p:spPr bwMode="auto">
          <a:xfrm>
            <a:off x="685801" y="1110723"/>
            <a:ext cx="655640" cy="357190"/>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dirty="0"/>
              <a:t>大小</a:t>
            </a:r>
            <a:endParaRPr lang="zh-CN" altLang="zh-CN" dirty="0"/>
          </a:p>
        </p:txBody>
      </p:sp>
      <p:sp>
        <p:nvSpPr>
          <p:cNvPr id="70657" name="AutoShape 1"/>
          <p:cNvSpPr>
            <a:spLocks noChangeShapeType="1"/>
          </p:cNvSpPr>
          <p:nvPr/>
        </p:nvSpPr>
        <p:spPr bwMode="auto">
          <a:xfrm>
            <a:off x="39835" y="1014914"/>
            <a:ext cx="1407965" cy="104248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TextBox 7"/>
          <p:cNvSpPr txBox="1"/>
          <p:nvPr/>
        </p:nvSpPr>
        <p:spPr>
          <a:xfrm>
            <a:off x="152399" y="5257800"/>
            <a:ext cx="8951765" cy="461665"/>
          </a:xfrm>
          <a:prstGeom prst="rect">
            <a:avLst/>
          </a:prstGeom>
          <a:noFill/>
        </p:spPr>
        <p:txBody>
          <a:bodyPr wrap="square" rtlCol="0">
            <a:spAutoFit/>
          </a:bodyPr>
          <a:lstStyle/>
          <a:p>
            <a:r>
              <a:rPr lang="en-US" sz="2400" dirty="0"/>
              <a:t>产生出精确度量结果</a:t>
            </a:r>
            <a:r>
              <a:rPr lang="zh-CN" altLang="en-US" sz="2400" dirty="0"/>
              <a:t>：</a:t>
            </a:r>
            <a:r>
              <a:rPr lang="zh-CN" altLang="en-US" sz="2000" dirty="0"/>
              <a:t> </a:t>
            </a:r>
            <a:r>
              <a:rPr lang="en-US" sz="2000" dirty="0"/>
              <a:t>130+200+90</a:t>
            </a:r>
            <a:r>
              <a:rPr lang="en-US" altLang="zh-CN" sz="2000" dirty="0"/>
              <a:t>×</a:t>
            </a:r>
            <a:r>
              <a:rPr lang="en-US" sz="2000" dirty="0"/>
              <a:t>2+60+25+240+400 = 1235</a:t>
            </a:r>
            <a:r>
              <a:rPr lang="en-US" sz="2000" kern="100" dirty="0">
                <a:ea typeface="宋体"/>
                <a:cs typeface="Times New Roman"/>
              </a:rPr>
              <a:t>(</a:t>
            </a:r>
            <a:r>
              <a:rPr lang="zh-CN" altLang="en-US" sz="2000" kern="100" dirty="0">
                <a:cs typeface="Times New Roman"/>
              </a:rPr>
              <a:t>平方尺</a:t>
            </a:r>
            <a:r>
              <a:rPr lang="en-US" sz="2000" kern="100" dirty="0">
                <a:ea typeface="宋体"/>
                <a:cs typeface="Times New Roman"/>
              </a:rPr>
              <a:t>)</a:t>
            </a:r>
            <a:endParaRPr lang="zh-CN" altLang="en-US" sz="2000" kern="100" dirty="0">
              <a:cs typeface="Times New Roman"/>
            </a:endParaRPr>
          </a:p>
        </p:txBody>
      </p:sp>
      <p:graphicFrame>
        <p:nvGraphicFramePr>
          <p:cNvPr id="9" name="表格 8">
            <a:extLst>
              <a:ext uri="{FF2B5EF4-FFF2-40B4-BE49-F238E27FC236}">
                <a16:creationId xmlns:a16="http://schemas.microsoft.com/office/drawing/2014/main" id="{1BFD15FA-851C-374D-8340-196499D1359D}"/>
              </a:ext>
            </a:extLst>
          </p:cNvPr>
          <p:cNvGraphicFramePr>
            <a:graphicFrameLocks noGrp="1"/>
          </p:cNvGraphicFramePr>
          <p:nvPr>
            <p:extLst>
              <p:ext uri="{D42A27DB-BD31-4B8C-83A1-F6EECF244321}">
                <p14:modId xmlns:p14="http://schemas.microsoft.com/office/powerpoint/2010/main" val="2654775647"/>
              </p:ext>
            </p:extLst>
          </p:nvPr>
        </p:nvGraphicFramePr>
        <p:xfrm>
          <a:off x="6132365" y="1524000"/>
          <a:ext cx="2971800" cy="2794000"/>
        </p:xfrm>
        <a:graphic>
          <a:graphicData uri="http://schemas.openxmlformats.org/drawingml/2006/table">
            <a:tbl>
              <a:tblPr/>
              <a:tblGrid>
                <a:gridCol w="1335235">
                  <a:extLst>
                    <a:ext uri="{9D8B030D-6E8A-4147-A177-3AD203B41FA5}">
                      <a16:colId xmlns:a16="http://schemas.microsoft.com/office/drawing/2014/main" val="20001"/>
                    </a:ext>
                  </a:extLst>
                </a:gridCol>
                <a:gridCol w="1636565">
                  <a:extLst>
                    <a:ext uri="{9D8B030D-6E8A-4147-A177-3AD203B41FA5}">
                      <a16:colId xmlns:a16="http://schemas.microsoft.com/office/drawing/2014/main" val="20002"/>
                    </a:ext>
                  </a:extLst>
                </a:gridCol>
              </a:tblGrid>
              <a:tr h="393700">
                <a:tc>
                  <a:txBody>
                    <a:bodyPr/>
                    <a:lstStyle/>
                    <a:p>
                      <a:pPr marL="0" indent="0" algn="just">
                        <a:spcAft>
                          <a:spcPts val="0"/>
                        </a:spcAft>
                        <a:buFont typeface="Arial" panose="020B0604020202020204" pitchFamily="34" charset="0"/>
                        <a:buNone/>
                      </a:pPr>
                      <a:r>
                        <a:rPr lang="zh-CN" sz="2000" b="1" kern="100" dirty="0">
                          <a:latin typeface="Calibri"/>
                          <a:ea typeface="宋体"/>
                          <a:cs typeface="Times New Roman"/>
                        </a:rPr>
                        <a:t>用途</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altLang="en-US" sz="2000" b="1" kern="100" dirty="0">
                          <a:latin typeface="Calibri"/>
                          <a:ea typeface="宋体"/>
                          <a:cs typeface="Times New Roman"/>
                        </a:rPr>
                        <a:t>要求</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3700">
                <a:tc>
                  <a:txBody>
                    <a:bodyPr/>
                    <a:lstStyle/>
                    <a:p>
                      <a:pPr marL="0" indent="0" algn="l" defTabSz="914400" rtl="0" eaLnBrk="1" latinLnBrk="0" hangingPunct="1">
                        <a:spcAft>
                          <a:spcPts val="0"/>
                        </a:spcAft>
                        <a:buFontTx/>
                        <a:buNone/>
                      </a:pPr>
                      <a:r>
                        <a:rPr lang="zh-CN" altLang="en-US" sz="2000" kern="100">
                          <a:solidFill>
                            <a:schemeClr val="tx1"/>
                          </a:solidFill>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个大卧室；</a:t>
                      </a:r>
                      <a:r>
                        <a:rPr lang="en-US" sz="2000" kern="100" dirty="0">
                          <a:solidFill>
                            <a:schemeClr val="tx1"/>
                          </a:solidFill>
                          <a:latin typeface="Calibri"/>
                          <a:ea typeface="宋体"/>
                          <a:cs typeface="Times New Roman"/>
                        </a:rPr>
                        <a:t>2</a:t>
                      </a:r>
                      <a:r>
                        <a:rPr lang="zh-CN" altLang="en-US" sz="2000" kern="100" dirty="0">
                          <a:solidFill>
                            <a:schemeClr val="tx1"/>
                          </a:solidFill>
                          <a:latin typeface="Calibri"/>
                          <a:ea typeface="宋体"/>
                          <a:cs typeface="Times New Roman"/>
                        </a:rPr>
                        <a:t>个小卧室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个小型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个大客厅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内容占位符 2">
            <a:extLst>
              <a:ext uri="{FF2B5EF4-FFF2-40B4-BE49-F238E27FC236}">
                <a16:creationId xmlns:a16="http://schemas.microsoft.com/office/drawing/2014/main" id="{2DE218AB-1EEB-CA4D-A1E7-1725B36FBE96}"/>
              </a:ext>
            </a:extLst>
          </p:cNvPr>
          <p:cNvSpPr>
            <a:spLocks noGrp="1"/>
          </p:cNvSpPr>
          <p:nvPr>
            <p:ph idx="1"/>
          </p:nvPr>
        </p:nvSpPr>
        <p:spPr>
          <a:xfrm>
            <a:off x="6132365" y="1058485"/>
            <a:ext cx="2706835" cy="461665"/>
          </a:xfrm>
          <a:noFill/>
        </p:spPr>
        <p:txBody>
          <a:bodyPr wrap="square" rtlCol="0">
            <a:spAutoFit/>
          </a:bodyPr>
          <a:lstStyle/>
          <a:p>
            <a:pPr marL="0" indent="0">
              <a:spcBef>
                <a:spcPct val="0"/>
              </a:spcBef>
              <a:buNone/>
            </a:pPr>
            <a:r>
              <a:rPr lang="zh-CN" altLang="en-US" sz="2400" b="1" kern="1200" dirty="0">
                <a:solidFill>
                  <a:schemeClr val="tx1"/>
                </a:solidFill>
                <a:latin typeface="Arial" charset="0"/>
                <a:ea typeface="宋体" pitchFamily="2" charset="-122"/>
              </a:rPr>
              <a:t>早期规划的需求：</a:t>
            </a:r>
          </a:p>
        </p:txBody>
      </p:sp>
      <p:cxnSp>
        <p:nvCxnSpPr>
          <p:cNvPr id="5" name="直线箭头连接符 4">
            <a:extLst>
              <a:ext uri="{FF2B5EF4-FFF2-40B4-BE49-F238E27FC236}">
                <a16:creationId xmlns:a16="http://schemas.microsoft.com/office/drawing/2014/main" id="{75D0764E-9E0A-A448-9074-C3A3FE21251E}"/>
              </a:ext>
            </a:extLst>
          </p:cNvPr>
          <p:cNvCxnSpPr>
            <a:cxnSpLocks/>
          </p:cNvCxnSpPr>
          <p:nvPr/>
        </p:nvCxnSpPr>
        <p:spPr>
          <a:xfrm>
            <a:off x="1900374" y="4453613"/>
            <a:ext cx="1123082" cy="88900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 name="直线箭头连接符 11">
            <a:extLst>
              <a:ext uri="{FF2B5EF4-FFF2-40B4-BE49-F238E27FC236}">
                <a16:creationId xmlns:a16="http://schemas.microsoft.com/office/drawing/2014/main" id="{6C1266E4-A647-274D-A4C1-06EEAB500943}"/>
              </a:ext>
            </a:extLst>
          </p:cNvPr>
          <p:cNvCxnSpPr>
            <a:cxnSpLocks/>
          </p:cNvCxnSpPr>
          <p:nvPr/>
        </p:nvCxnSpPr>
        <p:spPr>
          <a:xfrm flipH="1">
            <a:off x="4771431" y="4343400"/>
            <a:ext cx="2846834" cy="101600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92574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相对大小矩阵（</a:t>
            </a:r>
            <a:r>
              <a:rPr lang="en-US" dirty="0"/>
              <a:t>C++</a:t>
            </a:r>
            <a:r>
              <a:rPr lang="zh-CN" altLang="en-US" dirty="0"/>
              <a:t>语言）</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265990098"/>
              </p:ext>
            </p:extLst>
          </p:nvPr>
        </p:nvGraphicFramePr>
        <p:xfrm>
          <a:off x="118601" y="1219200"/>
          <a:ext cx="8906797" cy="3407557"/>
        </p:xfrm>
        <a:graphic>
          <a:graphicData uri="http://schemas.openxmlformats.org/drawingml/2006/table">
            <a:tbl>
              <a:tblPr/>
              <a:tblGrid>
                <a:gridCol w="1847621">
                  <a:extLst>
                    <a:ext uri="{9D8B030D-6E8A-4147-A177-3AD203B41FA5}">
                      <a16:colId xmlns:a16="http://schemas.microsoft.com/office/drawing/2014/main" val="20000"/>
                    </a:ext>
                  </a:extLst>
                </a:gridCol>
                <a:gridCol w="1373885">
                  <a:extLst>
                    <a:ext uri="{9D8B030D-6E8A-4147-A177-3AD203B41FA5}">
                      <a16:colId xmlns:a16="http://schemas.microsoft.com/office/drawing/2014/main" val="20001"/>
                    </a:ext>
                  </a:extLst>
                </a:gridCol>
                <a:gridCol w="1381534">
                  <a:extLst>
                    <a:ext uri="{9D8B030D-6E8A-4147-A177-3AD203B41FA5}">
                      <a16:colId xmlns:a16="http://schemas.microsoft.com/office/drawing/2014/main" val="20002"/>
                    </a:ext>
                  </a:extLst>
                </a:gridCol>
                <a:gridCol w="1381534">
                  <a:extLst>
                    <a:ext uri="{9D8B030D-6E8A-4147-A177-3AD203B41FA5}">
                      <a16:colId xmlns:a16="http://schemas.microsoft.com/office/drawing/2014/main" val="20003"/>
                    </a:ext>
                  </a:extLst>
                </a:gridCol>
                <a:gridCol w="1234285">
                  <a:extLst>
                    <a:ext uri="{9D8B030D-6E8A-4147-A177-3AD203B41FA5}">
                      <a16:colId xmlns:a16="http://schemas.microsoft.com/office/drawing/2014/main" val="20004"/>
                    </a:ext>
                  </a:extLst>
                </a:gridCol>
                <a:gridCol w="1687938">
                  <a:extLst>
                    <a:ext uri="{9D8B030D-6E8A-4147-A177-3AD203B41FA5}">
                      <a16:colId xmlns:a16="http://schemas.microsoft.com/office/drawing/2014/main" val="20005"/>
                    </a:ext>
                  </a:extLst>
                </a:gridCol>
              </a:tblGrid>
              <a:tr h="577218">
                <a:tc>
                  <a:txBody>
                    <a:bodyPr/>
                    <a:lstStyle/>
                    <a:p>
                      <a:pPr indent="266700" algn="l">
                        <a:spcAft>
                          <a:spcPts val="0"/>
                        </a:spcAft>
                      </a:pPr>
                      <a:r>
                        <a:rPr lang="zh-CN" sz="2400" b="1" kern="100" dirty="0">
                          <a:latin typeface="Calibri"/>
                          <a:ea typeface="宋体"/>
                          <a:cs typeface="Times New Roman"/>
                        </a:rPr>
                        <a:t>类型</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VS</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dirty="0">
                          <a:latin typeface="Calibri"/>
                          <a:ea typeface="宋体"/>
                          <a:cs typeface="Times New Roman"/>
                        </a:rPr>
                        <a:t>S</a:t>
                      </a:r>
                      <a:r>
                        <a:rPr lang="en-US" sz="2400" kern="100" dirty="0">
                          <a:latin typeface="Calibri"/>
                          <a:ea typeface="宋体"/>
                          <a:cs typeface="Times New Roman"/>
                        </a:rPr>
                        <a:t> </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M</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L</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VL</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99018">
                <a:tc>
                  <a:txBody>
                    <a:bodyPr/>
                    <a:lstStyle/>
                    <a:p>
                      <a:pPr indent="266700" algn="just">
                        <a:spcAft>
                          <a:spcPts val="0"/>
                        </a:spcAft>
                      </a:pPr>
                      <a:r>
                        <a:rPr lang="en-US" sz="2400" kern="100" dirty="0">
                          <a:latin typeface="Calibri"/>
                          <a:ea typeface="宋体"/>
                          <a:cs typeface="Times New Roman"/>
                        </a:rPr>
                        <a:t>Calculation</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2.34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5.13</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11.25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24.66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54.04</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98379">
                <a:tc>
                  <a:txBody>
                    <a:bodyPr/>
                    <a:lstStyle/>
                    <a:p>
                      <a:pPr indent="266700" algn="just">
                        <a:spcAft>
                          <a:spcPts val="0"/>
                        </a:spcAft>
                      </a:pPr>
                      <a:r>
                        <a:rPr lang="en-US" sz="2400" kern="100" dirty="0">
                          <a:latin typeface="Calibri"/>
                          <a:ea typeface="宋体"/>
                          <a:cs typeface="Times New Roman"/>
                        </a:rPr>
                        <a:t>Data</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2.60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4.79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8.84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16.31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30.09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5461">
                <a:tc>
                  <a:txBody>
                    <a:bodyPr/>
                    <a:lstStyle/>
                    <a:p>
                      <a:pPr indent="266700" algn="just">
                        <a:spcAft>
                          <a:spcPts val="0"/>
                        </a:spcAft>
                      </a:pPr>
                      <a:r>
                        <a:rPr lang="en-US" sz="2400" kern="100">
                          <a:latin typeface="Calibri"/>
                          <a:ea typeface="宋体"/>
                          <a:cs typeface="Times New Roman"/>
                        </a:rPr>
                        <a:t>I/O</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9.01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12.06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16.15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21.62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28.93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4524">
                <a:tc>
                  <a:txBody>
                    <a:bodyPr/>
                    <a:lstStyle/>
                    <a:p>
                      <a:pPr indent="266700" algn="just">
                        <a:spcAft>
                          <a:spcPts val="0"/>
                        </a:spcAft>
                      </a:pPr>
                      <a:r>
                        <a:rPr lang="en-US" sz="2400" kern="100">
                          <a:latin typeface="Calibri"/>
                          <a:ea typeface="宋体"/>
                          <a:cs typeface="Times New Roman"/>
                        </a:rPr>
                        <a:t>Logic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7.55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10.98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15.98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23.25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33.83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00209">
                <a:tc>
                  <a:txBody>
                    <a:bodyPr/>
                    <a:lstStyle/>
                    <a:p>
                      <a:pPr indent="266700" algn="just">
                        <a:spcAft>
                          <a:spcPts val="0"/>
                        </a:spcAft>
                      </a:pPr>
                      <a:r>
                        <a:rPr lang="en-US" sz="2400" kern="100">
                          <a:latin typeface="Calibri"/>
                          <a:ea typeface="宋体"/>
                          <a:cs typeface="Times New Roman"/>
                        </a:rPr>
                        <a:t>Set-up</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3.88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5.04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6.56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8.53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11.09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92748">
                <a:tc>
                  <a:txBody>
                    <a:bodyPr/>
                    <a:lstStyle/>
                    <a:p>
                      <a:pPr indent="266700" algn="just">
                        <a:spcAft>
                          <a:spcPts val="0"/>
                        </a:spcAft>
                      </a:pPr>
                      <a:r>
                        <a:rPr lang="en-US" sz="2400" kern="100">
                          <a:latin typeface="Calibri"/>
                          <a:ea typeface="宋体"/>
                          <a:cs typeface="Times New Roman"/>
                        </a:rPr>
                        <a:t>Text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3.75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8.00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17.07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36.41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77.66</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内容占位符 2">
            <a:extLst>
              <a:ext uri="{FF2B5EF4-FFF2-40B4-BE49-F238E27FC236}">
                <a16:creationId xmlns:a16="http://schemas.microsoft.com/office/drawing/2014/main" id="{0DEA1FE1-6369-3A4E-AE34-67EFD42CE822}"/>
              </a:ext>
            </a:extLst>
          </p:cNvPr>
          <p:cNvSpPr txBox="1">
            <a:spLocks/>
          </p:cNvSpPr>
          <p:nvPr/>
        </p:nvSpPr>
        <p:spPr bwMode="auto">
          <a:xfrm>
            <a:off x="100671" y="4724400"/>
            <a:ext cx="9043329"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sz="1800" kern="0" dirty="0">
                <a:solidFill>
                  <a:srgbClr val="FF0000"/>
                </a:solidFill>
              </a:rPr>
              <a:t>例如，</a:t>
            </a:r>
            <a:r>
              <a:rPr lang="en-US" altLang="zh-CN" sz="1800" kern="0" dirty="0">
                <a:solidFill>
                  <a:srgbClr val="FF0000"/>
                </a:solidFill>
              </a:rPr>
              <a:t>3</a:t>
            </a:r>
            <a:r>
              <a:rPr lang="zh-CN" altLang="en-US" sz="1800" kern="0" dirty="0">
                <a:solidFill>
                  <a:srgbClr val="FF0000"/>
                </a:solidFill>
              </a:rPr>
              <a:t>个中等规模</a:t>
            </a:r>
            <a:r>
              <a:rPr lang="en-US" altLang="zh-CN" sz="1800" kern="0" dirty="0">
                <a:solidFill>
                  <a:srgbClr val="FF0000"/>
                </a:solidFill>
              </a:rPr>
              <a:t>Data</a:t>
            </a:r>
            <a:r>
              <a:rPr lang="zh-CN" altLang="en-US" sz="1800" kern="0" dirty="0">
                <a:solidFill>
                  <a:srgbClr val="FF0000"/>
                </a:solidFill>
              </a:rPr>
              <a:t>类型，</a:t>
            </a:r>
            <a:r>
              <a:rPr lang="en-US" altLang="zh-CN" sz="1800" kern="0" dirty="0">
                <a:solidFill>
                  <a:srgbClr val="FF0000"/>
                </a:solidFill>
              </a:rPr>
              <a:t>1</a:t>
            </a:r>
            <a:r>
              <a:rPr lang="zh-CN" altLang="en-US" sz="1800" kern="0" dirty="0">
                <a:solidFill>
                  <a:srgbClr val="FF0000"/>
                </a:solidFill>
              </a:rPr>
              <a:t>个超大规模</a:t>
            </a:r>
            <a:r>
              <a:rPr lang="en-US" altLang="zh-CN" sz="1800" kern="0" dirty="0">
                <a:solidFill>
                  <a:srgbClr val="FF0000"/>
                </a:solidFill>
              </a:rPr>
              <a:t>Calculation</a:t>
            </a:r>
            <a:r>
              <a:rPr lang="zh-CN" altLang="en-US" sz="1800" kern="0" dirty="0">
                <a:solidFill>
                  <a:srgbClr val="FF0000"/>
                </a:solidFill>
              </a:rPr>
              <a:t>类型，</a:t>
            </a:r>
            <a:r>
              <a:rPr lang="en-US" altLang="zh-CN" sz="1800" kern="0" dirty="0">
                <a:solidFill>
                  <a:srgbClr val="FF0000"/>
                </a:solidFill>
              </a:rPr>
              <a:t>2</a:t>
            </a:r>
            <a:r>
              <a:rPr lang="zh-CN" altLang="en-US" sz="1800" kern="0" dirty="0">
                <a:solidFill>
                  <a:srgbClr val="FF0000"/>
                </a:solidFill>
              </a:rPr>
              <a:t>个小规模</a:t>
            </a:r>
            <a:r>
              <a:rPr lang="en-US" altLang="zh-CN" sz="1800" kern="0" dirty="0">
                <a:solidFill>
                  <a:srgbClr val="FF0000"/>
                </a:solidFill>
              </a:rPr>
              <a:t>I/O</a:t>
            </a:r>
            <a:r>
              <a:rPr lang="zh-CN" altLang="en-US" sz="1800" kern="0" dirty="0">
                <a:solidFill>
                  <a:srgbClr val="FF0000"/>
                </a:solidFill>
              </a:rPr>
              <a:t>类型</a:t>
            </a:r>
            <a:endParaRPr lang="en-US" altLang="zh-CN" sz="1800" kern="0" dirty="0">
              <a:solidFill>
                <a:srgbClr val="FF0000"/>
              </a:solidFill>
            </a:endParaRPr>
          </a:p>
          <a:p>
            <a:pPr marL="0" indent="0">
              <a:buNone/>
            </a:pPr>
            <a:endParaRPr lang="en-US" altLang="zh-CN" sz="1800" kern="0" dirty="0">
              <a:solidFill>
                <a:srgbClr val="FF0000"/>
              </a:solidFill>
            </a:endParaRPr>
          </a:p>
          <a:p>
            <a:pPr marL="0" indent="0">
              <a:buNone/>
            </a:pPr>
            <a:r>
              <a:rPr lang="en-US" altLang="zh-CN" sz="3300" b="1" kern="0" dirty="0">
                <a:solidFill>
                  <a:srgbClr val="FF0000"/>
                </a:solidFill>
              </a:rPr>
              <a:t>E</a:t>
            </a:r>
            <a:r>
              <a:rPr lang="zh-CN" altLang="en-US" sz="3300" b="1" kern="0" dirty="0">
                <a:solidFill>
                  <a:srgbClr val="FF0000"/>
                </a:solidFill>
              </a:rPr>
              <a:t> </a:t>
            </a:r>
            <a:r>
              <a:rPr lang="en-US" altLang="zh-CN" sz="3300" b="1" kern="0" dirty="0"/>
              <a:t>=</a:t>
            </a:r>
            <a:r>
              <a:rPr lang="zh-CN" altLang="en-US" sz="3300" b="1" kern="0" dirty="0"/>
              <a:t> </a:t>
            </a:r>
            <a:r>
              <a:rPr lang="en-US" altLang="zh-CN" sz="3300" b="1" kern="0" dirty="0"/>
              <a:t>3</a:t>
            </a:r>
            <a:r>
              <a:rPr lang="zh-CN" altLang="en-US" sz="3300" b="1" kern="0" dirty="0"/>
              <a:t>*</a:t>
            </a:r>
            <a:r>
              <a:rPr lang="en-US" altLang="zh-CN" sz="3300" b="1" kern="0" dirty="0"/>
              <a:t>8.84</a:t>
            </a:r>
            <a:r>
              <a:rPr lang="zh-CN" altLang="en-US" sz="3300" b="1" kern="0" dirty="0"/>
              <a:t> </a:t>
            </a:r>
            <a:r>
              <a:rPr lang="en-US" altLang="zh-CN" sz="3300" b="1" kern="0" dirty="0"/>
              <a:t>+</a:t>
            </a:r>
            <a:r>
              <a:rPr lang="zh-CN" altLang="en-US" sz="3300" b="1" kern="0" dirty="0"/>
              <a:t> </a:t>
            </a:r>
            <a:r>
              <a:rPr lang="en-US" altLang="zh-CN" sz="3300" b="1" kern="0" dirty="0"/>
              <a:t>1</a:t>
            </a:r>
            <a:r>
              <a:rPr lang="zh-CN" altLang="en-US" sz="3300" b="1" kern="0" dirty="0"/>
              <a:t>*</a:t>
            </a:r>
            <a:r>
              <a:rPr lang="en-US" altLang="zh-CN" sz="3300" b="1" kern="0" dirty="0"/>
              <a:t>54.04</a:t>
            </a:r>
            <a:r>
              <a:rPr lang="zh-CN" altLang="en-US" sz="3300" b="1" kern="0" dirty="0"/>
              <a:t> </a:t>
            </a:r>
            <a:r>
              <a:rPr lang="en-US" altLang="zh-CN" sz="3300" b="1" kern="0" dirty="0"/>
              <a:t>+</a:t>
            </a:r>
            <a:r>
              <a:rPr lang="zh-CN" altLang="en-US" sz="3300" b="1" kern="0" dirty="0"/>
              <a:t> </a:t>
            </a:r>
            <a:r>
              <a:rPr lang="en-US" altLang="zh-CN" sz="3300" b="1" kern="0" dirty="0"/>
              <a:t>2</a:t>
            </a:r>
            <a:r>
              <a:rPr lang="zh-CN" altLang="en-US" sz="3300" b="1" kern="0" dirty="0"/>
              <a:t>*</a:t>
            </a:r>
            <a:r>
              <a:rPr lang="en-US" altLang="zh-CN" sz="3300" b="1" kern="0" dirty="0"/>
              <a:t>12.06</a:t>
            </a:r>
            <a:r>
              <a:rPr lang="zh-CN" altLang="en-US" sz="3300" b="1" kern="0" dirty="0"/>
              <a:t> </a:t>
            </a:r>
            <a:r>
              <a:rPr lang="en-US" altLang="zh-CN" sz="3300" b="1" kern="0" dirty="0"/>
              <a:t>=</a:t>
            </a:r>
            <a:r>
              <a:rPr lang="zh-CN" altLang="en-US" sz="3300" b="1" kern="0" dirty="0"/>
              <a:t> </a:t>
            </a:r>
            <a:r>
              <a:rPr lang="en-US" altLang="zh-CN" sz="3300" b="1" kern="0" dirty="0"/>
              <a:t>104.</a:t>
            </a:r>
            <a:r>
              <a:rPr lang="en-US" altLang="zh-CN" sz="3300" b="1" kern="0" dirty="0">
                <a:solidFill>
                  <a:srgbClr val="FF0000"/>
                </a:solidFill>
              </a:rPr>
              <a:t>68</a:t>
            </a:r>
            <a:r>
              <a:rPr lang="zh-CN" altLang="en-US" sz="3300" b="1" kern="0" dirty="0"/>
              <a:t> </a:t>
            </a:r>
            <a:r>
              <a:rPr lang="en-US" altLang="zh-CN" sz="3300" b="1" kern="0" dirty="0"/>
              <a:t>LOC</a:t>
            </a:r>
            <a:endParaRPr lang="zh-CN" altLang="en-US" sz="3300" b="1" kern="0" dirty="0"/>
          </a:p>
        </p:txBody>
      </p:sp>
    </p:spTree>
    <p:extLst>
      <p:ext uri="{BB962C8B-B14F-4D97-AF65-F5344CB8AC3E}">
        <p14:creationId xmlns:p14="http://schemas.microsoft.com/office/powerpoint/2010/main" val="851827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PROBE </a:t>
            </a:r>
            <a:r>
              <a:rPr lang="zh-CN" altLang="en-US" dirty="0"/>
              <a:t>估算流程</a:t>
            </a:r>
          </a:p>
        </p:txBody>
      </p:sp>
      <p:sp>
        <p:nvSpPr>
          <p:cNvPr id="665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6561" name="Object 1"/>
          <p:cNvGraphicFramePr>
            <a:graphicFrameLocks noChangeAspect="1"/>
          </p:cNvGraphicFramePr>
          <p:nvPr>
            <p:extLst>
              <p:ext uri="{D42A27DB-BD31-4B8C-83A1-F6EECF244321}">
                <p14:modId xmlns:p14="http://schemas.microsoft.com/office/powerpoint/2010/main" val="1658757829"/>
              </p:ext>
            </p:extLst>
          </p:nvPr>
        </p:nvGraphicFramePr>
        <p:xfrm>
          <a:off x="274320" y="1219200"/>
          <a:ext cx="8106074" cy="4978103"/>
        </p:xfrm>
        <a:graphic>
          <a:graphicData uri="http://schemas.openxmlformats.org/presentationml/2006/ole">
            <mc:AlternateContent xmlns:mc="http://schemas.openxmlformats.org/markup-compatibility/2006">
              <mc:Choice xmlns:v="urn:schemas-microsoft-com:vml" Requires="v">
                <p:oleObj name="Visio" r:id="rId3" imgW="4444556" imgH="2554653" progId="Visio.Drawing.11">
                  <p:embed/>
                </p:oleObj>
              </mc:Choice>
              <mc:Fallback>
                <p:oleObj name="Visio" r:id="rId3" imgW="4444556" imgH="2554653"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 y="1219200"/>
                        <a:ext cx="8106074" cy="4978103"/>
                      </a:xfrm>
                      <a:prstGeom prst="rect">
                        <a:avLst/>
                      </a:prstGeom>
                      <a:noFill/>
                    </p:spPr>
                  </p:pic>
                </p:oleObj>
              </mc:Fallback>
            </mc:AlternateContent>
          </a:graphicData>
        </a:graphic>
      </p:graphicFrame>
    </p:spTree>
    <p:extLst>
      <p:ext uri="{BB962C8B-B14F-4D97-AF65-F5344CB8AC3E}">
        <p14:creationId xmlns:p14="http://schemas.microsoft.com/office/powerpoint/2010/main" val="1977168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79512" y="116632"/>
            <a:ext cx="7421562" cy="633412"/>
          </a:xfrm>
          <a:noFill/>
        </p:spPr>
        <p:txBody>
          <a:bodyPr lIns="115888" tIns="57150" rIns="115888" bIns="57150"/>
          <a:lstStyle/>
          <a:p>
            <a:r>
              <a:rPr lang="zh-CN" altLang="en-US" dirty="0"/>
              <a:t>概要设计</a:t>
            </a:r>
            <a:r>
              <a:rPr lang="en-US" altLang="zh-CN" dirty="0"/>
              <a:t> -1</a:t>
            </a:r>
          </a:p>
        </p:txBody>
      </p:sp>
      <p:sp>
        <p:nvSpPr>
          <p:cNvPr id="25603" name="Rectangle 3"/>
          <p:cNvSpPr>
            <a:spLocks noGrp="1" noChangeArrowheads="1"/>
          </p:cNvSpPr>
          <p:nvPr>
            <p:ph idx="1"/>
          </p:nvPr>
        </p:nvSpPr>
        <p:spPr>
          <a:xfrm>
            <a:off x="179512" y="1124744"/>
            <a:ext cx="8712968" cy="4570412"/>
          </a:xfrm>
        </p:spPr>
        <p:txBody>
          <a:bodyPr lIns="109538" tIns="52388" rIns="109538" bIns="52388"/>
          <a:lstStyle/>
          <a:p>
            <a:r>
              <a:rPr lang="zh-CN" altLang="en-US" sz="2800" dirty="0"/>
              <a:t>估算的第一步是做出一个概要设计</a:t>
            </a:r>
            <a:endParaRPr lang="en-US" altLang="zh-CN" sz="2800" dirty="0"/>
          </a:p>
          <a:p>
            <a:pPr lvl="1"/>
            <a:r>
              <a:rPr lang="zh-CN" altLang="en-US" dirty="0"/>
              <a:t>与已有产品</a:t>
            </a:r>
            <a:r>
              <a:rPr lang="en-US" altLang="zh-CN" dirty="0"/>
              <a:t>/</a:t>
            </a:r>
            <a:r>
              <a:rPr lang="zh-CN" altLang="en-US" dirty="0"/>
              <a:t>组件 相关联</a:t>
            </a:r>
            <a:endParaRPr lang="en-US" altLang="zh-CN" dirty="0"/>
          </a:p>
          <a:p>
            <a:pPr lvl="1"/>
            <a:r>
              <a:rPr lang="zh-CN" altLang="en-US" dirty="0"/>
              <a:t>定义能够产生期望功能的产品元素</a:t>
            </a:r>
            <a:endParaRPr lang="en-US" altLang="zh-CN" dirty="0"/>
          </a:p>
          <a:p>
            <a:pPr lvl="1"/>
            <a:r>
              <a:rPr lang="zh-CN" altLang="en-US" dirty="0"/>
              <a:t>估算你计划构造之物的规模</a:t>
            </a:r>
            <a:endParaRPr lang="en-US" altLang="zh-CN" dirty="0"/>
          </a:p>
          <a:p>
            <a:r>
              <a:rPr lang="zh-CN" altLang="en-US" sz="2800" dirty="0"/>
              <a:t>对于大多数的项目，概要设计都应相对较快地完成</a:t>
            </a:r>
            <a:endParaRPr lang="en-US" altLang="zh-CN" sz="2800" dirty="0"/>
          </a:p>
          <a:p>
            <a:pPr lvl="1"/>
            <a:r>
              <a:rPr lang="zh-CN" altLang="en-US" sz="2400" dirty="0"/>
              <a:t>例如，</a:t>
            </a:r>
            <a:r>
              <a:rPr lang="en-US" altLang="zh-CN" sz="2400" dirty="0"/>
              <a:t>1000LOC </a:t>
            </a:r>
            <a:r>
              <a:rPr lang="zh-CN" altLang="en-US" sz="2400" dirty="0"/>
              <a:t>以内程序，试着将概要设计时间限制在</a:t>
            </a:r>
            <a:r>
              <a:rPr lang="en-US" altLang="zh-CN" sz="2400" dirty="0"/>
              <a:t>10</a:t>
            </a:r>
            <a:r>
              <a:rPr lang="zh-CN" altLang="en-US" sz="2400" dirty="0"/>
              <a:t>到</a:t>
            </a:r>
            <a:r>
              <a:rPr lang="en-US" altLang="zh-CN" sz="2400" dirty="0"/>
              <a:t>20</a:t>
            </a:r>
            <a:r>
              <a:rPr lang="zh-CN" altLang="en-US" sz="2400" dirty="0"/>
              <a:t>分钟之内</a:t>
            </a:r>
            <a:endParaRPr lang="en-US" altLang="zh-CN" sz="2400" dirty="0"/>
          </a:p>
        </p:txBody>
      </p:sp>
    </p:spTree>
    <p:extLst>
      <p:ext uri="{BB962C8B-B14F-4D97-AF65-F5344CB8AC3E}">
        <p14:creationId xmlns:p14="http://schemas.microsoft.com/office/powerpoint/2010/main" val="950881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11560" y="31340"/>
            <a:ext cx="7421562" cy="633412"/>
          </a:xfrm>
          <a:noFill/>
        </p:spPr>
        <p:txBody>
          <a:bodyPr lIns="115888" tIns="57150" rIns="115888" bIns="57150"/>
          <a:lstStyle/>
          <a:p>
            <a:r>
              <a:rPr lang="zh-CN" altLang="en-US" dirty="0"/>
              <a:t>概要设计</a:t>
            </a:r>
            <a:r>
              <a:rPr lang="en-US" altLang="zh-CN" dirty="0"/>
              <a:t> -2</a:t>
            </a:r>
          </a:p>
        </p:txBody>
      </p:sp>
      <p:sp>
        <p:nvSpPr>
          <p:cNvPr id="26627" name="Rectangle 3"/>
          <p:cNvSpPr>
            <a:spLocks noGrp="1" noChangeArrowheads="1"/>
          </p:cNvSpPr>
          <p:nvPr>
            <p:ph idx="1"/>
          </p:nvPr>
        </p:nvSpPr>
        <p:spPr>
          <a:xfrm>
            <a:off x="179512" y="1196752"/>
            <a:ext cx="8784976" cy="4968552"/>
          </a:xfrm>
        </p:spPr>
        <p:txBody>
          <a:bodyPr lIns="109538" tIns="52388" rIns="109538" bIns="52388"/>
          <a:lstStyle/>
          <a:p>
            <a:pPr>
              <a:lnSpc>
                <a:spcPct val="90000"/>
              </a:lnSpc>
            </a:pPr>
            <a:r>
              <a:rPr lang="zh-CN" altLang="en-US" sz="2800" dirty="0"/>
              <a:t>为了做出概要设计，需要确定产品功能，以及产生这些功能所需的</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endParaRPr lang="en-US" altLang="zh-CN" sz="2800" dirty="0">
              <a:solidFill>
                <a:srgbClr val="FF0000"/>
              </a:solidFill>
            </a:endParaRPr>
          </a:p>
          <a:p>
            <a:pPr lvl="1">
              <a:lnSpc>
                <a:spcPct val="90000"/>
              </a:lnSpc>
            </a:pPr>
            <a:r>
              <a:rPr lang="zh-CN" altLang="en-US" sz="2400" dirty="0"/>
              <a:t>“如果我有以下这些部件，我可以构造这个产品。”</a:t>
            </a:r>
            <a:endParaRPr lang="en-US" altLang="zh-CN" sz="2400" dirty="0"/>
          </a:p>
          <a:p>
            <a:pPr>
              <a:lnSpc>
                <a:spcPct val="90000"/>
              </a:lnSpc>
            </a:pPr>
            <a:r>
              <a:rPr lang="zh-CN" altLang="en-US" sz="2800" dirty="0"/>
              <a:t>然后，将这些</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r>
              <a:rPr lang="zh-CN" altLang="en-US" sz="2800" dirty="0"/>
              <a:t>与你以前写的程序相比较，估算它们的规模</a:t>
            </a:r>
            <a:endParaRPr lang="en-US" altLang="zh-CN" sz="2800" dirty="0"/>
          </a:p>
          <a:p>
            <a:pPr>
              <a:lnSpc>
                <a:spcPct val="90000"/>
              </a:lnSpc>
            </a:pPr>
            <a:r>
              <a:rPr lang="zh-CN" altLang="en-US" sz="2800" dirty="0"/>
              <a:t>最后，将</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r>
              <a:rPr lang="zh-CN" altLang="en-US" sz="2800" dirty="0"/>
              <a:t>估算综合给出总规模</a:t>
            </a:r>
            <a:endParaRPr lang="en-US" altLang="zh-CN" sz="2800" dirty="0"/>
          </a:p>
          <a:p>
            <a:pPr marL="0" indent="0">
              <a:lnSpc>
                <a:spcPct val="90000"/>
              </a:lnSpc>
              <a:buNone/>
            </a:pPr>
            <a:endParaRPr lang="en-US" altLang="zh-CN" sz="2400" dirty="0">
              <a:solidFill>
                <a:srgbClr val="FF0000"/>
              </a:solidFill>
            </a:endParaRPr>
          </a:p>
          <a:p>
            <a:pPr marL="0" indent="0">
              <a:lnSpc>
                <a:spcPct val="90000"/>
              </a:lnSpc>
              <a:buNone/>
            </a:pPr>
            <a:r>
              <a:rPr lang="zh-CN" altLang="en-US" sz="2400" dirty="0">
                <a:solidFill>
                  <a:srgbClr val="FF0000"/>
                </a:solidFill>
              </a:rPr>
              <a:t>“如果你对产品的理解还不足以产出一个概要设计，那么你所知道的还不足以做出一个计划”</a:t>
            </a:r>
            <a:endParaRPr lang="en-US" altLang="zh-CN" sz="2400" dirty="0">
              <a:solidFill>
                <a:srgbClr val="FF0000"/>
              </a:solidFill>
            </a:endParaRPr>
          </a:p>
        </p:txBody>
      </p:sp>
    </p:spTree>
    <p:extLst>
      <p:ext uri="{BB962C8B-B14F-4D97-AF65-F5344CB8AC3E}">
        <p14:creationId xmlns:p14="http://schemas.microsoft.com/office/powerpoint/2010/main" val="1173002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估算练习 </a:t>
            </a:r>
            <a:r>
              <a:rPr lang="en-US" altLang="zh-CN" dirty="0"/>
              <a:t>-2</a:t>
            </a:r>
            <a:endParaRPr lang="zh-CN" altLang="en-US" dirty="0"/>
          </a:p>
        </p:txBody>
      </p:sp>
      <p:sp>
        <p:nvSpPr>
          <p:cNvPr id="3" name="内容占位符 2"/>
          <p:cNvSpPr>
            <a:spLocks noGrp="1"/>
          </p:cNvSpPr>
          <p:nvPr>
            <p:ph idx="1"/>
          </p:nvPr>
        </p:nvSpPr>
        <p:spPr>
          <a:xfrm>
            <a:off x="457200" y="1052513"/>
            <a:ext cx="8229600" cy="3290887"/>
          </a:xfrm>
        </p:spPr>
        <p:txBody>
          <a:bodyPr/>
          <a:lstStyle/>
          <a:p>
            <a:r>
              <a:rPr lang="zh-CN" altLang="en-US" i="1" dirty="0"/>
              <a:t>计算一组实数的均值和标准差，用</a:t>
            </a:r>
            <a:r>
              <a:rPr lang="en-US" altLang="zh-CN" i="1" dirty="0"/>
              <a:t>JAVA</a:t>
            </a:r>
            <a:r>
              <a:rPr lang="zh-CN" altLang="en-US" i="1" dirty="0"/>
              <a:t>程序读取文本文件中的一组实数，然后计算其均值和标准差</a:t>
            </a:r>
            <a:endParaRPr lang="en-US" altLang="zh-CN" i="1" dirty="0"/>
          </a:p>
          <a:p>
            <a:endParaRPr lang="en-US" altLang="zh-CN" i="1" dirty="0"/>
          </a:p>
          <a:p>
            <a:r>
              <a:rPr lang="zh-CN" altLang="en-US" b="1" dirty="0">
                <a:solidFill>
                  <a:srgbClr val="FF0000"/>
                </a:solidFill>
              </a:rPr>
              <a:t>试完成概要设计之后，</a:t>
            </a:r>
            <a:r>
              <a:rPr lang="zh-CN" altLang="en-US" dirty="0"/>
              <a:t>估算代码行和所需开发时间（分钟）</a:t>
            </a:r>
            <a:endParaRPr lang="en-US" altLang="zh-CN" dirty="0"/>
          </a:p>
          <a:p>
            <a:pPr lvl="1"/>
            <a:r>
              <a:rPr lang="zh-CN" altLang="en-US" dirty="0"/>
              <a:t>代码行？</a:t>
            </a:r>
            <a:endParaRPr lang="en-US" altLang="zh-CN" dirty="0"/>
          </a:p>
          <a:p>
            <a:pPr lvl="1"/>
            <a:r>
              <a:rPr lang="zh-CN" altLang="en-US" dirty="0"/>
              <a:t>开发时间？</a:t>
            </a:r>
            <a:endParaRPr lang="en-US" altLang="zh-CN" dirty="0"/>
          </a:p>
          <a:p>
            <a:pPr marL="0" indent="0">
              <a:buNone/>
            </a:pPr>
            <a:endParaRPr lang="en-US" altLang="zh-CN" dirty="0"/>
          </a:p>
          <a:p>
            <a:endParaRPr lang="en-US" altLang="zh-CN" dirty="0"/>
          </a:p>
          <a:p>
            <a:pPr marL="0" indent="0">
              <a:buNone/>
            </a:pPr>
            <a:endParaRPr lang="zh-CN" altLang="en-US" dirty="0"/>
          </a:p>
        </p:txBody>
      </p:sp>
    </p:spTree>
    <p:extLst>
      <p:ext uri="{BB962C8B-B14F-4D97-AF65-F5344CB8AC3E}">
        <p14:creationId xmlns:p14="http://schemas.microsoft.com/office/powerpoint/2010/main" val="21335845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28600" y="152400"/>
            <a:ext cx="7421563" cy="633413"/>
          </a:xfrm>
          <a:noFill/>
        </p:spPr>
        <p:txBody>
          <a:bodyPr lIns="115888" tIns="57150" rIns="115888" bIns="57150"/>
          <a:lstStyle/>
          <a:p>
            <a:pPr eaLnBrk="1" hangingPunct="1"/>
            <a:r>
              <a:rPr lang="zh-CN" altLang="en-US" dirty="0"/>
              <a:t>整合多个估算结果</a:t>
            </a:r>
            <a:endParaRPr lang="en-US" altLang="zh-CN" dirty="0"/>
          </a:p>
        </p:txBody>
      </p:sp>
      <p:sp>
        <p:nvSpPr>
          <p:cNvPr id="72707" name="Rectangle 3"/>
          <p:cNvSpPr>
            <a:spLocks noGrp="1" noChangeArrowheads="1"/>
          </p:cNvSpPr>
          <p:nvPr>
            <p:ph idx="1"/>
          </p:nvPr>
        </p:nvSpPr>
        <p:spPr>
          <a:xfrm>
            <a:off x="0" y="1124744"/>
            <a:ext cx="9144000" cy="5040560"/>
          </a:xfrm>
        </p:spPr>
        <p:txBody>
          <a:bodyPr lIns="109538" tIns="52388" rIns="109538" bIns="52388"/>
          <a:lstStyle/>
          <a:p>
            <a:pPr eaLnBrk="1" hangingPunct="1"/>
            <a:r>
              <a:rPr lang="zh-CN" altLang="en-US" sz="2800" dirty="0"/>
              <a:t>整合一个开发人员做的多个估算</a:t>
            </a:r>
            <a:endParaRPr lang="en-US" altLang="zh-CN" sz="2800" dirty="0"/>
          </a:p>
          <a:p>
            <a:pPr lvl="1" eaLnBrk="1" hangingPunct="1"/>
            <a:r>
              <a:rPr lang="zh-CN" altLang="en-US" sz="2400" dirty="0"/>
              <a:t>累积各个部分的估算</a:t>
            </a:r>
            <a:endParaRPr lang="en-US" altLang="zh-CN" sz="2400" dirty="0"/>
          </a:p>
          <a:p>
            <a:pPr lvl="1" eaLnBrk="1" hangingPunct="1"/>
            <a:r>
              <a:rPr lang="zh-CN" altLang="en-US" sz="2400" dirty="0"/>
              <a:t>进行一次线性回归计算</a:t>
            </a:r>
            <a:endParaRPr lang="en-US" altLang="zh-CN" sz="2400" dirty="0"/>
          </a:p>
          <a:p>
            <a:pPr lvl="1" eaLnBrk="1" hangingPunct="1"/>
            <a:r>
              <a:rPr lang="zh-CN" altLang="en-US" sz="2400" dirty="0"/>
              <a:t>计算一个预测区间</a:t>
            </a:r>
            <a:endParaRPr lang="en-US" altLang="zh-CN" sz="2400" dirty="0"/>
          </a:p>
          <a:p>
            <a:r>
              <a:rPr lang="zh-CN" altLang="en-US" sz="2800" dirty="0"/>
              <a:t>多个开发人员可以整合独立进行的估算，通过以下方式</a:t>
            </a:r>
            <a:endParaRPr lang="en-US" altLang="zh-CN" sz="2800" dirty="0"/>
          </a:p>
          <a:p>
            <a:pPr lvl="1" eaLnBrk="1" hangingPunct="1"/>
            <a:r>
              <a:rPr lang="zh-CN" altLang="en-US" sz="2400" dirty="0"/>
              <a:t>进行单独的线性回归预测</a:t>
            </a:r>
            <a:endParaRPr lang="en-US" altLang="zh-CN" sz="2400" dirty="0"/>
          </a:p>
          <a:p>
            <a:pPr lvl="1" eaLnBrk="1" hangingPunct="1"/>
            <a:r>
              <a:rPr lang="zh-CN" altLang="en-US" sz="2400" dirty="0"/>
              <a:t>将计划的规模或者时间相加</a:t>
            </a:r>
            <a:endParaRPr lang="en-US" altLang="zh-CN" sz="2400" dirty="0"/>
          </a:p>
          <a:p>
            <a:pPr lvl="1" eaLnBrk="1" hangingPunct="1"/>
            <a:r>
              <a:rPr lang="zh-CN" altLang="en-US" sz="2400" dirty="0"/>
              <a:t>将个人范围的平方相加，再对其计算平方根获得预测区间</a:t>
            </a:r>
            <a:endParaRPr lang="en-US" altLang="zh-CN" sz="2400" dirty="0"/>
          </a:p>
        </p:txBody>
      </p:sp>
    </p:spTree>
    <p:extLst>
      <p:ext uri="{BB962C8B-B14F-4D97-AF65-F5344CB8AC3E}">
        <p14:creationId xmlns:p14="http://schemas.microsoft.com/office/powerpoint/2010/main" val="3963546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81000" y="152400"/>
            <a:ext cx="8382000" cy="633412"/>
          </a:xfrm>
          <a:noFill/>
        </p:spPr>
        <p:txBody>
          <a:bodyPr lIns="115888" tIns="57150" rIns="115888" bIns="57150"/>
          <a:lstStyle/>
          <a:p>
            <a:pPr eaLnBrk="1" hangingPunct="1"/>
            <a:r>
              <a:rPr lang="zh-CN" altLang="en-US" dirty="0"/>
              <a:t>整合多个估算结果之后的估算误差：示例</a:t>
            </a:r>
            <a:endParaRPr lang="en-US" altLang="zh-CN" dirty="0"/>
          </a:p>
        </p:txBody>
      </p:sp>
      <p:sp>
        <p:nvSpPr>
          <p:cNvPr id="73731" name="Rectangle 3"/>
          <p:cNvSpPr>
            <a:spLocks noGrp="1" noChangeArrowheads="1"/>
          </p:cNvSpPr>
          <p:nvPr>
            <p:ph idx="1"/>
          </p:nvPr>
        </p:nvSpPr>
        <p:spPr>
          <a:xfrm>
            <a:off x="0" y="1196753"/>
            <a:ext cx="9144000" cy="4464496"/>
          </a:xfrm>
        </p:spPr>
        <p:txBody>
          <a:bodyPr lIns="109538" tIns="52388" rIns="109538" bIns="52388"/>
          <a:lstStyle/>
          <a:p>
            <a:r>
              <a:rPr lang="zh-CN" altLang="en-US" sz="2400" dirty="0"/>
              <a:t>对于一项估算精度为</a:t>
            </a:r>
            <a:r>
              <a:rPr lang="en-US" altLang="zh-CN" sz="2400" dirty="0"/>
              <a:t>± 50%</a:t>
            </a:r>
            <a:r>
              <a:rPr lang="zh-CN" altLang="en-US" sz="2400" dirty="0"/>
              <a:t>的</a:t>
            </a:r>
            <a:r>
              <a:rPr lang="en-US" altLang="zh-CN" sz="2400" dirty="0"/>
              <a:t>1000</a:t>
            </a:r>
            <a:r>
              <a:rPr lang="zh-CN" altLang="en-US" sz="2400" dirty="0"/>
              <a:t>小时的工作，估算范围就是从</a:t>
            </a:r>
            <a:r>
              <a:rPr lang="en-US" altLang="zh-CN" sz="2400" dirty="0"/>
              <a:t>500</a:t>
            </a:r>
            <a:r>
              <a:rPr lang="zh-CN" altLang="en-US" sz="2400" dirty="0"/>
              <a:t>到</a:t>
            </a:r>
            <a:r>
              <a:rPr lang="en-US" altLang="zh-CN" sz="2400" dirty="0"/>
              <a:t>1500</a:t>
            </a:r>
            <a:r>
              <a:rPr lang="zh-CN" altLang="en-US" sz="2400" dirty="0"/>
              <a:t>小时。</a:t>
            </a:r>
            <a:endParaRPr lang="en-US" altLang="zh-CN" sz="2400" dirty="0"/>
          </a:p>
          <a:p>
            <a:pPr eaLnBrk="1" hangingPunct="1"/>
            <a:r>
              <a:rPr lang="zh-CN" altLang="en-US" sz="2400" dirty="0"/>
              <a:t>如果估算被分成独立的</a:t>
            </a:r>
            <a:r>
              <a:rPr lang="en-US" altLang="zh-CN" sz="2400" dirty="0"/>
              <a:t>25</a:t>
            </a:r>
            <a:r>
              <a:rPr lang="zh-CN" altLang="en-US" sz="2400" dirty="0"/>
              <a:t>个部件，每个存在</a:t>
            </a:r>
            <a:r>
              <a:rPr lang="en-US" altLang="zh-CN" sz="2400" dirty="0"/>
              <a:t>50%</a:t>
            </a:r>
            <a:r>
              <a:rPr lang="zh-CN" altLang="en-US" sz="2400" dirty="0"/>
              <a:t>的误差，那么</a:t>
            </a:r>
            <a:endParaRPr lang="en-US" altLang="zh-CN" sz="2400" dirty="0"/>
          </a:p>
          <a:p>
            <a:pPr lvl="1" eaLnBrk="1" hangingPunct="1"/>
            <a:r>
              <a:rPr lang="zh-CN" altLang="en-US" sz="2400" dirty="0"/>
              <a:t>总时间会和前面一样是</a:t>
            </a:r>
            <a:r>
              <a:rPr lang="en-US" altLang="zh-CN" sz="2400" dirty="0"/>
              <a:t>1000</a:t>
            </a:r>
            <a:r>
              <a:rPr lang="zh-CN" altLang="en-US" sz="2400" dirty="0"/>
              <a:t>小时</a:t>
            </a:r>
            <a:endParaRPr lang="en-US" altLang="zh-CN" sz="2400" dirty="0"/>
          </a:p>
          <a:p>
            <a:pPr lvl="1" eaLnBrk="1" hangingPunct="1"/>
            <a:r>
              <a:rPr lang="zh-CN" altLang="en-US" sz="2400" dirty="0"/>
              <a:t>估算范围会是从</a:t>
            </a:r>
            <a:r>
              <a:rPr lang="en-US" altLang="zh-CN" sz="2400" dirty="0"/>
              <a:t>900</a:t>
            </a:r>
            <a:r>
              <a:rPr lang="zh-CN" altLang="en-US" sz="2400" dirty="0"/>
              <a:t>到</a:t>
            </a:r>
            <a:r>
              <a:rPr lang="en-US" altLang="zh-CN" sz="2400" dirty="0"/>
              <a:t>1100</a:t>
            </a:r>
            <a:r>
              <a:rPr lang="zh-CN" altLang="en-US" sz="2400" dirty="0"/>
              <a:t>小时</a:t>
            </a:r>
            <a:endParaRPr lang="en-US" altLang="zh-CN" sz="2400" dirty="0"/>
          </a:p>
          <a:p>
            <a:r>
              <a:rPr lang="zh-CN" altLang="en-US" sz="2400" dirty="0">
                <a:solidFill>
                  <a:srgbClr val="FF0000"/>
                </a:solidFill>
              </a:rPr>
              <a:t>当估算多个部件时，总的误差会比各个部件误差的总和要小。</a:t>
            </a:r>
            <a:endParaRPr lang="en-US" altLang="zh-CN" sz="2400" dirty="0">
              <a:solidFill>
                <a:srgbClr val="FF0000"/>
              </a:solidFill>
            </a:endParaRPr>
          </a:p>
          <a:p>
            <a:pPr lvl="1"/>
            <a:r>
              <a:rPr lang="zh-CN" altLang="en-US" sz="2400" dirty="0">
                <a:solidFill>
                  <a:srgbClr val="FF0000"/>
                </a:solidFill>
              </a:rPr>
              <a:t>误差趋于抵消了</a:t>
            </a:r>
            <a:endParaRPr lang="en-US" altLang="zh-CN" sz="2400" dirty="0">
              <a:solidFill>
                <a:srgbClr val="FF0000"/>
              </a:solidFill>
            </a:endParaRPr>
          </a:p>
          <a:p>
            <a:pPr lvl="1"/>
            <a:r>
              <a:rPr lang="zh-CN" altLang="en-US" sz="2400" dirty="0">
                <a:solidFill>
                  <a:srgbClr val="FF0000"/>
                </a:solidFill>
              </a:rPr>
              <a:t>假设没有共同的偏差</a:t>
            </a:r>
            <a:endParaRPr lang="en-US" altLang="zh-CN" sz="2400" dirty="0">
              <a:solidFill>
                <a:srgbClr val="FF0000"/>
              </a:solidFill>
            </a:endParaRPr>
          </a:p>
          <a:p>
            <a:pPr marL="363538" lvl="1" indent="0" eaLnBrk="1" hangingPunct="1">
              <a:buNone/>
            </a:pPr>
            <a:endParaRPr lang="en-US" altLang="zh-CN" sz="2400" dirty="0"/>
          </a:p>
        </p:txBody>
      </p:sp>
      <p:sp>
        <p:nvSpPr>
          <p:cNvPr id="4" name="内容占位符 2">
            <a:extLst>
              <a:ext uri="{FF2B5EF4-FFF2-40B4-BE49-F238E27FC236}">
                <a16:creationId xmlns:a16="http://schemas.microsoft.com/office/drawing/2014/main" id="{47B61630-0257-5341-93CB-E203A937CB1F}"/>
              </a:ext>
            </a:extLst>
          </p:cNvPr>
          <p:cNvSpPr txBox="1">
            <a:spLocks/>
          </p:cNvSpPr>
          <p:nvPr/>
        </p:nvSpPr>
        <p:spPr bwMode="auto">
          <a:xfrm>
            <a:off x="990600" y="5310190"/>
            <a:ext cx="7010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i="1" kern="0" dirty="0">
                <a:solidFill>
                  <a:srgbClr val="FF0000"/>
                </a:solidFill>
              </a:rPr>
              <a:t>估算要点之一：尽可能划分详细一些</a:t>
            </a:r>
            <a:endParaRPr lang="en-US" altLang="zh-CN" kern="0" dirty="0">
              <a:solidFill>
                <a:srgbClr val="FF0000"/>
              </a:solidFill>
            </a:endParaRPr>
          </a:p>
          <a:p>
            <a:pPr marL="0" indent="0">
              <a:buFont typeface="Wingdings" pitchFamily="2" charset="2"/>
              <a:buNone/>
            </a:pPr>
            <a:endParaRPr lang="zh-CN" altLang="en-US" kern="0" dirty="0">
              <a:solidFill>
                <a:srgbClr val="FF0000"/>
              </a:solidFill>
            </a:endParaRPr>
          </a:p>
        </p:txBody>
      </p:sp>
    </p:spTree>
    <p:extLst>
      <p:ext uri="{BB962C8B-B14F-4D97-AF65-F5344CB8AC3E}">
        <p14:creationId xmlns:p14="http://schemas.microsoft.com/office/powerpoint/2010/main" val="1172057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731">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a:t>
            </a:r>
            <a:r>
              <a:rPr lang="zh-CN" altLang="en-US" dirty="0"/>
              <a:t>中的</a:t>
            </a:r>
            <a:r>
              <a:rPr lang="en-US" altLang="zh-CN" dirty="0"/>
              <a:t>Story</a:t>
            </a:r>
            <a:r>
              <a:rPr lang="zh-CN" altLang="en-US" dirty="0"/>
              <a:t> </a:t>
            </a:r>
            <a:r>
              <a:rPr lang="en-US" altLang="zh-CN" dirty="0"/>
              <a:t>point</a:t>
            </a:r>
            <a:endParaRPr lang="zh-CN" altLang="en-US" dirty="0"/>
          </a:p>
        </p:txBody>
      </p:sp>
      <p:sp>
        <p:nvSpPr>
          <p:cNvPr id="3" name="内容占位符 2"/>
          <p:cNvSpPr>
            <a:spLocks noGrp="1"/>
          </p:cNvSpPr>
          <p:nvPr>
            <p:ph idx="1"/>
          </p:nvPr>
        </p:nvSpPr>
        <p:spPr>
          <a:xfrm>
            <a:off x="107504" y="1052737"/>
            <a:ext cx="8856984" cy="5348064"/>
          </a:xfrm>
        </p:spPr>
        <p:txBody>
          <a:bodyPr/>
          <a:lstStyle/>
          <a:p>
            <a:r>
              <a:rPr lang="zh-CN" altLang="en-US" dirty="0"/>
              <a:t>度量实现一个故事（</a:t>
            </a:r>
            <a:r>
              <a:rPr lang="en-US" altLang="zh-CN" dirty="0"/>
              <a:t>Story</a:t>
            </a:r>
            <a:r>
              <a:rPr lang="zh-CN" altLang="en-US" dirty="0"/>
              <a:t>）需要付出的工作量</a:t>
            </a:r>
            <a:endParaRPr lang="en-US" altLang="zh-CN" dirty="0"/>
          </a:p>
          <a:p>
            <a:pPr lvl="1"/>
            <a:r>
              <a:rPr lang="zh-CN" altLang="en-US" b="1" dirty="0">
                <a:solidFill>
                  <a:srgbClr val="FF0000"/>
                </a:solidFill>
              </a:rPr>
              <a:t>抽象：</a:t>
            </a:r>
            <a:r>
              <a:rPr lang="zh-CN" altLang="en-US" dirty="0"/>
              <a:t>混合了对于开发特性（</a:t>
            </a:r>
            <a:r>
              <a:rPr lang="en-US" altLang="zh-CN" dirty="0"/>
              <a:t>feature</a:t>
            </a:r>
            <a:r>
              <a:rPr lang="zh-CN" altLang="en-US" dirty="0"/>
              <a:t>）所要付出的努力、开发复杂度、个中风险以及类似东西</a:t>
            </a:r>
            <a:endParaRPr lang="en-US" altLang="zh-CN" dirty="0"/>
          </a:p>
          <a:p>
            <a:pPr lvl="1"/>
            <a:r>
              <a:rPr lang="zh-CN" altLang="en-US" b="1" dirty="0">
                <a:solidFill>
                  <a:srgbClr val="FF0000"/>
                </a:solidFill>
              </a:rPr>
              <a:t>相对：</a:t>
            </a:r>
            <a:r>
              <a:rPr lang="zh-CN" altLang="en-US" dirty="0"/>
              <a:t>设定标准之后，考虑其他特性（</a:t>
            </a:r>
            <a:r>
              <a:rPr lang="en-US" altLang="zh-CN" dirty="0"/>
              <a:t>feature</a:t>
            </a:r>
            <a:r>
              <a:rPr lang="zh-CN" altLang="en-US" dirty="0"/>
              <a:t>）与标准之间的相对大小关系</a:t>
            </a:r>
            <a:endParaRPr lang="en-US" altLang="zh-CN" dirty="0"/>
          </a:p>
          <a:p>
            <a:pPr lvl="2"/>
            <a:r>
              <a:rPr lang="it-IT" altLang="zh-CN" dirty="0"/>
              <a:t>Fibonacci: 0, 1, 1, 2,</a:t>
            </a:r>
            <a:r>
              <a:rPr lang="it-IT" altLang="zh-CN" dirty="0">
                <a:solidFill>
                  <a:srgbClr val="FF0000"/>
                </a:solidFill>
              </a:rPr>
              <a:t> 3</a:t>
            </a:r>
            <a:r>
              <a:rPr lang="it-IT" altLang="zh-CN" dirty="0"/>
              <a:t>, 5, 8, 13, 21,34, 55, 89</a:t>
            </a:r>
          </a:p>
          <a:p>
            <a:pPr lvl="2"/>
            <a:r>
              <a:rPr lang="zh-CN" altLang="en-US" dirty="0"/>
              <a:t>拆分</a:t>
            </a:r>
            <a:endParaRPr lang="en-US" altLang="zh-CN" dirty="0"/>
          </a:p>
        </p:txBody>
      </p:sp>
      <p:sp>
        <p:nvSpPr>
          <p:cNvPr id="4" name="内容占位符 2">
            <a:extLst>
              <a:ext uri="{FF2B5EF4-FFF2-40B4-BE49-F238E27FC236}">
                <a16:creationId xmlns:a16="http://schemas.microsoft.com/office/drawing/2014/main" id="{0BE540F8-FB39-F445-8A0C-2168189B6659}"/>
              </a:ext>
            </a:extLst>
          </p:cNvPr>
          <p:cNvSpPr txBox="1">
            <a:spLocks/>
          </p:cNvSpPr>
          <p:nvPr/>
        </p:nvSpPr>
        <p:spPr bwMode="auto">
          <a:xfrm>
            <a:off x="1219200" y="4572000"/>
            <a:ext cx="7696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i="1" kern="0" dirty="0">
                <a:solidFill>
                  <a:srgbClr val="FF0000"/>
                </a:solidFill>
              </a:rPr>
              <a:t>估算要点之二：目标是建立对结果的信心</a:t>
            </a:r>
            <a:endParaRPr lang="en-US" altLang="zh-CN" i="1" kern="0" dirty="0">
              <a:solidFill>
                <a:srgbClr val="FF0000"/>
              </a:solidFill>
            </a:endParaRPr>
          </a:p>
          <a:p>
            <a:pPr marL="0" indent="0">
              <a:buNone/>
            </a:pPr>
            <a:r>
              <a:rPr lang="zh-CN" altLang="en-US" i="1" kern="0" dirty="0">
                <a:solidFill>
                  <a:srgbClr val="FF0000"/>
                </a:solidFill>
              </a:rPr>
              <a:t>估算要点之三：尽量依赖数据</a:t>
            </a:r>
            <a:endParaRPr lang="en-US" altLang="zh-CN" kern="0" dirty="0">
              <a:solidFill>
                <a:srgbClr val="FF0000"/>
              </a:solidFill>
            </a:endParaRPr>
          </a:p>
          <a:p>
            <a:pPr marL="0" indent="0">
              <a:buFont typeface="Wingdings" pitchFamily="2" charset="2"/>
              <a:buNone/>
            </a:pPr>
            <a:endParaRPr lang="zh-CN" altLang="en-US" kern="0" dirty="0">
              <a:solidFill>
                <a:srgbClr val="FF0000"/>
              </a:solidFill>
            </a:endParaRPr>
          </a:p>
        </p:txBody>
      </p:sp>
    </p:spTree>
    <p:extLst>
      <p:ext uri="{BB962C8B-B14F-4D97-AF65-F5344CB8AC3E}">
        <p14:creationId xmlns:p14="http://schemas.microsoft.com/office/powerpoint/2010/main" val="117597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关于估算方法的反思</a:t>
            </a:r>
          </a:p>
        </p:txBody>
      </p:sp>
      <p:sp>
        <p:nvSpPr>
          <p:cNvPr id="3" name="内容占位符 2"/>
          <p:cNvSpPr>
            <a:spLocks noGrp="1"/>
          </p:cNvSpPr>
          <p:nvPr>
            <p:ph idx="1"/>
          </p:nvPr>
        </p:nvSpPr>
        <p:spPr>
          <a:xfrm>
            <a:off x="0" y="990600"/>
            <a:ext cx="9144000" cy="5562599"/>
          </a:xfrm>
        </p:spPr>
        <p:txBody>
          <a:bodyPr/>
          <a:lstStyle/>
          <a:p>
            <a:r>
              <a:rPr kumimoji="1" lang="zh-CN" altLang="en-US" dirty="0"/>
              <a:t>估算的目标</a:t>
            </a:r>
            <a:endParaRPr kumimoji="1" lang="en-US" altLang="zh-CN" dirty="0"/>
          </a:p>
          <a:p>
            <a:pPr lvl="1"/>
            <a:r>
              <a:rPr lang="zh-CN" altLang="en-US" dirty="0"/>
              <a:t>规模估算 </a:t>
            </a:r>
            <a:r>
              <a:rPr lang="en-US" altLang="zh-CN" dirty="0"/>
              <a:t>VS.</a:t>
            </a:r>
            <a:r>
              <a:rPr lang="zh-CN" altLang="en-US" dirty="0"/>
              <a:t> 时间估算</a:t>
            </a:r>
            <a:r>
              <a:rPr lang="en-US" altLang="zh-CN" dirty="0"/>
              <a:t>——1:26</a:t>
            </a:r>
            <a:r>
              <a:rPr lang="zh-CN" altLang="en-US" dirty="0"/>
              <a:t> 估算结果重要吗？</a:t>
            </a:r>
            <a:endParaRPr lang="en-US" altLang="zh-CN" dirty="0"/>
          </a:p>
          <a:p>
            <a:pPr lvl="1"/>
            <a:endParaRPr lang="en-US" altLang="zh-CN" dirty="0"/>
          </a:p>
          <a:p>
            <a:pPr lvl="1"/>
            <a:endParaRPr lang="en-US" altLang="zh-CN" dirty="0"/>
          </a:p>
          <a:p>
            <a:r>
              <a:rPr kumimoji="1" lang="zh-CN" altLang="en-US" dirty="0"/>
              <a:t>到底怎么做估算？</a:t>
            </a:r>
            <a:endParaRPr kumimoji="1" lang="en-US" altLang="zh-CN" dirty="0"/>
          </a:p>
          <a:p>
            <a:pPr lvl="1"/>
            <a:r>
              <a:rPr kumimoji="1" lang="zh-CN" altLang="en-US" dirty="0"/>
              <a:t>最终目标是达成共识</a:t>
            </a:r>
            <a:endParaRPr kumimoji="1" lang="en-US" altLang="zh-CN" dirty="0"/>
          </a:p>
          <a:p>
            <a:pPr lvl="1"/>
            <a:r>
              <a:rPr kumimoji="1" lang="zh-CN" altLang="en-US" b="1" dirty="0">
                <a:solidFill>
                  <a:srgbClr val="FF0000"/>
                </a:solidFill>
              </a:rPr>
              <a:t>建立信心</a:t>
            </a:r>
            <a:endParaRPr kumimoji="1" lang="en-US" altLang="zh-CN" b="1" dirty="0">
              <a:solidFill>
                <a:srgbClr val="FF0000"/>
              </a:solidFill>
            </a:endParaRPr>
          </a:p>
          <a:p>
            <a:pPr lvl="2"/>
            <a:r>
              <a:rPr kumimoji="1" lang="zh-CN" altLang="en-US" dirty="0"/>
              <a:t>足够详细</a:t>
            </a:r>
            <a:endParaRPr kumimoji="1" lang="en-US" altLang="zh-CN" dirty="0"/>
          </a:p>
          <a:p>
            <a:pPr lvl="2"/>
            <a:r>
              <a:rPr kumimoji="1" lang="zh-CN" altLang="en-US" dirty="0"/>
              <a:t>依赖数据</a:t>
            </a:r>
            <a:endParaRPr kumimoji="1" lang="en-US" altLang="zh-CN" dirty="0"/>
          </a:p>
          <a:p>
            <a:pPr lvl="2"/>
            <a:r>
              <a:rPr kumimoji="1" lang="zh-CN" altLang="en-US" dirty="0"/>
              <a:t>最好的猜测（注意检验猜测所依据的假设）</a:t>
            </a:r>
            <a:endParaRPr kumimoji="1" lang="en-US" altLang="zh-CN" dirty="0"/>
          </a:p>
        </p:txBody>
      </p:sp>
      <p:sp>
        <p:nvSpPr>
          <p:cNvPr id="5" name="内容占位符 2">
            <a:extLst>
              <a:ext uri="{FF2B5EF4-FFF2-40B4-BE49-F238E27FC236}">
                <a16:creationId xmlns:a16="http://schemas.microsoft.com/office/drawing/2014/main" id="{B1FA2729-70B5-8E46-982E-97D329EB63C2}"/>
              </a:ext>
            </a:extLst>
          </p:cNvPr>
          <p:cNvSpPr txBox="1">
            <a:spLocks/>
          </p:cNvSpPr>
          <p:nvPr/>
        </p:nvSpPr>
        <p:spPr bwMode="auto">
          <a:xfrm>
            <a:off x="762000" y="213360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sz="2800" i="1" kern="0" dirty="0">
                <a:solidFill>
                  <a:srgbClr val="FF0000"/>
                </a:solidFill>
              </a:rPr>
              <a:t>估算要点之四：估算要的是过程，而非结果；估算的过程是相关干系人达成一致共识的过程</a:t>
            </a:r>
          </a:p>
        </p:txBody>
      </p:sp>
    </p:spTree>
    <p:extLst>
      <p:ext uri="{BB962C8B-B14F-4D97-AF65-F5344CB8AC3E}">
        <p14:creationId xmlns:p14="http://schemas.microsoft.com/office/powerpoint/2010/main" val="36088177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历史数据的获取</a:t>
            </a:r>
            <a:r>
              <a:rPr lang="en-US" altLang="zh-CN" dirty="0"/>
              <a:t>——</a:t>
            </a:r>
            <a:r>
              <a:rPr lang="zh-CN" altLang="en-US" dirty="0"/>
              <a:t>度量</a:t>
            </a:r>
          </a:p>
        </p:txBody>
      </p:sp>
      <p:sp>
        <p:nvSpPr>
          <p:cNvPr id="3" name="内容占位符 2"/>
          <p:cNvSpPr>
            <a:spLocks noGrp="1"/>
          </p:cNvSpPr>
          <p:nvPr>
            <p:ph idx="1"/>
          </p:nvPr>
        </p:nvSpPr>
        <p:spPr/>
        <p:txBody>
          <a:bodyPr/>
          <a:lstStyle/>
          <a:p>
            <a:r>
              <a:rPr lang="zh-CN" altLang="en-US" dirty="0"/>
              <a:t>关于度量的争议</a:t>
            </a:r>
            <a:endParaRPr lang="en-US" altLang="zh-CN" dirty="0"/>
          </a:p>
          <a:p>
            <a:pPr marL="363538" lvl="1" indent="0">
              <a:buNone/>
            </a:pPr>
            <a:r>
              <a:rPr lang="zh-CN" altLang="en-US" sz="2400" i="1" dirty="0">
                <a:solidFill>
                  <a:srgbClr val="FF0000"/>
                </a:solidFill>
              </a:rPr>
              <a:t>度量体现着决策者对试图要实现的目标的关切程度</a:t>
            </a:r>
            <a:endParaRPr lang="en-US" altLang="zh-CN" sz="2400" i="1" dirty="0">
              <a:solidFill>
                <a:srgbClr val="FF0000"/>
              </a:solidFill>
            </a:endParaRPr>
          </a:p>
          <a:p>
            <a:r>
              <a:rPr lang="en-US" altLang="zh-CN" dirty="0"/>
              <a:t>GQM</a:t>
            </a:r>
            <a:r>
              <a:rPr lang="zh-CN" altLang="en-US" dirty="0"/>
              <a:t> 和 </a:t>
            </a:r>
            <a:r>
              <a:rPr lang="en-US" altLang="zh-CN" dirty="0"/>
              <a:t>GQM+</a:t>
            </a:r>
            <a:r>
              <a:rPr lang="zh-CN" altLang="en-US" dirty="0"/>
              <a:t>度量体系构建</a:t>
            </a:r>
            <a:endParaRPr lang="en-US" altLang="zh-CN" dirty="0"/>
          </a:p>
        </p:txBody>
      </p:sp>
    </p:spTree>
    <p:extLst>
      <p:ext uri="{BB962C8B-B14F-4D97-AF65-F5344CB8AC3E}">
        <p14:creationId xmlns:p14="http://schemas.microsoft.com/office/powerpoint/2010/main" val="1762031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估算</a:t>
            </a:r>
            <a:endParaRPr lang="en-US" altLang="zh-CN" dirty="0"/>
          </a:p>
          <a:p>
            <a:pPr lvl="1"/>
            <a:r>
              <a:rPr lang="zh-CN" altLang="en-US" dirty="0"/>
              <a:t>估算概述</a:t>
            </a:r>
            <a:endParaRPr lang="en-US" altLang="zh-CN" dirty="0"/>
          </a:p>
          <a:p>
            <a:pPr lvl="1"/>
            <a:r>
              <a:rPr lang="en-US" altLang="zh-CN" dirty="0"/>
              <a:t>TSP/PSP</a:t>
            </a:r>
            <a:r>
              <a:rPr lang="zh-CN" altLang="en-US" dirty="0"/>
              <a:t>和</a:t>
            </a:r>
            <a:r>
              <a:rPr lang="en-US" altLang="zh-CN" dirty="0"/>
              <a:t>PROBE</a:t>
            </a:r>
          </a:p>
          <a:p>
            <a:pPr lvl="1"/>
            <a:r>
              <a:rPr lang="en-US" altLang="zh-CN" dirty="0"/>
              <a:t>SCRUM</a:t>
            </a:r>
            <a:r>
              <a:rPr lang="zh-CN" altLang="en-US" dirty="0"/>
              <a:t>和故事点</a:t>
            </a:r>
            <a:endParaRPr lang="en-US" altLang="zh-CN" dirty="0"/>
          </a:p>
          <a:p>
            <a:r>
              <a:rPr lang="zh-CN" altLang="en-US" dirty="0">
                <a:solidFill>
                  <a:srgbClr val="FF0000"/>
                </a:solidFill>
              </a:rPr>
              <a:t>计划和跟踪</a:t>
            </a:r>
            <a:endParaRPr lang="en-US" altLang="zh-CN" dirty="0">
              <a:solidFill>
                <a:srgbClr val="FF0000"/>
              </a:solidFill>
            </a:endParaRPr>
          </a:p>
          <a:p>
            <a:pPr lvl="1"/>
            <a:r>
              <a:rPr lang="zh-CN" altLang="en-US" sz="2400" dirty="0">
                <a:solidFill>
                  <a:srgbClr val="FF0000"/>
                </a:solidFill>
              </a:rPr>
              <a:t>团队项目规划</a:t>
            </a:r>
            <a:endParaRPr lang="en-US" altLang="zh-CN" sz="2400" dirty="0">
              <a:solidFill>
                <a:srgbClr val="FF0000"/>
              </a:solidFill>
            </a:endParaRPr>
          </a:p>
          <a:p>
            <a:pPr marL="363538" lvl="1" indent="0">
              <a:buNone/>
            </a:pPr>
            <a:r>
              <a:rPr lang="zh-CN" altLang="en-US" sz="2400" i="1" dirty="0">
                <a:solidFill>
                  <a:srgbClr val="FF0000"/>
                </a:solidFill>
              </a:rPr>
              <a:t>工作分解结构、开发策略与计划、生命周期模型、日程</a:t>
            </a:r>
            <a:r>
              <a:rPr lang="en-US" altLang="zh-CN" sz="2400" i="1" dirty="0">
                <a:solidFill>
                  <a:srgbClr val="FF0000"/>
                </a:solidFill>
              </a:rPr>
              <a:t>/</a:t>
            </a:r>
            <a:r>
              <a:rPr lang="zh-CN" altLang="en-US" sz="2400" i="1" dirty="0">
                <a:solidFill>
                  <a:srgbClr val="FF0000"/>
                </a:solidFill>
              </a:rPr>
              <a:t>质量</a:t>
            </a:r>
            <a:r>
              <a:rPr lang="en-US" altLang="zh-CN" sz="2400" i="1" dirty="0">
                <a:solidFill>
                  <a:srgbClr val="FF0000"/>
                </a:solidFill>
              </a:rPr>
              <a:t>/</a:t>
            </a:r>
            <a:r>
              <a:rPr lang="zh-CN" altLang="en-US" sz="2400" i="1" dirty="0">
                <a:solidFill>
                  <a:srgbClr val="FF0000"/>
                </a:solidFill>
              </a:rPr>
              <a:t>风险计划等</a:t>
            </a:r>
            <a:endParaRPr lang="en-US" altLang="zh-CN" sz="2400" i="1" dirty="0">
              <a:solidFill>
                <a:srgbClr val="FF0000"/>
              </a:solidFill>
            </a:endParaRPr>
          </a:p>
          <a:p>
            <a:pPr lvl="1"/>
            <a:r>
              <a:rPr lang="zh-CN" altLang="en-US" sz="2400" dirty="0">
                <a:solidFill>
                  <a:srgbClr val="FF0000"/>
                </a:solidFill>
              </a:rPr>
              <a:t>团队项目跟踪与管理</a:t>
            </a:r>
            <a:endParaRPr lang="en-US" altLang="zh-CN" sz="2400" dirty="0">
              <a:solidFill>
                <a:srgbClr val="FF0000"/>
              </a:solidFill>
            </a:endParaRPr>
          </a:p>
          <a:p>
            <a:pPr marL="363538" lvl="1" indent="0">
              <a:buNone/>
            </a:pPr>
            <a:r>
              <a:rPr lang="zh-CN" altLang="en-US" sz="2400" i="1" dirty="0">
                <a:solidFill>
                  <a:srgbClr val="FF0000"/>
                </a:solidFill>
              </a:rPr>
              <a:t>挣值管理、里程碑评审、纠偏活动管理</a:t>
            </a:r>
            <a:endParaRPr lang="en-US" altLang="zh-CN" sz="2400" i="1" dirty="0">
              <a:solidFill>
                <a:srgbClr val="FF0000"/>
              </a:solidFill>
            </a:endParaRPr>
          </a:p>
          <a:p>
            <a:r>
              <a:rPr lang="zh-CN" altLang="en-US" sz="2800" dirty="0"/>
              <a:t>项目总结</a:t>
            </a:r>
            <a:endParaRPr lang="en-US" altLang="zh-CN" sz="2800" dirty="0"/>
          </a:p>
          <a:p>
            <a:pPr lvl="1"/>
            <a:endParaRPr lang="zh-CN" altLang="en-US" dirty="0"/>
          </a:p>
        </p:txBody>
      </p:sp>
    </p:spTree>
    <p:extLst>
      <p:ext uri="{BB962C8B-B14F-4D97-AF65-F5344CB8AC3E}">
        <p14:creationId xmlns:p14="http://schemas.microsoft.com/office/powerpoint/2010/main" val="2968307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工作分解结构（</a:t>
            </a:r>
            <a:r>
              <a:rPr lang="en-US" altLang="zh-CN" dirty="0"/>
              <a:t>WBS</a:t>
            </a:r>
            <a:r>
              <a:rPr lang="zh-CN" altLang="en-US" dirty="0"/>
              <a:t>）</a:t>
            </a:r>
          </a:p>
        </p:txBody>
      </p:sp>
      <p:pic>
        <p:nvPicPr>
          <p:cNvPr id="4" name="图片 3"/>
          <p:cNvPicPr/>
          <p:nvPr/>
        </p:nvPicPr>
        <p:blipFill>
          <a:blip r:embed="rId2" cstate="print"/>
          <a:srcRect/>
          <a:stretch>
            <a:fillRect/>
          </a:stretch>
        </p:blipFill>
        <p:spPr bwMode="auto">
          <a:xfrm>
            <a:off x="168562" y="908720"/>
            <a:ext cx="8715436" cy="5357826"/>
          </a:xfrm>
          <a:prstGeom prst="rect">
            <a:avLst/>
          </a:prstGeom>
          <a:noFill/>
          <a:ln w="9525">
            <a:noFill/>
            <a:miter lim="800000"/>
            <a:headEnd/>
            <a:tailEnd/>
          </a:ln>
        </p:spPr>
      </p:pic>
    </p:spTree>
    <p:extLst>
      <p:ext uri="{BB962C8B-B14F-4D97-AF65-F5344CB8AC3E}">
        <p14:creationId xmlns:p14="http://schemas.microsoft.com/office/powerpoint/2010/main" val="18000423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开发策略与计划</a:t>
            </a:r>
            <a:endParaRPr lang="zh-CN" altLang="en-US" dirty="0"/>
          </a:p>
        </p:txBody>
      </p:sp>
      <p:sp>
        <p:nvSpPr>
          <p:cNvPr id="3" name="内容占位符 2"/>
          <p:cNvSpPr>
            <a:spLocks noGrp="1"/>
          </p:cNvSpPr>
          <p:nvPr>
            <p:ph idx="1"/>
          </p:nvPr>
        </p:nvSpPr>
        <p:spPr/>
        <p:txBody>
          <a:bodyPr/>
          <a:lstStyle/>
          <a:p>
            <a:r>
              <a:rPr lang="zh-CN" altLang="en-US" dirty="0"/>
              <a:t>开发策略是在产品组件需求基础之上，明确每个产品组件的获得方式与顺序，从而在项目团队内部建立起大家都理解的产品开发策略。</a:t>
            </a:r>
            <a:endParaRPr lang="en-US" altLang="zh-CN" dirty="0"/>
          </a:p>
          <a:p>
            <a:r>
              <a:rPr lang="zh-CN" altLang="en-US" dirty="0"/>
              <a:t>注意事项</a:t>
            </a:r>
            <a:endParaRPr lang="en-US" altLang="zh-CN" dirty="0"/>
          </a:p>
          <a:p>
            <a:pPr lvl="1"/>
            <a:r>
              <a:rPr lang="en-US" dirty="0"/>
              <a:t>WBS</a:t>
            </a:r>
            <a:r>
              <a:rPr lang="zh-CN" altLang="en-US" dirty="0"/>
              <a:t>的使用</a:t>
            </a:r>
            <a:endParaRPr lang="en-US" altLang="zh-CN" dirty="0"/>
          </a:p>
          <a:p>
            <a:pPr lvl="1"/>
            <a:r>
              <a:rPr lang="zh-CN" altLang="en-US" dirty="0"/>
              <a:t>产品组件开发顺序的考虑</a:t>
            </a:r>
            <a:endParaRPr lang="en-US" altLang="zh-CN" dirty="0"/>
          </a:p>
          <a:p>
            <a:pPr lvl="1"/>
            <a:r>
              <a:rPr lang="zh-CN" altLang="en-US" dirty="0"/>
              <a:t>产品组件获得方式的考虑</a:t>
            </a:r>
            <a:endParaRPr lang="en-US" altLang="zh-CN" dirty="0"/>
          </a:p>
          <a:p>
            <a:endParaRPr lang="zh-CN" altLang="en-US" dirty="0"/>
          </a:p>
        </p:txBody>
      </p:sp>
    </p:spTree>
    <p:extLst>
      <p:ext uri="{BB962C8B-B14F-4D97-AF65-F5344CB8AC3E}">
        <p14:creationId xmlns:p14="http://schemas.microsoft.com/office/powerpoint/2010/main" val="2366630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通用计划框架</a:t>
            </a:r>
          </a:p>
        </p:txBody>
      </p:sp>
      <p:sp>
        <p:nvSpPr>
          <p:cNvPr id="686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8609" name="Object 1"/>
          <p:cNvGraphicFramePr>
            <a:graphicFrameLocks noChangeAspect="1"/>
          </p:cNvGraphicFramePr>
          <p:nvPr/>
        </p:nvGraphicFramePr>
        <p:xfrm>
          <a:off x="323528" y="1044559"/>
          <a:ext cx="8134672" cy="5535402"/>
        </p:xfrm>
        <a:graphic>
          <a:graphicData uri="http://schemas.openxmlformats.org/presentationml/2006/ole">
            <mc:AlternateContent xmlns:mc="http://schemas.openxmlformats.org/markup-compatibility/2006">
              <mc:Choice xmlns:v="urn:schemas-microsoft-com:vml" Requires="v">
                <p:oleObj name="Visio" r:id="rId3" imgW="7450598" imgH="4282535" progId="Visio.Drawing.11">
                  <p:embed/>
                </p:oleObj>
              </mc:Choice>
              <mc:Fallback>
                <p:oleObj name="Visio" r:id="rId3" imgW="7450598" imgH="4282535" progId="Visio.Drawing.11">
                  <p:embed/>
                  <p:pic>
                    <p:nvPicPr>
                      <p:cNvPr id="6860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044559"/>
                        <a:ext cx="8134672" cy="5535402"/>
                      </a:xfrm>
                      <a:prstGeom prst="rect">
                        <a:avLst/>
                      </a:prstGeom>
                      <a:noFill/>
                    </p:spPr>
                  </p:pic>
                </p:oleObj>
              </mc:Fallback>
            </mc:AlternateContent>
          </a:graphicData>
        </a:graphic>
      </p:graphicFrame>
    </p:spTree>
    <p:extLst>
      <p:ext uri="{BB962C8B-B14F-4D97-AF65-F5344CB8AC3E}">
        <p14:creationId xmlns:p14="http://schemas.microsoft.com/office/powerpoint/2010/main" val="1121259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日程计划原理和方法</a:t>
            </a:r>
            <a:endParaRPr lang="zh-CN" altLang="en-US" dirty="0"/>
          </a:p>
        </p:txBody>
      </p:sp>
      <p:sp>
        <p:nvSpPr>
          <p:cNvPr id="3" name="内容占位符 2"/>
          <p:cNvSpPr>
            <a:spLocks noGrp="1"/>
          </p:cNvSpPr>
          <p:nvPr>
            <p:ph idx="1"/>
          </p:nvPr>
        </p:nvSpPr>
        <p:spPr/>
        <p:txBody>
          <a:bodyPr/>
          <a:lstStyle/>
          <a:p>
            <a:r>
              <a:rPr lang="zh-CN" altLang="en-US" dirty="0"/>
              <a:t>任务计划和日程计划</a:t>
            </a:r>
            <a:endParaRPr lang="en-US" altLang="zh-CN" dirty="0"/>
          </a:p>
          <a:p>
            <a:r>
              <a:rPr lang="zh-CN" altLang="en-US" dirty="0"/>
              <a:t>典型计划流程回顾</a:t>
            </a:r>
            <a:endParaRPr lang="en-US" altLang="zh-CN" dirty="0"/>
          </a:p>
          <a:p>
            <a:pPr lvl="1"/>
            <a:r>
              <a:rPr lang="zh-CN" altLang="en-US" dirty="0"/>
              <a:t>估算规模</a:t>
            </a:r>
            <a:endParaRPr lang="en-US" altLang="zh-CN" dirty="0"/>
          </a:p>
          <a:p>
            <a:pPr lvl="1"/>
            <a:r>
              <a:rPr lang="zh-CN" altLang="en-US" dirty="0"/>
              <a:t>估算资源</a:t>
            </a:r>
            <a:endParaRPr lang="en-US" altLang="zh-CN" dirty="0"/>
          </a:p>
          <a:p>
            <a:pPr lvl="1"/>
            <a:r>
              <a:rPr lang="zh-CN" altLang="en-US" dirty="0"/>
              <a:t>规划日程</a:t>
            </a:r>
          </a:p>
        </p:txBody>
      </p:sp>
    </p:spTree>
    <p:extLst>
      <p:ext uri="{BB962C8B-B14F-4D97-AF65-F5344CB8AC3E}">
        <p14:creationId xmlns:p14="http://schemas.microsoft.com/office/powerpoint/2010/main" val="8760317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任务清单</a:t>
            </a:r>
          </a:p>
        </p:txBody>
      </p:sp>
      <p:graphicFrame>
        <p:nvGraphicFramePr>
          <p:cNvPr id="4" name="表格 3"/>
          <p:cNvGraphicFramePr>
            <a:graphicFrameLocks noGrp="1"/>
          </p:cNvGraphicFramePr>
          <p:nvPr/>
        </p:nvGraphicFramePr>
        <p:xfrm>
          <a:off x="1043608" y="1700808"/>
          <a:ext cx="7632847" cy="4448933"/>
        </p:xfrm>
        <a:graphic>
          <a:graphicData uri="http://schemas.openxmlformats.org/drawingml/2006/table">
            <a:tbl>
              <a:tblPr/>
              <a:tblGrid>
                <a:gridCol w="2543685">
                  <a:extLst>
                    <a:ext uri="{9D8B030D-6E8A-4147-A177-3AD203B41FA5}">
                      <a16:colId xmlns:a16="http://schemas.microsoft.com/office/drawing/2014/main" val="20000"/>
                    </a:ext>
                  </a:extLst>
                </a:gridCol>
                <a:gridCol w="2544581">
                  <a:extLst>
                    <a:ext uri="{9D8B030D-6E8A-4147-A177-3AD203B41FA5}">
                      <a16:colId xmlns:a16="http://schemas.microsoft.com/office/drawing/2014/main" val="20001"/>
                    </a:ext>
                  </a:extLst>
                </a:gridCol>
                <a:gridCol w="2544581">
                  <a:extLst>
                    <a:ext uri="{9D8B030D-6E8A-4147-A177-3AD203B41FA5}">
                      <a16:colId xmlns:a16="http://schemas.microsoft.com/office/drawing/2014/main" val="20002"/>
                    </a:ext>
                  </a:extLst>
                </a:gridCol>
              </a:tblGrid>
              <a:tr h="531059">
                <a:tc>
                  <a:txBody>
                    <a:bodyPr/>
                    <a:lstStyle/>
                    <a:p>
                      <a:pPr indent="266700" algn="ctr">
                        <a:spcAft>
                          <a:spcPts val="0"/>
                        </a:spcAft>
                      </a:pPr>
                      <a:r>
                        <a:rPr lang="zh-CN" sz="2400" b="1" kern="100">
                          <a:latin typeface="Calibri"/>
                          <a:ea typeface="宋体"/>
                          <a:cs typeface="Times New Roman"/>
                        </a:rPr>
                        <a:t>任务</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需要时间资源（小时）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31059">
                <a:tc>
                  <a:txBody>
                    <a:bodyPr/>
                    <a:lstStyle/>
                    <a:p>
                      <a:pPr indent="266700" algn="ctr">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31059">
                <a:tc>
                  <a:txBody>
                    <a:bodyPr/>
                    <a:lstStyle/>
                    <a:p>
                      <a:pPr indent="266700" algn="ctr">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31059">
                <a:tc>
                  <a:txBody>
                    <a:bodyPr/>
                    <a:lstStyle/>
                    <a:p>
                      <a:pPr indent="266700" algn="ctr">
                        <a:spcAft>
                          <a:spcPts val="0"/>
                        </a:spcAft>
                      </a:pPr>
                      <a:r>
                        <a:rPr lang="en-US" sz="2400" kern="100">
                          <a:latin typeface="Calibri"/>
                          <a:ea typeface="宋体"/>
                          <a:cs typeface="Times New Roman"/>
                        </a:rPr>
                        <a:t>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31059">
                <a:tc>
                  <a:txBody>
                    <a:bodyPr/>
                    <a:lstStyle/>
                    <a:p>
                      <a:pPr indent="266700" algn="ctr">
                        <a:spcAft>
                          <a:spcPts val="0"/>
                        </a:spcAft>
                      </a:pPr>
                      <a:r>
                        <a:rPr lang="en-US" sz="2400" kern="100">
                          <a:latin typeface="Calibri"/>
                          <a:ea typeface="宋体"/>
                          <a:cs typeface="Times New Roman"/>
                        </a:rPr>
                        <a:t>D</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31059">
                <a:tc>
                  <a:txBody>
                    <a:bodyPr/>
                    <a:lstStyle/>
                    <a:p>
                      <a:pPr indent="266700" algn="ctr">
                        <a:spcAft>
                          <a:spcPts val="0"/>
                        </a:spcAft>
                      </a:pPr>
                      <a:r>
                        <a:rPr lang="en-US" sz="2400" kern="100">
                          <a:latin typeface="Calibri"/>
                          <a:ea typeface="宋体"/>
                          <a:cs typeface="Times New Roman"/>
                        </a:rPr>
                        <a:t>E</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31059">
                <a:tc>
                  <a:txBody>
                    <a:bodyPr/>
                    <a:lstStyle/>
                    <a:p>
                      <a:pPr indent="266700" algn="ctr">
                        <a:spcAft>
                          <a:spcPts val="0"/>
                        </a:spcAft>
                      </a:pPr>
                      <a:r>
                        <a:rPr lang="en-US" sz="2400" kern="100">
                          <a:latin typeface="Calibri"/>
                          <a:ea typeface="宋体"/>
                          <a:cs typeface="Times New Roman"/>
                        </a:rPr>
                        <a:t>F</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31059">
                <a:tc>
                  <a:txBody>
                    <a:bodyPr/>
                    <a:lstStyle/>
                    <a:p>
                      <a:pPr indent="266700" algn="ctr">
                        <a:spcAft>
                          <a:spcPts val="0"/>
                        </a:spcAft>
                      </a:pPr>
                      <a:r>
                        <a:rPr lang="en-US" sz="2400" kern="100">
                          <a:latin typeface="Calibri"/>
                          <a:ea typeface="宋体"/>
                          <a:cs typeface="Times New Roman"/>
                        </a:rPr>
                        <a:t>G</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27</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97451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资源清单</a:t>
            </a:r>
          </a:p>
        </p:txBody>
      </p:sp>
      <p:graphicFrame>
        <p:nvGraphicFramePr>
          <p:cNvPr id="4" name="表格 3"/>
          <p:cNvGraphicFramePr>
            <a:graphicFrameLocks noGrp="1"/>
          </p:cNvGraphicFramePr>
          <p:nvPr/>
        </p:nvGraphicFramePr>
        <p:xfrm>
          <a:off x="1187624" y="1844824"/>
          <a:ext cx="7704855" cy="4322919"/>
        </p:xfrm>
        <a:graphic>
          <a:graphicData uri="http://schemas.openxmlformats.org/drawingml/2006/table">
            <a:tbl>
              <a:tblPr/>
              <a:tblGrid>
                <a:gridCol w="2567683">
                  <a:extLst>
                    <a:ext uri="{9D8B030D-6E8A-4147-A177-3AD203B41FA5}">
                      <a16:colId xmlns:a16="http://schemas.microsoft.com/office/drawing/2014/main" val="20000"/>
                    </a:ext>
                  </a:extLst>
                </a:gridCol>
                <a:gridCol w="2568586">
                  <a:extLst>
                    <a:ext uri="{9D8B030D-6E8A-4147-A177-3AD203B41FA5}">
                      <a16:colId xmlns:a16="http://schemas.microsoft.com/office/drawing/2014/main" val="20001"/>
                    </a:ext>
                  </a:extLst>
                </a:gridCol>
                <a:gridCol w="2568586">
                  <a:extLst>
                    <a:ext uri="{9D8B030D-6E8A-4147-A177-3AD203B41FA5}">
                      <a16:colId xmlns:a16="http://schemas.microsoft.com/office/drawing/2014/main" val="20002"/>
                    </a:ext>
                  </a:extLst>
                </a:gridCol>
              </a:tblGrid>
              <a:tr h="513057">
                <a:tc>
                  <a:txBody>
                    <a:bodyPr/>
                    <a:lstStyle/>
                    <a:p>
                      <a:pPr indent="266700" algn="ctr">
                        <a:spcAft>
                          <a:spcPts val="0"/>
                        </a:spcAft>
                      </a:pPr>
                      <a:r>
                        <a:rPr lang="zh-CN" sz="2400" b="1" kern="100">
                          <a:latin typeface="Calibri"/>
                          <a:ea typeface="宋体"/>
                          <a:cs typeface="Times New Roman"/>
                        </a:rPr>
                        <a:t>日期（第</a:t>
                      </a:r>
                      <a:r>
                        <a:rPr lang="en-US" sz="2400" b="1" kern="100">
                          <a:latin typeface="Calibri"/>
                          <a:ea typeface="宋体"/>
                          <a:cs typeface="Times New Roman"/>
                        </a:rPr>
                        <a:t>X</a:t>
                      </a:r>
                      <a:r>
                        <a:rPr lang="zh-CN" sz="2400" b="1" kern="100">
                          <a:latin typeface="Calibri"/>
                          <a:ea typeface="宋体"/>
                          <a:cs typeface="Times New Roman"/>
                        </a:rPr>
                        <a:t>天）</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13057">
                <a:tc>
                  <a:txBody>
                    <a:bodyPr/>
                    <a:lstStyle/>
                    <a:p>
                      <a:pPr indent="266700" algn="ctr">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3057">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3057">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3057">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3057">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13057">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13057">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28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95613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日程计划</a:t>
            </a:r>
          </a:p>
        </p:txBody>
      </p:sp>
      <p:graphicFrame>
        <p:nvGraphicFramePr>
          <p:cNvPr id="4" name="表格 3"/>
          <p:cNvGraphicFramePr>
            <a:graphicFrameLocks noGrp="1"/>
          </p:cNvGraphicFramePr>
          <p:nvPr/>
        </p:nvGraphicFramePr>
        <p:xfrm>
          <a:off x="1043605" y="1700810"/>
          <a:ext cx="7848874" cy="4608507"/>
        </p:xfrm>
        <a:graphic>
          <a:graphicData uri="http://schemas.openxmlformats.org/drawingml/2006/table">
            <a:tbl>
              <a:tblPr/>
              <a:tblGrid>
                <a:gridCol w="1946100">
                  <a:extLst>
                    <a:ext uri="{9D8B030D-6E8A-4147-A177-3AD203B41FA5}">
                      <a16:colId xmlns:a16="http://schemas.microsoft.com/office/drawing/2014/main" val="20000"/>
                    </a:ext>
                  </a:extLst>
                </a:gridCol>
                <a:gridCol w="2005967">
                  <a:extLst>
                    <a:ext uri="{9D8B030D-6E8A-4147-A177-3AD203B41FA5}">
                      <a16:colId xmlns:a16="http://schemas.microsoft.com/office/drawing/2014/main" val="20001"/>
                    </a:ext>
                  </a:extLst>
                </a:gridCol>
                <a:gridCol w="2005967">
                  <a:extLst>
                    <a:ext uri="{9D8B030D-6E8A-4147-A177-3AD203B41FA5}">
                      <a16:colId xmlns:a16="http://schemas.microsoft.com/office/drawing/2014/main" val="20002"/>
                    </a:ext>
                  </a:extLst>
                </a:gridCol>
                <a:gridCol w="1890840">
                  <a:extLst>
                    <a:ext uri="{9D8B030D-6E8A-4147-A177-3AD203B41FA5}">
                      <a16:colId xmlns:a16="http://schemas.microsoft.com/office/drawing/2014/main" val="20003"/>
                    </a:ext>
                  </a:extLst>
                </a:gridCol>
              </a:tblGrid>
              <a:tr h="1024115">
                <a:tc>
                  <a:txBody>
                    <a:bodyPr/>
                    <a:lstStyle/>
                    <a:p>
                      <a:pPr indent="266700" algn="ctr">
                        <a:spcAft>
                          <a:spcPts val="0"/>
                        </a:spcAft>
                      </a:pPr>
                      <a:r>
                        <a:rPr lang="zh-CN" sz="2400" b="1" kern="100" dirty="0">
                          <a:latin typeface="Calibri"/>
                          <a:ea typeface="宋体"/>
                          <a:cs typeface="Times New Roman"/>
                        </a:rPr>
                        <a:t>任务</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需要时间资源（小时）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完成时间（第</a:t>
                      </a:r>
                      <a:r>
                        <a:rPr lang="en-US" sz="2400" b="1" kern="100">
                          <a:latin typeface="Calibri"/>
                          <a:ea typeface="宋体"/>
                          <a:cs typeface="Times New Roman"/>
                        </a:rPr>
                        <a:t>X</a:t>
                      </a:r>
                      <a:r>
                        <a:rPr lang="zh-CN" sz="2400" b="1" kern="100">
                          <a:latin typeface="Calibri"/>
                          <a:ea typeface="宋体"/>
                          <a:cs typeface="Times New Roman"/>
                        </a:rPr>
                        <a:t>天）</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12056">
                <a:tc>
                  <a:txBody>
                    <a:bodyPr/>
                    <a:lstStyle/>
                    <a:p>
                      <a:pPr indent="266700" algn="ctr">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2056">
                <a:tc>
                  <a:txBody>
                    <a:bodyPr/>
                    <a:lstStyle/>
                    <a:p>
                      <a:pPr indent="266700" algn="ctr">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2056">
                <a:tc>
                  <a:txBody>
                    <a:bodyPr/>
                    <a:lstStyle/>
                    <a:p>
                      <a:pPr indent="266700" algn="ctr">
                        <a:spcAft>
                          <a:spcPts val="0"/>
                        </a:spcAft>
                      </a:pPr>
                      <a:r>
                        <a:rPr lang="en-US" sz="2400" kern="100">
                          <a:latin typeface="Calibri"/>
                          <a:ea typeface="宋体"/>
                          <a:cs typeface="Times New Roman"/>
                        </a:rPr>
                        <a:t>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2056">
                <a:tc>
                  <a:txBody>
                    <a:bodyPr/>
                    <a:lstStyle/>
                    <a:p>
                      <a:pPr indent="266700" algn="ctr">
                        <a:spcAft>
                          <a:spcPts val="0"/>
                        </a:spcAft>
                      </a:pPr>
                      <a:r>
                        <a:rPr lang="en-US" sz="2400" kern="100">
                          <a:latin typeface="Calibri"/>
                          <a:ea typeface="宋体"/>
                          <a:cs typeface="Times New Roman"/>
                        </a:rPr>
                        <a:t>D</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2056">
                <a:tc>
                  <a:txBody>
                    <a:bodyPr/>
                    <a:lstStyle/>
                    <a:p>
                      <a:pPr indent="266700" algn="ctr">
                        <a:spcAft>
                          <a:spcPts val="0"/>
                        </a:spcAft>
                      </a:pPr>
                      <a:r>
                        <a:rPr lang="en-US" sz="2400" kern="100">
                          <a:latin typeface="Calibri"/>
                          <a:ea typeface="宋体"/>
                          <a:cs typeface="Times New Roman"/>
                        </a:rPr>
                        <a:t>E</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12056">
                <a:tc>
                  <a:txBody>
                    <a:bodyPr/>
                    <a:lstStyle/>
                    <a:p>
                      <a:pPr indent="266700" algn="ctr">
                        <a:spcAft>
                          <a:spcPts val="0"/>
                        </a:spcAft>
                      </a:pPr>
                      <a:r>
                        <a:rPr lang="en-US" sz="2400" kern="100">
                          <a:latin typeface="Calibri"/>
                          <a:ea typeface="宋体"/>
                          <a:cs typeface="Times New Roman"/>
                        </a:rPr>
                        <a:t>F</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12056">
                <a:tc>
                  <a:txBody>
                    <a:bodyPr/>
                    <a:lstStyle/>
                    <a:p>
                      <a:pPr indent="266700" algn="ctr">
                        <a:spcAft>
                          <a:spcPts val="0"/>
                        </a:spcAft>
                      </a:pPr>
                      <a:r>
                        <a:rPr lang="en-US" sz="2400" kern="100">
                          <a:latin typeface="Calibri"/>
                          <a:ea typeface="宋体"/>
                          <a:cs typeface="Times New Roman"/>
                        </a:rPr>
                        <a:t>G</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7</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15049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估算</a:t>
            </a:r>
            <a:endParaRPr lang="en-US" altLang="zh-CN" dirty="0"/>
          </a:p>
          <a:p>
            <a:pPr lvl="1"/>
            <a:r>
              <a:rPr lang="zh-CN" altLang="en-US" dirty="0"/>
              <a:t>关于估算的一些约定</a:t>
            </a:r>
            <a:endParaRPr lang="en-US" altLang="zh-CN" dirty="0"/>
          </a:p>
          <a:p>
            <a:pPr lvl="1"/>
            <a:r>
              <a:rPr lang="en-US" altLang="zh-CN" dirty="0"/>
              <a:t>TSP/PSP</a:t>
            </a:r>
            <a:r>
              <a:rPr lang="zh-CN" altLang="en-US" dirty="0"/>
              <a:t>和</a:t>
            </a:r>
            <a:r>
              <a:rPr lang="en-US" altLang="zh-CN" dirty="0"/>
              <a:t>PROBE</a:t>
            </a:r>
          </a:p>
          <a:p>
            <a:pPr lvl="1"/>
            <a:r>
              <a:rPr lang="en-US" altLang="zh-CN" dirty="0"/>
              <a:t>SCRUM</a:t>
            </a:r>
            <a:r>
              <a:rPr lang="zh-CN" altLang="en-US" dirty="0"/>
              <a:t>和故事点</a:t>
            </a:r>
            <a:endParaRPr lang="en-US" altLang="zh-CN" dirty="0"/>
          </a:p>
          <a:p>
            <a:r>
              <a:rPr lang="zh-CN" altLang="en-US" dirty="0"/>
              <a:t>计划和跟踪</a:t>
            </a:r>
            <a:endParaRPr lang="en-US" altLang="zh-CN" dirty="0"/>
          </a:p>
          <a:p>
            <a:pPr lvl="1"/>
            <a:r>
              <a:rPr lang="zh-CN" altLang="en-US" sz="2400" dirty="0"/>
              <a:t>团队项目规划</a:t>
            </a:r>
            <a:endParaRPr lang="en-US" altLang="zh-CN" sz="2400" dirty="0"/>
          </a:p>
          <a:p>
            <a:pPr marL="363538" lvl="1" indent="0">
              <a:buNone/>
            </a:pPr>
            <a:r>
              <a:rPr lang="zh-CN" altLang="en-US" sz="2400" i="1" dirty="0"/>
              <a:t>工作分解结构、开发策略与计划、生命周期模型、日程</a:t>
            </a:r>
            <a:r>
              <a:rPr lang="en-US" altLang="zh-CN" sz="2400" i="1" dirty="0"/>
              <a:t>/</a:t>
            </a:r>
            <a:r>
              <a:rPr lang="zh-CN" altLang="en-US" sz="2400" i="1" dirty="0"/>
              <a:t>质量</a:t>
            </a:r>
            <a:r>
              <a:rPr lang="en-US" altLang="zh-CN" sz="2400" i="1" dirty="0"/>
              <a:t>/</a:t>
            </a:r>
            <a:r>
              <a:rPr lang="zh-CN" altLang="en-US" sz="2400" i="1" dirty="0"/>
              <a:t>风险计划等</a:t>
            </a:r>
            <a:endParaRPr lang="en-US" altLang="zh-CN" sz="2400" i="1" dirty="0"/>
          </a:p>
          <a:p>
            <a:pPr lvl="1"/>
            <a:r>
              <a:rPr lang="zh-CN" altLang="en-US" sz="2400" dirty="0"/>
              <a:t>团队项目跟踪与管理</a:t>
            </a:r>
            <a:endParaRPr lang="en-US" altLang="zh-CN" sz="2400" dirty="0"/>
          </a:p>
          <a:p>
            <a:pPr marL="363538" lvl="1" indent="0">
              <a:buNone/>
            </a:pPr>
            <a:r>
              <a:rPr lang="zh-CN" altLang="en-US" sz="2400" i="1" dirty="0"/>
              <a:t>挣值管理、里程碑评审、纠偏活动管理</a:t>
            </a:r>
            <a:endParaRPr lang="en-US" altLang="zh-CN" sz="2400" i="1" dirty="0"/>
          </a:p>
          <a:p>
            <a:r>
              <a:rPr lang="zh-CN" altLang="en-US" sz="2800" dirty="0"/>
              <a:t>项目总结</a:t>
            </a:r>
            <a:endParaRPr lang="en-US" altLang="zh-CN" sz="2800" dirty="0"/>
          </a:p>
          <a:p>
            <a:pPr lvl="1"/>
            <a:endParaRPr lang="zh-CN" altLang="en-US" dirty="0"/>
          </a:p>
        </p:txBody>
      </p:sp>
    </p:spTree>
    <p:extLst>
      <p:ext uri="{BB962C8B-B14F-4D97-AF65-F5344CB8AC3E}">
        <p14:creationId xmlns:p14="http://schemas.microsoft.com/office/powerpoint/2010/main" val="13377375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项目跟踪意义</a:t>
            </a:r>
            <a:endParaRPr lang="zh-CN" altLang="en-US" dirty="0"/>
          </a:p>
        </p:txBody>
      </p:sp>
      <p:sp>
        <p:nvSpPr>
          <p:cNvPr id="3" name="内容占位符 2"/>
          <p:cNvSpPr>
            <a:spLocks noGrp="1"/>
          </p:cNvSpPr>
          <p:nvPr>
            <p:ph idx="1"/>
          </p:nvPr>
        </p:nvSpPr>
        <p:spPr/>
        <p:txBody>
          <a:bodyPr/>
          <a:lstStyle/>
          <a:p>
            <a:r>
              <a:rPr lang="zh-CN" altLang="zh-CN" dirty="0"/>
              <a:t>在项目进展过程中开展跟踪活动的目的在于了解项目进度，以便在项目实际进展与计划产生严重偏离时，可采取适当的纠正措施。</a:t>
            </a:r>
            <a:endParaRPr lang="en-US" altLang="zh-CN" dirty="0"/>
          </a:p>
          <a:p>
            <a:r>
              <a:rPr lang="zh-CN" altLang="zh-CN" dirty="0"/>
              <a:t>项目进度滞后与否需要参照物</a:t>
            </a:r>
            <a:r>
              <a:rPr lang="zh-CN" altLang="en-US" dirty="0"/>
              <a:t>，即项目计划。</a:t>
            </a:r>
            <a:endParaRPr lang="en-US" altLang="zh-CN" dirty="0"/>
          </a:p>
          <a:p>
            <a:r>
              <a:rPr lang="zh-CN" altLang="zh-CN" dirty="0"/>
              <a:t>项目跟踪</a:t>
            </a:r>
            <a:r>
              <a:rPr lang="zh-CN" altLang="en-US" dirty="0"/>
              <a:t>需要</a:t>
            </a:r>
            <a:r>
              <a:rPr lang="zh-CN" altLang="zh-CN" dirty="0"/>
              <a:t>管理针对偏差而采取的纠偏措施。</a:t>
            </a:r>
            <a:endParaRPr lang="zh-CN" altLang="en-US" dirty="0"/>
          </a:p>
        </p:txBody>
      </p:sp>
    </p:spTree>
    <p:extLst>
      <p:ext uri="{BB962C8B-B14F-4D97-AF65-F5344CB8AC3E}">
        <p14:creationId xmlns:p14="http://schemas.microsoft.com/office/powerpoint/2010/main" val="32149725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挣值管理方法</a:t>
            </a:r>
            <a:endParaRPr lang="zh-CN" altLang="en-US" dirty="0"/>
          </a:p>
        </p:txBody>
      </p:sp>
      <p:sp>
        <p:nvSpPr>
          <p:cNvPr id="3" name="内容占位符 2"/>
          <p:cNvSpPr>
            <a:spLocks noGrp="1"/>
          </p:cNvSpPr>
          <p:nvPr>
            <p:ph idx="1"/>
          </p:nvPr>
        </p:nvSpPr>
        <p:spPr>
          <a:xfrm>
            <a:off x="0" y="990601"/>
            <a:ext cx="9144000" cy="5410200"/>
          </a:xfrm>
        </p:spPr>
        <p:txBody>
          <a:bodyPr/>
          <a:lstStyle/>
          <a:p>
            <a:r>
              <a:rPr lang="zh-CN" altLang="zh-CN" dirty="0"/>
              <a:t>项目的挣值管理方法</a:t>
            </a:r>
            <a:r>
              <a:rPr lang="en-US" altLang="zh-CN" dirty="0"/>
              <a:t>(Earned Value Management</a:t>
            </a:r>
            <a:r>
              <a:rPr lang="zh-CN" altLang="zh-CN" dirty="0"/>
              <a:t>，简称</a:t>
            </a:r>
            <a:r>
              <a:rPr lang="en-US" altLang="zh-CN" dirty="0"/>
              <a:t>EVM)</a:t>
            </a:r>
            <a:r>
              <a:rPr lang="zh-CN" altLang="zh-CN" dirty="0"/>
              <a:t>是用来客观度量项目进度的一种项目管理方法。</a:t>
            </a:r>
            <a:endParaRPr lang="en-US" altLang="zh-CN" dirty="0"/>
          </a:p>
          <a:p>
            <a:pPr lvl="1"/>
            <a:r>
              <a:rPr lang="zh-CN" altLang="en-US" dirty="0"/>
              <a:t>每项任务实现附以一定价值（</a:t>
            </a:r>
            <a:r>
              <a:rPr lang="en-US" altLang="zh-CN" dirty="0"/>
              <a:t>credit</a:t>
            </a:r>
            <a:r>
              <a:rPr lang="zh-CN" altLang="en-US" dirty="0"/>
              <a:t>）</a:t>
            </a:r>
            <a:endParaRPr lang="en-US" altLang="zh-CN" dirty="0"/>
          </a:p>
          <a:p>
            <a:pPr lvl="1"/>
            <a:r>
              <a:rPr lang="en-US" altLang="zh-CN" dirty="0"/>
              <a:t>100%</a:t>
            </a:r>
            <a:r>
              <a:rPr lang="zh-CN" altLang="en-US" dirty="0"/>
              <a:t>完成该项任务，就获得相应价值</a:t>
            </a:r>
            <a:endParaRPr lang="en-US" altLang="zh-CN" dirty="0"/>
          </a:p>
          <a:p>
            <a:r>
              <a:rPr lang="en-US" altLang="zh-CN" dirty="0"/>
              <a:t>EVM</a:t>
            </a:r>
            <a:r>
              <a:rPr lang="zh-CN" altLang="zh-CN" dirty="0"/>
              <a:t>采用与进度计划、成本预算和实际成本相联系的三个独立的变量，进行项目绩效测量。</a:t>
            </a:r>
            <a:endParaRPr lang="en-US" altLang="zh-CN" dirty="0"/>
          </a:p>
          <a:p>
            <a:pPr lvl="1"/>
            <a:r>
              <a:rPr lang="zh-CN" altLang="en-US" dirty="0"/>
              <a:t>简单实现</a:t>
            </a:r>
            <a:endParaRPr lang="en-US" altLang="zh-CN" dirty="0"/>
          </a:p>
          <a:p>
            <a:pPr lvl="1"/>
            <a:r>
              <a:rPr lang="zh-CN" altLang="en-US" dirty="0"/>
              <a:t>中级实现</a:t>
            </a:r>
            <a:endParaRPr lang="en-US" altLang="zh-CN" dirty="0"/>
          </a:p>
          <a:p>
            <a:pPr lvl="1"/>
            <a:r>
              <a:rPr lang="zh-CN" altLang="en-US" dirty="0"/>
              <a:t>高级实现</a:t>
            </a:r>
            <a:endParaRPr lang="en-US" altLang="zh-CN" dirty="0"/>
          </a:p>
          <a:p>
            <a:endParaRPr lang="zh-CN" altLang="en-US" dirty="0"/>
          </a:p>
        </p:txBody>
      </p:sp>
    </p:spTree>
    <p:extLst>
      <p:ext uri="{BB962C8B-B14F-4D97-AF65-F5344CB8AC3E}">
        <p14:creationId xmlns:p14="http://schemas.microsoft.com/office/powerpoint/2010/main" val="2171803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挣值分析图示</a:t>
            </a:r>
            <a:endParaRPr lang="zh-CN" altLang="en-US" dirty="0"/>
          </a:p>
        </p:txBody>
      </p:sp>
      <p:pic>
        <p:nvPicPr>
          <p:cNvPr id="4" name="图片 3" descr="Evm_simple.JPG"/>
          <p:cNvPicPr/>
          <p:nvPr/>
        </p:nvPicPr>
        <p:blipFill>
          <a:blip r:embed="rId2" cstate="print">
            <a:grayscl/>
          </a:blip>
          <a:stretch>
            <a:fillRect/>
          </a:stretch>
        </p:blipFill>
        <p:spPr>
          <a:xfrm>
            <a:off x="357158" y="1571612"/>
            <a:ext cx="8001056" cy="5072098"/>
          </a:xfrm>
          <a:prstGeom prst="rect">
            <a:avLst/>
          </a:prstGeom>
          <a:noFill/>
          <a:ln>
            <a:noFill/>
          </a:ln>
        </p:spPr>
      </p:pic>
    </p:spTree>
    <p:extLst>
      <p:ext uri="{BB962C8B-B14F-4D97-AF65-F5344CB8AC3E}">
        <p14:creationId xmlns:p14="http://schemas.microsoft.com/office/powerpoint/2010/main" val="21176693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a:t>
            </a:r>
            <a:r>
              <a:rPr lang="en-US" altLang="zh-CN" dirty="0"/>
              <a:t>EVM</a:t>
            </a:r>
            <a:r>
              <a:rPr lang="zh-CN" altLang="en-US" dirty="0"/>
              <a:t>度量</a:t>
            </a:r>
          </a:p>
        </p:txBody>
      </p:sp>
      <p:sp>
        <p:nvSpPr>
          <p:cNvPr id="3" name="内容占位符 2"/>
          <p:cNvSpPr>
            <a:spLocks noGrp="1"/>
          </p:cNvSpPr>
          <p:nvPr>
            <p:ph idx="1"/>
          </p:nvPr>
        </p:nvSpPr>
        <p:spPr/>
        <p:txBody>
          <a:bodyPr/>
          <a:lstStyle/>
          <a:p>
            <a:pPr lvl="0"/>
            <a:r>
              <a:rPr lang="en-US" altLang="zh-CN" dirty="0"/>
              <a:t>BAC</a:t>
            </a:r>
            <a:r>
              <a:rPr lang="zh-CN" altLang="zh-CN" dirty="0"/>
              <a:t>表示按照</a:t>
            </a:r>
            <a:r>
              <a:rPr lang="en-US" altLang="zh-CN" dirty="0"/>
              <a:t>PV</a:t>
            </a:r>
            <a:r>
              <a:rPr lang="zh-CN" altLang="zh-CN" dirty="0"/>
              <a:t>值的曲线，当项目完成的时候所需预算或者时间</a:t>
            </a:r>
            <a:endParaRPr lang="en-US" altLang="zh-CN" dirty="0"/>
          </a:p>
          <a:p>
            <a:pPr lvl="0"/>
            <a:r>
              <a:rPr lang="zh-CN" altLang="zh-CN" dirty="0"/>
              <a:t>成本差异</a:t>
            </a:r>
            <a:r>
              <a:rPr lang="en-US" altLang="zh-CN" dirty="0"/>
              <a:t>CV = EV-AC</a:t>
            </a:r>
          </a:p>
          <a:p>
            <a:pPr lvl="0"/>
            <a:r>
              <a:rPr lang="zh-CN" altLang="zh-CN" dirty="0"/>
              <a:t>成本差异指数</a:t>
            </a:r>
            <a:r>
              <a:rPr lang="en-US" altLang="zh-CN" dirty="0"/>
              <a:t>CPI = EV/AC</a:t>
            </a:r>
          </a:p>
          <a:p>
            <a:pPr lvl="0"/>
            <a:r>
              <a:rPr lang="zh-CN" altLang="zh-CN" dirty="0"/>
              <a:t>日程偏差</a:t>
            </a:r>
            <a:r>
              <a:rPr lang="en-US" altLang="zh-CN" dirty="0"/>
              <a:t>SV = EV – PV</a:t>
            </a:r>
          </a:p>
          <a:p>
            <a:pPr lvl="0"/>
            <a:r>
              <a:rPr lang="zh-CN" altLang="zh-CN" dirty="0"/>
              <a:t>日程偏差指数</a:t>
            </a:r>
            <a:r>
              <a:rPr lang="en-US" altLang="zh-CN" dirty="0"/>
              <a:t>SPI = EV/PV</a:t>
            </a:r>
          </a:p>
          <a:p>
            <a:pPr lvl="0"/>
            <a:r>
              <a:rPr lang="zh-CN" altLang="zh-CN" dirty="0"/>
              <a:t>预计完成成本</a:t>
            </a:r>
            <a:r>
              <a:rPr lang="en-US" altLang="zh-CN" dirty="0"/>
              <a:t>EAC = AC+(BAC-EV)/CPI = BAC/CPI</a:t>
            </a:r>
            <a:endParaRPr lang="zh-CN" altLang="en-US" dirty="0"/>
          </a:p>
        </p:txBody>
      </p:sp>
    </p:spTree>
    <p:extLst>
      <p:ext uri="{BB962C8B-B14F-4D97-AF65-F5344CB8AC3E}">
        <p14:creationId xmlns:p14="http://schemas.microsoft.com/office/powerpoint/2010/main" val="43249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4"/>
            <a:ext cx="6900862" cy="1143000"/>
          </a:xfrm>
        </p:spPr>
        <p:txBody>
          <a:bodyPr/>
          <a:lstStyle/>
          <a:p>
            <a:r>
              <a:rPr lang="en-US" altLang="zh-CN" dirty="0"/>
              <a:t>EVM</a:t>
            </a:r>
            <a:r>
              <a:rPr lang="zh-CN" altLang="en-US" dirty="0"/>
              <a:t>应用示例（讨论）</a:t>
            </a:r>
          </a:p>
        </p:txBody>
      </p:sp>
      <p:pic>
        <p:nvPicPr>
          <p:cNvPr id="4" name="图片 3" descr="Image.bmp"/>
          <p:cNvPicPr/>
          <p:nvPr/>
        </p:nvPicPr>
        <p:blipFill>
          <a:blip r:embed="rId2" cstate="print"/>
          <a:stretch>
            <a:fillRect/>
          </a:stretch>
        </p:blipFill>
        <p:spPr>
          <a:xfrm>
            <a:off x="107504" y="1052736"/>
            <a:ext cx="9036495" cy="5519512"/>
          </a:xfrm>
          <a:prstGeom prst="rect">
            <a:avLst/>
          </a:prstGeom>
        </p:spPr>
      </p:pic>
    </p:spTree>
    <p:extLst>
      <p:ext uri="{BB962C8B-B14F-4D97-AF65-F5344CB8AC3E}">
        <p14:creationId xmlns:p14="http://schemas.microsoft.com/office/powerpoint/2010/main" val="2727495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4"/>
            <a:ext cx="6900862" cy="1143000"/>
          </a:xfrm>
        </p:spPr>
        <p:txBody>
          <a:bodyPr/>
          <a:lstStyle/>
          <a:p>
            <a:r>
              <a:rPr lang="zh-CN" altLang="en-US" dirty="0"/>
              <a:t>另外一种</a:t>
            </a:r>
            <a:r>
              <a:rPr lang="en-US" altLang="zh-CN" dirty="0"/>
              <a:t>EVM</a:t>
            </a:r>
            <a:r>
              <a:rPr lang="zh-CN" altLang="en-US" dirty="0"/>
              <a:t>的变形</a:t>
            </a:r>
            <a:r>
              <a:rPr lang="en-US" altLang="zh-CN" dirty="0"/>
              <a:t>——</a:t>
            </a:r>
            <a:r>
              <a:rPr lang="zh-CN" altLang="en-US" dirty="0"/>
              <a:t>燃尽图</a:t>
            </a:r>
          </a:p>
        </p:txBody>
      </p:sp>
      <p:pic>
        <p:nvPicPr>
          <p:cNvPr id="3" name="图片 2">
            <a:extLst>
              <a:ext uri="{FF2B5EF4-FFF2-40B4-BE49-F238E27FC236}">
                <a16:creationId xmlns:a16="http://schemas.microsoft.com/office/drawing/2014/main" id="{6E7DD348-17B3-B34C-935D-93D53E4CF410}"/>
              </a:ext>
            </a:extLst>
          </p:cNvPr>
          <p:cNvPicPr>
            <a:picLocks noChangeAspect="1"/>
          </p:cNvPicPr>
          <p:nvPr/>
        </p:nvPicPr>
        <p:blipFill>
          <a:blip r:embed="rId2"/>
          <a:stretch>
            <a:fillRect/>
          </a:stretch>
        </p:blipFill>
        <p:spPr>
          <a:xfrm>
            <a:off x="-1" y="990600"/>
            <a:ext cx="8984009" cy="3733800"/>
          </a:xfrm>
          <a:prstGeom prst="rect">
            <a:avLst/>
          </a:prstGeom>
        </p:spPr>
      </p:pic>
    </p:spTree>
    <p:extLst>
      <p:ext uri="{BB962C8B-B14F-4D97-AF65-F5344CB8AC3E}">
        <p14:creationId xmlns:p14="http://schemas.microsoft.com/office/powerpoint/2010/main" val="1467378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EVM</a:t>
            </a:r>
            <a:r>
              <a:rPr lang="zh-CN" altLang="en-US" dirty="0"/>
              <a:t>的局限性</a:t>
            </a:r>
          </a:p>
        </p:txBody>
      </p:sp>
      <p:sp>
        <p:nvSpPr>
          <p:cNvPr id="3" name="内容占位符 2"/>
          <p:cNvSpPr>
            <a:spLocks noGrp="1"/>
          </p:cNvSpPr>
          <p:nvPr>
            <p:ph idx="1"/>
          </p:nvPr>
        </p:nvSpPr>
        <p:spPr>
          <a:xfrm>
            <a:off x="0" y="1124744"/>
            <a:ext cx="9144000" cy="5161756"/>
          </a:xfrm>
        </p:spPr>
        <p:txBody>
          <a:bodyPr/>
          <a:lstStyle/>
          <a:p>
            <a:r>
              <a:rPr lang="en-US" altLang="zh-CN" dirty="0"/>
              <a:t>EVM</a:t>
            </a:r>
            <a:r>
              <a:rPr lang="zh-CN" altLang="zh-CN" dirty="0"/>
              <a:t>这种方式也有一定的局限性。</a:t>
            </a:r>
            <a:endParaRPr lang="en-US" altLang="zh-CN" dirty="0"/>
          </a:p>
          <a:p>
            <a:pPr lvl="1"/>
            <a:r>
              <a:rPr lang="en-US" altLang="zh-CN" dirty="0"/>
              <a:t>EVM</a:t>
            </a:r>
            <a:r>
              <a:rPr lang="zh-CN" altLang="zh-CN" dirty="0"/>
              <a:t>一般不能应用软件项目的质量管理。</a:t>
            </a:r>
            <a:endParaRPr lang="en-US" altLang="zh-CN" dirty="0"/>
          </a:p>
          <a:p>
            <a:pPr lvl="1"/>
            <a:r>
              <a:rPr lang="en-US" altLang="zh-CN" dirty="0"/>
              <a:t>EVM</a:t>
            </a:r>
            <a:r>
              <a:rPr lang="zh-CN" altLang="zh-CN" dirty="0"/>
              <a:t>需要定量化的管理机制，这就使其在一些探索型项目以及</a:t>
            </a:r>
            <a:r>
              <a:rPr lang="zh-CN" altLang="en-US" dirty="0">
                <a:solidFill>
                  <a:srgbClr val="FF0000"/>
                </a:solidFill>
              </a:rPr>
              <a:t>部分</a:t>
            </a:r>
            <a:r>
              <a:rPr lang="zh-CN" altLang="zh-CN" dirty="0">
                <a:solidFill>
                  <a:srgbClr val="FF0000"/>
                </a:solidFill>
              </a:rPr>
              <a:t>敏捷开发方法</a:t>
            </a:r>
            <a:r>
              <a:rPr lang="zh-CN" altLang="zh-CN" dirty="0"/>
              <a:t>中的应用受到限制。</a:t>
            </a:r>
            <a:endParaRPr lang="en-US" altLang="zh-CN" dirty="0"/>
          </a:p>
          <a:p>
            <a:pPr lvl="1"/>
            <a:r>
              <a:rPr lang="en-US" altLang="zh-CN" dirty="0"/>
              <a:t>EVM</a:t>
            </a:r>
            <a:r>
              <a:rPr lang="zh-CN" altLang="zh-CN" dirty="0"/>
              <a:t>完全依赖项目的准确估算</a:t>
            </a:r>
            <a:r>
              <a:rPr lang="zh-CN" altLang="en-US" dirty="0"/>
              <a:t>（价值体系）</a:t>
            </a:r>
            <a:r>
              <a:rPr lang="zh-CN" altLang="zh-CN" dirty="0"/>
              <a:t>，然而在项目早期，很难对项目进行非常准确的估算。</a:t>
            </a:r>
          </a:p>
          <a:p>
            <a:endParaRPr lang="zh-CN" altLang="en-US" dirty="0"/>
          </a:p>
        </p:txBody>
      </p:sp>
    </p:spTree>
    <p:extLst>
      <p:ext uri="{BB962C8B-B14F-4D97-AF65-F5344CB8AC3E}">
        <p14:creationId xmlns:p14="http://schemas.microsoft.com/office/powerpoint/2010/main" val="2649621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里程碑评审</a:t>
            </a:r>
            <a:endParaRPr lang="zh-CN" altLang="en-US" dirty="0"/>
          </a:p>
        </p:txBody>
      </p:sp>
      <p:sp>
        <p:nvSpPr>
          <p:cNvPr id="3" name="内容占位符 2"/>
          <p:cNvSpPr>
            <a:spLocks noGrp="1"/>
          </p:cNvSpPr>
          <p:nvPr>
            <p:ph idx="1"/>
          </p:nvPr>
        </p:nvSpPr>
        <p:spPr>
          <a:xfrm>
            <a:off x="457200" y="1052513"/>
            <a:ext cx="8458200" cy="5348287"/>
          </a:xfrm>
        </p:spPr>
        <p:txBody>
          <a:bodyPr/>
          <a:lstStyle/>
          <a:p>
            <a:r>
              <a:rPr lang="zh-CN" altLang="zh-CN" dirty="0"/>
              <a:t>软件项目的里程碑往往是指某个时间点，用以标记某项工作的完成或者阶段的结束。</a:t>
            </a:r>
            <a:endParaRPr lang="en-US" altLang="zh-CN" dirty="0"/>
          </a:p>
          <a:p>
            <a:r>
              <a:rPr lang="zh-CN" altLang="zh-CN" dirty="0"/>
              <a:t>审查的内容包括：</a:t>
            </a:r>
          </a:p>
          <a:p>
            <a:pPr lvl="1"/>
            <a:r>
              <a:rPr lang="zh-CN" altLang="zh-CN" dirty="0"/>
              <a:t>项目相关的承诺，如日期、规格、质量等等；</a:t>
            </a:r>
          </a:p>
          <a:p>
            <a:pPr lvl="1"/>
            <a:r>
              <a:rPr lang="zh-CN" altLang="zh-CN" dirty="0"/>
              <a:t>项目各项计划的执行状况；</a:t>
            </a:r>
          </a:p>
          <a:p>
            <a:pPr lvl="1"/>
            <a:r>
              <a:rPr lang="zh-CN" altLang="zh-CN" dirty="0"/>
              <a:t>项目当前的状态讨论；</a:t>
            </a:r>
          </a:p>
          <a:p>
            <a:pPr lvl="1"/>
            <a:r>
              <a:rPr lang="zh-CN" altLang="zh-CN" dirty="0"/>
              <a:t>项目面临的风险讨论等。</a:t>
            </a:r>
            <a:endParaRPr lang="zh-CN" altLang="en-US" dirty="0"/>
          </a:p>
        </p:txBody>
      </p:sp>
    </p:spTree>
    <p:extLst>
      <p:ext uri="{BB962C8B-B14F-4D97-AF65-F5344CB8AC3E}">
        <p14:creationId xmlns:p14="http://schemas.microsoft.com/office/powerpoint/2010/main" val="652107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其他计划跟踪</a:t>
            </a:r>
            <a:endParaRPr lang="zh-CN" altLang="en-US" dirty="0"/>
          </a:p>
        </p:txBody>
      </p:sp>
      <p:sp>
        <p:nvSpPr>
          <p:cNvPr id="3" name="内容占位符 2"/>
          <p:cNvSpPr>
            <a:spLocks noGrp="1"/>
          </p:cNvSpPr>
          <p:nvPr>
            <p:ph idx="1"/>
          </p:nvPr>
        </p:nvSpPr>
        <p:spPr/>
        <p:txBody>
          <a:bodyPr/>
          <a:lstStyle/>
          <a:p>
            <a:r>
              <a:rPr lang="zh-CN" altLang="zh-CN" dirty="0"/>
              <a:t>日程计划跟踪</a:t>
            </a:r>
            <a:endParaRPr lang="en-US" altLang="zh-CN" dirty="0"/>
          </a:p>
          <a:p>
            <a:r>
              <a:rPr lang="zh-CN" altLang="zh-CN" dirty="0"/>
              <a:t>承诺计划跟踪</a:t>
            </a:r>
            <a:endParaRPr lang="en-US" altLang="zh-CN" dirty="0"/>
          </a:p>
          <a:p>
            <a:r>
              <a:rPr lang="zh-CN" altLang="zh-CN" dirty="0"/>
              <a:t>风险计划跟踪</a:t>
            </a:r>
            <a:endParaRPr lang="en-US" altLang="zh-CN" dirty="0"/>
          </a:p>
          <a:p>
            <a:r>
              <a:rPr lang="zh-CN" altLang="zh-CN" dirty="0"/>
              <a:t>数据收集计划跟踪</a:t>
            </a:r>
            <a:endParaRPr lang="en-US" altLang="zh-CN" dirty="0"/>
          </a:p>
          <a:p>
            <a:r>
              <a:rPr lang="zh-CN" altLang="zh-CN" dirty="0"/>
              <a:t>沟通计划跟踪</a:t>
            </a:r>
            <a:endParaRPr lang="zh-CN" altLang="en-US" dirty="0"/>
          </a:p>
        </p:txBody>
      </p:sp>
    </p:spTree>
    <p:extLst>
      <p:ext uri="{BB962C8B-B14F-4D97-AF65-F5344CB8AC3E}">
        <p14:creationId xmlns:p14="http://schemas.microsoft.com/office/powerpoint/2010/main" val="369796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纠偏活动的管理</a:t>
            </a:r>
            <a:endParaRPr lang="zh-CN" altLang="en-US" dirty="0"/>
          </a:p>
        </p:txBody>
      </p:sp>
      <p:sp>
        <p:nvSpPr>
          <p:cNvPr id="3" name="内容占位符 2"/>
          <p:cNvSpPr>
            <a:spLocks noGrp="1"/>
          </p:cNvSpPr>
          <p:nvPr>
            <p:ph idx="1"/>
          </p:nvPr>
        </p:nvSpPr>
        <p:spPr/>
        <p:txBody>
          <a:bodyPr/>
          <a:lstStyle/>
          <a:p>
            <a:r>
              <a:rPr lang="zh-CN" altLang="zh-CN" dirty="0"/>
              <a:t>典型的纠偏活动包括</a:t>
            </a:r>
            <a:endParaRPr lang="en-US" altLang="zh-CN" dirty="0"/>
          </a:p>
          <a:p>
            <a:pPr lvl="1"/>
            <a:r>
              <a:rPr lang="zh-CN" altLang="zh-CN" dirty="0"/>
              <a:t>偏差原因分析</a:t>
            </a:r>
            <a:endParaRPr lang="en-US" altLang="zh-CN" dirty="0"/>
          </a:p>
          <a:p>
            <a:pPr lvl="1"/>
            <a:r>
              <a:rPr lang="zh-CN" altLang="zh-CN" dirty="0"/>
              <a:t>纠偏措施定义</a:t>
            </a:r>
            <a:endParaRPr lang="en-US" altLang="zh-CN" dirty="0"/>
          </a:p>
          <a:p>
            <a:pPr lvl="1"/>
            <a:r>
              <a:rPr lang="zh-CN" altLang="zh-CN" dirty="0"/>
              <a:t>纠偏措施管理</a:t>
            </a:r>
            <a:endParaRPr lang="zh-CN" altLang="en-US" dirty="0"/>
          </a:p>
        </p:txBody>
      </p:sp>
    </p:spTree>
    <p:extLst>
      <p:ext uri="{BB962C8B-B14F-4D97-AF65-F5344CB8AC3E}">
        <p14:creationId xmlns:p14="http://schemas.microsoft.com/office/powerpoint/2010/main" val="4129795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11392</TotalTime>
  <Words>2766</Words>
  <Application>Microsoft Macintosh PowerPoint</Application>
  <PresentationFormat>全屏显示(4:3)</PresentationFormat>
  <Paragraphs>440</Paragraphs>
  <Slides>38</Slides>
  <Notes>25</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44" baseType="lpstr">
      <vt:lpstr>Arial</vt:lpstr>
      <vt:lpstr>Calibri</vt:lpstr>
      <vt:lpstr>Verdana</vt:lpstr>
      <vt:lpstr>Wingdings</vt:lpstr>
      <vt:lpstr>PowerPoint Template</vt:lpstr>
      <vt:lpstr>Visio</vt:lpstr>
      <vt:lpstr>软件质量与管理 第四讲 估算、计划和跟踪</vt:lpstr>
      <vt:lpstr>内容</vt:lpstr>
      <vt:lpstr>关于估算</vt:lpstr>
      <vt:lpstr>估算练习 -1</vt:lpstr>
      <vt:lpstr>关于估算的一些事实</vt:lpstr>
      <vt:lpstr>部分相关知识点回顾</vt:lpstr>
      <vt:lpstr>PROBE估算方法</vt:lpstr>
      <vt:lpstr>PROBE原理示例</vt:lpstr>
      <vt:lpstr>相对大小矩阵</vt:lpstr>
      <vt:lpstr>相对大小矩阵（C++语言）</vt:lpstr>
      <vt:lpstr>PROBE 估算流程</vt:lpstr>
      <vt:lpstr>概要设计 -1</vt:lpstr>
      <vt:lpstr>概要设计 -2</vt:lpstr>
      <vt:lpstr>估算练习 -2</vt:lpstr>
      <vt:lpstr>整合多个估算结果</vt:lpstr>
      <vt:lpstr>整合多个估算结果之后的估算误差：示例</vt:lpstr>
      <vt:lpstr>SCRUM 中的Story point</vt:lpstr>
      <vt:lpstr>关于估算方法的反思</vt:lpstr>
      <vt:lpstr>历史数据的获取——度量</vt:lpstr>
      <vt:lpstr>内容</vt:lpstr>
      <vt:lpstr>工作分解结构（WBS）</vt:lpstr>
      <vt:lpstr>开发策略与计划</vt:lpstr>
      <vt:lpstr>通用计划框架</vt:lpstr>
      <vt:lpstr>日程计划原理和方法</vt:lpstr>
      <vt:lpstr>任务清单</vt:lpstr>
      <vt:lpstr>资源清单</vt:lpstr>
      <vt:lpstr>日程计划</vt:lpstr>
      <vt:lpstr>内容</vt:lpstr>
      <vt:lpstr>项目跟踪意义</vt:lpstr>
      <vt:lpstr>挣值管理方法</vt:lpstr>
      <vt:lpstr>挣值分析图示</vt:lpstr>
      <vt:lpstr>常用EVM度量</vt:lpstr>
      <vt:lpstr>EVM应用示例（讨论）</vt:lpstr>
      <vt:lpstr>另外一种EVM的变形——燃尽图</vt:lpstr>
      <vt:lpstr>EVM的局限性</vt:lpstr>
      <vt:lpstr>里程碑评审</vt:lpstr>
      <vt:lpstr>其他计划跟踪</vt:lpstr>
      <vt:lpstr>纠偏活动的管理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Microsoft Office User</cp:lastModifiedBy>
  <cp:revision>321</cp:revision>
  <cp:lastPrinted>1601-01-01T00:00:00Z</cp:lastPrinted>
  <dcterms:created xsi:type="dcterms:W3CDTF">1601-01-01T00:00:00Z</dcterms:created>
  <dcterms:modified xsi:type="dcterms:W3CDTF">2025-06-03T06:04:45Z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