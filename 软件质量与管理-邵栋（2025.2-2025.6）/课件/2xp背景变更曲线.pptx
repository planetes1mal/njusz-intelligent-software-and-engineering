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p:sldMasterIdLst>
    <p:sldMasterId id="2147483648" r:id="rId1"/>
  </p:sldMasterIdLst>
  <p:notesMasterIdLst>
    <p:notesMasterId r:id="rId15"/>
  </p:notesMasterIdLst>
  <p:handoutMasterIdLst>
    <p:handoutMasterId r:id="rId16"/>
  </p:handoutMasterIdLst>
  <p:sldIdLst>
    <p:sldId id="337" r:id="rId2"/>
    <p:sldId id="352" r:id="rId3"/>
    <p:sldId id="362" r:id="rId4"/>
    <p:sldId id="344" r:id="rId5"/>
    <p:sldId id="356" r:id="rId6"/>
    <p:sldId id="357" r:id="rId7"/>
    <p:sldId id="358" r:id="rId8"/>
    <p:sldId id="359" r:id="rId9"/>
    <p:sldId id="360" r:id="rId10"/>
    <p:sldId id="361" r:id="rId11"/>
    <p:sldId id="350" r:id="rId12"/>
    <p:sldId id="351" r:id="rId13"/>
    <p:sldId id="340"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17">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muel Garcia" initials="SG"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2C78BD"/>
    <a:srgbClr val="E31857"/>
    <a:srgbClr val="FEB813"/>
    <a:srgbClr val="870078"/>
    <a:srgbClr val="6A005F"/>
    <a:srgbClr val="760068"/>
    <a:srgbClr val="500048"/>
    <a:srgbClr val="A2008F"/>
    <a:srgbClr val="C000A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700" autoAdjust="0"/>
    <p:restoredTop sz="78045" autoAdjust="0"/>
  </p:normalViewPr>
  <p:slideViewPr>
    <p:cSldViewPr snapToGrid="0" showGuides="1">
      <p:cViewPr varScale="1">
        <p:scale>
          <a:sx n="76" d="100"/>
          <a:sy n="76" d="100"/>
        </p:scale>
        <p:origin x="224" y="2104"/>
      </p:cViewPr>
      <p:guideLst>
        <p:guide orient="horz" pos="2160"/>
        <p:guide pos="3817"/>
      </p:guideLst>
    </p:cSldViewPr>
  </p:slideViewPr>
  <p:notesTextViewPr>
    <p:cViewPr>
      <p:scale>
        <a:sx n="1" d="1"/>
        <a:sy n="1" d="1"/>
      </p:scale>
      <p:origin x="0" y="0"/>
    </p:cViewPr>
  </p:notesTextViewPr>
  <p:sorterViewPr>
    <p:cViewPr>
      <p:scale>
        <a:sx n="120" d="100"/>
        <a:sy n="120" d="100"/>
      </p:scale>
      <p:origin x="0" y="0"/>
    </p:cViewPr>
  </p:sorterViewPr>
  <p:notesViewPr>
    <p:cSldViewPr snapToGrid="0">
      <p:cViewPr varScale="1">
        <p:scale>
          <a:sx n="72" d="100"/>
          <a:sy n="72" d="100"/>
        </p:scale>
        <p:origin x="3012" y="5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457D45F-9B06-4FD6-B80D-63AF92FC02D4}" type="datetimeFigureOut">
              <a:rPr lang="zh-CN" altLang="en-US" smtClean="0"/>
              <a:t>2025/3/13</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B33F7F3-BE4C-4D86-9918-24458AE0A277}"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2F98C7-9395-4E9A-96EC-DE4C39432AA7}" type="datetimeFigureOut">
              <a:rPr lang="zh-CN" altLang="en-US" smtClean="0"/>
              <a:t>2025/3/13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464DB0-CCE3-4363-801A-A01AADC6398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内页">
    <p:spTree>
      <p:nvGrpSpPr>
        <p:cNvPr id="1" name=""/>
        <p:cNvGrpSpPr/>
        <p:nvPr/>
      </p:nvGrpSpPr>
      <p:grpSpPr>
        <a:xfrm>
          <a:off x="0" y="0"/>
          <a:ext cx="0" cy="0"/>
          <a:chOff x="0" y="0"/>
          <a:chExt cx="0" cy="0"/>
        </a:xfrm>
      </p:grpSpPr>
      <p:sp>
        <p:nvSpPr>
          <p:cNvPr id="9" name="矩形 8"/>
          <p:cNvSpPr/>
          <p:nvPr userDrawn="1"/>
        </p:nvSpPr>
        <p:spPr>
          <a:xfrm>
            <a:off x="11208694" y="6320412"/>
            <a:ext cx="575959" cy="537587"/>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6" name="灯片编号占位符 15"/>
          <p:cNvSpPr>
            <a:spLocks noGrp="1"/>
          </p:cNvSpPr>
          <p:nvPr>
            <p:ph type="sldNum" sz="quarter" idx="12"/>
          </p:nvPr>
        </p:nvSpPr>
        <p:spPr>
          <a:xfrm>
            <a:off x="10801349" y="6406644"/>
            <a:ext cx="1390651" cy="365125"/>
          </a:xfrm>
        </p:spPr>
        <p:txBody>
          <a:bodyPr/>
          <a:lstStyle>
            <a:lvl1pPr algn="ctr">
              <a:defRPr sz="2000" b="1">
                <a:solidFill>
                  <a:schemeClr val="bg1"/>
                </a:solidFill>
              </a:defRPr>
            </a:lvl1pPr>
          </a:lstStyle>
          <a:p>
            <a:fld id="{51D91E7F-84B6-4064-9D4E-CC7D244BCA04}" type="slidenum">
              <a:rPr lang="zh-CN" altLang="en-US" smtClean="0"/>
              <a:t>‹#›</a:t>
            </a:fld>
            <a:endParaRPr lang="zh-CN" altLang="en-US"/>
          </a:p>
        </p:txBody>
      </p:sp>
      <p:grpSp>
        <p:nvGrpSpPr>
          <p:cNvPr id="13" name="组合 12"/>
          <p:cNvGrpSpPr/>
          <p:nvPr userDrawn="1"/>
        </p:nvGrpSpPr>
        <p:grpSpPr>
          <a:xfrm>
            <a:off x="160768" y="120576"/>
            <a:ext cx="657379" cy="653562"/>
            <a:chOff x="10920675" y="2008140"/>
            <a:chExt cx="576000" cy="576000"/>
          </a:xfrm>
        </p:grpSpPr>
        <p:sp>
          <p:nvSpPr>
            <p:cNvPr id="14" name="矩形 13"/>
            <p:cNvSpPr/>
            <p:nvPr/>
          </p:nvSpPr>
          <p:spPr>
            <a:xfrm>
              <a:off x="11172675" y="2260140"/>
              <a:ext cx="324000" cy="324000"/>
            </a:xfrm>
            <a:prstGeom prst="rect">
              <a:avLst/>
            </a:prstGeom>
            <a:solidFill>
              <a:srgbClr val="8700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矩形 14"/>
            <p:cNvSpPr/>
            <p:nvPr/>
          </p:nvSpPr>
          <p:spPr>
            <a:xfrm>
              <a:off x="10920675" y="2008140"/>
              <a:ext cx="252000" cy="252000"/>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17" name="文本占位符 16"/>
          <p:cNvSpPr>
            <a:spLocks noGrp="1"/>
          </p:cNvSpPr>
          <p:nvPr>
            <p:ph type="body" sz="quarter" idx="13"/>
          </p:nvPr>
        </p:nvSpPr>
        <p:spPr>
          <a:xfrm>
            <a:off x="1032184" y="297936"/>
            <a:ext cx="10321616" cy="584775"/>
          </a:xfrm>
        </p:spPr>
        <p:txBody>
          <a:bodyPr wrap="square" anchor="ctr" anchorCtr="0">
            <a:spAutoFit/>
          </a:bodyPr>
          <a:lstStyle>
            <a:lvl1pPr marL="0" indent="0">
              <a:lnSpc>
                <a:spcPct val="100000"/>
              </a:lnSpc>
              <a:spcBef>
                <a:spcPts val="0"/>
              </a:spcBef>
              <a:buNone/>
              <a:defRPr sz="3200" b="1" i="0" baseline="0"/>
            </a:lvl1pPr>
          </a:lstStyle>
          <a:p>
            <a:pPr lvl="0"/>
            <a:r>
              <a:rPr lang="zh-CN" altLang="en-US"/>
              <a:t>单击此处编辑母版文本样式</a:t>
            </a:r>
          </a:p>
        </p:txBody>
      </p:sp>
      <p:sp>
        <p:nvSpPr>
          <p:cNvPr id="10" name="Content Placeholder 2"/>
          <p:cNvSpPr>
            <a:spLocks noGrp="1"/>
          </p:cNvSpPr>
          <p:nvPr>
            <p:ph idx="1"/>
          </p:nvPr>
        </p:nvSpPr>
        <p:spPr>
          <a:xfrm>
            <a:off x="838200" y="1289956"/>
            <a:ext cx="10515600" cy="4887007"/>
          </a:xfrm>
        </p:spPr>
        <p:txBody>
          <a:bodyPr/>
          <a:lstStyle>
            <a:lvl1pPr marL="228600" indent="-228600">
              <a:buFont typeface="Wingdings" panose="05000000000000000000" pitchFamily="2" charset="2"/>
              <a:buChar char="l"/>
              <a:defRPr/>
            </a:lvl1pPr>
            <a:lvl2pPr marL="685800" indent="-228600">
              <a:buFont typeface="Wingdings" panose="05000000000000000000" pitchFamily="2" charset="2"/>
              <a:buChar char="n"/>
              <a:defRPr/>
            </a:lvl2pPr>
            <a:lvl3pPr marL="1143000" indent="-228600">
              <a:buFont typeface="Wingdings" panose="05000000000000000000" pitchFamily="2" charset="2"/>
              <a:buChar char="u"/>
              <a:defRPr/>
            </a:lvl3pPr>
            <a:lvl4pPr marL="1600200" indent="-228600">
              <a:buFont typeface="Wingdings" panose="05000000000000000000" pitchFamily="2" charset="2"/>
              <a:buChar char="Ø"/>
              <a:defRPr/>
            </a:lvl4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grpSp>
        <p:nvGrpSpPr>
          <p:cNvPr id="6" name="组合 5"/>
          <p:cNvGrpSpPr/>
          <p:nvPr userDrawn="1"/>
        </p:nvGrpSpPr>
        <p:grpSpPr>
          <a:xfrm>
            <a:off x="0" y="2697654"/>
            <a:ext cx="12192000" cy="1462692"/>
            <a:chOff x="0" y="2878638"/>
            <a:chExt cx="9144000" cy="1034852"/>
          </a:xfrm>
        </p:grpSpPr>
        <p:sp>
          <p:nvSpPr>
            <p:cNvPr id="7" name="矩形 6"/>
            <p:cNvSpPr/>
            <p:nvPr/>
          </p:nvSpPr>
          <p:spPr>
            <a:xfrm>
              <a:off x="0" y="3607982"/>
              <a:ext cx="9144000" cy="305508"/>
            </a:xfrm>
            <a:prstGeom prst="rect">
              <a:avLst/>
            </a:prstGeom>
            <a:solidFill>
              <a:srgbClr val="453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p:cNvSpPr/>
            <p:nvPr/>
          </p:nvSpPr>
          <p:spPr>
            <a:xfrm>
              <a:off x="0" y="2878638"/>
              <a:ext cx="9144000" cy="729343"/>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grpSp>
        <p:nvGrpSpPr>
          <p:cNvPr id="10" name="组合 9"/>
          <p:cNvGrpSpPr/>
          <p:nvPr userDrawn="1"/>
        </p:nvGrpSpPr>
        <p:grpSpPr>
          <a:xfrm>
            <a:off x="10934299" y="1892024"/>
            <a:ext cx="693020" cy="653562"/>
            <a:chOff x="10920675" y="2008140"/>
            <a:chExt cx="576000" cy="576000"/>
          </a:xfrm>
        </p:grpSpPr>
        <p:sp>
          <p:nvSpPr>
            <p:cNvPr id="11" name="矩形 10"/>
            <p:cNvSpPr/>
            <p:nvPr/>
          </p:nvSpPr>
          <p:spPr>
            <a:xfrm>
              <a:off x="11172675" y="2260140"/>
              <a:ext cx="324000" cy="324000"/>
            </a:xfrm>
            <a:prstGeom prst="rect">
              <a:avLst/>
            </a:prstGeom>
            <a:solidFill>
              <a:srgbClr val="8700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矩形 11"/>
            <p:cNvSpPr/>
            <p:nvPr/>
          </p:nvSpPr>
          <p:spPr>
            <a:xfrm>
              <a:off x="10920675" y="2008140"/>
              <a:ext cx="252000" cy="252000"/>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14" name="Freeform 5"/>
          <p:cNvSpPr>
            <a:spLocks noEditPoints="1"/>
          </p:cNvSpPr>
          <p:nvPr userDrawn="1"/>
        </p:nvSpPr>
        <p:spPr bwMode="auto">
          <a:xfrm>
            <a:off x="11026467" y="2954360"/>
            <a:ext cx="600852" cy="516114"/>
          </a:xfrm>
          <a:custGeom>
            <a:avLst/>
            <a:gdLst>
              <a:gd name="T0" fmla="*/ 17 w 68"/>
              <a:gd name="T1" fmla="*/ 26 h 60"/>
              <a:gd name="T2" fmla="*/ 33 w 68"/>
              <a:gd name="T3" fmla="*/ 31 h 60"/>
              <a:gd name="T4" fmla="*/ 33 w 68"/>
              <a:gd name="T5" fmla="*/ 31 h 60"/>
              <a:gd name="T6" fmla="*/ 49 w 68"/>
              <a:gd name="T7" fmla="*/ 26 h 60"/>
              <a:gd name="T8" fmla="*/ 34 w 68"/>
              <a:gd name="T9" fmla="*/ 18 h 60"/>
              <a:gd name="T10" fmla="*/ 59 w 68"/>
              <a:gd name="T11" fmla="*/ 16 h 60"/>
              <a:gd name="T12" fmla="*/ 55 w 68"/>
              <a:gd name="T13" fmla="*/ 23 h 60"/>
              <a:gd name="T14" fmla="*/ 56 w 68"/>
              <a:gd name="T15" fmla="*/ 15 h 60"/>
              <a:gd name="T16" fmla="*/ 56 w 68"/>
              <a:gd name="T17" fmla="*/ 12 h 60"/>
              <a:gd name="T18" fmla="*/ 52 w 68"/>
              <a:gd name="T19" fmla="*/ 23 h 60"/>
              <a:gd name="T20" fmla="*/ 68 w 68"/>
              <a:gd name="T21" fmla="*/ 32 h 60"/>
              <a:gd name="T22" fmla="*/ 68 w 68"/>
              <a:gd name="T23" fmla="*/ 34 h 60"/>
              <a:gd name="T24" fmla="*/ 67 w 68"/>
              <a:gd name="T25" fmla="*/ 34 h 60"/>
              <a:gd name="T26" fmla="*/ 29 w 68"/>
              <a:gd name="T27" fmla="*/ 50 h 60"/>
              <a:gd name="T28" fmla="*/ 68 w 68"/>
              <a:gd name="T29" fmla="*/ 45 h 60"/>
              <a:gd name="T30" fmla="*/ 30 w 68"/>
              <a:gd name="T31" fmla="*/ 60 h 60"/>
              <a:gd name="T32" fmla="*/ 28 w 68"/>
              <a:gd name="T33" fmla="*/ 59 h 60"/>
              <a:gd name="T34" fmla="*/ 3 w 68"/>
              <a:gd name="T35" fmla="*/ 25 h 60"/>
              <a:gd name="T36" fmla="*/ 14 w 68"/>
              <a:gd name="T37" fmla="*/ 23 h 60"/>
              <a:gd name="T38" fmla="*/ 1 w 68"/>
              <a:gd name="T39" fmla="*/ 10 h 60"/>
              <a:gd name="T40" fmla="*/ 32 w 68"/>
              <a:gd name="T41" fmla="*/ 0 h 60"/>
              <a:gd name="T42" fmla="*/ 65 w 68"/>
              <a:gd name="T43" fmla="*/ 9 h 60"/>
              <a:gd name="T44" fmla="*/ 59 w 68"/>
              <a:gd name="T45" fmla="*/ 14 h 60"/>
              <a:gd name="T46" fmla="*/ 59 w 68"/>
              <a:gd name="T47" fmla="*/ 16 h 60"/>
              <a:gd name="T48" fmla="*/ 58 w 68"/>
              <a:gd name="T49" fmla="*/ 9 h 60"/>
              <a:gd name="T50" fmla="*/ 33 w 68"/>
              <a:gd name="T51" fmla="*/ 4 h 60"/>
              <a:gd name="T52" fmla="*/ 33 w 68"/>
              <a:gd name="T53" fmla="*/ 8 h 60"/>
              <a:gd name="T54" fmla="*/ 54 w 68"/>
              <a:gd name="T55" fmla="*/ 10 h 60"/>
              <a:gd name="T56" fmla="*/ 32 w 68"/>
              <a:gd name="T57" fmla="*/ 53 h 60"/>
              <a:gd name="T58" fmla="*/ 67 w 68"/>
              <a:gd name="T59" fmla="*/ 42 h 60"/>
              <a:gd name="T60" fmla="*/ 32 w 68"/>
              <a:gd name="T61" fmla="*/ 49 h 60"/>
              <a:gd name="T62" fmla="*/ 67 w 68"/>
              <a:gd name="T63" fmla="*/ 40 h 60"/>
              <a:gd name="T64" fmla="*/ 32 w 68"/>
              <a:gd name="T65" fmla="*/ 49 h 60"/>
              <a:gd name="T66" fmla="*/ 32 w 68"/>
              <a:gd name="T67" fmla="*/ 47 h 60"/>
              <a:gd name="T68" fmla="*/ 67 w 68"/>
              <a:gd name="T69" fmla="*/ 3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8" h="60">
                <a:moveTo>
                  <a:pt x="17" y="14"/>
                </a:moveTo>
                <a:cubicBezTo>
                  <a:pt x="17" y="26"/>
                  <a:pt x="17" y="26"/>
                  <a:pt x="17" y="26"/>
                </a:cubicBezTo>
                <a:cubicBezTo>
                  <a:pt x="17" y="26"/>
                  <a:pt x="18" y="27"/>
                  <a:pt x="18" y="27"/>
                </a:cubicBezTo>
                <a:cubicBezTo>
                  <a:pt x="22" y="28"/>
                  <a:pt x="29" y="31"/>
                  <a:pt x="33" y="31"/>
                </a:cubicBezTo>
                <a:cubicBezTo>
                  <a:pt x="33" y="31"/>
                  <a:pt x="33" y="31"/>
                  <a:pt x="33" y="31"/>
                </a:cubicBezTo>
                <a:cubicBezTo>
                  <a:pt x="33" y="31"/>
                  <a:pt x="33" y="31"/>
                  <a:pt x="33" y="31"/>
                </a:cubicBezTo>
                <a:cubicBezTo>
                  <a:pt x="36" y="31"/>
                  <a:pt x="39" y="30"/>
                  <a:pt x="41" y="30"/>
                </a:cubicBezTo>
                <a:cubicBezTo>
                  <a:pt x="45" y="29"/>
                  <a:pt x="47" y="27"/>
                  <a:pt x="49" y="26"/>
                </a:cubicBezTo>
                <a:cubicBezTo>
                  <a:pt x="49" y="14"/>
                  <a:pt x="49" y="14"/>
                  <a:pt x="49" y="14"/>
                </a:cubicBezTo>
                <a:cubicBezTo>
                  <a:pt x="34" y="18"/>
                  <a:pt x="34" y="18"/>
                  <a:pt x="34" y="18"/>
                </a:cubicBezTo>
                <a:cubicBezTo>
                  <a:pt x="17" y="14"/>
                  <a:pt x="17" y="14"/>
                  <a:pt x="17" y="14"/>
                </a:cubicBezTo>
                <a:close/>
                <a:moveTo>
                  <a:pt x="59" y="16"/>
                </a:moveTo>
                <a:cubicBezTo>
                  <a:pt x="61" y="23"/>
                  <a:pt x="61" y="23"/>
                  <a:pt x="61" y="23"/>
                </a:cubicBezTo>
                <a:cubicBezTo>
                  <a:pt x="59" y="25"/>
                  <a:pt x="57" y="25"/>
                  <a:pt x="55" y="23"/>
                </a:cubicBezTo>
                <a:cubicBezTo>
                  <a:pt x="56" y="16"/>
                  <a:pt x="56" y="16"/>
                  <a:pt x="56" y="16"/>
                </a:cubicBezTo>
                <a:cubicBezTo>
                  <a:pt x="56" y="16"/>
                  <a:pt x="56" y="16"/>
                  <a:pt x="56" y="15"/>
                </a:cubicBezTo>
                <a:cubicBezTo>
                  <a:pt x="56" y="15"/>
                  <a:pt x="56" y="14"/>
                  <a:pt x="56" y="14"/>
                </a:cubicBezTo>
                <a:cubicBezTo>
                  <a:pt x="56" y="12"/>
                  <a:pt x="56" y="12"/>
                  <a:pt x="56" y="12"/>
                </a:cubicBezTo>
                <a:cubicBezTo>
                  <a:pt x="52" y="13"/>
                  <a:pt x="52" y="13"/>
                  <a:pt x="52" y="13"/>
                </a:cubicBezTo>
                <a:cubicBezTo>
                  <a:pt x="52" y="23"/>
                  <a:pt x="52" y="23"/>
                  <a:pt x="52" y="23"/>
                </a:cubicBezTo>
                <a:cubicBezTo>
                  <a:pt x="68" y="30"/>
                  <a:pt x="68" y="30"/>
                  <a:pt x="68" y="30"/>
                </a:cubicBezTo>
                <a:cubicBezTo>
                  <a:pt x="68" y="32"/>
                  <a:pt x="68" y="32"/>
                  <a:pt x="68" y="32"/>
                </a:cubicBezTo>
                <a:cubicBezTo>
                  <a:pt x="68" y="34"/>
                  <a:pt x="68" y="34"/>
                  <a:pt x="68" y="34"/>
                </a:cubicBezTo>
                <a:cubicBezTo>
                  <a:pt x="68" y="34"/>
                  <a:pt x="68" y="34"/>
                  <a:pt x="68" y="34"/>
                </a:cubicBezTo>
                <a:cubicBezTo>
                  <a:pt x="68" y="34"/>
                  <a:pt x="68" y="34"/>
                  <a:pt x="68" y="34"/>
                </a:cubicBezTo>
                <a:cubicBezTo>
                  <a:pt x="67" y="34"/>
                  <a:pt x="67" y="34"/>
                  <a:pt x="67" y="34"/>
                </a:cubicBezTo>
                <a:cubicBezTo>
                  <a:pt x="30" y="44"/>
                  <a:pt x="30" y="44"/>
                  <a:pt x="30" y="44"/>
                </a:cubicBezTo>
                <a:cubicBezTo>
                  <a:pt x="29" y="46"/>
                  <a:pt x="29" y="48"/>
                  <a:pt x="29" y="50"/>
                </a:cubicBezTo>
                <a:cubicBezTo>
                  <a:pt x="29" y="52"/>
                  <a:pt x="29" y="54"/>
                  <a:pt x="30" y="56"/>
                </a:cubicBezTo>
                <a:cubicBezTo>
                  <a:pt x="68" y="45"/>
                  <a:pt x="68" y="45"/>
                  <a:pt x="68" y="45"/>
                </a:cubicBezTo>
                <a:cubicBezTo>
                  <a:pt x="68" y="48"/>
                  <a:pt x="68" y="48"/>
                  <a:pt x="68" y="48"/>
                </a:cubicBezTo>
                <a:cubicBezTo>
                  <a:pt x="30" y="60"/>
                  <a:pt x="30" y="60"/>
                  <a:pt x="30" y="60"/>
                </a:cubicBezTo>
                <a:cubicBezTo>
                  <a:pt x="29" y="60"/>
                  <a:pt x="29" y="60"/>
                  <a:pt x="29" y="60"/>
                </a:cubicBezTo>
                <a:cubicBezTo>
                  <a:pt x="28" y="59"/>
                  <a:pt x="28" y="59"/>
                  <a:pt x="28" y="59"/>
                </a:cubicBezTo>
                <a:cubicBezTo>
                  <a:pt x="3" y="38"/>
                  <a:pt x="3" y="38"/>
                  <a:pt x="3" y="38"/>
                </a:cubicBezTo>
                <a:cubicBezTo>
                  <a:pt x="2" y="34"/>
                  <a:pt x="1" y="30"/>
                  <a:pt x="3" y="25"/>
                </a:cubicBezTo>
                <a:cubicBezTo>
                  <a:pt x="3" y="25"/>
                  <a:pt x="3" y="25"/>
                  <a:pt x="3" y="25"/>
                </a:cubicBezTo>
                <a:cubicBezTo>
                  <a:pt x="14" y="23"/>
                  <a:pt x="14" y="23"/>
                  <a:pt x="14" y="23"/>
                </a:cubicBezTo>
                <a:cubicBezTo>
                  <a:pt x="14" y="13"/>
                  <a:pt x="14" y="13"/>
                  <a:pt x="14" y="13"/>
                </a:cubicBezTo>
                <a:cubicBezTo>
                  <a:pt x="1" y="10"/>
                  <a:pt x="1" y="10"/>
                  <a:pt x="1" y="10"/>
                </a:cubicBezTo>
                <a:cubicBezTo>
                  <a:pt x="0" y="8"/>
                  <a:pt x="0" y="8"/>
                  <a:pt x="0" y="8"/>
                </a:cubicBezTo>
                <a:cubicBezTo>
                  <a:pt x="32" y="0"/>
                  <a:pt x="32" y="0"/>
                  <a:pt x="32" y="0"/>
                </a:cubicBezTo>
                <a:cubicBezTo>
                  <a:pt x="65" y="7"/>
                  <a:pt x="65" y="7"/>
                  <a:pt x="65" y="7"/>
                </a:cubicBezTo>
                <a:cubicBezTo>
                  <a:pt x="65" y="9"/>
                  <a:pt x="65" y="9"/>
                  <a:pt x="65" y="9"/>
                </a:cubicBezTo>
                <a:cubicBezTo>
                  <a:pt x="59" y="11"/>
                  <a:pt x="59" y="11"/>
                  <a:pt x="59" y="11"/>
                </a:cubicBezTo>
                <a:cubicBezTo>
                  <a:pt x="59" y="14"/>
                  <a:pt x="59" y="14"/>
                  <a:pt x="59" y="14"/>
                </a:cubicBezTo>
                <a:cubicBezTo>
                  <a:pt x="59" y="14"/>
                  <a:pt x="59" y="15"/>
                  <a:pt x="59" y="15"/>
                </a:cubicBezTo>
                <a:cubicBezTo>
                  <a:pt x="59" y="16"/>
                  <a:pt x="59" y="16"/>
                  <a:pt x="59" y="16"/>
                </a:cubicBezTo>
                <a:close/>
                <a:moveTo>
                  <a:pt x="54" y="10"/>
                </a:moveTo>
                <a:cubicBezTo>
                  <a:pt x="58" y="9"/>
                  <a:pt x="58" y="9"/>
                  <a:pt x="58" y="9"/>
                </a:cubicBezTo>
                <a:cubicBezTo>
                  <a:pt x="36" y="5"/>
                  <a:pt x="36" y="5"/>
                  <a:pt x="36" y="5"/>
                </a:cubicBezTo>
                <a:cubicBezTo>
                  <a:pt x="36" y="4"/>
                  <a:pt x="34" y="4"/>
                  <a:pt x="33" y="4"/>
                </a:cubicBezTo>
                <a:cubicBezTo>
                  <a:pt x="31" y="4"/>
                  <a:pt x="29" y="5"/>
                  <a:pt x="29" y="6"/>
                </a:cubicBezTo>
                <a:cubicBezTo>
                  <a:pt x="29" y="7"/>
                  <a:pt x="31" y="8"/>
                  <a:pt x="33" y="8"/>
                </a:cubicBezTo>
                <a:cubicBezTo>
                  <a:pt x="34" y="8"/>
                  <a:pt x="35" y="8"/>
                  <a:pt x="36" y="7"/>
                </a:cubicBezTo>
                <a:cubicBezTo>
                  <a:pt x="54" y="10"/>
                  <a:pt x="54" y="10"/>
                  <a:pt x="54" y="10"/>
                </a:cubicBezTo>
                <a:close/>
                <a:moveTo>
                  <a:pt x="32" y="52"/>
                </a:moveTo>
                <a:cubicBezTo>
                  <a:pt x="32" y="53"/>
                  <a:pt x="32" y="53"/>
                  <a:pt x="32" y="53"/>
                </a:cubicBezTo>
                <a:cubicBezTo>
                  <a:pt x="67" y="43"/>
                  <a:pt x="67" y="43"/>
                  <a:pt x="67" y="43"/>
                </a:cubicBezTo>
                <a:cubicBezTo>
                  <a:pt x="67" y="42"/>
                  <a:pt x="67" y="42"/>
                  <a:pt x="67" y="42"/>
                </a:cubicBezTo>
                <a:cubicBezTo>
                  <a:pt x="32" y="52"/>
                  <a:pt x="32" y="52"/>
                  <a:pt x="32" y="52"/>
                </a:cubicBezTo>
                <a:close/>
                <a:moveTo>
                  <a:pt x="32" y="49"/>
                </a:moveTo>
                <a:cubicBezTo>
                  <a:pt x="32" y="49"/>
                  <a:pt x="32" y="49"/>
                  <a:pt x="32" y="49"/>
                </a:cubicBezTo>
                <a:cubicBezTo>
                  <a:pt x="67" y="40"/>
                  <a:pt x="67" y="40"/>
                  <a:pt x="67" y="40"/>
                </a:cubicBezTo>
                <a:cubicBezTo>
                  <a:pt x="67" y="39"/>
                  <a:pt x="67" y="39"/>
                  <a:pt x="67" y="39"/>
                </a:cubicBezTo>
                <a:cubicBezTo>
                  <a:pt x="32" y="49"/>
                  <a:pt x="32" y="49"/>
                  <a:pt x="32" y="49"/>
                </a:cubicBezTo>
                <a:close/>
                <a:moveTo>
                  <a:pt x="31" y="46"/>
                </a:moveTo>
                <a:cubicBezTo>
                  <a:pt x="32" y="47"/>
                  <a:pt x="32" y="47"/>
                  <a:pt x="32" y="47"/>
                </a:cubicBezTo>
                <a:cubicBezTo>
                  <a:pt x="67" y="37"/>
                  <a:pt x="67" y="37"/>
                  <a:pt x="67" y="37"/>
                </a:cubicBezTo>
                <a:cubicBezTo>
                  <a:pt x="67" y="36"/>
                  <a:pt x="67" y="36"/>
                  <a:pt x="67" y="36"/>
                </a:cubicBezTo>
                <a:lnTo>
                  <a:pt x="31" y="46"/>
                </a:lnTo>
                <a:close/>
              </a:path>
            </a:pathLst>
          </a:custGeom>
          <a:solidFill>
            <a:schemeClr val="bg1"/>
          </a:solidFill>
          <a:ln>
            <a:noFill/>
          </a:ln>
        </p:spPr>
        <p:txBody>
          <a:bodyPr vert="horz" wrap="square" lIns="68580" tIns="34290" rIns="68580" bIns="34290" numCol="1" anchor="t" anchorCtr="0" compatLnSpc="1"/>
          <a:lstStyle/>
          <a:p>
            <a:endParaRPr lang="zh-CN" altLang="en-US" sz="1350"/>
          </a:p>
        </p:txBody>
      </p:sp>
      <p:pic>
        <p:nvPicPr>
          <p:cNvPr id="15" name="图片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1362" y="2429346"/>
            <a:ext cx="1596121" cy="1999307"/>
          </a:xfrm>
          <a:prstGeom prst="rect">
            <a:avLst/>
          </a:prstGeom>
        </p:spPr>
      </p:pic>
      <p:sp>
        <p:nvSpPr>
          <p:cNvPr id="20" name="文本占位符 19"/>
          <p:cNvSpPr>
            <a:spLocks noGrp="1"/>
          </p:cNvSpPr>
          <p:nvPr>
            <p:ph type="body" sz="quarter" idx="10"/>
          </p:nvPr>
        </p:nvSpPr>
        <p:spPr>
          <a:xfrm>
            <a:off x="2587484" y="2695225"/>
            <a:ext cx="8438981" cy="1030876"/>
          </a:xfrm>
        </p:spPr>
        <p:txBody>
          <a:bodyPr anchor="ctr"/>
          <a:lstStyle>
            <a:lvl1pPr marL="0" indent="0" algn="ctr">
              <a:lnSpc>
                <a:spcPct val="100000"/>
              </a:lnSpc>
              <a:spcBef>
                <a:spcPts val="0"/>
              </a:spcBef>
              <a:buNone/>
              <a:defRPr b="1" i="0" baseline="0">
                <a:solidFill>
                  <a:schemeClr val="bg1"/>
                </a:solidFill>
              </a:defRPr>
            </a:lvl1pPr>
          </a:lstStyle>
          <a:p>
            <a:pPr lvl="0"/>
            <a:r>
              <a:rPr lang="zh-CN" altLang="en-US"/>
              <a:t>单击此处编辑母版文本样式</a:t>
            </a:r>
          </a:p>
        </p:txBody>
      </p:sp>
      <p:sp>
        <p:nvSpPr>
          <p:cNvPr id="21" name="文本占位符 19"/>
          <p:cNvSpPr>
            <a:spLocks noGrp="1"/>
          </p:cNvSpPr>
          <p:nvPr>
            <p:ph type="body" sz="quarter" idx="11"/>
          </p:nvPr>
        </p:nvSpPr>
        <p:spPr>
          <a:xfrm>
            <a:off x="2587484" y="3738042"/>
            <a:ext cx="8438981" cy="422304"/>
          </a:xfrm>
        </p:spPr>
        <p:txBody>
          <a:bodyPr anchor="ctr">
            <a:normAutofit/>
          </a:bodyPr>
          <a:lstStyle>
            <a:lvl1pPr marL="0" indent="0" algn="ctr">
              <a:lnSpc>
                <a:spcPct val="100000"/>
              </a:lnSpc>
              <a:spcBef>
                <a:spcPts val="0"/>
              </a:spcBef>
              <a:buNone/>
              <a:defRPr sz="1800" baseline="0">
                <a:solidFill>
                  <a:schemeClr val="bg1"/>
                </a:solidFill>
              </a:defRPr>
            </a:lvl1pPr>
          </a:lstStyle>
          <a:p>
            <a:pPr lvl="0"/>
            <a:r>
              <a:rPr lang="zh-CN" altLang="en-US"/>
              <a:t>单击此处编辑母版文本样式</a:t>
            </a:r>
          </a:p>
        </p:txBody>
      </p:sp>
      <p:sp>
        <p:nvSpPr>
          <p:cNvPr id="23" name="文本占位符 22"/>
          <p:cNvSpPr>
            <a:spLocks noGrp="1"/>
          </p:cNvSpPr>
          <p:nvPr>
            <p:ph type="body" sz="quarter" idx="12"/>
          </p:nvPr>
        </p:nvSpPr>
        <p:spPr>
          <a:xfrm>
            <a:off x="6658709" y="4846566"/>
            <a:ext cx="5148903" cy="914400"/>
          </a:xfrm>
        </p:spPr>
        <p:txBody>
          <a:bodyPr>
            <a:normAutofit/>
          </a:bodyPr>
          <a:lstStyle>
            <a:lvl1pPr marL="0" indent="0" algn="r">
              <a:lnSpc>
                <a:spcPct val="100000"/>
              </a:lnSpc>
              <a:spcBef>
                <a:spcPts val="0"/>
              </a:spcBef>
              <a:buNone/>
              <a:defRPr sz="1800"/>
            </a:lvl1pPr>
          </a:lstStyle>
          <a:p>
            <a:pPr lvl="0"/>
            <a:r>
              <a:rPr lang="zh-CN" altLang="en-US"/>
              <a:t>单击此处编辑母版文本样式</a:t>
            </a: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7" name="矩形 6"/>
          <p:cNvSpPr/>
          <p:nvPr userDrawn="1"/>
        </p:nvSpPr>
        <p:spPr>
          <a:xfrm>
            <a:off x="0" y="0"/>
            <a:ext cx="3216275" cy="6858000"/>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文本框 7"/>
          <p:cNvSpPr txBox="1"/>
          <p:nvPr userDrawn="1"/>
        </p:nvSpPr>
        <p:spPr>
          <a:xfrm>
            <a:off x="0" y="3152001"/>
            <a:ext cx="3216275" cy="553998"/>
          </a:xfrm>
          <a:prstGeom prst="rect">
            <a:avLst/>
          </a:prstGeom>
          <a:noFill/>
        </p:spPr>
        <p:txBody>
          <a:bodyPr wrap="square" rtlCol="0">
            <a:spAutoFit/>
          </a:bodyPr>
          <a:lstStyle/>
          <a:p>
            <a:pPr algn="r"/>
            <a:r>
              <a:rPr lang="en-US" altLang="zh-CN" sz="3000" b="1" dirty="0">
                <a:solidFill>
                  <a:schemeClr val="bg1"/>
                </a:solidFill>
                <a:cs typeface="Times New Roman" panose="02020603050405020304" pitchFamily="18" charset="0"/>
              </a:rPr>
              <a:t>CONTENTS</a:t>
            </a:r>
            <a:endParaRPr lang="zh-CN" altLang="en-US" sz="3000" b="1" dirty="0">
              <a:solidFill>
                <a:schemeClr val="bg1"/>
              </a:solidFill>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致谢">
    <p:spTree>
      <p:nvGrpSpPr>
        <p:cNvPr id="1" name=""/>
        <p:cNvGrpSpPr/>
        <p:nvPr/>
      </p:nvGrpSpPr>
      <p:grpSpPr>
        <a:xfrm>
          <a:off x="0" y="0"/>
          <a:ext cx="0" cy="0"/>
          <a:chOff x="0" y="0"/>
          <a:chExt cx="0" cy="0"/>
        </a:xfrm>
      </p:grpSpPr>
      <p:grpSp>
        <p:nvGrpSpPr>
          <p:cNvPr id="6" name="组合 5"/>
          <p:cNvGrpSpPr/>
          <p:nvPr userDrawn="1"/>
        </p:nvGrpSpPr>
        <p:grpSpPr>
          <a:xfrm>
            <a:off x="0" y="851038"/>
            <a:ext cx="12192000" cy="875445"/>
            <a:chOff x="0" y="3019996"/>
            <a:chExt cx="9144000" cy="893494"/>
          </a:xfrm>
        </p:grpSpPr>
        <p:sp>
          <p:nvSpPr>
            <p:cNvPr id="7" name="矩形 6"/>
            <p:cNvSpPr/>
            <p:nvPr/>
          </p:nvSpPr>
          <p:spPr>
            <a:xfrm>
              <a:off x="0" y="3607982"/>
              <a:ext cx="9144000" cy="305508"/>
            </a:xfrm>
            <a:prstGeom prst="rect">
              <a:avLst/>
            </a:prstGeom>
            <a:solidFill>
              <a:srgbClr val="453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p:cNvSpPr/>
            <p:nvPr/>
          </p:nvSpPr>
          <p:spPr>
            <a:xfrm>
              <a:off x="0" y="3019996"/>
              <a:ext cx="9144000" cy="587986"/>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pic>
        <p:nvPicPr>
          <p:cNvPr id="11" name="图片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3829" y="629102"/>
            <a:ext cx="1051611" cy="1321787"/>
          </a:xfrm>
          <a:prstGeom prst="rect">
            <a:avLst/>
          </a:prstGeom>
        </p:spPr>
      </p:pic>
      <p:sp>
        <p:nvSpPr>
          <p:cNvPr id="13" name="文本框 12"/>
          <p:cNvSpPr txBox="1"/>
          <p:nvPr userDrawn="1"/>
        </p:nvSpPr>
        <p:spPr>
          <a:xfrm>
            <a:off x="4054413" y="2828835"/>
            <a:ext cx="4083169" cy="1200329"/>
          </a:xfrm>
          <a:prstGeom prst="rect">
            <a:avLst/>
          </a:prstGeom>
          <a:noFill/>
        </p:spPr>
        <p:txBody>
          <a:bodyPr wrap="none" rtlCol="0">
            <a:spAutoFit/>
          </a:bodyPr>
          <a:lstStyle/>
          <a:p>
            <a:r>
              <a:rPr lang="en-US" altLang="zh-CN" sz="7200" b="1" dirty="0">
                <a:solidFill>
                  <a:srgbClr val="6A005F"/>
                </a:solidFill>
              </a:rPr>
              <a:t>THANKS</a:t>
            </a:r>
            <a:endParaRPr lang="zh-CN" altLang="en-US" sz="7200" b="1" dirty="0">
              <a:solidFill>
                <a:srgbClr val="6A005F"/>
              </a:solidFill>
            </a:endParaRPr>
          </a:p>
        </p:txBody>
      </p:sp>
      <p:pic>
        <p:nvPicPr>
          <p:cNvPr id="14" name="图片 1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961027" y="6036473"/>
            <a:ext cx="1508760" cy="477982"/>
          </a:xfrm>
          <a:prstGeom prst="rect">
            <a:avLst/>
          </a:prstGeom>
        </p:spPr>
      </p:pic>
      <p:pic>
        <p:nvPicPr>
          <p:cNvPr id="15" name="图片 14"/>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514868" y="5977892"/>
            <a:ext cx="2161309" cy="595143"/>
          </a:xfrm>
          <a:prstGeom prst="rect">
            <a:avLst/>
          </a:prstGeom>
        </p:spPr>
      </p:pic>
      <p:sp>
        <p:nvSpPr>
          <p:cNvPr id="17" name="文本占位符 16"/>
          <p:cNvSpPr>
            <a:spLocks noGrp="1"/>
          </p:cNvSpPr>
          <p:nvPr>
            <p:ph type="body" sz="quarter" idx="10"/>
          </p:nvPr>
        </p:nvSpPr>
        <p:spPr>
          <a:xfrm>
            <a:off x="1875440" y="851037"/>
            <a:ext cx="9844611" cy="576108"/>
          </a:xfrm>
        </p:spPr>
        <p:txBody>
          <a:bodyPr anchor="ctr">
            <a:normAutofit/>
          </a:bodyPr>
          <a:lstStyle>
            <a:lvl1pPr marL="0" indent="0" algn="ctr">
              <a:lnSpc>
                <a:spcPct val="100000"/>
              </a:lnSpc>
              <a:spcBef>
                <a:spcPts val="0"/>
              </a:spcBef>
              <a:buNone/>
              <a:defRPr sz="2000" b="1" i="0" baseline="0">
                <a:solidFill>
                  <a:schemeClr val="bg1"/>
                </a:solidFill>
              </a:defRPr>
            </a:lvl1pPr>
          </a:lstStyle>
          <a:p>
            <a:pPr lvl="0"/>
            <a:r>
              <a:rPr lang="zh-CN" altLang="en-US"/>
              <a:t>单击此处编辑母版文本样式</a:t>
            </a:r>
          </a:p>
        </p:txBody>
      </p:sp>
      <p:sp>
        <p:nvSpPr>
          <p:cNvPr id="18" name="文本占位符 16"/>
          <p:cNvSpPr>
            <a:spLocks noGrp="1"/>
          </p:cNvSpPr>
          <p:nvPr>
            <p:ph type="body" sz="quarter" idx="11"/>
          </p:nvPr>
        </p:nvSpPr>
        <p:spPr>
          <a:xfrm>
            <a:off x="1875440" y="1427146"/>
            <a:ext cx="9844611" cy="299337"/>
          </a:xfrm>
        </p:spPr>
        <p:txBody>
          <a:bodyPr anchor="ctr">
            <a:noAutofit/>
          </a:bodyPr>
          <a:lstStyle>
            <a:lvl1pPr marL="0" indent="0" algn="ctr">
              <a:lnSpc>
                <a:spcPct val="100000"/>
              </a:lnSpc>
              <a:spcBef>
                <a:spcPts val="0"/>
              </a:spcBef>
              <a:buNone/>
              <a:defRPr sz="1600" b="0" i="0" baseline="0">
                <a:solidFill>
                  <a:schemeClr val="bg1"/>
                </a:solidFill>
              </a:defRPr>
            </a:lvl1pPr>
          </a:lstStyle>
          <a:p>
            <a:pPr lvl="0"/>
            <a:r>
              <a:rPr lang="zh-CN" altLang="en-US"/>
              <a:t>单击此处编辑母版文本样式</a:t>
            </a:r>
          </a:p>
        </p:txBody>
      </p:sp>
      <p:sp>
        <p:nvSpPr>
          <p:cNvPr id="20" name="文本占位符 19"/>
          <p:cNvSpPr>
            <a:spLocks noGrp="1"/>
          </p:cNvSpPr>
          <p:nvPr>
            <p:ph type="body" sz="quarter" idx="12"/>
          </p:nvPr>
        </p:nvSpPr>
        <p:spPr>
          <a:xfrm>
            <a:off x="3373886" y="4589847"/>
            <a:ext cx="5444225" cy="1083341"/>
          </a:xfrm>
        </p:spPr>
        <p:txBody>
          <a:bodyPr>
            <a:normAutofit/>
          </a:bodyPr>
          <a:lstStyle>
            <a:lvl1pPr marL="0" indent="0">
              <a:lnSpc>
                <a:spcPct val="100000"/>
              </a:lnSpc>
              <a:spcBef>
                <a:spcPts val="0"/>
              </a:spcBef>
              <a:buNone/>
              <a:defRPr sz="1600">
                <a:solidFill>
                  <a:srgbClr val="6A005F"/>
                </a:solidFill>
              </a:defRPr>
            </a:lvl1pPr>
          </a:lstStyle>
          <a:p>
            <a:pPr lvl="0"/>
            <a:r>
              <a:rPr lang="zh-CN" altLang="en-US"/>
              <a:t>单击此处编辑母版文本样式</a:t>
            </a: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ACACE84-866A-C549-9C7F-F20C55C69120}" type="datetime1">
              <a:rPr lang="zh-CN" altLang="en-US" smtClean="0"/>
              <a:t>2025/3/13</a:t>
            </a:fld>
            <a:endParaRPr lang="zh-CN" alt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altLang="zh-CN"/>
              <a:t>Dong Shao</a:t>
            </a:r>
            <a:endParaRPr lang="zh-CN" alt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D91E7F-84B6-4064-9D4E-CC7D244BCA0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0"/>
        </a:spcBef>
        <a:buFont typeface="Arial" panose="020B0604020202020204" pitchFamily="34" charset="0"/>
        <a:buChar char="•"/>
        <a:defRPr sz="2800" kern="1200" baseline="0">
          <a:solidFill>
            <a:srgbClr val="6A005F"/>
          </a:solidFill>
          <a:latin typeface="+mn-lt"/>
          <a:ea typeface="+mn-ea"/>
          <a:cs typeface="+mn-cs"/>
        </a:defRPr>
      </a:lvl1pPr>
      <a:lvl2pPr marL="685800" indent="-228600" algn="l" defTabSz="914400" rtl="0" eaLnBrk="1" latinLnBrk="0" hangingPunct="1">
        <a:lnSpc>
          <a:spcPct val="150000"/>
        </a:lnSpc>
        <a:spcBef>
          <a:spcPts val="0"/>
        </a:spcBef>
        <a:buFont typeface="Arial" panose="020B0604020202020204" pitchFamily="34" charset="0"/>
        <a:buChar char="•"/>
        <a:defRPr sz="2400" kern="1200" baseline="0">
          <a:solidFill>
            <a:srgbClr val="6A005F"/>
          </a:solidFill>
          <a:latin typeface="+mn-lt"/>
          <a:ea typeface="+mn-ea"/>
          <a:cs typeface="+mn-cs"/>
        </a:defRPr>
      </a:lvl2pPr>
      <a:lvl3pPr marL="1143000" indent="-228600" algn="l" defTabSz="914400" rtl="0" eaLnBrk="1" latinLnBrk="0" hangingPunct="1">
        <a:lnSpc>
          <a:spcPct val="150000"/>
        </a:lnSpc>
        <a:spcBef>
          <a:spcPts val="0"/>
        </a:spcBef>
        <a:buFont typeface="Arial" panose="020B0604020202020204" pitchFamily="34" charset="0"/>
        <a:buChar char="•"/>
        <a:defRPr sz="2000" kern="1200" baseline="0">
          <a:solidFill>
            <a:srgbClr val="6A005F"/>
          </a:solidFill>
          <a:latin typeface="+mn-lt"/>
          <a:ea typeface="+mn-ea"/>
          <a:cs typeface="+mn-cs"/>
        </a:defRPr>
      </a:lvl3pPr>
      <a:lvl4pPr marL="1600200" indent="-228600" algn="l" defTabSz="914400" rtl="0" eaLnBrk="1" latinLnBrk="0" hangingPunct="1">
        <a:lnSpc>
          <a:spcPct val="150000"/>
        </a:lnSpc>
        <a:spcBef>
          <a:spcPts val="0"/>
        </a:spcBef>
        <a:buFont typeface="Arial" panose="020B0604020202020204" pitchFamily="34" charset="0"/>
        <a:buChar char="•"/>
        <a:defRPr sz="1800" kern="1200" baseline="0">
          <a:solidFill>
            <a:srgbClr val="6A005F"/>
          </a:solidFill>
          <a:latin typeface="+mn-lt"/>
          <a:ea typeface="+mn-ea"/>
          <a:cs typeface="+mn-cs"/>
        </a:defRPr>
      </a:lvl4pPr>
      <a:lvl5pPr marL="2057400" indent="-228600" algn="l" defTabSz="914400" rtl="0" eaLnBrk="1" latinLnBrk="0" hangingPunct="1">
        <a:lnSpc>
          <a:spcPct val="150000"/>
        </a:lnSpc>
        <a:spcBef>
          <a:spcPts val="0"/>
        </a:spcBef>
        <a:buFont typeface="Arial" panose="020B0604020202020204" pitchFamily="34" charset="0"/>
        <a:buChar char="•"/>
        <a:defRPr sz="1800" kern="1200" baseline="0">
          <a:solidFill>
            <a:srgbClr val="6A005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Extreme</a:t>
            </a:r>
            <a:r>
              <a:rPr lang="zh-CN" altLang="en-US" dirty="0"/>
              <a:t> </a:t>
            </a:r>
            <a:r>
              <a:rPr lang="en-US" altLang="zh-CN" dirty="0"/>
              <a:t>Programming</a:t>
            </a:r>
            <a:endParaRPr lang="zh-CN" altLang="en-US" dirty="0"/>
          </a:p>
        </p:txBody>
      </p:sp>
      <p:sp>
        <p:nvSpPr>
          <p:cNvPr id="3" name="文本占位符 2"/>
          <p:cNvSpPr>
            <a:spLocks noGrp="1"/>
          </p:cNvSpPr>
          <p:nvPr>
            <p:ph type="body" sz="quarter" idx="11"/>
          </p:nvPr>
        </p:nvSpPr>
        <p:spPr/>
        <p:txBody>
          <a:bodyPr/>
          <a:lstStyle/>
          <a:p>
            <a:endParaRPr lang="zh-CN" altLang="en-US"/>
          </a:p>
        </p:txBody>
      </p:sp>
      <p:sp>
        <p:nvSpPr>
          <p:cNvPr id="4" name="文本占位符 3"/>
          <p:cNvSpPr>
            <a:spLocks noGrp="1"/>
          </p:cNvSpPr>
          <p:nvPr>
            <p:ph type="body" sz="quarter" idx="12"/>
          </p:nvPr>
        </p:nvSpPr>
        <p:spPr/>
        <p:txBody>
          <a:bodyPr/>
          <a:lstStyle/>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t>1</a:t>
            </a:fld>
            <a:endParaRPr lang="zh-CN" altLang="en-US"/>
          </a:p>
        </p:txBody>
      </p:sp>
      <p:sp>
        <p:nvSpPr>
          <p:cNvPr id="3" name="文本占位符 2"/>
          <p:cNvSpPr>
            <a:spLocks noGrp="1"/>
          </p:cNvSpPr>
          <p:nvPr>
            <p:ph type="body" sz="quarter" idx="13"/>
          </p:nvPr>
        </p:nvSpPr>
        <p:spPr/>
        <p:txBody>
          <a:bodyPr/>
          <a:lstStyle/>
          <a:p>
            <a:r>
              <a:rPr kumimoji="1" lang="zh-CN" altLang="en-US" dirty="0"/>
              <a:t>极限编程的历史背景</a:t>
            </a:r>
          </a:p>
        </p:txBody>
      </p:sp>
      <p:sp>
        <p:nvSpPr>
          <p:cNvPr id="4" name="内容占位符 3"/>
          <p:cNvSpPr>
            <a:spLocks noGrp="1"/>
          </p:cNvSpPr>
          <p:nvPr>
            <p:ph idx="1"/>
          </p:nvPr>
        </p:nvSpPr>
        <p:spPr/>
        <p:txBody>
          <a:bodyPr>
            <a:normAutofit fontScale="92500" lnSpcReduction="20000"/>
          </a:bodyPr>
          <a:lstStyle/>
          <a:p>
            <a:r>
              <a:rPr kumimoji="1" lang="zh-CN" altLang="en-US" dirty="0"/>
              <a:t>极限编程（</a:t>
            </a:r>
            <a:r>
              <a:rPr kumimoji="1" lang="en-US" altLang="zh-CN" dirty="0"/>
              <a:t>XP</a:t>
            </a:r>
            <a:r>
              <a:rPr kumimoji="1" lang="zh-CN" altLang="en-US" dirty="0"/>
              <a:t>）作为一种敏捷开发方法诞生于</a:t>
            </a:r>
            <a:r>
              <a:rPr kumimoji="1" lang="en-US" altLang="zh-CN" dirty="0"/>
              <a:t>20</a:t>
            </a:r>
            <a:r>
              <a:rPr kumimoji="1" lang="zh-CN" altLang="en-US" dirty="0"/>
              <a:t>世纪</a:t>
            </a:r>
            <a:r>
              <a:rPr kumimoji="1" lang="en-US" altLang="zh-CN" dirty="0"/>
              <a:t>90</a:t>
            </a:r>
            <a:r>
              <a:rPr kumimoji="1" lang="zh-CN" altLang="en-US" dirty="0"/>
              <a:t>年代后期的软件工程实践。其主要创始人是</a:t>
            </a:r>
            <a:r>
              <a:rPr kumimoji="1" lang="en-US" altLang="zh-CN" dirty="0"/>
              <a:t>Kent Beck</a:t>
            </a:r>
            <a:r>
              <a:rPr kumimoji="1" lang="zh-CN" altLang="en-US" dirty="0"/>
              <a:t>，他在</a:t>
            </a:r>
            <a:r>
              <a:rPr kumimoji="1" lang="en-US" altLang="zh-CN" dirty="0"/>
              <a:t>1996</a:t>
            </a:r>
            <a:r>
              <a:rPr kumimoji="1" lang="zh-CN" altLang="en-US" dirty="0"/>
              <a:t>年参与克莱斯勒公司一个名为</a:t>
            </a:r>
            <a:r>
              <a:rPr kumimoji="1" lang="en-US" altLang="zh-CN" dirty="0"/>
              <a:t>C3</a:t>
            </a:r>
            <a:r>
              <a:rPr kumimoji="1" lang="zh-CN" altLang="en-US" dirty="0"/>
              <a:t>（</a:t>
            </a:r>
            <a:r>
              <a:rPr kumimoji="1" lang="en-US" altLang="zh-CN" dirty="0"/>
              <a:t>Chrysler Comprehensive Compensation</a:t>
            </a:r>
            <a:r>
              <a:rPr kumimoji="1" lang="zh-CN" altLang="en-US" dirty="0"/>
              <a:t>）的薪资系统项目时开始形成</a:t>
            </a:r>
            <a:r>
              <a:rPr kumimoji="1" lang="en-US" altLang="zh-CN" dirty="0"/>
              <a:t>XP</a:t>
            </a:r>
            <a:r>
              <a:rPr kumimoji="1" lang="zh-CN" altLang="en-US" dirty="0"/>
              <a:t>的。当时，该项目采用</a:t>
            </a:r>
            <a:r>
              <a:rPr kumimoji="1" lang="en-US" altLang="zh-CN" dirty="0"/>
              <a:t>Smalltalk</a:t>
            </a:r>
            <a:r>
              <a:rPr kumimoji="1" lang="zh-CN" altLang="en-US" dirty="0"/>
              <a:t>语言开发，最初进展不顺利。</a:t>
            </a:r>
            <a:r>
              <a:rPr kumimoji="1" lang="en-US" altLang="zh-CN" dirty="0"/>
              <a:t>Beck</a:t>
            </a:r>
            <a:r>
              <a:rPr kumimoji="1" lang="zh-CN" altLang="en-US" dirty="0"/>
              <a:t>接手后在</a:t>
            </a:r>
            <a:r>
              <a:rPr kumimoji="1" lang="en-US" altLang="zh-CN" dirty="0"/>
              <a:t>1996</a:t>
            </a:r>
            <a:r>
              <a:rPr kumimoji="1" lang="zh-CN" altLang="en-US" dirty="0"/>
              <a:t>年对项目开发方法进行了重启，尝试将多种“最佳实践”组合应用，以快速响应需求变化并提高软件。这些实践的组合和强化便逐渐演化成后来所谓的“极限编程”方法。</a:t>
            </a:r>
            <a:endParaRPr kumimoji="1" lang="en-US" altLang="zh-CN" dirty="0"/>
          </a:p>
          <a:p>
            <a:r>
              <a:rPr kumimoji="1" lang="en-US" altLang="zh-CN" dirty="0"/>
              <a:t>1998</a:t>
            </a:r>
            <a:r>
              <a:rPr kumimoji="1" lang="zh-CN" altLang="en-US" dirty="0"/>
              <a:t>年</a:t>
            </a:r>
            <a:r>
              <a:rPr kumimoji="1" lang="en-US" altLang="zh-CN" dirty="0"/>
              <a:t>10</a:t>
            </a:r>
            <a:r>
              <a:rPr kumimoji="1" lang="zh-CN" altLang="en-US" dirty="0"/>
              <a:t>月，</a:t>
            </a:r>
            <a:r>
              <a:rPr kumimoji="1" lang="en-US" altLang="zh-CN" dirty="0"/>
              <a:t>Kent Beck</a:t>
            </a:r>
            <a:r>
              <a:rPr kumimoji="1" lang="zh-CN" altLang="en-US" dirty="0"/>
              <a:t>等人在杂志上发表了题为「</a:t>
            </a:r>
            <a:r>
              <a:rPr kumimoji="1" lang="en-US" altLang="zh-CN" dirty="0"/>
              <a:t>Chrysler Goes to Extremes</a:t>
            </a:r>
            <a:r>
              <a:rPr kumimoji="1" lang="zh-CN" altLang="en-US" dirty="0"/>
              <a:t>」（克莱斯勒走向极限）的案例文章。</a:t>
            </a: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1EEBE-02DD-3020-4A85-955C8F80A387}"/>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27B0CC48-D66D-F6FF-6C5B-4A1B08BC1AFF}"/>
              </a:ext>
            </a:extLst>
          </p:cNvPr>
          <p:cNvSpPr>
            <a:spLocks noGrp="1"/>
          </p:cNvSpPr>
          <p:nvPr>
            <p:ph type="sldNum" sz="quarter" idx="12"/>
          </p:nvPr>
        </p:nvSpPr>
        <p:spPr/>
        <p:txBody>
          <a:bodyPr/>
          <a:lstStyle/>
          <a:p>
            <a:fld id="{51D91E7F-84B6-4064-9D4E-CC7D244BCA04}" type="slidenum">
              <a:rPr lang="zh-CN" altLang="en-US" smtClean="0"/>
              <a:t>2</a:t>
            </a:fld>
            <a:endParaRPr lang="zh-CN" altLang="en-US"/>
          </a:p>
        </p:txBody>
      </p:sp>
      <p:sp>
        <p:nvSpPr>
          <p:cNvPr id="3" name="文本占位符 2">
            <a:extLst>
              <a:ext uri="{FF2B5EF4-FFF2-40B4-BE49-F238E27FC236}">
                <a16:creationId xmlns:a16="http://schemas.microsoft.com/office/drawing/2014/main" id="{1E32CDBA-7A76-CB69-D755-F9F61530E0A6}"/>
              </a:ext>
            </a:extLst>
          </p:cNvPr>
          <p:cNvSpPr>
            <a:spLocks noGrp="1"/>
          </p:cNvSpPr>
          <p:nvPr>
            <p:ph type="body" sz="quarter" idx="13"/>
          </p:nvPr>
        </p:nvSpPr>
        <p:spPr/>
        <p:txBody>
          <a:bodyPr/>
          <a:lstStyle/>
          <a:p>
            <a:endParaRPr kumimoji="1" lang="zh-CN" altLang="en-US" dirty="0"/>
          </a:p>
        </p:txBody>
      </p:sp>
      <p:sp>
        <p:nvSpPr>
          <p:cNvPr id="4" name="内容占位符 3">
            <a:extLst>
              <a:ext uri="{FF2B5EF4-FFF2-40B4-BE49-F238E27FC236}">
                <a16:creationId xmlns:a16="http://schemas.microsoft.com/office/drawing/2014/main" id="{C654146A-4AB3-00A4-AABB-68D3B8B319F2}"/>
              </a:ext>
            </a:extLst>
          </p:cNvPr>
          <p:cNvSpPr>
            <a:spLocks noGrp="1"/>
          </p:cNvSpPr>
          <p:nvPr>
            <p:ph idx="1"/>
          </p:nvPr>
        </p:nvSpPr>
        <p:spPr/>
        <p:txBody>
          <a:bodyPr>
            <a:normAutofit fontScale="92500" lnSpcReduction="20000"/>
          </a:bodyPr>
          <a:lstStyle/>
          <a:p>
            <a:r>
              <a:rPr kumimoji="1" lang="en-US" altLang="zh-CN" dirty="0"/>
              <a:t>“Extreme Programming”</a:t>
            </a:r>
            <a:r>
              <a:rPr kumimoji="1" lang="zh-CN" altLang="en-US" dirty="0"/>
              <a:t>这一名称体现了其核心理念：把有益的实践做到极致</a:t>
            </a:r>
            <a:endParaRPr kumimoji="1" lang="en-US" altLang="zh-CN" dirty="0"/>
          </a:p>
          <a:p>
            <a:r>
              <a:rPr kumimoji="1" lang="en-US" altLang="zh-CN" dirty="0"/>
              <a:t>1999</a:t>
            </a:r>
            <a:r>
              <a:rPr kumimoji="1" lang="zh-CN" altLang="en-US" dirty="0"/>
              <a:t>年</a:t>
            </a:r>
            <a:r>
              <a:rPr kumimoji="1" lang="en-US" altLang="zh-CN" dirty="0"/>
              <a:t>Kent Beck</a:t>
            </a:r>
            <a:r>
              <a:rPr kumimoji="1" lang="zh-CN" altLang="en-US" dirty="0"/>
              <a:t>出版了著作</a:t>
            </a:r>
            <a:r>
              <a:rPr kumimoji="1" lang="en-US" altLang="zh-CN" dirty="0"/>
              <a:t>《Extreme Programming Explained》</a:t>
            </a:r>
            <a:r>
              <a:rPr kumimoji="1" lang="zh-CN" altLang="en-US" dirty="0"/>
              <a:t>（</a:t>
            </a:r>
            <a:r>
              <a:rPr kumimoji="1" lang="en-US" altLang="zh-CN" dirty="0"/>
              <a:t>《</a:t>
            </a:r>
            <a:r>
              <a:rPr kumimoji="1" lang="zh-CN" altLang="en-US" dirty="0"/>
              <a:t>解析极限编程</a:t>
            </a:r>
            <a:r>
              <a:rPr kumimoji="1" lang="en-US" altLang="zh-CN" dirty="0"/>
              <a:t>》</a:t>
            </a:r>
            <a:r>
              <a:rPr kumimoji="1" lang="zh-CN" altLang="en-US" dirty="0"/>
              <a:t>）。</a:t>
            </a:r>
            <a:endParaRPr kumimoji="1" lang="en-US" altLang="zh-CN" dirty="0"/>
          </a:p>
          <a:p>
            <a:r>
              <a:rPr kumimoji="1" lang="en-US" altLang="zh-CN" dirty="0"/>
              <a:t>2004</a:t>
            </a:r>
            <a:r>
              <a:rPr kumimoji="1" lang="zh-CN" altLang="en-US" dirty="0"/>
              <a:t>年</a:t>
            </a:r>
            <a:r>
              <a:rPr kumimoji="1" lang="en-US" altLang="zh-CN" dirty="0"/>
              <a:t>Kent Beck</a:t>
            </a:r>
            <a:r>
              <a:rPr kumimoji="1" lang="zh-CN" altLang="en-US" dirty="0"/>
              <a:t>出版了</a:t>
            </a:r>
            <a:r>
              <a:rPr kumimoji="1" lang="en-US" altLang="zh-CN" dirty="0"/>
              <a:t>《Extreme Programming Explained</a:t>
            </a:r>
            <a:r>
              <a:rPr kumimoji="1" lang="zh-CN" altLang="en-US" dirty="0"/>
              <a:t>（第二版）</a:t>
            </a:r>
            <a:r>
              <a:rPr kumimoji="1" lang="en-US" altLang="zh-CN" dirty="0"/>
              <a:t>》</a:t>
            </a:r>
            <a:r>
              <a:rPr kumimoji="1" lang="zh-CN" altLang="en-US" dirty="0"/>
              <a:t>。</a:t>
            </a:r>
            <a:endParaRPr kumimoji="1" lang="en-US" altLang="zh-CN" dirty="0"/>
          </a:p>
          <a:p>
            <a:r>
              <a:rPr kumimoji="1" lang="zh-CN" altLang="en-US" dirty="0"/>
              <a:t>最近</a:t>
            </a:r>
            <a:r>
              <a:rPr kumimoji="1" lang="en-US" altLang="zh-CN" dirty="0"/>
              <a:t>Scrum</a:t>
            </a:r>
            <a:r>
              <a:rPr kumimoji="1" lang="zh-CN" altLang="en-US" dirty="0"/>
              <a:t>成为最主流的敏捷框架，而</a:t>
            </a:r>
            <a:r>
              <a:rPr kumimoji="1" lang="en-US" altLang="zh-CN" dirty="0"/>
              <a:t>XP</a:t>
            </a:r>
            <a:r>
              <a:rPr kumimoji="1" lang="zh-CN" altLang="en-US" dirty="0"/>
              <a:t>作为一个完整的方法使用相对减少。不过，</a:t>
            </a:r>
            <a:r>
              <a:rPr kumimoji="1" lang="en-US" altLang="zh-CN" dirty="0"/>
              <a:t>XP</a:t>
            </a:r>
            <a:r>
              <a:rPr kumimoji="1" lang="zh-CN" altLang="en-US" dirty="0"/>
              <a:t>的许多实践（如结对编程、测试驱动开发、持续集成等）已经被广泛接受，并常与</a:t>
            </a:r>
            <a:r>
              <a:rPr kumimoji="1" lang="en-US" altLang="zh-CN" dirty="0"/>
              <a:t>Scrum</a:t>
            </a:r>
            <a:r>
              <a:rPr kumimoji="1" lang="zh-CN" altLang="en-US" dirty="0"/>
              <a:t>等组合使用。</a:t>
            </a:r>
          </a:p>
        </p:txBody>
      </p:sp>
    </p:spTree>
    <p:extLst>
      <p:ext uri="{BB962C8B-B14F-4D97-AF65-F5344CB8AC3E}">
        <p14:creationId xmlns:p14="http://schemas.microsoft.com/office/powerpoint/2010/main" val="106452146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t>3</a:t>
            </a:fld>
            <a:endParaRPr lang="zh-CN" altLang="en-US"/>
          </a:p>
        </p:txBody>
      </p:sp>
      <p:sp>
        <p:nvSpPr>
          <p:cNvPr id="3" name="文本占位符 2"/>
          <p:cNvSpPr>
            <a:spLocks noGrp="1"/>
          </p:cNvSpPr>
          <p:nvPr>
            <p:ph type="body" sz="quarter" idx="13"/>
          </p:nvPr>
        </p:nvSpPr>
        <p:spPr/>
        <p:txBody>
          <a:bodyPr/>
          <a:lstStyle/>
          <a:p>
            <a:r>
              <a:rPr kumimoji="1" lang="en-US" altLang="zh-CN" dirty="0"/>
              <a:t>XP </a:t>
            </a:r>
            <a:r>
              <a:rPr kumimoji="1" lang="zh-CN" altLang="en-US" dirty="0"/>
              <a:t>的核心 </a:t>
            </a:r>
            <a:r>
              <a:rPr kumimoji="1" lang="en-US" altLang="zh-CN" dirty="0"/>
              <a:t>—— </a:t>
            </a:r>
            <a:r>
              <a:rPr kumimoji="1" lang="zh-CN" altLang="en-US" dirty="0"/>
              <a:t>开发阶段</a:t>
            </a:r>
          </a:p>
        </p:txBody>
      </p:sp>
      <p:sp>
        <p:nvSpPr>
          <p:cNvPr id="4" name="内容占位符 3"/>
          <p:cNvSpPr>
            <a:spLocks noGrp="1"/>
          </p:cNvSpPr>
          <p:nvPr>
            <p:ph idx="1"/>
          </p:nvPr>
        </p:nvSpPr>
        <p:spPr/>
        <p:txBody>
          <a:bodyPr/>
          <a:lstStyle/>
          <a:p>
            <a:r>
              <a:rPr kumimoji="1" lang="zh-CN" altLang="en-US" dirty="0"/>
              <a:t>这是程序员实现工程任务（调度的最小单位）并将其与系统的其余部分集成的地方。</a:t>
            </a:r>
            <a:endParaRPr kumimoji="1" lang="en-US" altLang="zh-CN" dirty="0"/>
          </a:p>
          <a:p>
            <a:endParaRPr kumimoji="1" lang="zh-CN" altLang="en-US" dirty="0"/>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E2BE0-61B1-2A66-77E4-BA388ECB75B5}"/>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7617A4E0-0557-18EE-E688-599D41C2017A}"/>
              </a:ext>
            </a:extLst>
          </p:cNvPr>
          <p:cNvSpPr>
            <a:spLocks noGrp="1"/>
          </p:cNvSpPr>
          <p:nvPr>
            <p:ph type="sldNum" sz="quarter" idx="12"/>
          </p:nvPr>
        </p:nvSpPr>
        <p:spPr/>
        <p:txBody>
          <a:bodyPr/>
          <a:lstStyle/>
          <a:p>
            <a:fld id="{51D91E7F-84B6-4064-9D4E-CC7D244BCA04}" type="slidenum">
              <a:rPr lang="zh-CN" altLang="en-US" smtClean="0"/>
              <a:t>4</a:t>
            </a:fld>
            <a:endParaRPr lang="zh-CN" altLang="en-US"/>
          </a:p>
        </p:txBody>
      </p:sp>
      <p:sp>
        <p:nvSpPr>
          <p:cNvPr id="3" name="文本占位符 2">
            <a:extLst>
              <a:ext uri="{FF2B5EF4-FFF2-40B4-BE49-F238E27FC236}">
                <a16:creationId xmlns:a16="http://schemas.microsoft.com/office/drawing/2014/main" id="{8C4D46F1-95BB-1156-1006-7BD7E76F6941}"/>
              </a:ext>
            </a:extLst>
          </p:cNvPr>
          <p:cNvSpPr>
            <a:spLocks noGrp="1"/>
          </p:cNvSpPr>
          <p:nvPr>
            <p:ph type="body" sz="quarter" idx="13"/>
          </p:nvPr>
        </p:nvSpPr>
        <p:spPr/>
        <p:txBody>
          <a:bodyPr/>
          <a:lstStyle/>
          <a:p>
            <a:r>
              <a:rPr kumimoji="1" lang="zh-CN" altLang="en-US" dirty="0"/>
              <a:t>具体步骤</a:t>
            </a:r>
          </a:p>
        </p:txBody>
      </p:sp>
      <p:sp>
        <p:nvSpPr>
          <p:cNvPr id="4" name="内容占位符 3">
            <a:extLst>
              <a:ext uri="{FF2B5EF4-FFF2-40B4-BE49-F238E27FC236}">
                <a16:creationId xmlns:a16="http://schemas.microsoft.com/office/drawing/2014/main" id="{BD42A0BD-D18F-B895-82B4-2B765FAE4101}"/>
              </a:ext>
            </a:extLst>
          </p:cNvPr>
          <p:cNvSpPr>
            <a:spLocks noGrp="1"/>
          </p:cNvSpPr>
          <p:nvPr>
            <p:ph idx="1"/>
          </p:nvPr>
        </p:nvSpPr>
        <p:spPr>
          <a:xfrm>
            <a:off x="838200" y="1289956"/>
            <a:ext cx="4157133" cy="4887007"/>
          </a:xfrm>
        </p:spPr>
        <p:txBody>
          <a:bodyPr>
            <a:normAutofit fontScale="62500" lnSpcReduction="20000"/>
          </a:bodyPr>
          <a:lstStyle/>
          <a:p>
            <a:r>
              <a:rPr kumimoji="1" lang="zh-CN" altLang="en-US" dirty="0"/>
              <a:t>最前面的任务卡：“用户管理：登录、退出、分组。”</a:t>
            </a:r>
          </a:p>
          <a:p>
            <a:endParaRPr kumimoji="1" lang="zh-CN" altLang="en-US" dirty="0"/>
          </a:p>
          <a:p>
            <a:r>
              <a:rPr kumimoji="1" lang="zh-CN" altLang="en-US" dirty="0"/>
              <a:t>找一个结对编程伙伴</a:t>
            </a:r>
          </a:p>
          <a:p>
            <a:endParaRPr kumimoji="1" lang="zh-CN" altLang="en-US" dirty="0"/>
          </a:p>
          <a:p>
            <a:r>
              <a:rPr kumimoji="1" lang="zh-CN" altLang="en-US" dirty="0"/>
              <a:t>讨论任务</a:t>
            </a:r>
          </a:p>
          <a:p>
            <a:endParaRPr kumimoji="1" lang="zh-CN" altLang="en-US" dirty="0"/>
          </a:p>
          <a:p>
            <a:r>
              <a:rPr kumimoji="1" lang="zh-CN" altLang="en-US" dirty="0"/>
              <a:t>什么是测试用例？如果对任何事情不确定，向他人寻求帮助。</a:t>
            </a:r>
          </a:p>
          <a:p>
            <a:endParaRPr kumimoji="1" lang="zh-CN" altLang="en-US" dirty="0"/>
          </a:p>
          <a:p>
            <a:r>
              <a:rPr kumimoji="1" lang="zh-CN" altLang="en-US" dirty="0"/>
              <a:t>编写测试用例</a:t>
            </a:r>
          </a:p>
          <a:p>
            <a:endParaRPr kumimoji="1" lang="zh-CN" altLang="en-US" dirty="0"/>
          </a:p>
          <a:p>
            <a:r>
              <a:rPr kumimoji="1" lang="zh-CN" altLang="en-US" dirty="0"/>
              <a:t>测试失败</a:t>
            </a:r>
          </a:p>
          <a:p>
            <a:endParaRPr kumimoji="1" lang="zh-CN" altLang="en-US" dirty="0"/>
          </a:p>
          <a:p>
            <a:endParaRPr kumimoji="1" lang="zh-CN" altLang="en-US" dirty="0"/>
          </a:p>
          <a:p>
            <a:endParaRPr kumimoji="1" lang="zh-CN" altLang="en-US" dirty="0"/>
          </a:p>
        </p:txBody>
      </p:sp>
      <p:sp>
        <p:nvSpPr>
          <p:cNvPr id="5" name="内容占位符 3">
            <a:extLst>
              <a:ext uri="{FF2B5EF4-FFF2-40B4-BE49-F238E27FC236}">
                <a16:creationId xmlns:a16="http://schemas.microsoft.com/office/drawing/2014/main" id="{5F0265D3-3EFA-F937-4073-BA23E67005C6}"/>
              </a:ext>
            </a:extLst>
          </p:cNvPr>
          <p:cNvSpPr txBox="1">
            <a:spLocks/>
          </p:cNvSpPr>
          <p:nvPr/>
        </p:nvSpPr>
        <p:spPr>
          <a:xfrm>
            <a:off x="6644216" y="1201174"/>
            <a:ext cx="4157133" cy="4887007"/>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150000"/>
              </a:lnSpc>
              <a:spcBef>
                <a:spcPts val="0"/>
              </a:spcBef>
              <a:buFont typeface="Wingdings" panose="05000000000000000000" pitchFamily="2" charset="2"/>
              <a:buChar char="l"/>
              <a:defRPr sz="2800" kern="1200" baseline="0">
                <a:solidFill>
                  <a:srgbClr val="6A005F"/>
                </a:solidFill>
                <a:latin typeface="+mn-lt"/>
                <a:ea typeface="+mn-ea"/>
                <a:cs typeface="+mn-cs"/>
              </a:defRPr>
            </a:lvl1pPr>
            <a:lvl2pPr marL="685800" indent="-228600" algn="l" defTabSz="914400" rtl="0" eaLnBrk="1" latinLnBrk="0" hangingPunct="1">
              <a:lnSpc>
                <a:spcPct val="150000"/>
              </a:lnSpc>
              <a:spcBef>
                <a:spcPts val="0"/>
              </a:spcBef>
              <a:buFont typeface="Wingdings" panose="05000000000000000000" pitchFamily="2" charset="2"/>
              <a:buChar char="n"/>
              <a:defRPr sz="2400" kern="1200" baseline="0">
                <a:solidFill>
                  <a:srgbClr val="6A005F"/>
                </a:solidFill>
                <a:latin typeface="+mn-lt"/>
                <a:ea typeface="+mn-ea"/>
                <a:cs typeface="+mn-cs"/>
              </a:defRPr>
            </a:lvl2pPr>
            <a:lvl3pPr marL="1143000" indent="-228600" algn="l" defTabSz="914400" rtl="0" eaLnBrk="1" latinLnBrk="0" hangingPunct="1">
              <a:lnSpc>
                <a:spcPct val="150000"/>
              </a:lnSpc>
              <a:spcBef>
                <a:spcPts val="0"/>
              </a:spcBef>
              <a:buFont typeface="Wingdings" panose="05000000000000000000" pitchFamily="2" charset="2"/>
              <a:buChar char="u"/>
              <a:defRPr sz="2000" kern="1200" baseline="0">
                <a:solidFill>
                  <a:srgbClr val="6A005F"/>
                </a:solidFill>
                <a:latin typeface="+mn-lt"/>
                <a:ea typeface="+mn-ea"/>
                <a:cs typeface="+mn-cs"/>
              </a:defRPr>
            </a:lvl3pPr>
            <a:lvl4pPr marL="1600200" indent="-228600" algn="l" defTabSz="914400" rtl="0" eaLnBrk="1" latinLnBrk="0" hangingPunct="1">
              <a:lnSpc>
                <a:spcPct val="150000"/>
              </a:lnSpc>
              <a:spcBef>
                <a:spcPts val="0"/>
              </a:spcBef>
              <a:buFont typeface="Wingdings" panose="05000000000000000000" pitchFamily="2" charset="2"/>
              <a:buChar char="Ø"/>
              <a:defRPr sz="1800" kern="1200" baseline="0">
                <a:solidFill>
                  <a:srgbClr val="6A005F"/>
                </a:solidFill>
                <a:latin typeface="+mn-lt"/>
                <a:ea typeface="+mn-ea"/>
                <a:cs typeface="+mn-cs"/>
              </a:defRPr>
            </a:lvl4pPr>
            <a:lvl5pPr marL="2057400" indent="-228600" algn="l" defTabSz="914400" rtl="0" eaLnBrk="1" latinLnBrk="0" hangingPunct="1">
              <a:lnSpc>
                <a:spcPct val="150000"/>
              </a:lnSpc>
              <a:spcBef>
                <a:spcPts val="0"/>
              </a:spcBef>
              <a:buFont typeface="Arial" panose="020B0604020202020204" pitchFamily="34" charset="0"/>
              <a:buChar char="•"/>
              <a:defRPr sz="1800" kern="1200" baseline="0">
                <a:solidFill>
                  <a:srgbClr val="6A005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kumimoji="1" lang="zh-CN" altLang="en-US" dirty="0"/>
          </a:p>
          <a:p>
            <a:r>
              <a:rPr kumimoji="1" lang="zh-CN" altLang="en-US" dirty="0"/>
              <a:t>编写代码</a:t>
            </a:r>
          </a:p>
          <a:p>
            <a:endParaRPr kumimoji="1" lang="zh-CN" altLang="en-US" dirty="0"/>
          </a:p>
          <a:p>
            <a:r>
              <a:rPr kumimoji="1" lang="zh-CN" altLang="en-US" dirty="0"/>
              <a:t>运行所有测试用例</a:t>
            </a:r>
          </a:p>
          <a:p>
            <a:endParaRPr kumimoji="1" lang="zh-CN" altLang="en-US" dirty="0"/>
          </a:p>
          <a:p>
            <a:r>
              <a:rPr kumimoji="1" lang="zh-CN" altLang="en-US" dirty="0"/>
              <a:t>迭代测试用例和代码</a:t>
            </a:r>
          </a:p>
          <a:p>
            <a:endParaRPr kumimoji="1" lang="zh-CN" altLang="en-US" dirty="0"/>
          </a:p>
          <a:p>
            <a:r>
              <a:rPr kumimoji="1" lang="zh-CN" altLang="en-US" dirty="0"/>
              <a:t>如果需要，进行重构</a:t>
            </a:r>
          </a:p>
          <a:p>
            <a:endParaRPr kumimoji="1" lang="zh-CN" altLang="en-US" dirty="0"/>
          </a:p>
          <a:p>
            <a:r>
              <a:rPr kumimoji="1" lang="zh-CN" altLang="en-US" dirty="0"/>
              <a:t>集成，包括测试</a:t>
            </a:r>
          </a:p>
          <a:p>
            <a:endParaRPr kumimoji="1" lang="zh-CN" altLang="en-US" dirty="0"/>
          </a:p>
          <a:p>
            <a:endParaRPr kumimoji="1" lang="zh-CN" altLang="en-US" dirty="0"/>
          </a:p>
        </p:txBody>
      </p:sp>
    </p:spTree>
    <p:extLst>
      <p:ext uri="{BB962C8B-B14F-4D97-AF65-F5344CB8AC3E}">
        <p14:creationId xmlns:p14="http://schemas.microsoft.com/office/powerpoint/2010/main" val="3053313121"/>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C3C84-E565-DDF4-6ED6-9336900A1961}"/>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721AD27F-BEC3-C9BC-F077-D2BA2EE814BE}"/>
              </a:ext>
            </a:extLst>
          </p:cNvPr>
          <p:cNvSpPr>
            <a:spLocks noGrp="1"/>
          </p:cNvSpPr>
          <p:nvPr>
            <p:ph type="sldNum" sz="quarter" idx="12"/>
          </p:nvPr>
        </p:nvSpPr>
        <p:spPr/>
        <p:txBody>
          <a:bodyPr/>
          <a:lstStyle/>
          <a:p>
            <a:fld id="{51D91E7F-84B6-4064-9D4E-CC7D244BCA04}" type="slidenum">
              <a:rPr lang="zh-CN" altLang="en-US" smtClean="0"/>
              <a:t>5</a:t>
            </a:fld>
            <a:endParaRPr lang="zh-CN" altLang="en-US"/>
          </a:p>
        </p:txBody>
      </p:sp>
      <p:sp>
        <p:nvSpPr>
          <p:cNvPr id="3" name="文本占位符 2">
            <a:extLst>
              <a:ext uri="{FF2B5EF4-FFF2-40B4-BE49-F238E27FC236}">
                <a16:creationId xmlns:a16="http://schemas.microsoft.com/office/drawing/2014/main" id="{CEE6D873-E037-1532-1A13-315E872B295D}"/>
              </a:ext>
            </a:extLst>
          </p:cNvPr>
          <p:cNvSpPr>
            <a:spLocks noGrp="1"/>
          </p:cNvSpPr>
          <p:nvPr>
            <p:ph type="body" sz="quarter" idx="13"/>
          </p:nvPr>
        </p:nvSpPr>
        <p:spPr/>
        <p:txBody>
          <a:bodyPr/>
          <a:lstStyle/>
          <a:p>
            <a:r>
              <a:rPr kumimoji="1" lang="zh-CN" altLang="en-US" dirty="0"/>
              <a:t>说明</a:t>
            </a:r>
          </a:p>
        </p:txBody>
      </p:sp>
      <p:sp>
        <p:nvSpPr>
          <p:cNvPr id="4" name="内容占位符 3">
            <a:extLst>
              <a:ext uri="{FF2B5EF4-FFF2-40B4-BE49-F238E27FC236}">
                <a16:creationId xmlns:a16="http://schemas.microsoft.com/office/drawing/2014/main" id="{617C2654-EB32-BD4A-9F4F-F07635FC7B2F}"/>
              </a:ext>
            </a:extLst>
          </p:cNvPr>
          <p:cNvSpPr>
            <a:spLocks noGrp="1"/>
          </p:cNvSpPr>
          <p:nvPr>
            <p:ph idx="1"/>
          </p:nvPr>
        </p:nvSpPr>
        <p:spPr/>
        <p:txBody>
          <a:bodyPr/>
          <a:lstStyle/>
          <a:p>
            <a:r>
              <a:rPr lang="zh-CN" altLang="en-US" b="0" i="0" dirty="0">
                <a:effectLst/>
                <a:latin typeface="Inter"/>
              </a:rPr>
              <a:t>程序员两两结对编程。</a:t>
            </a:r>
            <a:endParaRPr lang="en-US" altLang="zh-CN" b="0" i="0" dirty="0">
              <a:effectLst/>
              <a:latin typeface="Inter"/>
            </a:endParaRPr>
          </a:p>
          <a:p>
            <a:r>
              <a:rPr lang="zh-CN" altLang="en-US" b="0" i="0" dirty="0">
                <a:effectLst/>
                <a:latin typeface="Inter"/>
              </a:rPr>
              <a:t>开发由测试驱动。</a:t>
            </a:r>
            <a:endParaRPr lang="en-US" altLang="zh-CN" b="0" i="0" dirty="0">
              <a:effectLst/>
              <a:latin typeface="Inter"/>
            </a:endParaRPr>
          </a:p>
          <a:p>
            <a:r>
              <a:rPr lang="zh-CN" altLang="en-US" b="0" i="0" dirty="0">
                <a:effectLst/>
                <a:latin typeface="Inter"/>
              </a:rPr>
              <a:t>结对编程不仅仅是让测试用例运行起来。结对编程为系统的分析、设计、实现和测试增加价值。</a:t>
            </a:r>
            <a:endParaRPr lang="en-US" altLang="zh-CN" b="0" i="0" dirty="0">
              <a:effectLst/>
              <a:latin typeface="Inter"/>
            </a:endParaRPr>
          </a:p>
          <a:p>
            <a:r>
              <a:rPr lang="zh-CN" altLang="en-US" b="0" i="0" dirty="0">
                <a:effectLst/>
                <a:latin typeface="Inter"/>
              </a:rPr>
              <a:t>开发后立即进行集成，包括集成测试。</a:t>
            </a:r>
            <a:endParaRPr kumimoji="1" lang="zh-CN" altLang="en-US" dirty="0"/>
          </a:p>
        </p:txBody>
      </p:sp>
    </p:spTree>
    <p:extLst>
      <p:ext uri="{BB962C8B-B14F-4D97-AF65-F5344CB8AC3E}">
        <p14:creationId xmlns:p14="http://schemas.microsoft.com/office/powerpoint/2010/main" val="418516942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D8C871-9DB2-7399-8136-C2160F86592F}"/>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25D011F-6980-2B0E-3ACE-FF29BDB674CF}"/>
              </a:ext>
            </a:extLst>
          </p:cNvPr>
          <p:cNvSpPr>
            <a:spLocks noGrp="1"/>
          </p:cNvSpPr>
          <p:nvPr>
            <p:ph type="sldNum" sz="quarter" idx="12"/>
          </p:nvPr>
        </p:nvSpPr>
        <p:spPr/>
        <p:txBody>
          <a:bodyPr/>
          <a:lstStyle/>
          <a:p>
            <a:fld id="{51D91E7F-84B6-4064-9D4E-CC7D244BCA04}" type="slidenum">
              <a:rPr lang="zh-CN" altLang="en-US" smtClean="0"/>
              <a:t>6</a:t>
            </a:fld>
            <a:endParaRPr lang="zh-CN" altLang="en-US"/>
          </a:p>
        </p:txBody>
      </p:sp>
      <p:sp>
        <p:nvSpPr>
          <p:cNvPr id="3" name="文本占位符 2">
            <a:extLst>
              <a:ext uri="{FF2B5EF4-FFF2-40B4-BE49-F238E27FC236}">
                <a16:creationId xmlns:a16="http://schemas.microsoft.com/office/drawing/2014/main" id="{D6012D13-C2AC-B310-102F-5D473B3A3E76}"/>
              </a:ext>
            </a:extLst>
          </p:cNvPr>
          <p:cNvSpPr>
            <a:spLocks noGrp="1"/>
          </p:cNvSpPr>
          <p:nvPr>
            <p:ph type="body" sz="quarter" idx="13"/>
          </p:nvPr>
        </p:nvSpPr>
        <p:spPr/>
        <p:txBody>
          <a:bodyPr/>
          <a:lstStyle/>
          <a:p>
            <a:r>
              <a:rPr kumimoji="1" lang="zh-CN" altLang="en-US" dirty="0"/>
              <a:t>变更成本曲线</a:t>
            </a:r>
          </a:p>
        </p:txBody>
      </p:sp>
      <p:sp>
        <p:nvSpPr>
          <p:cNvPr id="4" name="内容占位符 3">
            <a:extLst>
              <a:ext uri="{FF2B5EF4-FFF2-40B4-BE49-F238E27FC236}">
                <a16:creationId xmlns:a16="http://schemas.microsoft.com/office/drawing/2014/main" id="{2D6A85D0-EE15-9B6D-920F-8802E16415C7}"/>
              </a:ext>
            </a:extLst>
          </p:cNvPr>
          <p:cNvSpPr>
            <a:spLocks noGrp="1"/>
          </p:cNvSpPr>
          <p:nvPr>
            <p:ph idx="1"/>
          </p:nvPr>
        </p:nvSpPr>
        <p:spPr>
          <a:xfrm>
            <a:off x="838200" y="1055213"/>
            <a:ext cx="10515600" cy="1574947"/>
          </a:xfrm>
        </p:spPr>
        <p:txBody>
          <a:bodyPr>
            <a:normAutofit fontScale="62500" lnSpcReduction="20000"/>
          </a:bodyPr>
          <a:lstStyle/>
          <a:p>
            <a:r>
              <a:rPr lang="zh-CN" altLang="en-US" b="0" i="0" dirty="0">
                <a:effectLst/>
                <a:latin typeface="Inter"/>
              </a:rPr>
              <a:t>软件工程的一个普遍假设是，随着时间的推移，更改程序的成本呈指数增长。在一段软件中修复一个问题的成本会随时间呈指数增长。一个在需求分析阶段发现可能只需要一美元就能修复的问题，一旦软件投入生产，可能需要花费数千美元才能修复。</a:t>
            </a:r>
            <a:r>
              <a:rPr lang="zh-CN" altLang="en-US" b="0" i="0" dirty="0">
                <a:solidFill>
                  <a:srgbClr val="FF0000"/>
                </a:solidFill>
                <a:effectLst/>
                <a:latin typeface="Inter"/>
              </a:rPr>
              <a:t>这导致传统方法强调“早期做好一切”，试图避免后期修改。</a:t>
            </a:r>
            <a:endParaRPr kumimoji="1" lang="zh-CN" altLang="en-US" dirty="0">
              <a:solidFill>
                <a:srgbClr val="FF0000"/>
              </a:solidFill>
            </a:endParaRPr>
          </a:p>
        </p:txBody>
      </p:sp>
      <p:pic>
        <p:nvPicPr>
          <p:cNvPr id="5" name="Picture 3">
            <a:extLst>
              <a:ext uri="{FF2B5EF4-FFF2-40B4-BE49-F238E27FC236}">
                <a16:creationId xmlns:a16="http://schemas.microsoft.com/office/drawing/2014/main" id="{646DF119-AA12-3451-0427-3BFB0B9A1A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2641599" y="2630161"/>
            <a:ext cx="7421717" cy="4141608"/>
          </a:xfrm>
          <a:prstGeom prst="rect">
            <a:avLst/>
          </a:prstGeom>
        </p:spPr>
      </p:pic>
    </p:spTree>
    <p:extLst>
      <p:ext uri="{BB962C8B-B14F-4D97-AF65-F5344CB8AC3E}">
        <p14:creationId xmlns:p14="http://schemas.microsoft.com/office/powerpoint/2010/main" val="829835004"/>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D1AF7-BBD3-6E30-8095-E6259F55868B}"/>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623B55C-6605-94B8-99DE-0EA82D6922A6}"/>
              </a:ext>
            </a:extLst>
          </p:cNvPr>
          <p:cNvSpPr>
            <a:spLocks noGrp="1"/>
          </p:cNvSpPr>
          <p:nvPr>
            <p:ph type="sldNum" sz="quarter" idx="12"/>
          </p:nvPr>
        </p:nvSpPr>
        <p:spPr/>
        <p:txBody>
          <a:bodyPr/>
          <a:lstStyle/>
          <a:p>
            <a:fld id="{51D91E7F-84B6-4064-9D4E-CC7D244BCA04}" type="slidenum">
              <a:rPr lang="zh-CN" altLang="en-US" smtClean="0"/>
              <a:t>7</a:t>
            </a:fld>
            <a:endParaRPr lang="zh-CN" altLang="en-US"/>
          </a:p>
        </p:txBody>
      </p:sp>
      <p:sp>
        <p:nvSpPr>
          <p:cNvPr id="3" name="文本占位符 2">
            <a:extLst>
              <a:ext uri="{FF2B5EF4-FFF2-40B4-BE49-F238E27FC236}">
                <a16:creationId xmlns:a16="http://schemas.microsoft.com/office/drawing/2014/main" id="{73B6B6CE-10C5-7E9A-CF88-5F2DD0A073C9}"/>
              </a:ext>
            </a:extLst>
          </p:cNvPr>
          <p:cNvSpPr>
            <a:spLocks noGrp="1"/>
          </p:cNvSpPr>
          <p:nvPr>
            <p:ph type="body" sz="quarter" idx="13"/>
          </p:nvPr>
        </p:nvSpPr>
        <p:spPr/>
        <p:txBody>
          <a:bodyPr/>
          <a:lstStyle/>
          <a:p>
            <a:r>
              <a:rPr kumimoji="1" lang="en-US" altLang="zh-CN" dirty="0"/>
              <a:t>XP</a:t>
            </a:r>
            <a:r>
              <a:rPr kumimoji="1" lang="zh-CN" altLang="en-US" dirty="0"/>
              <a:t>认为变更成本曲线可以变平 一个例子</a:t>
            </a:r>
          </a:p>
        </p:txBody>
      </p:sp>
      <p:sp>
        <p:nvSpPr>
          <p:cNvPr id="4" name="内容占位符 3">
            <a:extLst>
              <a:ext uri="{FF2B5EF4-FFF2-40B4-BE49-F238E27FC236}">
                <a16:creationId xmlns:a16="http://schemas.microsoft.com/office/drawing/2014/main" id="{4330AD3A-BB85-CD53-978C-5860425906BE}"/>
              </a:ext>
            </a:extLst>
          </p:cNvPr>
          <p:cNvSpPr>
            <a:spLocks noGrp="1"/>
          </p:cNvSpPr>
          <p:nvPr>
            <p:ph idx="1"/>
          </p:nvPr>
        </p:nvSpPr>
        <p:spPr>
          <a:xfrm>
            <a:off x="838200" y="1289956"/>
            <a:ext cx="10515600" cy="1944311"/>
          </a:xfrm>
        </p:spPr>
        <p:txBody>
          <a:bodyPr>
            <a:normAutofit lnSpcReduction="10000"/>
          </a:bodyPr>
          <a:lstStyle/>
          <a:p>
            <a:r>
              <a:rPr lang="zh-CN" altLang="en-US" b="0" i="0" dirty="0">
                <a:effectLst/>
                <a:latin typeface="Inter"/>
              </a:rPr>
              <a:t>人寿保险合同管理系统 ：一笔交易可以从多个账户借记并贷记到多个账户的情况根本不被使用。每笔交易来自一个账户并流向另一个账户。</a:t>
            </a:r>
            <a:endParaRPr lang="en-US" altLang="zh-CN" b="0" i="0" dirty="0">
              <a:effectLst/>
              <a:latin typeface="Inter"/>
            </a:endParaRPr>
          </a:p>
          <a:p>
            <a:endParaRPr kumimoji="1" lang="zh-CN" altLang="en-US" dirty="0"/>
          </a:p>
        </p:txBody>
      </p:sp>
      <p:pic>
        <p:nvPicPr>
          <p:cNvPr id="5" name="Picture 3">
            <a:extLst>
              <a:ext uri="{FF2B5EF4-FFF2-40B4-BE49-F238E27FC236}">
                <a16:creationId xmlns:a16="http://schemas.microsoft.com/office/drawing/2014/main" id="{2146B43A-5B62-A9ED-E1BC-3DBE7FE6B7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2904067" y="2682369"/>
            <a:ext cx="7693025" cy="3724275"/>
          </a:xfrm>
          <a:prstGeom prst="rect">
            <a:avLst/>
          </a:prstGeom>
        </p:spPr>
      </p:pic>
    </p:spTree>
    <p:extLst>
      <p:ext uri="{BB962C8B-B14F-4D97-AF65-F5344CB8AC3E}">
        <p14:creationId xmlns:p14="http://schemas.microsoft.com/office/powerpoint/2010/main" val="4169532272"/>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AA17E-722A-71E1-305E-ADEDF05042C2}"/>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207C7CC7-CCD1-F9DC-9489-80D5FF87B0D9}"/>
              </a:ext>
            </a:extLst>
          </p:cNvPr>
          <p:cNvSpPr>
            <a:spLocks noGrp="1"/>
          </p:cNvSpPr>
          <p:nvPr>
            <p:ph type="sldNum" sz="quarter" idx="12"/>
          </p:nvPr>
        </p:nvSpPr>
        <p:spPr/>
        <p:txBody>
          <a:bodyPr/>
          <a:lstStyle/>
          <a:p>
            <a:fld id="{51D91E7F-84B6-4064-9D4E-CC7D244BCA04}" type="slidenum">
              <a:rPr lang="zh-CN" altLang="en-US" smtClean="0"/>
              <a:t>8</a:t>
            </a:fld>
            <a:endParaRPr lang="zh-CN" altLang="en-US"/>
          </a:p>
        </p:txBody>
      </p:sp>
      <p:sp>
        <p:nvSpPr>
          <p:cNvPr id="3" name="文本占位符 2">
            <a:extLst>
              <a:ext uri="{FF2B5EF4-FFF2-40B4-BE49-F238E27FC236}">
                <a16:creationId xmlns:a16="http://schemas.microsoft.com/office/drawing/2014/main" id="{84B24975-F490-4F5A-8506-CF846FD950E8}"/>
              </a:ext>
            </a:extLst>
          </p:cNvPr>
          <p:cNvSpPr>
            <a:spLocks noGrp="1"/>
          </p:cNvSpPr>
          <p:nvPr>
            <p:ph type="body" sz="quarter" idx="13"/>
          </p:nvPr>
        </p:nvSpPr>
        <p:spPr/>
        <p:txBody>
          <a:bodyPr/>
          <a:lstStyle/>
          <a:p>
            <a:endParaRPr kumimoji="1" lang="zh-CN" altLang="en-US" dirty="0"/>
          </a:p>
        </p:txBody>
      </p:sp>
      <p:sp>
        <p:nvSpPr>
          <p:cNvPr id="4" name="内容占位符 3">
            <a:extLst>
              <a:ext uri="{FF2B5EF4-FFF2-40B4-BE49-F238E27FC236}">
                <a16:creationId xmlns:a16="http://schemas.microsoft.com/office/drawing/2014/main" id="{B0083A77-D0EC-BA8C-A98B-0F2542554896}"/>
              </a:ext>
            </a:extLst>
          </p:cNvPr>
          <p:cNvSpPr>
            <a:spLocks noGrp="1"/>
          </p:cNvSpPr>
          <p:nvPr>
            <p:ph idx="1"/>
          </p:nvPr>
        </p:nvSpPr>
        <p:spPr>
          <a:xfrm>
            <a:off x="838200" y="1289956"/>
            <a:ext cx="10515600" cy="5270108"/>
          </a:xfrm>
        </p:spPr>
        <p:txBody>
          <a:bodyPr>
            <a:normAutofit fontScale="92500" lnSpcReduction="20000"/>
          </a:bodyPr>
          <a:lstStyle/>
          <a:p>
            <a:r>
              <a:rPr lang="zh-CN" altLang="en-US" b="0" i="0" dirty="0">
                <a:effectLst/>
                <a:latin typeface="Inter"/>
              </a:rPr>
              <a:t>在系统的 </a:t>
            </a:r>
            <a:r>
              <a:rPr lang="en-US" altLang="zh-CN" b="0" i="0" dirty="0">
                <a:effectLst/>
                <a:latin typeface="Inter"/>
              </a:rPr>
              <a:t>30 </a:t>
            </a:r>
            <a:r>
              <a:rPr lang="zh-CN" altLang="en-US" b="0" i="0" dirty="0">
                <a:effectLst/>
                <a:latin typeface="Inter"/>
              </a:rPr>
              <a:t>万笔交易中，每一笔交易都有一个单一的借方账户和一个单一的贷方账户。</a:t>
            </a:r>
            <a:endParaRPr lang="en-US" altLang="zh-CN" b="0" i="0" dirty="0">
              <a:effectLst/>
              <a:latin typeface="Inter"/>
            </a:endParaRPr>
          </a:p>
          <a:p>
            <a:r>
              <a:rPr lang="zh-CN" altLang="en-US" b="0" i="0" dirty="0">
                <a:effectLst/>
                <a:latin typeface="Inter"/>
              </a:rPr>
              <a:t>我们将更改交易的接口并更改实现。我们编写所需的四个方法并开始测试。</a:t>
            </a:r>
            <a:endParaRPr lang="en-US" altLang="zh-CN" b="0" i="0" dirty="0">
              <a:effectLst/>
              <a:latin typeface="Inter"/>
            </a:endParaRPr>
          </a:p>
          <a:p>
            <a:r>
              <a:rPr lang="zh-CN" altLang="en-US" b="0" i="0" dirty="0">
                <a:effectLst/>
                <a:latin typeface="Inter"/>
              </a:rPr>
              <a:t>测试（超过 </a:t>
            </a:r>
            <a:r>
              <a:rPr lang="en-US" altLang="zh-CN" b="0" i="0" dirty="0">
                <a:effectLst/>
                <a:latin typeface="Inter"/>
              </a:rPr>
              <a:t>1000 </a:t>
            </a:r>
            <a:r>
              <a:rPr lang="zh-CN" altLang="en-US" b="0" i="0" dirty="0">
                <a:effectLst/>
                <a:latin typeface="Inter"/>
              </a:rPr>
              <a:t>个单元测试和功能测试）仍然 </a:t>
            </a:r>
            <a:r>
              <a:rPr lang="en-US" altLang="zh-CN" b="0" i="0" dirty="0">
                <a:effectLst/>
                <a:latin typeface="Inter"/>
              </a:rPr>
              <a:t>100% </a:t>
            </a:r>
            <a:r>
              <a:rPr lang="zh-CN" altLang="en-US" b="0" i="0" dirty="0">
                <a:effectLst/>
                <a:latin typeface="Inter"/>
              </a:rPr>
              <a:t>运行。</a:t>
            </a:r>
            <a:endParaRPr lang="en-US" altLang="zh-CN" b="0" i="0" dirty="0">
              <a:effectLst/>
              <a:latin typeface="Inter"/>
            </a:endParaRPr>
          </a:p>
          <a:p>
            <a:r>
              <a:rPr lang="zh-CN" altLang="en-US" b="0" i="0" dirty="0">
                <a:effectLst/>
                <a:latin typeface="Inter"/>
              </a:rPr>
              <a:t>夜间批处理已完成，数据库已备份。我们安装了代码的新版本并运行迁移。</a:t>
            </a:r>
            <a:endParaRPr lang="en-US" altLang="zh-CN" b="0" i="0" dirty="0">
              <a:effectLst/>
              <a:latin typeface="Inter"/>
            </a:endParaRPr>
          </a:p>
          <a:p>
            <a:r>
              <a:rPr lang="zh-CN" altLang="en-US" b="0" i="0" dirty="0">
                <a:effectLst/>
                <a:latin typeface="Inter"/>
              </a:rPr>
              <a:t>我们能想到的一切都正常。我们回家。</a:t>
            </a:r>
            <a:endParaRPr lang="en-US" altLang="zh-CN" b="0" i="0" dirty="0">
              <a:effectLst/>
              <a:latin typeface="Inter"/>
            </a:endParaRPr>
          </a:p>
          <a:p>
            <a:r>
              <a:rPr lang="zh-CN" altLang="en-US" b="0" i="0" dirty="0">
                <a:effectLst/>
                <a:latin typeface="Inter"/>
              </a:rPr>
              <a:t>第二天 ，日志显示没有错误。没有用户投诉。更改起作用了。</a:t>
            </a:r>
            <a:endParaRPr lang="en-US" altLang="zh-CN" b="0" i="0" dirty="0">
              <a:effectLst/>
              <a:latin typeface="Inter"/>
            </a:endParaRPr>
          </a:p>
          <a:p>
            <a:r>
              <a:rPr lang="zh-CN" altLang="en-US" b="0" i="0" dirty="0">
                <a:solidFill>
                  <a:srgbClr val="FF0000"/>
                </a:solidFill>
                <a:effectLst/>
                <a:latin typeface="Inter"/>
              </a:rPr>
              <a:t>结论：在某些情况下，变更成本很低。</a:t>
            </a:r>
            <a:endParaRPr kumimoji="1" lang="zh-CN" altLang="en-US" dirty="0">
              <a:solidFill>
                <a:srgbClr val="FF0000"/>
              </a:solidFill>
            </a:endParaRPr>
          </a:p>
        </p:txBody>
      </p:sp>
    </p:spTree>
    <p:extLst>
      <p:ext uri="{BB962C8B-B14F-4D97-AF65-F5344CB8AC3E}">
        <p14:creationId xmlns:p14="http://schemas.microsoft.com/office/powerpoint/2010/main" val="2168155398"/>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2E7A2-2BC9-C7EF-506D-740ACB71F8F8}"/>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5860FCF-225C-4D1C-3FCE-2B6CDFDBA604}"/>
              </a:ext>
            </a:extLst>
          </p:cNvPr>
          <p:cNvSpPr>
            <a:spLocks noGrp="1"/>
          </p:cNvSpPr>
          <p:nvPr>
            <p:ph type="sldNum" sz="quarter" idx="12"/>
          </p:nvPr>
        </p:nvSpPr>
        <p:spPr/>
        <p:txBody>
          <a:bodyPr/>
          <a:lstStyle/>
          <a:p>
            <a:fld id="{51D91E7F-84B6-4064-9D4E-CC7D244BCA04}" type="slidenum">
              <a:rPr lang="zh-CN" altLang="en-US" smtClean="0"/>
              <a:t>9</a:t>
            </a:fld>
            <a:endParaRPr lang="zh-CN" altLang="en-US"/>
          </a:p>
        </p:txBody>
      </p:sp>
      <p:sp>
        <p:nvSpPr>
          <p:cNvPr id="3" name="文本占位符 2">
            <a:extLst>
              <a:ext uri="{FF2B5EF4-FFF2-40B4-BE49-F238E27FC236}">
                <a16:creationId xmlns:a16="http://schemas.microsoft.com/office/drawing/2014/main" id="{F7375291-2561-403B-2448-46EE64F10B5A}"/>
              </a:ext>
            </a:extLst>
          </p:cNvPr>
          <p:cNvSpPr>
            <a:spLocks noGrp="1"/>
          </p:cNvSpPr>
          <p:nvPr>
            <p:ph type="body" sz="quarter" idx="13"/>
          </p:nvPr>
        </p:nvSpPr>
        <p:spPr/>
        <p:txBody>
          <a:bodyPr/>
          <a:lstStyle/>
          <a:p>
            <a:r>
              <a:rPr kumimoji="1" lang="zh-CN" altLang="en-US" dirty="0"/>
              <a:t>降低变更成本的技术</a:t>
            </a:r>
          </a:p>
        </p:txBody>
      </p:sp>
      <p:sp>
        <p:nvSpPr>
          <p:cNvPr id="4" name="内容占位符 3">
            <a:extLst>
              <a:ext uri="{FF2B5EF4-FFF2-40B4-BE49-F238E27FC236}">
                <a16:creationId xmlns:a16="http://schemas.microsoft.com/office/drawing/2014/main" id="{F7EA3784-D9ED-F1A5-6C45-998F7728380E}"/>
              </a:ext>
            </a:extLst>
          </p:cNvPr>
          <p:cNvSpPr>
            <a:spLocks noGrp="1"/>
          </p:cNvSpPr>
          <p:nvPr>
            <p:ph idx="1"/>
          </p:nvPr>
        </p:nvSpPr>
        <p:spPr>
          <a:xfrm>
            <a:off x="838200" y="1289957"/>
            <a:ext cx="10515600" cy="2012044"/>
          </a:xfrm>
        </p:spPr>
        <p:txBody>
          <a:bodyPr/>
          <a:lstStyle/>
          <a:p>
            <a:r>
              <a:rPr kumimoji="1" lang="zh-CN" altLang="en-US" dirty="0"/>
              <a:t>软件开发社区在近几十年来投入了巨大的资源，试图降低变更成本 </a:t>
            </a:r>
            <a:r>
              <a:rPr kumimoji="1" lang="en-US" altLang="zh-CN" dirty="0"/>
              <a:t>—— </a:t>
            </a:r>
            <a:r>
              <a:rPr kumimoji="1" lang="zh-CN" altLang="en-US" dirty="0"/>
              <a:t>更好的语言、更好的数据库技术、更好的编程实践、更好的环境和工具以及新的符号表示法。</a:t>
            </a:r>
          </a:p>
        </p:txBody>
      </p:sp>
      <p:pic>
        <p:nvPicPr>
          <p:cNvPr id="5" name="Picture 3">
            <a:extLst>
              <a:ext uri="{FF2B5EF4-FFF2-40B4-BE49-F238E27FC236}">
                <a16:creationId xmlns:a16="http://schemas.microsoft.com/office/drawing/2014/main" id="{5A0AC676-D1C5-956F-995C-FB505CBCE5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2853267" y="3302001"/>
            <a:ext cx="7205134" cy="3488082"/>
          </a:xfrm>
          <a:prstGeom prst="rect">
            <a:avLst/>
          </a:prstGeom>
        </p:spPr>
      </p:pic>
    </p:spTree>
    <p:extLst>
      <p:ext uri="{BB962C8B-B14F-4D97-AF65-F5344CB8AC3E}">
        <p14:creationId xmlns:p14="http://schemas.microsoft.com/office/powerpoint/2010/main" val="1392212866"/>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t>10</a:t>
            </a:fld>
            <a:endParaRPr lang="zh-CN" altLang="en-US"/>
          </a:p>
        </p:txBody>
      </p:sp>
      <p:sp>
        <p:nvSpPr>
          <p:cNvPr id="3" name="文本占位符 2"/>
          <p:cNvSpPr>
            <a:spLocks noGrp="1"/>
          </p:cNvSpPr>
          <p:nvPr>
            <p:ph type="body" sz="quarter" idx="13"/>
          </p:nvPr>
        </p:nvSpPr>
        <p:spPr/>
        <p:txBody>
          <a:bodyPr/>
          <a:lstStyle/>
          <a:p>
            <a:r>
              <a:rPr kumimoji="1" lang="zh-CN" altLang="en-US" dirty="0"/>
              <a:t>极限编程（</a:t>
            </a:r>
            <a:r>
              <a:rPr kumimoji="1" lang="en-US" altLang="zh-CN" dirty="0"/>
              <a:t>XP</a:t>
            </a:r>
            <a:r>
              <a:rPr kumimoji="1" lang="zh-CN" altLang="en-US" dirty="0"/>
              <a:t>）的技术前提</a:t>
            </a:r>
          </a:p>
        </p:txBody>
      </p:sp>
      <p:sp>
        <p:nvSpPr>
          <p:cNvPr id="4" name="内容占位符 3"/>
          <p:cNvSpPr>
            <a:spLocks noGrp="1"/>
          </p:cNvSpPr>
          <p:nvPr>
            <p:ph idx="1"/>
          </p:nvPr>
        </p:nvSpPr>
        <p:spPr/>
        <p:txBody>
          <a:bodyPr>
            <a:normAutofit/>
          </a:bodyPr>
          <a:lstStyle/>
          <a:p>
            <a:r>
              <a:rPr kumimoji="1" lang="zh-CN" altLang="en-US" dirty="0"/>
              <a:t>如果变更成本随时间缓慢上升，你的行为将与在成本呈指数增长这一假设下的行为完全不同。</a:t>
            </a:r>
            <a:endParaRPr kumimoji="1" lang="en-US" altLang="zh-CN" dirty="0"/>
          </a:p>
          <a:p>
            <a:pPr lvl="1"/>
            <a:r>
              <a:rPr kumimoji="1" lang="zh-CN" altLang="en-US" dirty="0"/>
              <a:t>你会在工作中尽可能晚地做出重大决策，以推迟做出决策的成本，并使决策正确的可能性尽可能大。</a:t>
            </a:r>
          </a:p>
          <a:p>
            <a:pPr lvl="1"/>
            <a:r>
              <a:rPr kumimoji="1" lang="zh-CN" altLang="en-US" dirty="0"/>
              <a:t>你只会实现必须实现的内容，希望你预期的明天的需求不会成为现实。</a:t>
            </a:r>
          </a:p>
          <a:p>
            <a:pPr lvl="1"/>
            <a:r>
              <a:rPr kumimoji="1" lang="zh-CN" altLang="en-US" dirty="0"/>
              <a:t>只有当简化现有代码或使编写下一段代码更简单时，你才会将这些设计元素引入代码中。</a:t>
            </a: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t>11</a:t>
            </a:fld>
            <a:endParaRPr lang="zh-CN" altLang="en-US"/>
          </a:p>
        </p:txBody>
      </p:sp>
      <p:sp>
        <p:nvSpPr>
          <p:cNvPr id="3" name="文本占位符 2"/>
          <p:cNvSpPr>
            <a:spLocks noGrp="1"/>
          </p:cNvSpPr>
          <p:nvPr>
            <p:ph type="body" sz="quarter" idx="13"/>
          </p:nvPr>
        </p:nvSpPr>
        <p:spPr/>
        <p:txBody>
          <a:bodyPr/>
          <a:lstStyle/>
          <a:p>
            <a:r>
              <a:rPr kumimoji="1" lang="zh-CN" altLang="en-US" dirty="0"/>
              <a:t>哪些技术使得变更成本变低</a:t>
            </a:r>
          </a:p>
        </p:txBody>
      </p:sp>
      <p:sp>
        <p:nvSpPr>
          <p:cNvPr id="4" name="内容占位符 3"/>
          <p:cNvSpPr>
            <a:spLocks noGrp="1"/>
          </p:cNvSpPr>
          <p:nvPr>
            <p:ph idx="1"/>
          </p:nvPr>
        </p:nvSpPr>
        <p:spPr>
          <a:xfrm>
            <a:off x="838200" y="1289955"/>
            <a:ext cx="10515600" cy="5481813"/>
          </a:xfrm>
        </p:spPr>
        <p:txBody>
          <a:bodyPr>
            <a:normAutofit fontScale="77500" lnSpcReduction="20000"/>
          </a:bodyPr>
          <a:lstStyle/>
          <a:p>
            <a:r>
              <a:rPr lang="zh-CN" altLang="en-US" b="0" i="0" dirty="0">
                <a:effectLst/>
                <a:latin typeface="Inter"/>
              </a:rPr>
              <a:t>在技术方面，面向对象是一项关键技术。</a:t>
            </a:r>
            <a:endParaRPr lang="en-US" altLang="zh-CN" b="0" i="0" dirty="0">
              <a:effectLst/>
              <a:latin typeface="Inter"/>
            </a:endParaRPr>
          </a:p>
          <a:p>
            <a:pPr rtl="0"/>
            <a:r>
              <a:rPr lang="zh-CN" altLang="en-US" dirty="0">
                <a:effectLst/>
              </a:rPr>
              <a:t>简单设计，没有额外的设计元素 </a:t>
            </a:r>
            <a:r>
              <a:rPr lang="en-US" altLang="zh-CN" dirty="0">
                <a:effectLst/>
              </a:rPr>
              <a:t>—— </a:t>
            </a:r>
            <a:r>
              <a:rPr lang="zh-CN" altLang="en-US" dirty="0">
                <a:effectLst/>
              </a:rPr>
              <a:t>没有尚未使用但预计在未来会使用的设计。</a:t>
            </a:r>
            <a:endParaRPr lang="en-US" altLang="zh-CN" dirty="0">
              <a:effectLst/>
            </a:endParaRPr>
          </a:p>
          <a:p>
            <a:pPr rtl="0"/>
            <a:r>
              <a:rPr lang="zh-CN" altLang="en-US" dirty="0">
                <a:effectLst/>
              </a:rPr>
              <a:t>自动化测试，所以我们有信心知道我们是否意外地改变了系统的现有行为。“安全网”</a:t>
            </a:r>
            <a:r>
              <a:rPr lang="en-US" altLang="zh-CN" dirty="0">
                <a:effectLst/>
              </a:rPr>
              <a:t>.</a:t>
            </a:r>
          </a:p>
          <a:p>
            <a:pPr rtl="0"/>
            <a:r>
              <a:rPr lang="zh-CN" altLang="en-US" dirty="0">
                <a:effectLst/>
              </a:rPr>
              <a:t>重构技术：在修改设计方面有很多实践，所以当需要改变系统时，我们不会太害怕去尝试。</a:t>
            </a:r>
          </a:p>
          <a:p>
            <a:r>
              <a:rPr lang="en-US" altLang="zh-CN" dirty="0">
                <a:effectLst/>
              </a:rPr>
              <a:t>CICD:</a:t>
            </a:r>
            <a:r>
              <a:rPr lang="zh-CN" altLang="en-US" dirty="0">
                <a:effectLst/>
              </a:rPr>
              <a:t> </a:t>
            </a:r>
            <a:r>
              <a:rPr lang="zh-CN" altLang="en-US" dirty="0"/>
              <a:t>及时发现问题。</a:t>
            </a:r>
            <a:r>
              <a:rPr lang="en-US" altLang="zh-CN" dirty="0"/>
              <a:t>XP</a:t>
            </a:r>
            <a:r>
              <a:rPr lang="zh-CN" altLang="en-US" dirty="0"/>
              <a:t>鼓励频繁交付和持续部署。如果每个迭代都交付，客户的反馈使需求逐渐明确，不会出现项目最后才发现需求完全不对的惨剧。</a:t>
            </a:r>
            <a:endParaRPr lang="en-US" altLang="zh-CN" dirty="0"/>
          </a:p>
          <a:p>
            <a:r>
              <a:rPr lang="en-US" altLang="zh-CN" dirty="0">
                <a:solidFill>
                  <a:srgbClr val="FF0000"/>
                </a:solidFill>
                <a:effectLst/>
              </a:rPr>
              <a:t>“Beck</a:t>
            </a:r>
            <a:r>
              <a:rPr lang="zh-CN" altLang="en-US" dirty="0">
                <a:solidFill>
                  <a:srgbClr val="FF0000"/>
                </a:solidFill>
                <a:effectLst/>
              </a:rPr>
              <a:t>的曲线并非无视规律，只是把反馈周期从几个月缩短到几分钟，结果就没有机会让成本成指数增长” </a:t>
            </a:r>
            <a:endParaRPr lang="en-US" altLang="zh-CN" dirty="0">
              <a:solidFill>
                <a:srgbClr val="FF0000"/>
              </a:solidFill>
              <a:effectLst/>
            </a:endParaRPr>
          </a:p>
          <a:p>
            <a:r>
              <a:rPr lang="zh-CN" altLang="en-US" b="0" i="0" u="none" strike="noStrike" dirty="0">
                <a:solidFill>
                  <a:srgbClr val="FF0000"/>
                </a:solidFill>
                <a:effectLst/>
                <a:latin typeface="PT Serif" panose="020A0603040505020204" pitchFamily="18" charset="0"/>
              </a:rPr>
              <a:t>平坦曲线的前提是严格执行</a:t>
            </a:r>
            <a:r>
              <a:rPr lang="en-US" altLang="zh-CN" b="0" i="0" u="none" strike="noStrike" dirty="0">
                <a:solidFill>
                  <a:srgbClr val="FF0000"/>
                </a:solidFill>
                <a:effectLst/>
                <a:latin typeface="PT Serif" panose="020A0603040505020204" pitchFamily="18" charset="0"/>
              </a:rPr>
              <a:t>XP</a:t>
            </a:r>
            <a:r>
              <a:rPr lang="zh-CN" altLang="en-US" b="0" i="0" u="none" strike="noStrike" dirty="0">
                <a:solidFill>
                  <a:srgbClr val="FF0000"/>
                </a:solidFill>
                <a:effectLst/>
                <a:latin typeface="PT Serif" panose="020A0603040505020204" pitchFamily="18" charset="0"/>
              </a:rPr>
              <a:t>实践。对于那些未充分实践</a:t>
            </a:r>
            <a:r>
              <a:rPr lang="en-US" altLang="zh-CN" b="0" i="0" u="none" strike="noStrike" dirty="0">
                <a:solidFill>
                  <a:srgbClr val="FF0000"/>
                </a:solidFill>
                <a:effectLst/>
                <a:latin typeface="PT Serif" panose="020A0603040505020204" pitchFamily="18" charset="0"/>
              </a:rPr>
              <a:t>XP</a:t>
            </a:r>
            <a:r>
              <a:rPr lang="zh-CN" altLang="en-US" b="0" i="0" u="none" strike="noStrike" dirty="0">
                <a:solidFill>
                  <a:srgbClr val="FF0000"/>
                </a:solidFill>
                <a:effectLst/>
                <a:latin typeface="PT Serif" panose="020A0603040505020204" pitchFamily="18" charset="0"/>
              </a:rPr>
              <a:t>核心（比如不写测试就匆忙开发的“假敏捷”团队），后期改动一样痛苦</a:t>
            </a:r>
            <a:r>
              <a:rPr lang="en-US" altLang="zh-CN" b="0" i="0" u="none" strike="noStrike" dirty="0">
                <a:solidFill>
                  <a:srgbClr val="FF0000"/>
                </a:solidFill>
                <a:effectLst/>
                <a:latin typeface="PT Serif" panose="020A0603040505020204" pitchFamily="18" charset="0"/>
              </a:rPr>
              <a:t>.</a:t>
            </a:r>
            <a:endParaRPr lang="zh-CN" altLang="en-US" dirty="0">
              <a:solidFill>
                <a:srgbClr val="FF0000"/>
              </a:solidFill>
              <a:effectLst/>
            </a:endParaRPr>
          </a:p>
          <a:p>
            <a:endParaRPr kumimoji="1" lang="zh-CN" altLang="en-US" dirty="0"/>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endParaRPr lang="zh-CN" altLang="en-US"/>
          </a:p>
        </p:txBody>
      </p:sp>
      <p:sp>
        <p:nvSpPr>
          <p:cNvPr id="3" name="文本占位符 2"/>
          <p:cNvSpPr>
            <a:spLocks noGrp="1"/>
          </p:cNvSpPr>
          <p:nvPr>
            <p:ph type="body" sz="quarter" idx="11"/>
          </p:nvPr>
        </p:nvSpPr>
        <p:spPr/>
        <p:txBody>
          <a:bodyPr/>
          <a:lstStyle/>
          <a:p>
            <a:endParaRPr lang="zh-CN" altLang="en-US"/>
          </a:p>
        </p:txBody>
      </p:sp>
      <p:sp>
        <p:nvSpPr>
          <p:cNvPr id="4" name="文本占位符 3"/>
          <p:cNvSpPr>
            <a:spLocks noGrp="1"/>
          </p:cNvSpPr>
          <p:nvPr>
            <p:ph type="body" sz="quarter" idx="12"/>
          </p:nvPr>
        </p:nvSpPr>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theme/theme1.xml><?xml version="1.0" encoding="utf-8"?>
<a:theme xmlns:a="http://schemas.openxmlformats.org/drawingml/2006/main" name="Office 主题">
  <a:themeElements>
    <a:clrScheme name="南大紫">
      <a:dk1>
        <a:srgbClr val="6A005F"/>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Slides">
      <a:majorFont>
        <a:latin typeface="Times New Roman"/>
        <a:ea typeface="微软雅黑"/>
        <a:cs typeface=""/>
      </a:majorFont>
      <a:minorFont>
        <a:latin typeface="Times New Roman"/>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主题</Template>
  <TotalTime>25</TotalTime>
  <Words>1068</Words>
  <Application>Microsoft Macintosh PowerPoint</Application>
  <PresentationFormat>宽屏</PresentationFormat>
  <Paragraphs>75</Paragraphs>
  <Slides>13</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13</vt:i4>
      </vt:variant>
    </vt:vector>
  </HeadingPairs>
  <TitlesOfParts>
    <vt:vector size="21" baseType="lpstr">
      <vt:lpstr>等线</vt:lpstr>
      <vt:lpstr>Inter</vt:lpstr>
      <vt:lpstr>Arial</vt:lpstr>
      <vt:lpstr>Calibri</vt:lpstr>
      <vt:lpstr>PT Serif</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栋 邵</dc:creator>
  <dc:description>第一PPT模板网-WWW.1PPT.COM</dc:description>
  <cp:lastModifiedBy>栋 邵</cp:lastModifiedBy>
  <cp:revision>19</cp:revision>
  <dcterms:created xsi:type="dcterms:W3CDTF">2025-03-13T00:21:01Z</dcterms:created>
  <dcterms:modified xsi:type="dcterms:W3CDTF">2025-03-13T00:46:31Z</dcterms:modified>
  <cp:category>第一PPT模板网-WWW.1PPT.COM</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AC13F161FBC3290550F89F62C78629F4</vt:lpwstr>
  </property>
  <property fmtid="{D5CDD505-2E9C-101B-9397-08002B2CF9AE}" pid="3" name="KSOProductBuildVer">
    <vt:lpwstr>2052-4.1.1.6613</vt:lpwstr>
  </property>
</Properties>
</file>