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33"/>
  </p:notesMasterIdLst>
  <p:handoutMasterIdLst>
    <p:handoutMasterId r:id="rId34"/>
  </p:handoutMasterIdLst>
  <p:sldIdLst>
    <p:sldId id="337" r:id="rId2"/>
    <p:sldId id="352" r:id="rId3"/>
    <p:sldId id="344" r:id="rId4"/>
    <p:sldId id="350" r:id="rId5"/>
    <p:sldId id="351" r:id="rId6"/>
    <p:sldId id="357" r:id="rId7"/>
    <p:sldId id="358" r:id="rId8"/>
    <p:sldId id="359" r:id="rId9"/>
    <p:sldId id="264" r:id="rId10"/>
    <p:sldId id="360" r:id="rId11"/>
    <p:sldId id="267" r:id="rId12"/>
    <p:sldId id="268" r:id="rId13"/>
    <p:sldId id="269" r:id="rId14"/>
    <p:sldId id="273" r:id="rId15"/>
    <p:sldId id="380" r:id="rId16"/>
    <p:sldId id="276" r:id="rId17"/>
    <p:sldId id="277" r:id="rId18"/>
    <p:sldId id="278" r:id="rId19"/>
    <p:sldId id="279" r:id="rId20"/>
    <p:sldId id="280" r:id="rId21"/>
    <p:sldId id="290" r:id="rId22"/>
    <p:sldId id="291" r:id="rId23"/>
    <p:sldId id="292" r:id="rId24"/>
    <p:sldId id="381" r:id="rId25"/>
    <p:sldId id="382" r:id="rId26"/>
    <p:sldId id="363" r:id="rId27"/>
    <p:sldId id="362" r:id="rId28"/>
    <p:sldId id="364" r:id="rId29"/>
    <p:sldId id="365" r:id="rId30"/>
    <p:sldId id="366" r:id="rId31"/>
    <p:sldId id="34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E1C1"/>
    <a:srgbClr val="000000"/>
    <a:srgbClr val="2C78BD"/>
    <a:srgbClr val="E31857"/>
    <a:srgbClr val="FEB813"/>
    <a:srgbClr val="870078"/>
    <a:srgbClr val="6A005F"/>
    <a:srgbClr val="760068"/>
    <a:srgbClr val="500048"/>
    <a:srgbClr val="A200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42" autoAdjust="0"/>
    <p:restoredTop sz="78045" autoAdjust="0"/>
  </p:normalViewPr>
  <p:slideViewPr>
    <p:cSldViewPr snapToGrid="0" showGuides="1">
      <p:cViewPr varScale="1">
        <p:scale>
          <a:sx n="144" d="100"/>
          <a:sy n="144" d="100"/>
        </p:scale>
        <p:origin x="200" y="472"/>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2025/4/10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59324341"/>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2025/4/10</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kanbanguides.org/%e4%b8%ad%e6%96%87%e7%ae%80%e4%bd%93simplified/#elementor-toc__heading-anchor-1"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Kanban</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r>
              <a:rPr lang="zh-CN" altLang="en-US" dirty="0"/>
              <a:t>邵栋</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a:t>
            </a:fld>
            <a:endParaRPr lang="zh-CN" altLang="en-US"/>
          </a:p>
        </p:txBody>
      </p:sp>
      <p:sp>
        <p:nvSpPr>
          <p:cNvPr id="3" name="文本占位符 2"/>
          <p:cNvSpPr>
            <a:spLocks noGrp="1"/>
          </p:cNvSpPr>
          <p:nvPr>
            <p:ph type="body" sz="quarter" idx="13"/>
          </p:nvPr>
        </p:nvSpPr>
        <p:spPr/>
        <p:txBody>
          <a:bodyPr/>
          <a:lstStyle/>
          <a:p>
            <a:r>
              <a:rPr kumimoji="1" lang="zh-CN" altLang="en-US" dirty="0"/>
              <a:t>简介</a:t>
            </a:r>
          </a:p>
        </p:txBody>
      </p:sp>
      <p:sp>
        <p:nvSpPr>
          <p:cNvPr id="4" name="内容占位符 3"/>
          <p:cNvSpPr>
            <a:spLocks noGrp="1"/>
          </p:cNvSpPr>
          <p:nvPr>
            <p:ph idx="1"/>
          </p:nvPr>
        </p:nvSpPr>
        <p:spPr/>
        <p:txBody>
          <a:bodyPr/>
          <a:lstStyle/>
          <a:p>
            <a:r>
              <a:rPr kumimoji="1" lang="en-US" altLang="zh-CN" dirty="0"/>
              <a:t>Kanban</a:t>
            </a:r>
            <a:r>
              <a:rPr kumimoji="1" lang="zh-CN" altLang="en-US" dirty="0"/>
              <a:t>（中文常称“看板方法”）起源于制造业，现已成为</a:t>
            </a:r>
            <a:r>
              <a:rPr kumimoji="1" lang="en-US" altLang="zh-CN" dirty="0"/>
              <a:t>IT</a:t>
            </a:r>
            <a:r>
              <a:rPr kumimoji="1" lang="zh-CN" altLang="en-US" dirty="0"/>
              <a:t>软件开发和项目管理中广泛应用的敏捷方法之一。与传统计划驱动方法不同，</a:t>
            </a:r>
            <a:r>
              <a:rPr kumimoji="1" lang="en-US" altLang="zh-CN" dirty="0"/>
              <a:t>Kanban</a:t>
            </a:r>
            <a:r>
              <a:rPr kumimoji="1" lang="zh-CN" altLang="en-US" dirty="0"/>
              <a:t>强调通过可视化工作流程和限制在制品（</a:t>
            </a:r>
            <a:r>
              <a:rPr kumimoji="1" lang="en-US" altLang="zh-CN" dirty="0"/>
              <a:t>WIP</a:t>
            </a:r>
            <a:r>
              <a:rPr kumimoji="1" lang="zh-CN" altLang="en-US" dirty="0"/>
              <a:t>）来实现持续流动（</a:t>
            </a:r>
            <a:r>
              <a:rPr kumimoji="1" lang="en-US" altLang="zh-CN" dirty="0"/>
              <a:t>continuous flow</a:t>
            </a:r>
            <a:r>
              <a:rPr kumimoji="1" lang="zh-CN" altLang="en-US" dirty="0"/>
              <a:t>）。</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p:cNvSpPr>
            <a:spLocks noGrp="1"/>
          </p:cNvSpPr>
          <p:nvPr>
            <p:ph type="body" sz="quarter" idx="13"/>
          </p:nvPr>
        </p:nvSpPr>
        <p:spPr/>
        <p:txBody>
          <a:bodyPr/>
          <a:lstStyle/>
          <a:p>
            <a:r>
              <a:rPr kumimoji="1" lang="zh-CN" altLang="en-US" dirty="0"/>
              <a:t>定义 （</a:t>
            </a:r>
            <a:r>
              <a:rPr kumimoji="1" lang="en-US" altLang="zh-CN" dirty="0"/>
              <a:t> Kanban Guides </a:t>
            </a:r>
            <a:r>
              <a:rPr kumimoji="1" lang="zh-CN" altLang="en-US" dirty="0"/>
              <a:t>）</a:t>
            </a:r>
          </a:p>
        </p:txBody>
      </p:sp>
      <p:sp>
        <p:nvSpPr>
          <p:cNvPr id="4" name="内容占位符 3"/>
          <p:cNvSpPr>
            <a:spLocks noGrp="1"/>
          </p:cNvSpPr>
          <p:nvPr>
            <p:ph idx="1"/>
          </p:nvPr>
        </p:nvSpPr>
        <p:spPr/>
        <p:txBody>
          <a:bodyPr>
            <a:normAutofit fontScale="92500" lnSpcReduction="20000"/>
          </a:bodyPr>
          <a:lstStyle/>
          <a:p>
            <a:r>
              <a:rPr lang="zh-CN" altLang="en-US" b="0" i="0" dirty="0">
                <a:effectLst/>
                <a:latin typeface="Inter"/>
              </a:rPr>
              <a:t>看板是一种通过使用可视化、拉动式系统来优化流程中价值流动的策略。定义价值的方式可能多种多样，例如，可以考虑客户、终端用户、组织以及环境的需求。</a:t>
            </a:r>
            <a:endParaRPr lang="en-US" altLang="zh-CN" b="0" i="0" dirty="0">
              <a:effectLst/>
              <a:latin typeface="Inter"/>
            </a:endParaRPr>
          </a:p>
          <a:p>
            <a:r>
              <a:rPr lang="zh-CN" altLang="en-US" b="0" i="0" dirty="0">
                <a:effectLst/>
                <a:latin typeface="Inter"/>
              </a:rPr>
              <a:t>看板由以下三种协同工作的实践组成：</a:t>
            </a:r>
            <a:br>
              <a:rPr lang="zh-CN" altLang="en-US" dirty="0"/>
            </a:br>
            <a:r>
              <a:rPr lang="zh-CN" altLang="en-US" b="0" i="0" dirty="0">
                <a:effectLst/>
                <a:latin typeface="Inter"/>
              </a:rPr>
              <a:t>・定义并可视化工作流程</a:t>
            </a:r>
            <a:br>
              <a:rPr lang="zh-CN" altLang="en-US" dirty="0"/>
            </a:br>
            <a:r>
              <a:rPr lang="zh-CN" altLang="en-US" b="0" i="0" dirty="0">
                <a:effectLst/>
                <a:latin typeface="Inter"/>
              </a:rPr>
              <a:t>・主动管理工作流程中的事项</a:t>
            </a:r>
            <a:br>
              <a:rPr lang="zh-CN" altLang="en-US" dirty="0"/>
            </a:br>
            <a:r>
              <a:rPr lang="zh-CN" altLang="en-US" b="0" i="0" dirty="0">
                <a:effectLst/>
                <a:latin typeface="Inter"/>
              </a:rPr>
              <a:t>・改进工作流程</a:t>
            </a:r>
            <a:br>
              <a:rPr lang="zh-CN" altLang="en-US" dirty="0"/>
            </a:br>
            <a:r>
              <a:rPr lang="zh-CN" altLang="en-US" b="0" i="0" dirty="0">
                <a:effectLst/>
                <a:latin typeface="Inter"/>
              </a:rPr>
              <a:t>在实施过程中，这些看板实践统称为看板系统。参与看板系统价值交付的人员称为看板系统成员。</a:t>
            </a:r>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的起源 </a:t>
            </a:r>
            <a:r>
              <a:rPr kumimoji="1" lang="en-US" altLang="zh-CN" dirty="0"/>
              <a:t>- </a:t>
            </a:r>
            <a:r>
              <a:rPr kumimoji="1" lang="zh-CN" altLang="en-US" dirty="0"/>
              <a:t>制造业根基</a:t>
            </a:r>
          </a:p>
        </p:txBody>
      </p:sp>
      <p:sp>
        <p:nvSpPr>
          <p:cNvPr id="4" name="内容占位符 3"/>
          <p:cNvSpPr>
            <a:spLocks noGrp="1"/>
          </p:cNvSpPr>
          <p:nvPr>
            <p:ph idx="1"/>
          </p:nvPr>
        </p:nvSpPr>
        <p:spPr/>
        <p:txBody>
          <a:bodyPr>
            <a:normAutofit fontScale="85000" lnSpcReduction="10000"/>
          </a:bodyPr>
          <a:lstStyle/>
          <a:p>
            <a:r>
              <a:rPr kumimoji="1" lang="zh-CN" altLang="en-US" dirty="0"/>
              <a:t>制造业起源</a:t>
            </a:r>
            <a:r>
              <a:rPr kumimoji="1" lang="en-US" altLang="zh-CN" dirty="0"/>
              <a:t>: Kanban</a:t>
            </a:r>
            <a:r>
              <a:rPr kumimoji="1" lang="zh-CN" altLang="en-US" dirty="0"/>
              <a:t>最早起源于</a:t>
            </a:r>
            <a:r>
              <a:rPr kumimoji="1" lang="en-US" altLang="zh-CN" dirty="0"/>
              <a:t>20</a:t>
            </a:r>
            <a:r>
              <a:rPr kumimoji="1" lang="zh-CN" altLang="en-US" dirty="0"/>
              <a:t>世纪</a:t>
            </a:r>
            <a:r>
              <a:rPr kumimoji="1" lang="en-US" altLang="zh-CN" dirty="0"/>
              <a:t>50</a:t>
            </a:r>
            <a:r>
              <a:rPr kumimoji="1" lang="zh-CN" altLang="en-US" dirty="0"/>
              <a:t>年代的日本丰田汽车制造业。丰田工程师大野耐一（</a:t>
            </a:r>
            <a:r>
              <a:rPr kumimoji="1" lang="en-US" altLang="zh-CN" dirty="0"/>
              <a:t>Taiichi Ohno</a:t>
            </a:r>
            <a:r>
              <a:rPr kumimoji="1" lang="zh-CN" altLang="en-US" dirty="0"/>
              <a:t>）受美国超市补货方式启发，在工厂引入以纸卡片传递生产需求信号的系统，命名为“看板”（日语意为招牌或卡片）。</a:t>
            </a:r>
          </a:p>
          <a:p>
            <a:r>
              <a:rPr kumimoji="1" lang="zh-CN" altLang="en-US" dirty="0"/>
              <a:t>丰田生产方式 </a:t>
            </a:r>
            <a:r>
              <a:rPr kumimoji="1" lang="en-US" altLang="zh-CN" dirty="0"/>
              <a:t>(TPS): </a:t>
            </a:r>
            <a:r>
              <a:rPr kumimoji="1" lang="zh-CN" altLang="en-US" dirty="0"/>
              <a:t>每个物料和在制品附有</a:t>
            </a:r>
            <a:r>
              <a:rPr kumimoji="1" lang="en-US" altLang="zh-CN" dirty="0"/>
              <a:t>Kanban</a:t>
            </a:r>
            <a:r>
              <a:rPr kumimoji="1" lang="zh-CN" altLang="en-US" dirty="0"/>
              <a:t>卡片，下游工序消耗零件时，卡片返回上游作为补充生产信号。这种拉动式生产（</a:t>
            </a:r>
            <a:r>
              <a:rPr kumimoji="1" lang="en-US" altLang="zh-CN" dirty="0"/>
              <a:t>pull system</a:t>
            </a:r>
            <a:r>
              <a:rPr kumimoji="1" lang="zh-CN" altLang="en-US" dirty="0"/>
              <a:t>）极大减少了库存和浪费，使丰田能迅速调整生产以应对需求变化。通过实施看板系统，丰田显著提高生产流程吞吐量和可见性，从亏损转为业界领先。看板作为</a:t>
            </a:r>
            <a:r>
              <a:rPr kumimoji="1" lang="en-US" altLang="zh-CN" dirty="0"/>
              <a:t>TPS</a:t>
            </a:r>
            <a:r>
              <a:rPr kumimoji="1" lang="zh-CN" altLang="en-US" dirty="0"/>
              <a:t>重要组成，帮助丰田实现准时化生产（</a:t>
            </a:r>
            <a:r>
              <a:rPr kumimoji="1" lang="en-US" altLang="zh-CN" dirty="0"/>
              <a:t>Just-In-Time</a:t>
            </a:r>
            <a:r>
              <a:rPr kumimoji="1" lang="zh-CN" altLang="en-US" dirty="0"/>
              <a:t>），奠定现代精益生产管理基础。</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p:cNvSpPr>
            <a:spLocks noGrp="1"/>
          </p:cNvSpPr>
          <p:nvPr>
            <p:ph type="body" sz="quarter" idx="13"/>
          </p:nvPr>
        </p:nvSpPr>
        <p:spPr/>
        <p:txBody>
          <a:bodyPr/>
          <a:lstStyle/>
          <a:p>
            <a:r>
              <a:rPr kumimoji="1" lang="en-US" altLang="zh-CN" dirty="0"/>
              <a:t>Kanban</a:t>
            </a:r>
            <a:r>
              <a:rPr kumimoji="1" lang="zh-CN" altLang="en-US" dirty="0"/>
              <a:t>进入</a:t>
            </a:r>
            <a:r>
              <a:rPr kumimoji="1" lang="en-US" altLang="zh-CN" dirty="0"/>
              <a:t>IT</a:t>
            </a:r>
            <a:r>
              <a:rPr kumimoji="1" lang="zh-CN" altLang="en-US" dirty="0"/>
              <a:t>与软件开发</a:t>
            </a:r>
          </a:p>
        </p:txBody>
      </p:sp>
      <p:sp>
        <p:nvSpPr>
          <p:cNvPr id="4" name="内容占位符 3"/>
          <p:cNvSpPr>
            <a:spLocks noGrp="1"/>
          </p:cNvSpPr>
          <p:nvPr>
            <p:ph idx="1"/>
          </p:nvPr>
        </p:nvSpPr>
        <p:spPr/>
        <p:txBody>
          <a:bodyPr>
            <a:normAutofit fontScale="85000" lnSpcReduction="10000"/>
          </a:bodyPr>
          <a:lstStyle/>
          <a:p>
            <a:r>
              <a:rPr kumimoji="1" lang="zh-CN" altLang="en-US" dirty="0"/>
              <a:t>理念契合</a:t>
            </a:r>
            <a:r>
              <a:rPr kumimoji="1" lang="en-US" altLang="zh-CN" dirty="0"/>
              <a:t>: </a:t>
            </a:r>
            <a:r>
              <a:rPr kumimoji="1" lang="zh-CN" altLang="en-US" dirty="0"/>
              <a:t>虽然源自制造业，</a:t>
            </a:r>
            <a:r>
              <a:rPr kumimoji="1" lang="en-US" altLang="zh-CN" dirty="0"/>
              <a:t>Kanban</a:t>
            </a:r>
            <a:r>
              <a:rPr kumimoji="1" lang="zh-CN" altLang="en-US" dirty="0"/>
              <a:t>降低在制品、快速响应需求变化的理念对软件开发同样具吸引力。</a:t>
            </a:r>
            <a:r>
              <a:rPr kumimoji="1" lang="en-US" altLang="zh-CN" dirty="0"/>
              <a:t>21</a:t>
            </a:r>
            <a:r>
              <a:rPr kumimoji="1" lang="zh-CN" altLang="en-US" dirty="0"/>
              <a:t>世纪初，敏捷宣言发布，软件业追求更轻量、适应变化的开发流程，</a:t>
            </a:r>
            <a:r>
              <a:rPr kumimoji="1" lang="en-US" altLang="zh-CN" dirty="0"/>
              <a:t>Scrum</a:t>
            </a:r>
            <a:r>
              <a:rPr kumimoji="1" lang="zh-CN" altLang="en-US" dirty="0"/>
              <a:t>、</a:t>
            </a:r>
            <a:r>
              <a:rPr kumimoji="1" lang="en-US" altLang="zh-CN" dirty="0"/>
              <a:t>XP</a:t>
            </a:r>
            <a:r>
              <a:rPr kumimoji="1" lang="zh-CN" altLang="en-US" dirty="0"/>
              <a:t>等方法兴起。</a:t>
            </a:r>
          </a:p>
          <a:p>
            <a:r>
              <a:rPr kumimoji="1" lang="zh-CN" altLang="en-US" dirty="0"/>
              <a:t>早期探索 </a:t>
            </a:r>
            <a:r>
              <a:rPr kumimoji="1" lang="en-US" altLang="zh-CN" dirty="0"/>
              <a:t>(</a:t>
            </a:r>
            <a:r>
              <a:rPr kumimoji="1" lang="zh-CN" altLang="en-US" dirty="0"/>
              <a:t>精益软件开发</a:t>
            </a:r>
            <a:r>
              <a:rPr kumimoji="1" lang="en-US" altLang="zh-CN" dirty="0"/>
              <a:t>): </a:t>
            </a:r>
            <a:r>
              <a:rPr kumimoji="1" lang="zh-CN" altLang="en-US" dirty="0"/>
              <a:t>人们尝试将精益制造思想融入软件开发。</a:t>
            </a:r>
            <a:r>
              <a:rPr kumimoji="1" lang="en-US" altLang="zh-CN" dirty="0"/>
              <a:t>2003</a:t>
            </a:r>
            <a:r>
              <a:rPr kumimoji="1" lang="zh-CN" altLang="en-US" dirty="0"/>
              <a:t>年，</a:t>
            </a:r>
            <a:r>
              <a:rPr kumimoji="1" lang="en-US" altLang="zh-CN" dirty="0" err="1"/>
              <a:t>Poppendieck</a:t>
            </a:r>
            <a:r>
              <a:rPr kumimoji="1" lang="zh-CN" altLang="en-US" dirty="0"/>
              <a:t>夫妇出版</a:t>
            </a:r>
            <a:r>
              <a:rPr kumimoji="1" lang="en-US" altLang="zh-CN" dirty="0"/>
              <a:t>《</a:t>
            </a:r>
            <a:r>
              <a:rPr kumimoji="1" lang="zh-CN" altLang="en-US" dirty="0"/>
              <a:t>精益软件开发：敏捷工具箱</a:t>
            </a:r>
            <a:r>
              <a:rPr kumimoji="1" lang="en-US" altLang="zh-CN" dirty="0"/>
              <a:t>》</a:t>
            </a:r>
            <a:r>
              <a:rPr kumimoji="1" lang="zh-CN" altLang="en-US" dirty="0"/>
              <a:t>，引入丰田精益原则（消除浪费、价值流图、拉动系统等），为软件</a:t>
            </a:r>
            <a:r>
              <a:rPr kumimoji="1" lang="en-US" altLang="zh-CN" dirty="0"/>
              <a:t>Kanban</a:t>
            </a:r>
            <a:r>
              <a:rPr kumimoji="1" lang="zh-CN" altLang="en-US" dirty="0"/>
              <a:t>奠定思想基础。</a:t>
            </a:r>
          </a:p>
          <a:p>
            <a:r>
              <a:rPr kumimoji="1" lang="en-US" altLang="zh-CN" dirty="0"/>
              <a:t>David J. Anderson</a:t>
            </a:r>
            <a:r>
              <a:rPr kumimoji="1" lang="zh-CN" altLang="en-US" dirty="0"/>
              <a:t>的贡献</a:t>
            </a:r>
            <a:r>
              <a:rPr kumimoji="1" lang="en-US" altLang="zh-CN" dirty="0"/>
              <a:t>: 2010 </a:t>
            </a:r>
            <a:r>
              <a:rPr kumimoji="1" lang="zh-CN" altLang="en-US" dirty="0"/>
              <a:t>年</a:t>
            </a:r>
            <a:r>
              <a:rPr kumimoji="1" lang="en-US" altLang="zh-CN" dirty="0"/>
              <a:t>Anderson</a:t>
            </a:r>
            <a:r>
              <a:rPr kumimoji="1" lang="zh-CN" altLang="en-US" dirty="0"/>
              <a:t>出版里程碑著作</a:t>
            </a:r>
            <a:r>
              <a:rPr kumimoji="1" lang="en-US" altLang="zh-CN" dirty="0"/>
              <a:t>《 Kanban: Successful Evolutionary Change for Your Technology Business 》</a:t>
            </a:r>
            <a:r>
              <a:rPr kumimoji="1" lang="zh-CN" altLang="en-US" dirty="0"/>
              <a:t>。</a:t>
            </a:r>
            <a:endParaRPr kumimoji="1" lang="en-US" altLang="zh-CN" dirty="0"/>
          </a:p>
          <a:p>
            <a:r>
              <a:rPr kumimoji="1" lang="en-US" altLang="zh-CN" dirty="0"/>
              <a:t>2020</a:t>
            </a:r>
            <a:r>
              <a:rPr kumimoji="1" lang="zh-CN" altLang="en-US" dirty="0"/>
              <a:t>年</a:t>
            </a:r>
            <a:r>
              <a:rPr kumimoji="1" lang="en-US" altLang="zh-CN" dirty="0">
                <a:hlinkClick r:id="rId2"/>
              </a:rPr>
              <a:t>《Kanban</a:t>
            </a:r>
            <a:r>
              <a:rPr kumimoji="1" lang="zh-CN" altLang="en-US" dirty="0">
                <a:hlinkClick r:id="rId2"/>
              </a:rPr>
              <a:t>指南</a:t>
            </a:r>
            <a:r>
              <a:rPr kumimoji="1" lang="en-US" altLang="zh-CN" dirty="0">
                <a:hlinkClick r:id="rId2"/>
              </a:rPr>
              <a:t>》</a:t>
            </a:r>
            <a:r>
              <a:rPr kumimoji="1" lang="zh-CN" altLang="en-US" dirty="0"/>
              <a:t>发布。</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0989D-D5CB-8D17-E32A-C02DA9CD567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FC30A25-CC15-88A8-24C1-CFCF53130FD3}"/>
              </a:ext>
            </a:extLst>
          </p:cNvPr>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a:extLst>
              <a:ext uri="{FF2B5EF4-FFF2-40B4-BE49-F238E27FC236}">
                <a16:creationId xmlns:a16="http://schemas.microsoft.com/office/drawing/2014/main" id="{C62C2380-6853-95FF-E545-63E903DE2390}"/>
              </a:ext>
            </a:extLst>
          </p:cNvPr>
          <p:cNvSpPr>
            <a:spLocks noGrp="1"/>
          </p:cNvSpPr>
          <p:nvPr>
            <p:ph type="body" sz="quarter" idx="13"/>
          </p:nvPr>
        </p:nvSpPr>
        <p:spPr/>
        <p:txBody>
          <a:bodyPr/>
          <a:lstStyle/>
          <a:p>
            <a:r>
              <a:rPr kumimoji="1" lang="en-US" altLang="zh-CN" dirty="0"/>
              <a:t>Kanban</a:t>
            </a:r>
            <a:r>
              <a:rPr kumimoji="1" lang="zh-CN" altLang="en-US" dirty="0"/>
              <a:t>在敏捷方法体系中的地位</a:t>
            </a:r>
          </a:p>
        </p:txBody>
      </p:sp>
      <p:sp>
        <p:nvSpPr>
          <p:cNvPr id="4" name="内容占位符 3">
            <a:extLst>
              <a:ext uri="{FF2B5EF4-FFF2-40B4-BE49-F238E27FC236}">
                <a16:creationId xmlns:a16="http://schemas.microsoft.com/office/drawing/2014/main" id="{BD926653-DC56-EF6F-237D-71AC655CCC02}"/>
              </a:ext>
            </a:extLst>
          </p:cNvPr>
          <p:cNvSpPr>
            <a:spLocks noGrp="1"/>
          </p:cNvSpPr>
          <p:nvPr>
            <p:ph idx="1"/>
          </p:nvPr>
        </p:nvSpPr>
        <p:spPr/>
        <p:txBody>
          <a:bodyPr>
            <a:normAutofit fontScale="85000" lnSpcReduction="10000"/>
          </a:bodyPr>
          <a:lstStyle/>
          <a:p>
            <a:r>
              <a:rPr kumimoji="1" lang="zh-CN" altLang="en-US" dirty="0"/>
              <a:t>并列框架</a:t>
            </a:r>
            <a:r>
              <a:rPr kumimoji="1" lang="en-US" altLang="zh-CN" dirty="0"/>
              <a:t>: Kanban</a:t>
            </a:r>
            <a:r>
              <a:rPr kumimoji="1" lang="zh-CN" altLang="en-US" dirty="0"/>
              <a:t>已被普遍视为与</a:t>
            </a:r>
            <a:r>
              <a:rPr kumimoji="1" lang="en-US" altLang="zh-CN" dirty="0"/>
              <a:t>Scrum</a:t>
            </a:r>
            <a:r>
              <a:rPr kumimoji="1" lang="zh-CN" altLang="en-US" dirty="0"/>
              <a:t>、</a:t>
            </a:r>
            <a:r>
              <a:rPr kumimoji="1" lang="en-US" altLang="zh-CN" dirty="0"/>
              <a:t>XP</a:t>
            </a:r>
            <a:r>
              <a:rPr kumimoji="1" lang="zh-CN" altLang="en-US" dirty="0"/>
              <a:t>等并列的重要敏捷实践框架。虽未直接包含在</a:t>
            </a:r>
            <a:r>
              <a:rPr kumimoji="1" lang="en-US" altLang="zh-CN" dirty="0"/>
              <a:t>2001</a:t>
            </a:r>
            <a:r>
              <a:rPr kumimoji="1" lang="zh-CN" altLang="en-US" dirty="0"/>
              <a:t>年</a:t>
            </a:r>
            <a:r>
              <a:rPr kumimoji="1" lang="en-US" altLang="zh-CN" dirty="0"/>
              <a:t>《</a:t>
            </a:r>
            <a:r>
              <a:rPr kumimoji="1" lang="zh-CN" altLang="en-US" dirty="0"/>
              <a:t>敏捷宣言</a:t>
            </a:r>
            <a:r>
              <a:rPr kumimoji="1" lang="en-US" altLang="zh-CN" dirty="0"/>
              <a:t>》</a:t>
            </a:r>
            <a:r>
              <a:rPr kumimoji="1" lang="zh-CN" altLang="en-US" dirty="0"/>
              <a:t>中，其核心思想（拥抱变化、持续交付、高效协作）与敏捷价值观高度吻合。</a:t>
            </a:r>
          </a:p>
          <a:p>
            <a:r>
              <a:rPr kumimoji="1" lang="zh-CN" altLang="en-US" dirty="0"/>
              <a:t>敏捷联盟定义</a:t>
            </a:r>
            <a:r>
              <a:rPr kumimoji="1" lang="en-US" altLang="zh-CN" dirty="0"/>
              <a:t>: Agile Alliance</a:t>
            </a:r>
            <a:r>
              <a:rPr kumimoji="1" lang="zh-CN" altLang="en-US" dirty="0"/>
              <a:t>将</a:t>
            </a:r>
            <a:r>
              <a:rPr kumimoji="1" lang="en-US" altLang="zh-CN" dirty="0"/>
              <a:t>Kanban</a:t>
            </a:r>
            <a:r>
              <a:rPr kumimoji="1" lang="zh-CN" altLang="en-US" dirty="0"/>
              <a:t>描述为用于设计、管理和改进知识型工作流程的方法，允许团队“</a:t>
            </a:r>
            <a:r>
              <a:rPr kumimoji="1" lang="zh-CN" altLang="en-US" dirty="0">
                <a:solidFill>
                  <a:srgbClr val="FF0000"/>
                </a:solidFill>
              </a:rPr>
              <a:t>从现有流程开始”</a:t>
            </a:r>
            <a:r>
              <a:rPr kumimoji="1" lang="zh-CN" altLang="en-US" dirty="0"/>
              <a:t>，通过渐进式演化实现改变。</a:t>
            </a:r>
          </a:p>
          <a:p>
            <a:r>
              <a:rPr kumimoji="1" lang="zh-CN" altLang="en-US" dirty="0"/>
              <a:t>定位与优势</a:t>
            </a:r>
            <a:r>
              <a:rPr kumimoji="1" lang="en-US" altLang="zh-CN" dirty="0"/>
              <a:t>: Kanban</a:t>
            </a:r>
            <a:r>
              <a:rPr kumimoji="1" lang="zh-CN" altLang="en-US" dirty="0"/>
              <a:t>常被称为实现敏捷和</a:t>
            </a:r>
            <a:r>
              <a:rPr kumimoji="1" lang="en-US" altLang="zh-CN" dirty="0"/>
              <a:t>DevOps</a:t>
            </a:r>
            <a:r>
              <a:rPr kumimoji="1" lang="zh-CN" altLang="en-US" dirty="0"/>
              <a:t>的流行框架之一。相比</a:t>
            </a:r>
            <a:r>
              <a:rPr kumimoji="1" lang="en-US" altLang="zh-CN" dirty="0"/>
              <a:t>Scrum</a:t>
            </a:r>
            <a:r>
              <a:rPr kumimoji="1" lang="zh-CN" altLang="en-US" dirty="0"/>
              <a:t>规定角色和迭代周期，</a:t>
            </a:r>
            <a:r>
              <a:rPr kumimoji="1" lang="en-US" altLang="zh-CN" dirty="0"/>
              <a:t>Kanban</a:t>
            </a:r>
            <a:r>
              <a:rPr kumimoji="1" lang="zh-CN" altLang="en-US" dirty="0"/>
              <a:t>无严格规定，提供普适原则和实践，使团队能在现有流程基础上逐步提升效率。“从你现在的做起”的务实态度使其成为许多组织迈向敏捷的渐进式路径，降低转型阻力。</a:t>
            </a:r>
          </a:p>
          <a:p>
            <a:endParaRPr kumimoji="1" lang="zh-CN" altLang="en-US" dirty="0"/>
          </a:p>
        </p:txBody>
      </p:sp>
    </p:spTree>
    <p:extLst>
      <p:ext uri="{BB962C8B-B14F-4D97-AF65-F5344CB8AC3E}">
        <p14:creationId xmlns:p14="http://schemas.microsoft.com/office/powerpoint/2010/main" val="6233362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1DB34-C649-CF2A-5F72-B9040A0625A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8A0EB44-B8FB-B653-0CE8-24C2A7937CD5}"/>
              </a:ext>
            </a:extLst>
          </p:cNvPr>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 name="文本占位符 2">
            <a:extLst>
              <a:ext uri="{FF2B5EF4-FFF2-40B4-BE49-F238E27FC236}">
                <a16:creationId xmlns:a16="http://schemas.microsoft.com/office/drawing/2014/main" id="{EAB5830B-6671-149A-E7BE-6C00C677DB53}"/>
              </a:ext>
            </a:extLst>
          </p:cNvPr>
          <p:cNvSpPr>
            <a:spLocks noGrp="1"/>
          </p:cNvSpPr>
          <p:nvPr>
            <p:ph type="body" sz="quarter" idx="13"/>
          </p:nvPr>
        </p:nvSpPr>
        <p:spPr/>
        <p:txBody>
          <a:bodyPr/>
          <a:lstStyle/>
          <a:p>
            <a:r>
              <a:rPr kumimoji="1" lang="en-US" altLang="zh-CN" dirty="0"/>
              <a:t>Kanban</a:t>
            </a:r>
            <a:r>
              <a:rPr kumimoji="1" lang="zh-CN" altLang="en-US" dirty="0"/>
              <a:t>的采用趋势与混合模式</a:t>
            </a:r>
          </a:p>
        </p:txBody>
      </p:sp>
      <p:sp>
        <p:nvSpPr>
          <p:cNvPr id="4" name="内容占位符 3">
            <a:extLst>
              <a:ext uri="{FF2B5EF4-FFF2-40B4-BE49-F238E27FC236}">
                <a16:creationId xmlns:a16="http://schemas.microsoft.com/office/drawing/2014/main" id="{62AC330D-D30B-8E01-B7A9-B2DD19DDA1B4}"/>
              </a:ext>
            </a:extLst>
          </p:cNvPr>
          <p:cNvSpPr>
            <a:spLocks noGrp="1"/>
          </p:cNvSpPr>
          <p:nvPr>
            <p:ph idx="1"/>
          </p:nvPr>
        </p:nvSpPr>
        <p:spPr/>
        <p:txBody>
          <a:bodyPr>
            <a:normAutofit fontScale="77500" lnSpcReduction="20000"/>
          </a:bodyPr>
          <a:lstStyle/>
          <a:p>
            <a:r>
              <a:rPr kumimoji="1" lang="zh-CN" altLang="en-US" dirty="0"/>
              <a:t>采用现状</a:t>
            </a:r>
            <a:r>
              <a:rPr kumimoji="1" lang="en-US" altLang="zh-CN" dirty="0"/>
              <a:t>: Kanban</a:t>
            </a:r>
            <a:r>
              <a:rPr kumimoji="1" lang="zh-CN" altLang="en-US" dirty="0"/>
              <a:t>近年来呈增长趋势，但常与</a:t>
            </a:r>
            <a:r>
              <a:rPr kumimoji="1" lang="en-US" altLang="zh-CN" dirty="0"/>
              <a:t>Scrum</a:t>
            </a:r>
            <a:r>
              <a:rPr kumimoji="1" lang="zh-CN" altLang="en-US" dirty="0"/>
              <a:t>形成互补。</a:t>
            </a:r>
            <a:r>
              <a:rPr kumimoji="1" lang="en-US" altLang="zh-CN" dirty="0" err="1"/>
              <a:t>Digital.ai</a:t>
            </a:r>
            <a:r>
              <a:rPr kumimoji="1" lang="zh-CN" altLang="en-US" dirty="0"/>
              <a:t>调查显示，约</a:t>
            </a:r>
            <a:r>
              <a:rPr kumimoji="1" lang="en-US" altLang="zh-CN" dirty="0"/>
              <a:t>6%</a:t>
            </a:r>
            <a:r>
              <a:rPr kumimoji="1" lang="zh-CN" altLang="en-US" dirty="0"/>
              <a:t>团队用纯</a:t>
            </a:r>
            <a:r>
              <a:rPr kumimoji="1" lang="en-US" altLang="zh-CN" dirty="0"/>
              <a:t>Kanban</a:t>
            </a:r>
            <a:r>
              <a:rPr kumimoji="1" lang="zh-CN" altLang="en-US" dirty="0"/>
              <a:t>，</a:t>
            </a:r>
            <a:r>
              <a:rPr kumimoji="1" lang="en-US" altLang="zh-CN" dirty="0"/>
              <a:t>9%</a:t>
            </a:r>
            <a:r>
              <a:rPr kumimoji="1" lang="zh-CN" altLang="en-US" dirty="0"/>
              <a:t>用</a:t>
            </a:r>
            <a:r>
              <a:rPr kumimoji="1" lang="en-US" altLang="zh-CN" dirty="0" err="1"/>
              <a:t>Scrumban</a:t>
            </a:r>
            <a:r>
              <a:rPr kumimoji="1" lang="zh-CN" altLang="en-US" dirty="0"/>
              <a:t>，</a:t>
            </a:r>
            <a:r>
              <a:rPr kumimoji="1" lang="en-US" altLang="zh-CN" dirty="0"/>
              <a:t>Scrum</a:t>
            </a:r>
            <a:r>
              <a:rPr kumimoji="1" lang="zh-CN" altLang="en-US" dirty="0"/>
              <a:t>占约</a:t>
            </a:r>
            <a:r>
              <a:rPr kumimoji="1" lang="en-US" altLang="zh-CN" dirty="0"/>
              <a:t>66%</a:t>
            </a:r>
            <a:r>
              <a:rPr kumimoji="1" lang="zh-CN" altLang="en-US" dirty="0"/>
              <a:t>。但许多</a:t>
            </a:r>
            <a:r>
              <a:rPr kumimoji="1" lang="en-US" altLang="zh-CN" dirty="0"/>
              <a:t>Scrum</a:t>
            </a:r>
            <a:r>
              <a:rPr kumimoji="1" lang="zh-CN" altLang="en-US" dirty="0"/>
              <a:t>团队也借鉴</a:t>
            </a:r>
            <a:r>
              <a:rPr kumimoji="1" lang="en-US" altLang="zh-CN" dirty="0"/>
              <a:t>Kanban</a:t>
            </a:r>
            <a:r>
              <a:rPr kumimoji="1" lang="zh-CN" altLang="en-US" dirty="0"/>
              <a:t>实践（看板板、</a:t>
            </a:r>
            <a:r>
              <a:rPr kumimoji="1" lang="en-US" altLang="zh-CN" dirty="0"/>
              <a:t>WIP</a:t>
            </a:r>
            <a:r>
              <a:rPr kumimoji="1" lang="zh-CN" altLang="en-US" dirty="0"/>
              <a:t>限制），故其理念影响力远超纯粹采用比例。</a:t>
            </a:r>
          </a:p>
          <a:p>
            <a:r>
              <a:rPr kumimoji="1" lang="zh-CN" altLang="en-US" dirty="0"/>
              <a:t>用户反馈与价值</a:t>
            </a:r>
            <a:r>
              <a:rPr kumimoji="1" lang="en-US" altLang="zh-CN" dirty="0"/>
              <a:t>: Kanban</a:t>
            </a:r>
            <a:r>
              <a:rPr kumimoji="1" lang="zh-CN" altLang="en-US" dirty="0"/>
              <a:t>大学</a:t>
            </a:r>
            <a:r>
              <a:rPr kumimoji="1" lang="en-US" altLang="zh-CN" dirty="0"/>
              <a:t>2022</a:t>
            </a:r>
            <a:r>
              <a:rPr kumimoji="1" lang="zh-CN" altLang="en-US" dirty="0"/>
              <a:t>年报告显示，</a:t>
            </a:r>
            <a:r>
              <a:rPr kumimoji="1" lang="en-US" altLang="zh-CN" dirty="0"/>
              <a:t>86%</a:t>
            </a:r>
            <a:r>
              <a:rPr kumimoji="1" lang="zh-CN" altLang="en-US" dirty="0"/>
              <a:t>组织计划扩大</a:t>
            </a:r>
            <a:r>
              <a:rPr kumimoji="1" lang="en-US" altLang="zh-CN" dirty="0"/>
              <a:t>Kanban</a:t>
            </a:r>
            <a:r>
              <a:rPr kumimoji="1" lang="zh-CN" altLang="en-US" dirty="0"/>
              <a:t>应用；</a:t>
            </a:r>
            <a:r>
              <a:rPr kumimoji="1" lang="en-US" altLang="zh-CN" dirty="0"/>
              <a:t>87%</a:t>
            </a:r>
            <a:r>
              <a:rPr kumimoji="1" lang="zh-CN" altLang="en-US" dirty="0"/>
              <a:t>使用者反馈</a:t>
            </a:r>
            <a:r>
              <a:rPr kumimoji="1" lang="en-US" altLang="zh-CN" dirty="0"/>
              <a:t>Kanban</a:t>
            </a:r>
            <a:r>
              <a:rPr kumimoji="1" lang="zh-CN" altLang="en-US" dirty="0"/>
              <a:t>比之前方法更有效，仅</a:t>
            </a:r>
            <a:r>
              <a:rPr kumimoji="1" lang="en-US" altLang="zh-CN" dirty="0"/>
              <a:t>1%</a:t>
            </a:r>
            <a:r>
              <a:rPr kumimoji="1" lang="zh-CN" altLang="en-US" dirty="0"/>
              <a:t>认为效果不佳。数据表明</a:t>
            </a:r>
            <a:r>
              <a:rPr kumimoji="1" lang="en-US" altLang="zh-CN" dirty="0"/>
              <a:t>Kanban</a:t>
            </a:r>
            <a:r>
              <a:rPr kumimoji="1" lang="zh-CN" altLang="en-US" dirty="0"/>
              <a:t>被越来越多敏捷团队接受并视为提升管理成效的有力工具。</a:t>
            </a:r>
          </a:p>
          <a:p>
            <a:r>
              <a:rPr kumimoji="1" lang="zh-CN" altLang="en-US" dirty="0"/>
              <a:t>独特定位与混合</a:t>
            </a:r>
            <a:r>
              <a:rPr kumimoji="1" lang="en-US" altLang="zh-CN" dirty="0"/>
              <a:t>: Kanban</a:t>
            </a:r>
            <a:r>
              <a:rPr kumimoji="1" lang="zh-CN" altLang="en-US" dirty="0"/>
              <a:t>既可单独使用，也可与其他方法结合。</a:t>
            </a:r>
            <a:r>
              <a:rPr kumimoji="1" lang="en-US" altLang="zh-CN" dirty="0" err="1"/>
              <a:t>Scrumban</a:t>
            </a:r>
            <a:r>
              <a:rPr kumimoji="1" lang="zh-CN" altLang="en-US" dirty="0"/>
              <a:t>是在</a:t>
            </a:r>
            <a:r>
              <a:rPr kumimoji="1" lang="en-US" altLang="zh-CN" dirty="0"/>
              <a:t>Scrum</a:t>
            </a:r>
            <a:r>
              <a:rPr kumimoji="1" lang="zh-CN" altLang="en-US" dirty="0"/>
              <a:t>框架内引入可视化与</a:t>
            </a:r>
            <a:r>
              <a:rPr kumimoji="1" lang="en-US" altLang="zh-CN" dirty="0"/>
              <a:t>WIP</a:t>
            </a:r>
            <a:r>
              <a:rPr kumimoji="1" lang="zh-CN" altLang="en-US" dirty="0"/>
              <a:t>限制。</a:t>
            </a:r>
            <a:r>
              <a:rPr kumimoji="1" lang="zh-CN" altLang="en-US" dirty="0">
                <a:solidFill>
                  <a:srgbClr val="FF0000"/>
                </a:solidFill>
              </a:rPr>
              <a:t>运维、持续交付等场景倾向用</a:t>
            </a:r>
            <a:r>
              <a:rPr kumimoji="1" lang="en-US" altLang="zh-CN" dirty="0">
                <a:solidFill>
                  <a:srgbClr val="FF0000"/>
                </a:solidFill>
              </a:rPr>
              <a:t>Kanban</a:t>
            </a:r>
            <a:r>
              <a:rPr kumimoji="1" lang="zh-CN" altLang="en-US" dirty="0"/>
              <a:t>；</a:t>
            </a:r>
            <a:r>
              <a:rPr kumimoji="1" lang="zh-CN" altLang="en-US" dirty="0">
                <a:solidFill>
                  <a:srgbClr val="FF0000"/>
                </a:solidFill>
              </a:rPr>
              <a:t>新产品开发常用</a:t>
            </a:r>
            <a:r>
              <a:rPr kumimoji="1" lang="en-US" altLang="zh-CN" dirty="0">
                <a:solidFill>
                  <a:srgbClr val="FF0000"/>
                </a:solidFill>
              </a:rPr>
              <a:t>Scrum</a:t>
            </a:r>
            <a:r>
              <a:rPr kumimoji="1" lang="zh-CN" altLang="en-US" dirty="0"/>
              <a:t>。原则层面无矛盾，都以持续改进和自组织为核心，实践形式不同。应根据需求选择或组合使用</a:t>
            </a:r>
            <a:r>
              <a:rPr kumimoji="1" lang="en-US" altLang="zh-CN" dirty="0"/>
              <a:t>Scrum</a:t>
            </a:r>
            <a:r>
              <a:rPr kumimoji="1" lang="zh-CN" altLang="en-US" dirty="0"/>
              <a:t>和</a:t>
            </a:r>
            <a:r>
              <a:rPr kumimoji="1" lang="en-US" altLang="zh-CN" dirty="0"/>
              <a:t>Kanban</a:t>
            </a:r>
            <a:r>
              <a:rPr kumimoji="1" lang="zh-CN" altLang="en-US" dirty="0"/>
              <a:t>。</a:t>
            </a:r>
            <a:r>
              <a:rPr kumimoji="1" lang="en-US" altLang="zh-CN" dirty="0"/>
              <a:t>Kanban</a:t>
            </a:r>
            <a:r>
              <a:rPr kumimoji="1" lang="zh-CN" altLang="en-US" dirty="0"/>
              <a:t>已成为敏捷重要一员，尤其适合需灵活响应且不便固定</a:t>
            </a:r>
            <a:r>
              <a:rPr kumimoji="1" lang="en-US" altLang="zh-CN" dirty="0"/>
              <a:t>Sprint</a:t>
            </a:r>
            <a:r>
              <a:rPr kumimoji="1" lang="zh-CN" altLang="en-US" dirty="0"/>
              <a:t>的团队。</a:t>
            </a:r>
          </a:p>
          <a:p>
            <a:endParaRPr kumimoji="1" lang="zh-CN" altLang="en-US" dirty="0"/>
          </a:p>
        </p:txBody>
      </p:sp>
    </p:spTree>
    <p:extLst>
      <p:ext uri="{BB962C8B-B14F-4D97-AF65-F5344CB8AC3E}">
        <p14:creationId xmlns:p14="http://schemas.microsoft.com/office/powerpoint/2010/main" val="380243183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3AD2-8290-71A0-71E2-AC5F381CA23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6F678A-FFBA-3867-BE19-5B88006D5CE2}"/>
              </a:ext>
            </a:extLst>
          </p:cNvPr>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a:extLst>
              <a:ext uri="{FF2B5EF4-FFF2-40B4-BE49-F238E27FC236}">
                <a16:creationId xmlns:a16="http://schemas.microsoft.com/office/drawing/2014/main" id="{4A0D567E-4F11-C8EF-22D8-FB7B6D4089F5}"/>
              </a:ext>
            </a:extLst>
          </p:cNvPr>
          <p:cNvSpPr>
            <a:spLocks noGrp="1"/>
          </p:cNvSpPr>
          <p:nvPr>
            <p:ph type="body" sz="quarter" idx="13"/>
          </p:nvPr>
        </p:nvSpPr>
        <p:spPr/>
        <p:txBody>
          <a:bodyPr/>
          <a:lstStyle/>
          <a:p>
            <a:r>
              <a:rPr kumimoji="1" lang="zh-CN" altLang="en-US" dirty="0"/>
              <a:t>可视化</a:t>
            </a:r>
          </a:p>
        </p:txBody>
      </p:sp>
      <p:sp>
        <p:nvSpPr>
          <p:cNvPr id="4" name="内容占位符 3">
            <a:extLst>
              <a:ext uri="{FF2B5EF4-FFF2-40B4-BE49-F238E27FC236}">
                <a16:creationId xmlns:a16="http://schemas.microsoft.com/office/drawing/2014/main" id="{B72BAC81-3B1A-0806-BBB6-E723EEC4E71B}"/>
              </a:ext>
            </a:extLst>
          </p:cNvPr>
          <p:cNvSpPr>
            <a:spLocks noGrp="1"/>
          </p:cNvSpPr>
          <p:nvPr>
            <p:ph idx="1"/>
          </p:nvPr>
        </p:nvSpPr>
        <p:spPr/>
        <p:txBody>
          <a:bodyPr/>
          <a:lstStyle/>
          <a:p>
            <a:r>
              <a:rPr lang="zh-CN" altLang="en-US" dirty="0"/>
              <a:t>把项目原来在</a:t>
            </a:r>
            <a:r>
              <a:rPr lang="en-US" altLang="zh-CN" dirty="0"/>
              <a:t>Jira</a:t>
            </a:r>
            <a:r>
              <a:rPr lang="zh-CN" altLang="en-US" dirty="0"/>
              <a:t>中的工作内容贴在白板上。每个工作项一个记事贴。</a:t>
            </a:r>
          </a:p>
          <a:p>
            <a:r>
              <a:rPr lang="zh-CN" altLang="en-US" dirty="0">
                <a:solidFill>
                  <a:srgbClr val="FF0000"/>
                </a:solidFill>
              </a:rPr>
              <a:t>我们一般称电子工具为‘信息冰箱’。</a:t>
            </a:r>
          </a:p>
          <a:p>
            <a:r>
              <a:rPr kumimoji="1" lang="zh-CN" altLang="en-US" dirty="0"/>
              <a:t>你无法对自己没有看到的进行改进。</a:t>
            </a:r>
            <a:r>
              <a:rPr lang="zh-CN" altLang="en-US" dirty="0"/>
              <a:t>工作可视化之后，信息将散播给看到的每个人。</a:t>
            </a:r>
          </a:p>
          <a:p>
            <a:endParaRPr kumimoji="1" lang="zh-CN" altLang="en-US" dirty="0"/>
          </a:p>
          <a:p>
            <a:endParaRPr kumimoji="1" lang="zh-CN" altLang="en-US" dirty="0"/>
          </a:p>
          <a:p>
            <a:endParaRPr kumimoji="1" lang="zh-CN" altLang="en-US" dirty="0"/>
          </a:p>
        </p:txBody>
      </p:sp>
    </p:spTree>
    <p:extLst>
      <p:ext uri="{BB962C8B-B14F-4D97-AF65-F5344CB8AC3E}">
        <p14:creationId xmlns:p14="http://schemas.microsoft.com/office/powerpoint/2010/main" val="22202138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工作流映射"/>
          <p:cNvSpPr txBox="1">
            <a:spLocks noGrp="1"/>
          </p:cNvSpPr>
          <p:nvPr>
            <p:ph type="title"/>
          </p:nvPr>
        </p:nvSpPr>
        <p:spPr>
          <a:prstGeom prst="rect">
            <a:avLst/>
          </a:prstGeom>
        </p:spPr>
        <p:txBody>
          <a:bodyPr/>
          <a:lstStyle/>
          <a:p>
            <a:r>
              <a:t>工作流映射</a:t>
            </a:r>
          </a:p>
        </p:txBody>
      </p:sp>
      <p:grpSp>
        <p:nvGrpSpPr>
          <p:cNvPr id="4" name="组合 3">
            <a:extLst>
              <a:ext uri="{FF2B5EF4-FFF2-40B4-BE49-F238E27FC236}">
                <a16:creationId xmlns:a16="http://schemas.microsoft.com/office/drawing/2014/main" id="{085FC81E-BFF9-F54C-8E40-9396D7468076}"/>
              </a:ext>
            </a:extLst>
          </p:cNvPr>
          <p:cNvGrpSpPr/>
          <p:nvPr/>
        </p:nvGrpSpPr>
        <p:grpSpPr>
          <a:xfrm>
            <a:off x="1788028" y="2279176"/>
            <a:ext cx="8047459" cy="2647666"/>
            <a:chOff x="1139812" y="1589680"/>
            <a:chExt cx="10518034" cy="4359059"/>
          </a:xfrm>
        </p:grpSpPr>
        <p:sp>
          <p:nvSpPr>
            <p:cNvPr id="5" name="文本框 4">
              <a:extLst>
                <a:ext uri="{FF2B5EF4-FFF2-40B4-BE49-F238E27FC236}">
                  <a16:creationId xmlns:a16="http://schemas.microsoft.com/office/drawing/2014/main" id="{835FE5FF-B7D6-6E47-97A9-AEE3E5F52E9A}"/>
                </a:ext>
              </a:extLst>
            </p:cNvPr>
            <p:cNvSpPr txBox="1"/>
            <p:nvPr/>
          </p:nvSpPr>
          <p:spPr>
            <a:xfrm>
              <a:off x="1284987" y="1589682"/>
              <a:ext cx="1005822"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待办</a:t>
              </a:r>
            </a:p>
          </p:txBody>
        </p:sp>
        <p:sp>
          <p:nvSpPr>
            <p:cNvPr id="6" name="文本框 5">
              <a:extLst>
                <a:ext uri="{FF2B5EF4-FFF2-40B4-BE49-F238E27FC236}">
                  <a16:creationId xmlns:a16="http://schemas.microsoft.com/office/drawing/2014/main" id="{22210B0A-7723-2248-9DC8-5FA76706E96D}"/>
                </a:ext>
              </a:extLst>
            </p:cNvPr>
            <p:cNvSpPr txBox="1"/>
            <p:nvPr/>
          </p:nvSpPr>
          <p:spPr>
            <a:xfrm>
              <a:off x="4313687" y="1591714"/>
              <a:ext cx="1088823"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开发</a:t>
              </a:r>
            </a:p>
          </p:txBody>
        </p:sp>
        <p:sp>
          <p:nvSpPr>
            <p:cNvPr id="7" name="文本框 6">
              <a:extLst>
                <a:ext uri="{FF2B5EF4-FFF2-40B4-BE49-F238E27FC236}">
                  <a16:creationId xmlns:a16="http://schemas.microsoft.com/office/drawing/2014/main" id="{7E73F80B-690F-F14B-B615-2EE2835FC786}"/>
                </a:ext>
              </a:extLst>
            </p:cNvPr>
            <p:cNvSpPr txBox="1"/>
            <p:nvPr/>
          </p:nvSpPr>
          <p:spPr>
            <a:xfrm>
              <a:off x="2765765" y="1591712"/>
              <a:ext cx="1226763"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分析</a:t>
              </a:r>
            </a:p>
          </p:txBody>
        </p:sp>
        <p:sp>
          <p:nvSpPr>
            <p:cNvPr id="8" name="文本框 7">
              <a:extLst>
                <a:ext uri="{FF2B5EF4-FFF2-40B4-BE49-F238E27FC236}">
                  <a16:creationId xmlns:a16="http://schemas.microsoft.com/office/drawing/2014/main" id="{18ABC36F-95C6-7F4C-BF32-59C7248A70C3}"/>
                </a:ext>
              </a:extLst>
            </p:cNvPr>
            <p:cNvSpPr txBox="1"/>
            <p:nvPr/>
          </p:nvSpPr>
          <p:spPr>
            <a:xfrm>
              <a:off x="5943575" y="1589682"/>
              <a:ext cx="888466"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测试</a:t>
              </a:r>
            </a:p>
          </p:txBody>
        </p:sp>
        <p:sp>
          <p:nvSpPr>
            <p:cNvPr id="9" name="文本框 8">
              <a:extLst>
                <a:ext uri="{FF2B5EF4-FFF2-40B4-BE49-F238E27FC236}">
                  <a16:creationId xmlns:a16="http://schemas.microsoft.com/office/drawing/2014/main" id="{C5129D41-CFDD-0F4D-B6F0-A98B4653DD30}"/>
                </a:ext>
              </a:extLst>
            </p:cNvPr>
            <p:cNvSpPr txBox="1"/>
            <p:nvPr/>
          </p:nvSpPr>
          <p:spPr>
            <a:xfrm>
              <a:off x="7496438" y="1589680"/>
              <a:ext cx="1005819" cy="60806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验收</a:t>
              </a:r>
            </a:p>
          </p:txBody>
        </p:sp>
        <p:sp>
          <p:nvSpPr>
            <p:cNvPr id="10" name="文本框 9">
              <a:extLst>
                <a:ext uri="{FF2B5EF4-FFF2-40B4-BE49-F238E27FC236}">
                  <a16:creationId xmlns:a16="http://schemas.microsoft.com/office/drawing/2014/main" id="{4AFB3010-926F-A14A-8C64-8F3EB143023F}"/>
                </a:ext>
              </a:extLst>
            </p:cNvPr>
            <p:cNvSpPr txBox="1"/>
            <p:nvPr/>
          </p:nvSpPr>
          <p:spPr>
            <a:xfrm>
              <a:off x="8999302" y="1589682"/>
              <a:ext cx="1088824" cy="152015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等待运维发布</a:t>
              </a:r>
              <a:endParaRPr lang="en-US" altLang="zh-CN"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8120FC83-C24C-6B41-B097-E2E1F57D2E77}"/>
                </a:ext>
              </a:extLst>
            </p:cNvPr>
            <p:cNvSpPr txBox="1"/>
            <p:nvPr/>
          </p:nvSpPr>
          <p:spPr>
            <a:xfrm>
              <a:off x="10602166" y="1589682"/>
              <a:ext cx="965421" cy="1520150"/>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发布生产环境</a:t>
              </a:r>
              <a:endParaRPr lang="en-US" altLang="zh-CN" b="1" dirty="0">
                <a:latin typeface="微软雅黑" panose="020B0503020204020204" pitchFamily="34" charset="-122"/>
                <a:ea typeface="微软雅黑" panose="020B0503020204020204" pitchFamily="34" charset="-122"/>
              </a:endParaRPr>
            </a:p>
          </p:txBody>
        </p:sp>
        <p:cxnSp>
          <p:nvCxnSpPr>
            <p:cNvPr id="12" name="直接连接符 15">
              <a:extLst>
                <a:ext uri="{FF2B5EF4-FFF2-40B4-BE49-F238E27FC236}">
                  <a16:creationId xmlns:a16="http://schemas.microsoft.com/office/drawing/2014/main" id="{D5E3C722-616F-4A43-8EB2-E0C496E01478}"/>
                </a:ext>
              </a:extLst>
            </p:cNvPr>
            <p:cNvCxnSpPr/>
            <p:nvPr/>
          </p:nvCxnSpPr>
          <p:spPr>
            <a:xfrm>
              <a:off x="1139812" y="2010694"/>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6">
              <a:extLst>
                <a:ext uri="{FF2B5EF4-FFF2-40B4-BE49-F238E27FC236}">
                  <a16:creationId xmlns:a16="http://schemas.microsoft.com/office/drawing/2014/main" id="{F6CF9575-3FC2-A04A-AC27-74A7656229C7}"/>
                </a:ext>
              </a:extLst>
            </p:cNvPr>
            <p:cNvCxnSpPr/>
            <p:nvPr/>
          </p:nvCxnSpPr>
          <p:spPr>
            <a:xfrm>
              <a:off x="2381071" y="2010692"/>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7">
              <a:extLst>
                <a:ext uri="{FF2B5EF4-FFF2-40B4-BE49-F238E27FC236}">
                  <a16:creationId xmlns:a16="http://schemas.microsoft.com/office/drawing/2014/main" id="{EAB0E203-9205-464F-B5E7-33EE2B59DBFF}"/>
                </a:ext>
              </a:extLst>
            </p:cNvPr>
            <p:cNvCxnSpPr/>
            <p:nvPr/>
          </p:nvCxnSpPr>
          <p:spPr>
            <a:xfrm>
              <a:off x="3905424" y="2010693"/>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8">
              <a:extLst>
                <a:ext uri="{FF2B5EF4-FFF2-40B4-BE49-F238E27FC236}">
                  <a16:creationId xmlns:a16="http://schemas.microsoft.com/office/drawing/2014/main" id="{9B453E88-164D-EA4F-99B8-3F9F88AD5D8B}"/>
                </a:ext>
              </a:extLst>
            </p:cNvPr>
            <p:cNvCxnSpPr/>
            <p:nvPr/>
          </p:nvCxnSpPr>
          <p:spPr>
            <a:xfrm>
              <a:off x="5516882" y="2010692"/>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9">
              <a:extLst>
                <a:ext uri="{FF2B5EF4-FFF2-40B4-BE49-F238E27FC236}">
                  <a16:creationId xmlns:a16="http://schemas.microsoft.com/office/drawing/2014/main" id="{EC74269C-10DD-EA4D-ADE1-4852F9E55265}"/>
                </a:ext>
              </a:extLst>
            </p:cNvPr>
            <p:cNvCxnSpPr/>
            <p:nvPr/>
          </p:nvCxnSpPr>
          <p:spPr>
            <a:xfrm>
              <a:off x="7084787" y="2010691"/>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20">
              <a:extLst>
                <a:ext uri="{FF2B5EF4-FFF2-40B4-BE49-F238E27FC236}">
                  <a16:creationId xmlns:a16="http://schemas.microsoft.com/office/drawing/2014/main" id="{AD40F480-CFBB-EC4B-A198-329E797E33EA}"/>
                </a:ext>
              </a:extLst>
            </p:cNvPr>
            <p:cNvCxnSpPr/>
            <p:nvPr/>
          </p:nvCxnSpPr>
          <p:spPr>
            <a:xfrm>
              <a:off x="8605509" y="2010690"/>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8" name="直接连接符 21">
              <a:extLst>
                <a:ext uri="{FF2B5EF4-FFF2-40B4-BE49-F238E27FC236}">
                  <a16:creationId xmlns:a16="http://schemas.microsoft.com/office/drawing/2014/main" id="{DEE98D5E-8EC6-F141-93D0-8E76C92DA954}"/>
                </a:ext>
              </a:extLst>
            </p:cNvPr>
            <p:cNvCxnSpPr/>
            <p:nvPr/>
          </p:nvCxnSpPr>
          <p:spPr>
            <a:xfrm>
              <a:off x="10307705" y="2010689"/>
              <a:ext cx="0" cy="3919764"/>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22">
              <a:extLst>
                <a:ext uri="{FF2B5EF4-FFF2-40B4-BE49-F238E27FC236}">
                  <a16:creationId xmlns:a16="http://schemas.microsoft.com/office/drawing/2014/main" id="{EB19A387-ADE8-3A4A-8FA0-23C6A4766C96}"/>
                </a:ext>
              </a:extLst>
            </p:cNvPr>
            <p:cNvCxnSpPr/>
            <p:nvPr/>
          </p:nvCxnSpPr>
          <p:spPr>
            <a:xfrm>
              <a:off x="11657846" y="2010689"/>
              <a:ext cx="0" cy="3919764"/>
            </a:xfrm>
            <a:prstGeom prst="line">
              <a:avLst/>
            </a:prstGeom>
          </p:spPr>
          <p:style>
            <a:lnRef idx="2">
              <a:schemeClr val="dk1"/>
            </a:lnRef>
            <a:fillRef idx="0">
              <a:schemeClr val="dk1"/>
            </a:fillRef>
            <a:effectRef idx="1">
              <a:schemeClr val="dk1"/>
            </a:effectRef>
            <a:fontRef idx="minor">
              <a:schemeClr val="tx1"/>
            </a:fontRef>
          </p:style>
        </p:cxnSp>
        <p:pic>
          <p:nvPicPr>
            <p:cNvPr id="20" name="Picture 2" descr="“即时贴 图标”的图片搜索结果">
              <a:extLst>
                <a:ext uri="{FF2B5EF4-FFF2-40B4-BE49-F238E27FC236}">
                  <a16:creationId xmlns:a16="http://schemas.microsoft.com/office/drawing/2014/main" id="{B3D9A3D7-F292-4A41-8D7A-402CE188C03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323098" y="222381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即时贴 图标”的图片搜索结果">
              <a:extLst>
                <a:ext uri="{FF2B5EF4-FFF2-40B4-BE49-F238E27FC236}">
                  <a16:creationId xmlns:a16="http://schemas.microsoft.com/office/drawing/2014/main" id="{0FCF1C01-9CAD-2748-BA26-ABD4359136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493680" y="288683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即时贴 图标”的图片搜索结果">
              <a:extLst>
                <a:ext uri="{FF2B5EF4-FFF2-40B4-BE49-F238E27FC236}">
                  <a16:creationId xmlns:a16="http://schemas.microsoft.com/office/drawing/2014/main" id="{DA964049-29F0-CC41-BF5B-BB33BD4FF6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314025" y="356558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即时贴 图标”的图片搜索结果">
              <a:extLst>
                <a:ext uri="{FF2B5EF4-FFF2-40B4-BE49-F238E27FC236}">
                  <a16:creationId xmlns:a16="http://schemas.microsoft.com/office/drawing/2014/main" id="{A66C674B-AA09-8741-B4A1-7628356BF5A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470089" y="422499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即时贴 图标”的图片搜索结果">
              <a:extLst>
                <a:ext uri="{FF2B5EF4-FFF2-40B4-BE49-F238E27FC236}">
                  <a16:creationId xmlns:a16="http://schemas.microsoft.com/office/drawing/2014/main" id="{4ECAC2C6-4222-094E-B247-AAF5BBB9D1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780307" y="229478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即时贴 图标”的图片搜索结果">
              <a:extLst>
                <a:ext uri="{FF2B5EF4-FFF2-40B4-BE49-F238E27FC236}">
                  <a16:creationId xmlns:a16="http://schemas.microsoft.com/office/drawing/2014/main" id="{48EB4464-813C-3E4A-851A-F6CE0D1706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727678" y="3043372"/>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即时贴 图标”的图片搜索结果">
              <a:extLst>
                <a:ext uri="{FF2B5EF4-FFF2-40B4-BE49-F238E27FC236}">
                  <a16:creationId xmlns:a16="http://schemas.microsoft.com/office/drawing/2014/main" id="{55CB19A6-9C6F-C649-B049-095FE72AE5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369987" y="226519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即时贴 图标”的图片搜索结果">
              <a:extLst>
                <a:ext uri="{FF2B5EF4-FFF2-40B4-BE49-F238E27FC236}">
                  <a16:creationId xmlns:a16="http://schemas.microsoft.com/office/drawing/2014/main" id="{BCCF3E9E-F6D8-0948-A1CB-6160F86EA6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524237" y="321242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即时贴 图标”的图片搜索结果">
              <a:extLst>
                <a:ext uri="{FF2B5EF4-FFF2-40B4-BE49-F238E27FC236}">
                  <a16:creationId xmlns:a16="http://schemas.microsoft.com/office/drawing/2014/main" id="{01EEFFA1-B808-5E49-9C16-8E60E07824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270133" y="405058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即时贴 图标”的图片搜索结果">
              <a:extLst>
                <a:ext uri="{FF2B5EF4-FFF2-40B4-BE49-F238E27FC236}">
                  <a16:creationId xmlns:a16="http://schemas.microsoft.com/office/drawing/2014/main" id="{2336CE79-EF38-344A-BF75-31BFFB8573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199404" y="504977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即时贴 图标”的图片搜索结果">
              <a:extLst>
                <a:ext uri="{FF2B5EF4-FFF2-40B4-BE49-F238E27FC236}">
                  <a16:creationId xmlns:a16="http://schemas.microsoft.com/office/drawing/2014/main" id="{14F5DA28-06DD-E242-B0CF-25AE28E718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887078" y="23740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即时贴 图标”的图片搜索结果">
              <a:extLst>
                <a:ext uri="{FF2B5EF4-FFF2-40B4-BE49-F238E27FC236}">
                  <a16:creationId xmlns:a16="http://schemas.microsoft.com/office/drawing/2014/main" id="{68274F08-6478-5A4A-AE72-61FF559B0F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519003" y="23740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即时贴 图标”的图片搜索结果">
              <a:extLst>
                <a:ext uri="{FF2B5EF4-FFF2-40B4-BE49-F238E27FC236}">
                  <a16:creationId xmlns:a16="http://schemas.microsoft.com/office/drawing/2014/main" id="{8C18E5FF-2A4F-5143-A643-D860B8CC66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337532" y="3225516"/>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即时贴 图标”的图片搜索结果">
              <a:extLst>
                <a:ext uri="{FF2B5EF4-FFF2-40B4-BE49-F238E27FC236}">
                  <a16:creationId xmlns:a16="http://schemas.microsoft.com/office/drawing/2014/main" id="{8DA1E433-4641-DB42-BA2D-937FBE6A6F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511243" y="407695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即时贴 图标”的图片搜索结果">
              <a:extLst>
                <a:ext uri="{FF2B5EF4-FFF2-40B4-BE49-F238E27FC236}">
                  <a16:creationId xmlns:a16="http://schemas.microsoft.com/office/drawing/2014/main" id="{A174B1B2-A19D-6D4E-95EB-08D62A8A3C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219159" y="497388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即时贴 图标”的图片搜索结果">
              <a:extLst>
                <a:ext uri="{FF2B5EF4-FFF2-40B4-BE49-F238E27FC236}">
                  <a16:creationId xmlns:a16="http://schemas.microsoft.com/office/drawing/2014/main" id="{CCDD5055-E165-244D-B2DC-E3A5E38A70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122702" y="243976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即时贴 图标”的图片搜索结果">
              <a:extLst>
                <a:ext uri="{FF2B5EF4-FFF2-40B4-BE49-F238E27FC236}">
                  <a16:creationId xmlns:a16="http://schemas.microsoft.com/office/drawing/2014/main" id="{E6D1CA62-D15C-524D-BEB6-61FB3EF2D5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669935" y="2579779"/>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即时贴 图标”的图片搜索结果">
              <a:extLst>
                <a:ext uri="{FF2B5EF4-FFF2-40B4-BE49-F238E27FC236}">
                  <a16:creationId xmlns:a16="http://schemas.microsoft.com/office/drawing/2014/main" id="{0C67BB37-B60B-2B46-BF1F-A67E703B62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905511" y="3019574"/>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即时贴 图标”的图片搜索结果">
              <a:extLst>
                <a:ext uri="{FF2B5EF4-FFF2-40B4-BE49-F238E27FC236}">
                  <a16:creationId xmlns:a16="http://schemas.microsoft.com/office/drawing/2014/main" id="{1142767B-4F8B-BC47-892C-3438725D4B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287839" y="337443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即时贴 图标”的图片搜索结果">
              <a:extLst>
                <a:ext uri="{FF2B5EF4-FFF2-40B4-BE49-F238E27FC236}">
                  <a16:creationId xmlns:a16="http://schemas.microsoft.com/office/drawing/2014/main" id="{5EE2F138-01E8-724A-8257-54C70E8627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568452" y="3754563"/>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即时贴 图标”的图片搜索结果">
              <a:extLst>
                <a:ext uri="{FF2B5EF4-FFF2-40B4-BE49-F238E27FC236}">
                  <a16:creationId xmlns:a16="http://schemas.microsoft.com/office/drawing/2014/main" id="{6A377150-AF0A-9E45-91F9-BC052D4D68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665397" y="3578657"/>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即时贴 图标”的图片搜索结果">
              <a:extLst>
                <a:ext uri="{FF2B5EF4-FFF2-40B4-BE49-F238E27FC236}">
                  <a16:creationId xmlns:a16="http://schemas.microsoft.com/office/drawing/2014/main" id="{BBB57803-9C2F-0E48-81B1-6382EF01BF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875903" y="4140200"/>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即时贴 图标”的图片搜索结果">
              <a:extLst>
                <a:ext uri="{FF2B5EF4-FFF2-40B4-BE49-F238E27FC236}">
                  <a16:creationId xmlns:a16="http://schemas.microsoft.com/office/drawing/2014/main" id="{A1410BD0-8334-D840-8E40-F322C95068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421222" y="430277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即时贴 图标”的图片搜索结果">
              <a:extLst>
                <a:ext uri="{FF2B5EF4-FFF2-40B4-BE49-F238E27FC236}">
                  <a16:creationId xmlns:a16="http://schemas.microsoft.com/office/drawing/2014/main" id="{BE5ABCF6-2666-B842-80F1-1F32406BFC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758853" y="4738658"/>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即时贴 图标”的图片搜索结果">
              <a:extLst>
                <a:ext uri="{FF2B5EF4-FFF2-40B4-BE49-F238E27FC236}">
                  <a16:creationId xmlns:a16="http://schemas.microsoft.com/office/drawing/2014/main" id="{B97C50EC-BFF1-EA49-846E-6D68F9F9F7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9319598" y="5174861"/>
              <a:ext cx="667812" cy="59205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即时贴 图标”的图片搜索结果">
              <a:extLst>
                <a:ext uri="{FF2B5EF4-FFF2-40B4-BE49-F238E27FC236}">
                  <a16:creationId xmlns:a16="http://schemas.microsoft.com/office/drawing/2014/main" id="{7F0C8F9E-5585-3741-82FF-BA1E733672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890420" y="5356688"/>
              <a:ext cx="667812" cy="59205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9595087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3C48D-A206-892C-C915-2705DBF6E21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ADB62AB-8860-9DAE-BCAE-622D4E085CDC}"/>
              </a:ext>
            </a:extLst>
          </p:cNvPr>
          <p:cNvSpPr>
            <a:spLocks noGrp="1"/>
          </p:cNvSpPr>
          <p:nvPr>
            <p:ph type="sldNum" sz="quarter" idx="12"/>
          </p:nvPr>
        </p:nvSpPr>
        <p:spPr/>
        <p:txBody>
          <a:bodyPr/>
          <a:lstStyle/>
          <a:p>
            <a:fld id="{51D91E7F-84B6-4064-9D4E-CC7D244BCA04}" type="slidenum">
              <a:rPr lang="zh-CN" altLang="en-US" smtClean="0"/>
              <a:t>9</a:t>
            </a:fld>
            <a:endParaRPr lang="zh-CN" altLang="en-US"/>
          </a:p>
        </p:txBody>
      </p:sp>
      <p:sp>
        <p:nvSpPr>
          <p:cNvPr id="3" name="文本占位符 2">
            <a:extLst>
              <a:ext uri="{FF2B5EF4-FFF2-40B4-BE49-F238E27FC236}">
                <a16:creationId xmlns:a16="http://schemas.microsoft.com/office/drawing/2014/main" id="{EC22C05E-AA25-5600-7FE6-F71BD91B55A7}"/>
              </a:ext>
            </a:extLst>
          </p:cNvPr>
          <p:cNvSpPr>
            <a:spLocks noGrp="1"/>
          </p:cNvSpPr>
          <p:nvPr>
            <p:ph type="body" sz="quarter" idx="13"/>
          </p:nvPr>
        </p:nvSpPr>
        <p:spPr/>
        <p:txBody>
          <a:bodyPr/>
          <a:lstStyle/>
          <a:p>
            <a:r>
              <a:rPr kumimoji="1" lang="zh-CN" altLang="en-US" dirty="0"/>
              <a:t>定义与可视化工作流</a:t>
            </a:r>
          </a:p>
        </p:txBody>
      </p:sp>
      <p:sp>
        <p:nvSpPr>
          <p:cNvPr id="4" name="内容占位符 3">
            <a:extLst>
              <a:ext uri="{FF2B5EF4-FFF2-40B4-BE49-F238E27FC236}">
                <a16:creationId xmlns:a16="http://schemas.microsoft.com/office/drawing/2014/main" id="{D1DF85C9-8FC5-7017-16FD-767F96590F59}"/>
              </a:ext>
            </a:extLst>
          </p:cNvPr>
          <p:cNvSpPr>
            <a:spLocks noGrp="1"/>
          </p:cNvSpPr>
          <p:nvPr>
            <p:ph idx="1"/>
          </p:nvPr>
        </p:nvSpPr>
        <p:spPr/>
        <p:txBody>
          <a:bodyPr>
            <a:normAutofit fontScale="77500" lnSpcReduction="20000"/>
          </a:bodyPr>
          <a:lstStyle/>
          <a:p>
            <a:r>
              <a:rPr kumimoji="1" lang="zh-CN" altLang="en-US" dirty="0"/>
              <a:t>优化流须先定义流在特定情境中流的含义。在其情境中，</a:t>
            </a:r>
            <a:r>
              <a:rPr kumimoji="1" lang="en-US" altLang="zh-CN" dirty="0"/>
              <a:t>Kanban </a:t>
            </a:r>
            <a:r>
              <a:rPr kumimoji="1" lang="zh-CN" altLang="en-US" dirty="0"/>
              <a:t>系统成员对于流 的明确且共同的认知，就称为 “⼯作流的定义” </a:t>
            </a:r>
            <a:r>
              <a:rPr kumimoji="1" lang="en-US" altLang="zh-CN" dirty="0"/>
              <a:t>(Definition of Workflow</a:t>
            </a:r>
            <a:r>
              <a:rPr kumimoji="1" lang="zh-CN" altLang="en-US" dirty="0"/>
              <a:t>，</a:t>
            </a:r>
            <a:r>
              <a:rPr kumimoji="1" lang="en-US" altLang="zh-CN" dirty="0" err="1"/>
              <a:t>DoW</a:t>
            </a:r>
            <a:r>
              <a:rPr kumimoji="1" lang="en-US" altLang="zh-CN" dirty="0"/>
              <a:t>)</a:t>
            </a:r>
            <a:r>
              <a:rPr kumimoji="1" lang="zh-CN" altLang="en-US" dirty="0"/>
              <a:t>。</a:t>
            </a:r>
            <a:endParaRPr kumimoji="1" lang="en-US" altLang="zh-CN" dirty="0"/>
          </a:p>
          <a:p>
            <a:pPr lvl="1"/>
            <a:r>
              <a:rPr kumimoji="1" lang="zh-CN" altLang="en-US" dirty="0"/>
              <a:t>在⼯作流中移动的各个价值单位的定义。这些价值单位被称为 “⼯作项”（或 是 “项”）</a:t>
            </a:r>
            <a:r>
              <a:rPr kumimoji="1" lang="en-US" altLang="zh-CN" dirty="0"/>
              <a:t>(work items (or items) )</a:t>
            </a:r>
            <a:r>
              <a:rPr kumimoji="1" lang="zh-CN" altLang="en-US" dirty="0"/>
              <a:t>。</a:t>
            </a:r>
          </a:p>
          <a:p>
            <a:pPr lvl="1"/>
            <a:r>
              <a:rPr kumimoji="1" lang="zh-CN" altLang="en-US" dirty="0"/>
              <a:t>在⼯作流中 “开始” 与 “完成” ⼯作项的定义。根据⼯作项的不同，您的⼯作 流可能有多个起点或终点。</a:t>
            </a:r>
          </a:p>
          <a:p>
            <a:pPr lvl="1"/>
            <a:r>
              <a:rPr kumimoji="1" lang="zh-CN" altLang="en-US" dirty="0"/>
              <a:t>⼯作项⾃开始到结束时流动所经过的⼀个或多个已定义状态。介于开始节点 与结束节点间的任何⼀个⼯作项就称为 “进⾏中⼯作” </a:t>
            </a:r>
            <a:r>
              <a:rPr kumimoji="1" lang="en-US" altLang="zh-CN" dirty="0"/>
              <a:t>(work in progress</a:t>
            </a:r>
            <a:r>
              <a:rPr kumimoji="1" lang="zh-CN" altLang="en-US" dirty="0"/>
              <a:t>， </a:t>
            </a:r>
            <a:r>
              <a:rPr kumimoji="1" lang="en-US" altLang="zh-CN" dirty="0"/>
              <a:t>WIP)</a:t>
            </a:r>
            <a:r>
              <a:rPr kumimoji="1" lang="zh-CN" altLang="en-US" dirty="0"/>
              <a:t>。 </a:t>
            </a:r>
          </a:p>
          <a:p>
            <a:pPr lvl="1"/>
            <a:r>
              <a:rPr kumimoji="1" lang="zh-CN" altLang="en-US" dirty="0"/>
              <a:t>如何从开始到结束间控制 </a:t>
            </a:r>
            <a:r>
              <a:rPr kumimoji="1" lang="en-US" altLang="zh-CN" dirty="0"/>
              <a:t>WIP </a:t>
            </a:r>
            <a:r>
              <a:rPr kumimoji="1" lang="zh-CN" altLang="en-US" dirty="0"/>
              <a:t>的定义。 </a:t>
            </a:r>
          </a:p>
          <a:p>
            <a:pPr lvl="1"/>
            <a:r>
              <a:rPr kumimoji="1" lang="zh-CN" altLang="en-US" dirty="0"/>
              <a:t>有关⼯作项如何在每个状态中从开始到完成的明确的政策。</a:t>
            </a:r>
          </a:p>
          <a:p>
            <a:pPr lvl="1"/>
            <a:r>
              <a:rPr kumimoji="1" lang="zh-CN" altLang="en-US" dirty="0"/>
              <a:t>⼀份⽤来预估⼀个⼯作项从开始到完成所应花费的时间的 “服务⽔平期望” </a:t>
            </a:r>
            <a:r>
              <a:rPr kumimoji="1" lang="en-US" altLang="zh-CN" dirty="0"/>
              <a:t>(service level expectation</a:t>
            </a:r>
            <a:r>
              <a:rPr kumimoji="1" lang="zh-CN" altLang="en-US" dirty="0"/>
              <a:t>，</a:t>
            </a:r>
            <a:r>
              <a:rPr kumimoji="1" lang="en-US" altLang="zh-CN" dirty="0"/>
              <a:t>SLE)</a:t>
            </a:r>
            <a:r>
              <a:rPr kumimoji="1" lang="zh-CN" altLang="en-US" dirty="0"/>
              <a:t>。例如，“</a:t>
            </a:r>
            <a:r>
              <a:rPr kumimoji="1" lang="en-US" altLang="zh-CN" dirty="0"/>
              <a:t>85% </a:t>
            </a:r>
            <a:r>
              <a:rPr kumimoji="1" lang="zh-CN" altLang="en-US" dirty="0"/>
              <a:t>的⼯作项将在 </a:t>
            </a:r>
            <a:r>
              <a:rPr kumimoji="1" lang="en-US" altLang="zh-CN" dirty="0"/>
              <a:t>8 </a:t>
            </a:r>
            <a:r>
              <a:rPr kumimoji="1" lang="zh-CN" altLang="en-US" dirty="0"/>
              <a:t>天或更短的时间内完成”（估算）</a:t>
            </a:r>
          </a:p>
        </p:txBody>
      </p:sp>
    </p:spTree>
    <p:extLst>
      <p:ext uri="{BB962C8B-B14F-4D97-AF65-F5344CB8AC3E}">
        <p14:creationId xmlns:p14="http://schemas.microsoft.com/office/powerpoint/2010/main" val="132987594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图像" descr="图像"/>
          <p:cNvPicPr>
            <a:picLocks noChangeAspect="1"/>
          </p:cNvPicPr>
          <p:nvPr/>
        </p:nvPicPr>
        <p:blipFill>
          <a:blip r:embed="rId2"/>
          <a:stretch>
            <a:fillRect/>
          </a:stretch>
        </p:blipFill>
        <p:spPr>
          <a:xfrm>
            <a:off x="3485558" y="2262339"/>
            <a:ext cx="4672062" cy="4331468"/>
          </a:xfrm>
          <a:prstGeom prst="rect">
            <a:avLst/>
          </a:prstGeom>
          <a:ln w="12700">
            <a:miter lim="400000"/>
          </a:ln>
        </p:spPr>
      </p:pic>
      <p:sp>
        <p:nvSpPr>
          <p:cNvPr id="152" name="硬币传递游戏"/>
          <p:cNvSpPr txBox="1">
            <a:spLocks noGrp="1"/>
          </p:cNvSpPr>
          <p:nvPr>
            <p:ph type="title"/>
          </p:nvPr>
        </p:nvSpPr>
        <p:spPr>
          <a:prstGeom prst="rect">
            <a:avLst/>
          </a:prstGeom>
        </p:spPr>
        <p:txBody>
          <a:bodyPr/>
          <a:lstStyle/>
          <a:p>
            <a:r>
              <a:t>硬币传递游戏</a:t>
            </a:r>
          </a:p>
        </p:txBody>
      </p:sp>
    </p:spTree>
    <p:extLst>
      <p:ext uri="{BB962C8B-B14F-4D97-AF65-F5344CB8AC3E}">
        <p14:creationId xmlns:p14="http://schemas.microsoft.com/office/powerpoint/2010/main" val="14583530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硬币传递游戏说明"/>
          <p:cNvSpPr txBox="1">
            <a:spLocks noGrp="1"/>
          </p:cNvSpPr>
          <p:nvPr>
            <p:ph type="title"/>
          </p:nvPr>
        </p:nvSpPr>
        <p:spPr>
          <a:prstGeom prst="rect">
            <a:avLst/>
          </a:prstGeom>
        </p:spPr>
        <p:txBody>
          <a:bodyPr/>
          <a:lstStyle/>
          <a:p>
            <a:r>
              <a:t>硬币传递游戏说明</a:t>
            </a:r>
          </a:p>
        </p:txBody>
      </p:sp>
      <p:sp>
        <p:nvSpPr>
          <p:cNvPr id="155" name="你们中4 个人请围着桌子坐下来，其他人分别选择一个坐下的同事站在其身后，并掏出手机打开计时器。…"/>
          <p:cNvSpPr txBox="1">
            <a:spLocks noGrp="1"/>
          </p:cNvSpPr>
          <p:nvPr>
            <p:ph type="body" idx="1"/>
          </p:nvPr>
        </p:nvSpPr>
        <p:spPr>
          <a:xfrm>
            <a:off x="1255364" y="1821657"/>
            <a:ext cx="8742912" cy="3728067"/>
          </a:xfrm>
          <a:prstGeom prst="rect">
            <a:avLst/>
          </a:prstGeom>
        </p:spPr>
        <p:txBody>
          <a:bodyPr>
            <a:normAutofit fontScale="62500" lnSpcReduction="20000"/>
          </a:bodyPr>
          <a:lstStyle/>
          <a:p>
            <a:pPr marL="262523" indent="-262523" defTabSz="345030">
              <a:spcBef>
                <a:spcPts val="2461"/>
              </a:spcBef>
              <a:defRPr sz="2688"/>
            </a:pPr>
            <a:r>
              <a:rPr dirty="0"/>
              <a:t>你们中4个人请围着桌子坐下来，其他人分别选择一个坐下的同事站在其身后，并掏出手机打开计时器。</a:t>
            </a:r>
          </a:p>
          <a:p>
            <a:pPr marL="262523" indent="-262523" defTabSz="345030">
              <a:spcBef>
                <a:spcPts val="2461"/>
              </a:spcBef>
              <a:defRPr sz="2688"/>
            </a:pPr>
            <a:r>
              <a:rPr dirty="0"/>
              <a:t>每个人要把所有硬币翻一遍，然后传递给下一个人。当所有人都翻过所有硬币之后，他们就完成了工作，并交付给了客户。20枚硬币。</a:t>
            </a:r>
          </a:p>
          <a:p>
            <a:pPr marL="262523" indent="-262523" defTabSz="345030">
              <a:spcBef>
                <a:spcPts val="2461"/>
              </a:spcBef>
              <a:defRPr sz="2688"/>
            </a:pPr>
            <a:r>
              <a:rPr dirty="0"/>
              <a:t>“我来作为客户，为整个工作流计时。我会记录两个时间，一个是第一枚硬币到达我这里的时间，一个是所有20枚硬币到达我这里的时间。”</a:t>
            </a:r>
          </a:p>
          <a:p>
            <a:pPr marL="262523" indent="-262523" defTabSz="345030">
              <a:spcBef>
                <a:spcPts val="2461"/>
              </a:spcBef>
              <a:defRPr sz="2688"/>
            </a:pPr>
            <a:r>
              <a:rPr dirty="0"/>
              <a:t>我们会玩三轮这个游戏，第一轮的规则是每个工人需要把所有20枚硬币翻完后传递给下一个工人；</a:t>
            </a:r>
            <a:r>
              <a:rPr lang="zh-CN" altLang="en-US" dirty="0"/>
              <a:t>第二轮</a:t>
            </a:r>
            <a:r>
              <a:rPr dirty="0"/>
              <a:t>每次翻5枚硬币；</a:t>
            </a:r>
            <a:r>
              <a:rPr lang="zh-CN" altLang="en-US" dirty="0"/>
              <a:t>第三轮</a:t>
            </a:r>
            <a:r>
              <a:rPr dirty="0"/>
              <a:t>每次翻1个硬币。</a:t>
            </a:r>
          </a:p>
        </p:txBody>
      </p:sp>
    </p:spTree>
    <p:extLst>
      <p:ext uri="{BB962C8B-B14F-4D97-AF65-F5344CB8AC3E}">
        <p14:creationId xmlns:p14="http://schemas.microsoft.com/office/powerpoint/2010/main" val="392852249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硬币传递游戏结果"/>
          <p:cNvSpPr txBox="1">
            <a:spLocks noGrp="1"/>
          </p:cNvSpPr>
          <p:nvPr>
            <p:ph type="title"/>
          </p:nvPr>
        </p:nvSpPr>
        <p:spPr>
          <a:prstGeom prst="rect">
            <a:avLst/>
          </a:prstGeom>
        </p:spPr>
        <p:txBody>
          <a:bodyPr/>
          <a:lstStyle/>
          <a:p>
            <a:r>
              <a:t>硬币传递游戏结果</a:t>
            </a:r>
          </a:p>
        </p:txBody>
      </p:sp>
      <p:pic>
        <p:nvPicPr>
          <p:cNvPr id="158" name="图像" descr="图像"/>
          <p:cNvPicPr>
            <a:picLocks noChangeAspect="1"/>
          </p:cNvPicPr>
          <p:nvPr/>
        </p:nvPicPr>
        <p:blipFill>
          <a:blip r:embed="rId2"/>
          <a:stretch>
            <a:fillRect/>
          </a:stretch>
        </p:blipFill>
        <p:spPr>
          <a:xfrm>
            <a:off x="2858309" y="1761826"/>
            <a:ext cx="6218400" cy="4619384"/>
          </a:xfrm>
          <a:prstGeom prst="rect">
            <a:avLst/>
          </a:prstGeom>
          <a:ln w="12700">
            <a:miter lim="400000"/>
          </a:ln>
        </p:spPr>
      </p:pic>
      <p:sp>
        <p:nvSpPr>
          <p:cNvPr id="159" name="星形"/>
          <p:cNvSpPr/>
          <p:nvPr/>
        </p:nvSpPr>
        <p:spPr>
          <a:xfrm>
            <a:off x="2678180" y="4962836"/>
            <a:ext cx="615761" cy="606864"/>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7"/>
          </a:p>
        </p:txBody>
      </p:sp>
      <p:sp>
        <p:nvSpPr>
          <p:cNvPr id="160" name="星形"/>
          <p:cNvSpPr/>
          <p:nvPr/>
        </p:nvSpPr>
        <p:spPr>
          <a:xfrm>
            <a:off x="2678180" y="5526735"/>
            <a:ext cx="615761" cy="606864"/>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244985492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紧急工作"/>
          <p:cNvSpPr txBox="1">
            <a:spLocks noGrp="1"/>
          </p:cNvSpPr>
          <p:nvPr>
            <p:ph type="title"/>
          </p:nvPr>
        </p:nvSpPr>
        <p:spPr>
          <a:prstGeom prst="rect">
            <a:avLst/>
          </a:prstGeom>
        </p:spPr>
        <p:txBody>
          <a:bodyPr/>
          <a:lstStyle/>
          <a:p>
            <a:r>
              <a:t>紧急工作</a:t>
            </a:r>
          </a:p>
        </p:txBody>
      </p:sp>
      <p:sp>
        <p:nvSpPr>
          <p:cNvPr id="172" name="快速通道…"/>
          <p:cNvSpPr txBox="1">
            <a:spLocks noGrp="1"/>
          </p:cNvSpPr>
          <p:nvPr>
            <p:ph type="body" idx="1"/>
          </p:nvPr>
        </p:nvSpPr>
        <p:spPr>
          <a:xfrm>
            <a:off x="2193728" y="3024766"/>
            <a:ext cx="7804547" cy="3217087"/>
          </a:xfrm>
          <a:prstGeom prst="rect">
            <a:avLst/>
          </a:prstGeom>
        </p:spPr>
        <p:txBody>
          <a:bodyPr>
            <a:normAutofit fontScale="62500" lnSpcReduction="20000"/>
          </a:bodyPr>
          <a:lstStyle/>
          <a:p>
            <a:pPr marL="165639" indent="-165639" defTabSz="217697">
              <a:spcBef>
                <a:spcPts val="1547"/>
              </a:spcBef>
              <a:defRPr sz="1695"/>
            </a:pPr>
            <a:r>
              <a:rPr dirty="0" err="1"/>
              <a:t>快速通道</a:t>
            </a:r>
            <a:endParaRPr dirty="0"/>
          </a:p>
          <a:p>
            <a:pPr marL="165639" indent="-165639" defTabSz="217697">
              <a:spcBef>
                <a:spcPts val="1547"/>
              </a:spcBef>
              <a:defRPr sz="1695"/>
            </a:pPr>
            <a:r>
              <a:rPr dirty="0" err="1"/>
              <a:t>处理特殊情况的常用方式</a:t>
            </a:r>
            <a:endParaRPr dirty="0"/>
          </a:p>
          <a:p>
            <a:pPr marL="331279" lvl="1" indent="-165639" defTabSz="217697">
              <a:spcBef>
                <a:spcPts val="1547"/>
              </a:spcBef>
              <a:defRPr sz="1695"/>
            </a:pPr>
            <a:r>
              <a:rPr dirty="0" err="1"/>
              <a:t>如紧急工作</a:t>
            </a:r>
            <a:endParaRPr dirty="0"/>
          </a:p>
          <a:p>
            <a:pPr marL="165639" indent="-165639" defTabSz="217697">
              <a:spcBef>
                <a:spcPts val="1547"/>
              </a:spcBef>
              <a:defRPr sz="1695"/>
            </a:pPr>
            <a:r>
              <a:rPr dirty="0" err="1"/>
              <a:t>通常在白板上刻划为单独通道</a:t>
            </a:r>
            <a:endParaRPr dirty="0"/>
          </a:p>
          <a:p>
            <a:pPr marL="165639" indent="-165639" defTabSz="217697">
              <a:spcBef>
                <a:spcPts val="1547"/>
              </a:spcBef>
              <a:defRPr sz="1695"/>
            </a:pPr>
            <a:r>
              <a:rPr dirty="0" err="1"/>
              <a:t>快速通道的相关规则如下</a:t>
            </a:r>
            <a:r>
              <a:rPr dirty="0"/>
              <a:t>:</a:t>
            </a:r>
          </a:p>
          <a:p>
            <a:pPr marL="331279" lvl="1" indent="-165639" defTabSz="217697">
              <a:spcBef>
                <a:spcPts val="1547"/>
              </a:spcBef>
              <a:defRPr sz="1695"/>
            </a:pPr>
            <a:r>
              <a:rPr dirty="0" err="1"/>
              <a:t>任何时候最多只能有一个工作项在快速通道内</a:t>
            </a:r>
            <a:endParaRPr dirty="0"/>
          </a:p>
          <a:p>
            <a:pPr marL="331279" lvl="1" indent="-165639" defTabSz="217697">
              <a:spcBef>
                <a:spcPts val="1547"/>
              </a:spcBef>
              <a:defRPr sz="1695"/>
            </a:pPr>
            <a:r>
              <a:rPr dirty="0" err="1"/>
              <a:t>每周最多有一个紧急工作</a:t>
            </a:r>
            <a:endParaRPr dirty="0"/>
          </a:p>
          <a:p>
            <a:pPr marL="331279" lvl="1" indent="-165639" defTabSz="217697">
              <a:spcBef>
                <a:spcPts val="1547"/>
              </a:spcBef>
              <a:defRPr sz="1695"/>
            </a:pPr>
            <a:r>
              <a:rPr dirty="0" err="1"/>
              <a:t>快速通道内的工作项无需计入在制品限制</a:t>
            </a:r>
            <a:endParaRPr dirty="0"/>
          </a:p>
        </p:txBody>
      </p:sp>
      <p:pic>
        <p:nvPicPr>
          <p:cNvPr id="173" name="图像" descr="图像"/>
          <p:cNvPicPr>
            <a:picLocks noChangeAspect="1"/>
          </p:cNvPicPr>
          <p:nvPr/>
        </p:nvPicPr>
        <p:blipFill>
          <a:blip r:embed="rId2"/>
          <a:stretch>
            <a:fillRect/>
          </a:stretch>
        </p:blipFill>
        <p:spPr>
          <a:xfrm>
            <a:off x="2542442" y="1269268"/>
            <a:ext cx="6938368" cy="1598415"/>
          </a:xfrm>
          <a:prstGeom prst="rect">
            <a:avLst/>
          </a:prstGeom>
          <a:ln w="12700">
            <a:miter lim="400000"/>
          </a:ln>
        </p:spPr>
      </p:pic>
    </p:spTree>
    <p:extLst>
      <p:ext uri="{BB962C8B-B14F-4D97-AF65-F5344CB8AC3E}">
        <p14:creationId xmlns:p14="http://schemas.microsoft.com/office/powerpoint/2010/main" val="405377489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1E7CB-9B7D-697E-7B52-1653A7BB995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394EFB-FA1A-A814-67C3-22731A869B95}"/>
              </a:ext>
            </a:extLst>
          </p:cNvPr>
          <p:cNvSpPr>
            <a:spLocks noGrp="1"/>
          </p:cNvSpPr>
          <p:nvPr>
            <p:ph type="sldNum" sz="quarter" idx="12"/>
          </p:nvPr>
        </p:nvSpPr>
        <p:spPr/>
        <p:txBody>
          <a:bodyPr/>
          <a:lstStyle/>
          <a:p>
            <a:fld id="{51D91E7F-84B6-4064-9D4E-CC7D244BCA04}" type="slidenum">
              <a:rPr lang="zh-CN" altLang="en-US" smtClean="0"/>
              <a:t>14</a:t>
            </a:fld>
            <a:endParaRPr lang="zh-CN" altLang="en-US"/>
          </a:p>
        </p:txBody>
      </p:sp>
      <p:sp>
        <p:nvSpPr>
          <p:cNvPr id="3" name="文本占位符 2">
            <a:extLst>
              <a:ext uri="{FF2B5EF4-FFF2-40B4-BE49-F238E27FC236}">
                <a16:creationId xmlns:a16="http://schemas.microsoft.com/office/drawing/2014/main" id="{85D3C729-AAEA-FCF0-CDBD-CBB6D66CAF26}"/>
              </a:ext>
            </a:extLst>
          </p:cNvPr>
          <p:cNvSpPr>
            <a:spLocks noGrp="1"/>
          </p:cNvSpPr>
          <p:nvPr>
            <p:ph type="body" sz="quarter" idx="13"/>
          </p:nvPr>
        </p:nvSpPr>
        <p:spPr/>
        <p:txBody>
          <a:bodyPr/>
          <a:lstStyle/>
          <a:p>
            <a:r>
              <a:rPr kumimoji="1" lang="en-US" altLang="zh-CN" dirty="0"/>
              <a:t>Kanban</a:t>
            </a:r>
            <a:r>
              <a:rPr kumimoji="1" lang="zh-CN" altLang="en-US" dirty="0"/>
              <a:t>看板与卡片</a:t>
            </a:r>
          </a:p>
        </p:txBody>
      </p:sp>
      <p:sp>
        <p:nvSpPr>
          <p:cNvPr id="4" name="内容占位符 3">
            <a:extLst>
              <a:ext uri="{FF2B5EF4-FFF2-40B4-BE49-F238E27FC236}">
                <a16:creationId xmlns:a16="http://schemas.microsoft.com/office/drawing/2014/main" id="{8AF5569D-9196-B806-1A7C-F309AE6D56E9}"/>
              </a:ext>
            </a:extLst>
          </p:cNvPr>
          <p:cNvSpPr>
            <a:spLocks noGrp="1"/>
          </p:cNvSpPr>
          <p:nvPr>
            <p:ph idx="1"/>
          </p:nvPr>
        </p:nvSpPr>
        <p:spPr/>
        <p:txBody>
          <a:bodyPr>
            <a:normAutofit fontScale="85000" lnSpcReduction="10000"/>
          </a:bodyPr>
          <a:lstStyle/>
          <a:p>
            <a:r>
              <a:rPr kumimoji="1" lang="en-US" altLang="zh-CN" dirty="0"/>
              <a:t>Kanban</a:t>
            </a:r>
            <a:r>
              <a:rPr kumimoji="1" lang="zh-CN" altLang="en-US" dirty="0"/>
              <a:t>看板 </a:t>
            </a:r>
            <a:r>
              <a:rPr kumimoji="1" lang="en-US" altLang="zh-CN" dirty="0"/>
              <a:t>(Kanban Board): Kanban</a:t>
            </a:r>
            <a:r>
              <a:rPr kumimoji="1" lang="zh-CN" altLang="en-US" dirty="0"/>
              <a:t>方法的核心工具，可视化工作及其流程状态。典型看板按流程划分为列（如“待处理”、“进行中”、“待测试”、“已完成”），工作项以卡片形式放置。提供实时透明度，显示任务状态、位置、整体负荷。可以是物理白板或电子工具（</a:t>
            </a:r>
            <a:r>
              <a:rPr kumimoji="1" lang="en-US" altLang="zh-CN" dirty="0"/>
              <a:t>Jira, Trello, Azure DevOps</a:t>
            </a:r>
            <a:r>
              <a:rPr kumimoji="1" lang="zh-CN" altLang="en-US" dirty="0"/>
              <a:t>等）。作为信息辐射器，促进团队内外同步对齐。</a:t>
            </a:r>
            <a:endParaRPr kumimoji="1" lang="en-US" altLang="zh-CN" dirty="0"/>
          </a:p>
          <a:p>
            <a:r>
              <a:rPr kumimoji="1" lang="en-US" altLang="zh-CN" dirty="0"/>
              <a:t>Kanban</a:t>
            </a:r>
            <a:r>
              <a:rPr kumimoji="1" lang="zh-CN" altLang="en-US" dirty="0"/>
              <a:t>卡片 </a:t>
            </a:r>
            <a:r>
              <a:rPr kumimoji="1" lang="en-US" altLang="zh-CN" dirty="0"/>
              <a:t>(Kanban Card): </a:t>
            </a:r>
            <a:r>
              <a:rPr kumimoji="1" lang="zh-CN" altLang="en-US" dirty="0"/>
              <a:t>代表具体工作项（用户故事、任务、缺陷等）。记录必要信息（标题、负责人、描述、截止日期等）助成员理解任务。电子卡片可含更多属性（子任务、附件、评论）。卡片从左到右移动反映流动。受阻时标记（红标）或入阻塞区提示解决。卡片流动形成拉动信号。</a:t>
            </a:r>
          </a:p>
        </p:txBody>
      </p:sp>
    </p:spTree>
    <p:extLst>
      <p:ext uri="{BB962C8B-B14F-4D97-AF65-F5344CB8AC3E}">
        <p14:creationId xmlns:p14="http://schemas.microsoft.com/office/powerpoint/2010/main" val="166853971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看板例子2"/>
          <p:cNvSpPr txBox="1">
            <a:spLocks noGrp="1"/>
          </p:cNvSpPr>
          <p:nvPr>
            <p:ph type="title"/>
          </p:nvPr>
        </p:nvSpPr>
        <p:spPr>
          <a:prstGeom prst="rect">
            <a:avLst/>
          </a:prstGeom>
        </p:spPr>
        <p:txBody>
          <a:bodyPr/>
          <a:lstStyle/>
          <a:p>
            <a:r>
              <a:rPr dirty="0" err="1"/>
              <a:t>看板例子</a:t>
            </a:r>
            <a:endParaRPr dirty="0"/>
          </a:p>
        </p:txBody>
      </p:sp>
      <p:sp>
        <p:nvSpPr>
          <p:cNvPr id="183" name="（来自Kanban and Scrum making the most of both一书）"/>
          <p:cNvSpPr txBox="1">
            <a:spLocks noGrp="1"/>
          </p:cNvSpPr>
          <p:nvPr>
            <p:ph type="body" sz="quarter" idx="1"/>
          </p:nvPr>
        </p:nvSpPr>
        <p:spPr>
          <a:xfrm>
            <a:off x="2193728" y="1821658"/>
            <a:ext cx="7804547" cy="976117"/>
          </a:xfrm>
          <a:prstGeom prst="rect">
            <a:avLst/>
          </a:prstGeom>
        </p:spPr>
        <p:txBody>
          <a:bodyPr>
            <a:normAutofit fontScale="85000" lnSpcReduction="10000"/>
          </a:bodyPr>
          <a:lstStyle/>
          <a:p>
            <a:r>
              <a:rPr dirty="0"/>
              <a:t>（</a:t>
            </a:r>
            <a:r>
              <a:rPr dirty="0" err="1"/>
              <a:t>来自Kanban</a:t>
            </a:r>
            <a:r>
              <a:rPr lang="zh-CN" altLang="en-US" dirty="0"/>
              <a:t> </a:t>
            </a:r>
            <a:r>
              <a:rPr dirty="0"/>
              <a:t>and</a:t>
            </a:r>
            <a:r>
              <a:rPr lang="zh-CN" altLang="en-US" dirty="0"/>
              <a:t> </a:t>
            </a:r>
            <a:r>
              <a:rPr dirty="0"/>
              <a:t>Scrum</a:t>
            </a:r>
            <a:r>
              <a:rPr lang="zh-CN" altLang="en-US" dirty="0"/>
              <a:t> </a:t>
            </a:r>
            <a:r>
              <a:rPr dirty="0"/>
              <a:t>making</a:t>
            </a:r>
            <a:r>
              <a:rPr lang="zh-CN" altLang="en-US" dirty="0"/>
              <a:t> </a:t>
            </a:r>
            <a:r>
              <a:rPr dirty="0"/>
              <a:t>the</a:t>
            </a:r>
            <a:r>
              <a:rPr lang="zh-CN" altLang="en-US" dirty="0"/>
              <a:t> </a:t>
            </a:r>
            <a:r>
              <a:rPr dirty="0"/>
              <a:t>most</a:t>
            </a:r>
            <a:r>
              <a:rPr lang="zh-CN" altLang="en-US" dirty="0"/>
              <a:t> </a:t>
            </a:r>
            <a:r>
              <a:rPr dirty="0"/>
              <a:t>of</a:t>
            </a:r>
            <a:r>
              <a:rPr lang="zh-CN" altLang="en-US" dirty="0"/>
              <a:t> </a:t>
            </a:r>
            <a:r>
              <a:rPr dirty="0" err="1"/>
              <a:t>both一书</a:t>
            </a:r>
            <a:r>
              <a:rPr dirty="0"/>
              <a:t>）</a:t>
            </a:r>
          </a:p>
        </p:txBody>
      </p:sp>
      <p:pic>
        <p:nvPicPr>
          <p:cNvPr id="184" name="图像" descr="图像"/>
          <p:cNvPicPr>
            <a:picLocks noChangeAspect="1"/>
          </p:cNvPicPr>
          <p:nvPr/>
        </p:nvPicPr>
        <p:blipFill>
          <a:blip r:embed="rId2"/>
          <a:stretch>
            <a:fillRect/>
          </a:stretch>
        </p:blipFill>
        <p:spPr>
          <a:xfrm>
            <a:off x="3419917" y="2562317"/>
            <a:ext cx="5249635" cy="4291005"/>
          </a:xfrm>
          <a:prstGeom prst="rect">
            <a:avLst/>
          </a:prstGeom>
          <a:ln w="12700">
            <a:miter lim="400000"/>
          </a:ln>
        </p:spPr>
      </p:pic>
    </p:spTree>
    <p:extLst>
      <p:ext uri="{BB962C8B-B14F-4D97-AF65-F5344CB8AC3E}">
        <p14:creationId xmlns:p14="http://schemas.microsoft.com/office/powerpoint/2010/main" val="28109424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图像" descr="图像"/>
          <p:cNvPicPr>
            <a:picLocks noChangeAspect="1"/>
          </p:cNvPicPr>
          <p:nvPr/>
        </p:nvPicPr>
        <p:blipFill>
          <a:blip r:embed="rId2"/>
          <a:stretch>
            <a:fillRect/>
          </a:stretch>
        </p:blipFill>
        <p:spPr>
          <a:xfrm>
            <a:off x="3257788" y="1"/>
            <a:ext cx="5676427" cy="6858001"/>
          </a:xfrm>
          <a:prstGeom prst="rect">
            <a:avLst/>
          </a:prstGeom>
          <a:ln w="12700">
            <a:miter lim="400000"/>
          </a:ln>
        </p:spPr>
      </p:pic>
    </p:spTree>
    <p:extLst>
      <p:ext uri="{BB962C8B-B14F-4D97-AF65-F5344CB8AC3E}">
        <p14:creationId xmlns:p14="http://schemas.microsoft.com/office/powerpoint/2010/main" val="314217145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EF41806-D1E6-18DD-F56B-EB673302297F}"/>
              </a:ext>
            </a:extLst>
          </p:cNvPr>
          <p:cNvPicPr>
            <a:picLocks noChangeAspect="1"/>
          </p:cNvPicPr>
          <p:nvPr/>
        </p:nvPicPr>
        <p:blipFill>
          <a:blip r:embed="rId2"/>
          <a:stretch>
            <a:fillRect/>
          </a:stretch>
        </p:blipFill>
        <p:spPr>
          <a:xfrm>
            <a:off x="3337634" y="0"/>
            <a:ext cx="5715000" cy="6858000"/>
          </a:xfrm>
          <a:prstGeom prst="rect">
            <a:avLst/>
          </a:prstGeom>
        </p:spPr>
      </p:pic>
    </p:spTree>
    <p:extLst>
      <p:ext uri="{BB962C8B-B14F-4D97-AF65-F5344CB8AC3E}">
        <p14:creationId xmlns:p14="http://schemas.microsoft.com/office/powerpoint/2010/main" val="247687589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像" descr="图像"/>
          <p:cNvPicPr>
            <a:picLocks noChangeAspect="1"/>
          </p:cNvPicPr>
          <p:nvPr/>
        </p:nvPicPr>
        <p:blipFill>
          <a:blip r:embed="rId2"/>
          <a:stretch>
            <a:fillRect/>
          </a:stretch>
        </p:blipFill>
        <p:spPr>
          <a:xfrm>
            <a:off x="3393128" y="948669"/>
            <a:ext cx="5405747" cy="4361719"/>
          </a:xfrm>
          <a:prstGeom prst="rect">
            <a:avLst/>
          </a:prstGeom>
          <a:ln w="12700">
            <a:miter lim="400000"/>
          </a:ln>
        </p:spPr>
      </p:pic>
    </p:spTree>
    <p:extLst>
      <p:ext uri="{BB962C8B-B14F-4D97-AF65-F5344CB8AC3E}">
        <p14:creationId xmlns:p14="http://schemas.microsoft.com/office/powerpoint/2010/main" val="171061645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图像" descr="图像"/>
          <p:cNvPicPr>
            <a:picLocks noChangeAspect="1"/>
          </p:cNvPicPr>
          <p:nvPr/>
        </p:nvPicPr>
        <p:blipFill>
          <a:blip r:embed="rId2"/>
          <a:stretch>
            <a:fillRect/>
          </a:stretch>
        </p:blipFill>
        <p:spPr>
          <a:xfrm>
            <a:off x="3183473" y="724267"/>
            <a:ext cx="5825057" cy="5073436"/>
          </a:xfrm>
          <a:prstGeom prst="rect">
            <a:avLst/>
          </a:prstGeom>
          <a:ln w="12700">
            <a:miter lim="400000"/>
          </a:ln>
        </p:spPr>
      </p:pic>
    </p:spTree>
    <p:extLst>
      <p:ext uri="{BB962C8B-B14F-4D97-AF65-F5344CB8AC3E}">
        <p14:creationId xmlns:p14="http://schemas.microsoft.com/office/powerpoint/2010/main" val="59877512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寻找WIP例子"/>
          <p:cNvSpPr txBox="1">
            <a:spLocks noGrp="1"/>
          </p:cNvSpPr>
          <p:nvPr>
            <p:ph type="title"/>
          </p:nvPr>
        </p:nvSpPr>
        <p:spPr>
          <a:prstGeom prst="rect">
            <a:avLst/>
          </a:prstGeom>
        </p:spPr>
        <p:txBody>
          <a:bodyPr/>
          <a:lstStyle/>
          <a:p>
            <a:r>
              <a:t>寻找WIP例子</a:t>
            </a:r>
          </a:p>
        </p:txBody>
      </p:sp>
      <p:pic>
        <p:nvPicPr>
          <p:cNvPr id="226" name="图像" descr="图像"/>
          <p:cNvPicPr>
            <a:picLocks noChangeAspect="1"/>
          </p:cNvPicPr>
          <p:nvPr/>
        </p:nvPicPr>
        <p:blipFill>
          <a:blip r:embed="rId2"/>
          <a:stretch>
            <a:fillRect/>
          </a:stretch>
        </p:blipFill>
        <p:spPr>
          <a:xfrm>
            <a:off x="2116858" y="1454426"/>
            <a:ext cx="4204671" cy="2405334"/>
          </a:xfrm>
          <a:prstGeom prst="rect">
            <a:avLst/>
          </a:prstGeom>
          <a:ln w="12700">
            <a:miter lim="400000"/>
          </a:ln>
        </p:spPr>
      </p:pic>
      <p:pic>
        <p:nvPicPr>
          <p:cNvPr id="227" name="图像" descr="图像"/>
          <p:cNvPicPr>
            <a:picLocks noChangeAspect="1"/>
          </p:cNvPicPr>
          <p:nvPr/>
        </p:nvPicPr>
        <p:blipFill>
          <a:blip r:embed="rId3"/>
          <a:stretch>
            <a:fillRect/>
          </a:stretch>
        </p:blipFill>
        <p:spPr>
          <a:xfrm>
            <a:off x="4187560" y="3811437"/>
            <a:ext cx="6179344" cy="2884290"/>
          </a:xfrm>
          <a:prstGeom prst="rect">
            <a:avLst/>
          </a:prstGeom>
          <a:ln w="12700">
            <a:miter lim="400000"/>
          </a:ln>
        </p:spPr>
      </p:pic>
      <p:sp>
        <p:nvSpPr>
          <p:cNvPr id="228" name="资源利用率低"/>
          <p:cNvSpPr txBox="1"/>
          <p:nvPr/>
        </p:nvSpPr>
        <p:spPr>
          <a:xfrm>
            <a:off x="6340990" y="2757653"/>
            <a:ext cx="1043555" cy="2669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p>
            <a:r>
              <a:rPr sz="1266"/>
              <a:t>资源利用率低</a:t>
            </a:r>
          </a:p>
        </p:txBody>
      </p:sp>
    </p:spTree>
    <p:extLst>
      <p:ext uri="{BB962C8B-B14F-4D97-AF65-F5344CB8AC3E}">
        <p14:creationId xmlns:p14="http://schemas.microsoft.com/office/powerpoint/2010/main" val="327520881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 name="图像" descr="图像"/>
          <p:cNvPicPr>
            <a:picLocks noChangeAspect="1"/>
          </p:cNvPicPr>
          <p:nvPr/>
        </p:nvPicPr>
        <p:blipFill>
          <a:blip r:embed="rId2"/>
          <a:stretch>
            <a:fillRect/>
          </a:stretch>
        </p:blipFill>
        <p:spPr>
          <a:xfrm>
            <a:off x="2747998" y="160950"/>
            <a:ext cx="6696004" cy="6536100"/>
          </a:xfrm>
          <a:prstGeom prst="rect">
            <a:avLst/>
          </a:prstGeom>
          <a:ln w="12700">
            <a:miter lim="400000"/>
          </a:ln>
        </p:spPr>
      </p:pic>
      <p:sp>
        <p:nvSpPr>
          <p:cNvPr id="231" name="星形"/>
          <p:cNvSpPr/>
          <p:nvPr/>
        </p:nvSpPr>
        <p:spPr>
          <a:xfrm>
            <a:off x="7175231" y="6022431"/>
            <a:ext cx="585826" cy="560769"/>
          </a:xfrm>
          <a:prstGeom prst="star5">
            <a:avLst>
              <a:gd name="adj" fmla="val 19100"/>
              <a:gd name="hf" fmla="val 105146"/>
              <a:gd name="vf" fmla="val 110557"/>
            </a:avLst>
          </a:prstGeom>
          <a:solidFill>
            <a:schemeClr val="accent5">
              <a:hueOff val="-82419"/>
              <a:satOff val="-9513"/>
              <a:lumOff val="-16343"/>
            </a:schemeClr>
          </a:solidFill>
          <a:ln w="12700">
            <a:miter lim="400000"/>
          </a:ln>
        </p:spPr>
        <p:txBody>
          <a:bodyPr lIns="35719" tIns="35719" rIns="35719" bIns="35719"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164451654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WIP 上限提醒我们要采取行动，改善瓶颈;而不是把没完成的工作堆啊堆啊堆啊堆个没完。"/>
          <p:cNvSpPr txBox="1">
            <a:spLocks noGrp="1"/>
          </p:cNvSpPr>
          <p:nvPr>
            <p:ph type="title"/>
          </p:nvPr>
        </p:nvSpPr>
        <p:spPr>
          <a:xfrm>
            <a:off x="2193728" y="1096157"/>
            <a:ext cx="7804547" cy="1518048"/>
          </a:xfrm>
          <a:prstGeom prst="rect">
            <a:avLst/>
          </a:prstGeom>
        </p:spPr>
        <p:txBody>
          <a:bodyPr>
            <a:normAutofit fontScale="90000"/>
          </a:bodyPr>
          <a:lstStyle>
            <a:lvl1pPr defTabSz="315468">
              <a:defRPr sz="4320"/>
            </a:lvl1pPr>
          </a:lstStyle>
          <a:p>
            <a:r>
              <a:rPr dirty="0" err="1"/>
              <a:t>WIP上限提醒我们要采取行动，改善瓶颈</a:t>
            </a:r>
            <a:r>
              <a:rPr err="1"/>
              <a:t>;</a:t>
            </a:r>
            <a:r>
              <a:t>而不是把没完成的工作堆个没完</a:t>
            </a:r>
            <a:r>
              <a:rPr dirty="0"/>
              <a:t>。</a:t>
            </a:r>
          </a:p>
        </p:txBody>
      </p:sp>
      <p:sp>
        <p:nvSpPr>
          <p:cNvPr id="234" name="但要是 WIP 当初设成 4 的话，我们早就能有所反应了，这样平均生产周期还能表现得好点。所以这是要平衡的。我们度量平均生产周期，不断优化 WIP上 限，以此优化总生产周期。"/>
          <p:cNvSpPr txBox="1"/>
          <p:nvPr/>
        </p:nvSpPr>
        <p:spPr>
          <a:xfrm>
            <a:off x="2193728" y="3449527"/>
            <a:ext cx="7804547" cy="26167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normAutofit/>
          </a:bodyPr>
          <a:lstStyle/>
          <a:p>
            <a:pPr defTabSz="213590">
              <a:defRPr sz="4160" b="0">
                <a:latin typeface="+mn-lt"/>
                <a:ea typeface="+mn-ea"/>
                <a:cs typeface="+mn-cs"/>
                <a:sym typeface="Helvetica Neue Medium"/>
              </a:defRPr>
            </a:pPr>
            <a:r>
              <a:rPr sz="2925" dirty="0"/>
              <a:t>但要是WIP当初设成4的话，我们</a:t>
            </a:r>
            <a:r>
              <a:rPr sz="2925" dirty="0">
                <a:solidFill>
                  <a:schemeClr val="accent5">
                    <a:hueOff val="-82419"/>
                    <a:satOff val="-9513"/>
                    <a:lumOff val="-16343"/>
                  </a:schemeClr>
                </a:solidFill>
              </a:rPr>
              <a:t>早就能有所反应</a:t>
            </a:r>
            <a:r>
              <a:rPr sz="2925" dirty="0"/>
              <a:t>了，这样平均生产周期还能表现得好点。所以这是要平衡的。我们度量平均生产周期，不断优化WIP上限，以此优化总生产周期。</a:t>
            </a:r>
          </a:p>
          <a:p>
            <a:pPr defTabSz="213590">
              <a:defRPr sz="4160" b="0">
                <a:latin typeface="+mn-lt"/>
                <a:ea typeface="+mn-ea"/>
                <a:cs typeface="+mn-cs"/>
                <a:sym typeface="Helvetica Neue Medium"/>
              </a:defRPr>
            </a:pPr>
            <a:endParaRPr sz="2925" dirty="0"/>
          </a:p>
        </p:txBody>
      </p:sp>
    </p:spTree>
    <p:extLst>
      <p:ext uri="{BB962C8B-B14F-4D97-AF65-F5344CB8AC3E}">
        <p14:creationId xmlns:p14="http://schemas.microsoft.com/office/powerpoint/2010/main" val="279530068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3759-3173-EC0D-649B-89172CB560E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8FA5B0F-58B9-7A20-32A8-0623EC9CB3FF}"/>
              </a:ext>
            </a:extLst>
          </p:cNvPr>
          <p:cNvSpPr>
            <a:spLocks noGrp="1"/>
          </p:cNvSpPr>
          <p:nvPr>
            <p:ph type="sldNum" sz="quarter" idx="12"/>
          </p:nvPr>
        </p:nvSpPr>
        <p:spPr/>
        <p:txBody>
          <a:bodyPr/>
          <a:lstStyle/>
          <a:p>
            <a:fld id="{51D91E7F-84B6-4064-9D4E-CC7D244BCA04}" type="slidenum">
              <a:rPr lang="zh-CN" altLang="en-US" smtClean="0"/>
              <a:t>23</a:t>
            </a:fld>
            <a:endParaRPr lang="zh-CN" altLang="en-US"/>
          </a:p>
        </p:txBody>
      </p:sp>
      <p:sp>
        <p:nvSpPr>
          <p:cNvPr id="3" name="文本占位符 2">
            <a:extLst>
              <a:ext uri="{FF2B5EF4-FFF2-40B4-BE49-F238E27FC236}">
                <a16:creationId xmlns:a16="http://schemas.microsoft.com/office/drawing/2014/main" id="{66EACE99-6C2D-F44E-E6A8-5CD9BBF83EFC}"/>
              </a:ext>
            </a:extLst>
          </p:cNvPr>
          <p:cNvSpPr>
            <a:spLocks noGrp="1"/>
          </p:cNvSpPr>
          <p:nvPr>
            <p:ph type="body" sz="quarter" idx="13"/>
          </p:nvPr>
        </p:nvSpPr>
        <p:spPr/>
        <p:txBody>
          <a:bodyPr/>
          <a:lstStyle/>
          <a:p>
            <a:r>
              <a:rPr kumimoji="1" lang="zh-CN" altLang="en-US" dirty="0"/>
              <a:t>关键概念 </a:t>
            </a:r>
            <a:r>
              <a:rPr kumimoji="1" lang="en-US" altLang="zh-CN" dirty="0"/>
              <a:t>- </a:t>
            </a:r>
            <a:r>
              <a:rPr kumimoji="1" lang="zh-CN" altLang="en-US" dirty="0"/>
              <a:t>流程阶段与</a:t>
            </a:r>
            <a:r>
              <a:rPr kumimoji="1" lang="en-US" altLang="zh-CN" dirty="0"/>
              <a:t>WIP</a:t>
            </a:r>
            <a:r>
              <a:rPr kumimoji="1" lang="zh-CN" altLang="en-US" dirty="0"/>
              <a:t>限制</a:t>
            </a:r>
          </a:p>
        </p:txBody>
      </p:sp>
      <p:sp>
        <p:nvSpPr>
          <p:cNvPr id="4" name="内容占位符 3">
            <a:extLst>
              <a:ext uri="{FF2B5EF4-FFF2-40B4-BE49-F238E27FC236}">
                <a16:creationId xmlns:a16="http://schemas.microsoft.com/office/drawing/2014/main" id="{3080D44C-92C9-52FF-5136-7C7C674723DD}"/>
              </a:ext>
            </a:extLst>
          </p:cNvPr>
          <p:cNvSpPr>
            <a:spLocks noGrp="1"/>
          </p:cNvSpPr>
          <p:nvPr>
            <p:ph idx="1"/>
          </p:nvPr>
        </p:nvSpPr>
        <p:spPr/>
        <p:txBody>
          <a:bodyPr>
            <a:normAutofit fontScale="85000" lnSpcReduction="20000"/>
          </a:bodyPr>
          <a:lstStyle/>
          <a:p>
            <a:r>
              <a:rPr kumimoji="1" lang="zh-CN" altLang="en-US" dirty="0"/>
              <a:t>工作流程阶段与泳道</a:t>
            </a:r>
            <a:r>
              <a:rPr kumimoji="1" lang="en-US" altLang="zh-CN" dirty="0"/>
              <a:t>: Kanban</a:t>
            </a:r>
            <a:r>
              <a:rPr kumimoji="1" lang="zh-CN" altLang="en-US" dirty="0"/>
              <a:t>板根据具体流程定制列（如“待开发”、“开发中”、“代码审查”、“测试中”、“已部署”）。列间可设“等待</a:t>
            </a:r>
            <a:r>
              <a:rPr kumimoji="1" lang="en-US" altLang="zh-CN" dirty="0"/>
              <a:t>/</a:t>
            </a:r>
            <a:r>
              <a:rPr kumimoji="1" lang="zh-CN" altLang="en-US" dirty="0"/>
              <a:t>就绪”子列。可设泳道（</a:t>
            </a:r>
            <a:r>
              <a:rPr kumimoji="1" lang="en-US" altLang="zh-CN" dirty="0" err="1"/>
              <a:t>swimlane</a:t>
            </a:r>
            <a:r>
              <a:rPr kumimoji="1" lang="zh-CN" altLang="en-US" dirty="0"/>
              <a:t>）横向分区，并行展示不同类型工作或服务级别（如“紧急</a:t>
            </a:r>
            <a:r>
              <a:rPr kumimoji="1" lang="en-US" altLang="zh-CN" dirty="0"/>
              <a:t>Hotfix”</a:t>
            </a:r>
            <a:r>
              <a:rPr kumimoji="1" lang="zh-CN" altLang="en-US" dirty="0"/>
              <a:t>泳道）。有助于管理不同优先级或类别工作，提高可视化清晰度。</a:t>
            </a:r>
          </a:p>
          <a:p>
            <a:r>
              <a:rPr kumimoji="1" lang="zh-CN" altLang="en-US" dirty="0"/>
              <a:t>在制品限制 </a:t>
            </a:r>
            <a:r>
              <a:rPr kumimoji="1" lang="en-US" altLang="zh-CN" dirty="0"/>
              <a:t>(WIP Limit): </a:t>
            </a:r>
            <a:r>
              <a:rPr kumimoji="1" lang="zh-CN" altLang="en-US" dirty="0"/>
              <a:t>给每个工作阶段设</a:t>
            </a:r>
            <a:r>
              <a:rPr kumimoji="1" lang="en-US" altLang="zh-CN" dirty="0"/>
              <a:t>WIP</a:t>
            </a:r>
            <a:r>
              <a:rPr kumimoji="1" lang="zh-CN" altLang="en-US" dirty="0"/>
              <a:t>限制是</a:t>
            </a:r>
            <a:r>
              <a:rPr kumimoji="1" lang="en-US" altLang="zh-CN" dirty="0"/>
              <a:t>Kanban</a:t>
            </a:r>
            <a:r>
              <a:rPr kumimoji="1" lang="zh-CN" altLang="en-US" dirty="0"/>
              <a:t>重要元素。通常在列顶标注数字表示上限。强制团队避免多任务过载，减少排队等待。当某列达上限，需暂停拉入新任务，优先完成现有任务。</a:t>
            </a:r>
            <a:r>
              <a:rPr kumimoji="1" lang="en-US" altLang="zh-CN" dirty="0"/>
              <a:t>WIP</a:t>
            </a:r>
            <a:r>
              <a:rPr kumimoji="1" lang="zh-CN" altLang="en-US" dirty="0"/>
              <a:t>限制需根据团队能力和工作类型调整，通过观察流动数据优化。合适的</a:t>
            </a:r>
            <a:r>
              <a:rPr kumimoji="1" lang="en-US" altLang="zh-CN" dirty="0"/>
              <a:t>WIP</a:t>
            </a:r>
            <a:r>
              <a:rPr kumimoji="1" lang="zh-CN" altLang="en-US" dirty="0"/>
              <a:t>限制能显著缩短交付时间，提高吞吐率。</a:t>
            </a:r>
          </a:p>
        </p:txBody>
      </p:sp>
    </p:spTree>
    <p:extLst>
      <p:ext uri="{BB962C8B-B14F-4D97-AF65-F5344CB8AC3E}">
        <p14:creationId xmlns:p14="http://schemas.microsoft.com/office/powerpoint/2010/main" val="22600358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197C9-B748-5E48-3CAC-ABB2C62EBD2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C529B5-4672-D439-146B-B716661DADCD}"/>
              </a:ext>
            </a:extLst>
          </p:cNvPr>
          <p:cNvSpPr>
            <a:spLocks noGrp="1"/>
          </p:cNvSpPr>
          <p:nvPr>
            <p:ph type="sldNum" sz="quarter" idx="12"/>
          </p:nvPr>
        </p:nvSpPr>
        <p:spPr/>
        <p:txBody>
          <a:bodyPr/>
          <a:lstStyle/>
          <a:p>
            <a:fld id="{51D91E7F-84B6-4064-9D4E-CC7D244BCA04}" type="slidenum">
              <a:rPr lang="zh-CN" altLang="en-US" smtClean="0"/>
              <a:t>24</a:t>
            </a:fld>
            <a:endParaRPr lang="zh-CN" altLang="en-US"/>
          </a:p>
        </p:txBody>
      </p:sp>
      <p:sp>
        <p:nvSpPr>
          <p:cNvPr id="3" name="文本占位符 2">
            <a:extLst>
              <a:ext uri="{FF2B5EF4-FFF2-40B4-BE49-F238E27FC236}">
                <a16:creationId xmlns:a16="http://schemas.microsoft.com/office/drawing/2014/main" id="{4394193E-152C-4A06-4775-767C9241E5F0}"/>
              </a:ext>
            </a:extLst>
          </p:cNvPr>
          <p:cNvSpPr>
            <a:spLocks noGrp="1"/>
          </p:cNvSpPr>
          <p:nvPr>
            <p:ph type="body" sz="quarter" idx="13"/>
          </p:nvPr>
        </p:nvSpPr>
        <p:spPr/>
        <p:txBody>
          <a:bodyPr/>
          <a:lstStyle/>
          <a:p>
            <a:r>
              <a:rPr kumimoji="1" lang="zh-CN" altLang="en-US" dirty="0"/>
              <a:t>关键概念 </a:t>
            </a:r>
            <a:r>
              <a:rPr kumimoji="1" lang="en-US" altLang="zh-CN" dirty="0"/>
              <a:t>- </a:t>
            </a:r>
            <a:r>
              <a:rPr kumimoji="1" lang="zh-CN" altLang="en-US" dirty="0"/>
              <a:t>拉动系统</a:t>
            </a:r>
          </a:p>
        </p:txBody>
      </p:sp>
      <p:sp>
        <p:nvSpPr>
          <p:cNvPr id="4" name="内容占位符 3">
            <a:extLst>
              <a:ext uri="{FF2B5EF4-FFF2-40B4-BE49-F238E27FC236}">
                <a16:creationId xmlns:a16="http://schemas.microsoft.com/office/drawing/2014/main" id="{B127FB75-5965-3A53-3E34-0969801C1997}"/>
              </a:ext>
            </a:extLst>
          </p:cNvPr>
          <p:cNvSpPr>
            <a:spLocks noGrp="1"/>
          </p:cNvSpPr>
          <p:nvPr>
            <p:ph idx="1"/>
          </p:nvPr>
        </p:nvSpPr>
        <p:spPr/>
        <p:txBody>
          <a:bodyPr>
            <a:normAutofit/>
          </a:bodyPr>
          <a:lstStyle/>
          <a:p>
            <a:r>
              <a:rPr kumimoji="1" lang="zh-CN" altLang="en-US" dirty="0"/>
              <a:t>拉动系统 </a:t>
            </a:r>
            <a:r>
              <a:rPr kumimoji="1" lang="en-US" altLang="zh-CN" dirty="0"/>
              <a:t>(Pull System): Kanban</a:t>
            </a:r>
            <a:r>
              <a:rPr kumimoji="1" lang="zh-CN" altLang="en-US" dirty="0"/>
              <a:t>采用拉动理念，下游主动拉取上游工作，而非上游推送。看板上体现为：完成任务后，下一阶段负责人才在空闲时拉取新卡片。当下游忙碌（达</a:t>
            </a:r>
            <a:r>
              <a:rPr kumimoji="1" lang="en-US" altLang="zh-CN" dirty="0"/>
              <a:t>WIP</a:t>
            </a:r>
            <a:r>
              <a:rPr kumimoji="1" lang="zh-CN" altLang="en-US" dirty="0"/>
              <a:t>上限），上游完成的任务在就绪区等待。保证系统不“过度生产”，按节奏工作，减少堆积浪费，要求团队协作。</a:t>
            </a:r>
          </a:p>
        </p:txBody>
      </p:sp>
    </p:spTree>
    <p:extLst>
      <p:ext uri="{BB962C8B-B14F-4D97-AF65-F5344CB8AC3E}">
        <p14:creationId xmlns:p14="http://schemas.microsoft.com/office/powerpoint/2010/main" val="26932585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05C60-7ABD-FD8B-D1B1-D09658D38FA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46345EF-1BB6-39C8-4181-1BF3ABF73040}"/>
              </a:ext>
            </a:extLst>
          </p:cNvPr>
          <p:cNvSpPr>
            <a:spLocks noGrp="1"/>
          </p:cNvSpPr>
          <p:nvPr>
            <p:ph type="sldNum" sz="quarter" idx="12"/>
          </p:nvPr>
        </p:nvSpPr>
        <p:spPr/>
        <p:txBody>
          <a:bodyPr/>
          <a:lstStyle/>
          <a:p>
            <a:fld id="{51D91E7F-84B6-4064-9D4E-CC7D244BCA04}" type="slidenum">
              <a:rPr lang="zh-CN" altLang="en-US" smtClean="0"/>
              <a:t>25</a:t>
            </a:fld>
            <a:endParaRPr lang="zh-CN" altLang="en-US"/>
          </a:p>
        </p:txBody>
      </p:sp>
      <p:sp>
        <p:nvSpPr>
          <p:cNvPr id="3" name="文本占位符 2">
            <a:extLst>
              <a:ext uri="{FF2B5EF4-FFF2-40B4-BE49-F238E27FC236}">
                <a16:creationId xmlns:a16="http://schemas.microsoft.com/office/drawing/2014/main" id="{DD5AF7D7-4CA6-F248-AEA4-AEFABA63E758}"/>
              </a:ext>
            </a:extLst>
          </p:cNvPr>
          <p:cNvSpPr>
            <a:spLocks noGrp="1"/>
          </p:cNvSpPr>
          <p:nvPr>
            <p:ph type="body" sz="quarter" idx="13"/>
          </p:nvPr>
        </p:nvSpPr>
        <p:spPr/>
        <p:txBody>
          <a:bodyPr/>
          <a:lstStyle/>
          <a:p>
            <a:r>
              <a:rPr kumimoji="1" lang="en-US" altLang="zh-CN" dirty="0"/>
              <a:t>Kanban </a:t>
            </a:r>
            <a:r>
              <a:rPr kumimoji="1" lang="zh-CN" altLang="en-US" dirty="0"/>
              <a:t>度量 </a:t>
            </a:r>
            <a:r>
              <a:rPr kumimoji="1" lang="en-US" altLang="zh-CN" dirty="0"/>
              <a:t>(Kanban</a:t>
            </a:r>
            <a:r>
              <a:rPr kumimoji="1" lang="zh-CN" altLang="en-US" dirty="0"/>
              <a:t> </a:t>
            </a:r>
            <a:r>
              <a:rPr kumimoji="1" lang="en-US" altLang="zh-CN" dirty="0"/>
              <a:t>Guides)</a:t>
            </a:r>
            <a:endParaRPr kumimoji="1" lang="zh-CN" altLang="en-US" dirty="0"/>
          </a:p>
        </p:txBody>
      </p:sp>
      <p:sp>
        <p:nvSpPr>
          <p:cNvPr id="4" name="内容占位符 3">
            <a:extLst>
              <a:ext uri="{FF2B5EF4-FFF2-40B4-BE49-F238E27FC236}">
                <a16:creationId xmlns:a16="http://schemas.microsoft.com/office/drawing/2014/main" id="{2C6F992B-7BF4-F572-CF40-C89CD30F879A}"/>
              </a:ext>
            </a:extLst>
          </p:cNvPr>
          <p:cNvSpPr>
            <a:spLocks noGrp="1"/>
          </p:cNvSpPr>
          <p:nvPr>
            <p:ph idx="1"/>
          </p:nvPr>
        </p:nvSpPr>
        <p:spPr>
          <a:xfrm>
            <a:off x="838200" y="1289956"/>
            <a:ext cx="10515600" cy="5270108"/>
          </a:xfrm>
        </p:spPr>
        <p:txBody>
          <a:bodyPr>
            <a:normAutofit fontScale="77500" lnSpcReduction="20000"/>
          </a:bodyPr>
          <a:lstStyle/>
          <a:p>
            <a:r>
              <a:rPr kumimoji="1" lang="en-US" altLang="zh-CN" dirty="0">
                <a:solidFill>
                  <a:srgbClr val="FF0000"/>
                </a:solidFill>
              </a:rPr>
              <a:t>WIP</a:t>
            </a:r>
            <a:r>
              <a:rPr kumimoji="1" lang="zh-CN" altLang="en-US" dirty="0"/>
              <a:t>：已开始但未完成的⼯作项的数量。</a:t>
            </a:r>
          </a:p>
          <a:p>
            <a:r>
              <a:rPr kumimoji="1" lang="zh-CN" altLang="en-US" dirty="0">
                <a:solidFill>
                  <a:srgbClr val="FF0000"/>
                </a:solidFill>
              </a:rPr>
              <a:t>产能 </a:t>
            </a:r>
            <a:r>
              <a:rPr kumimoji="1" lang="en-US" altLang="zh-CN" dirty="0"/>
              <a:t>(Throughput)</a:t>
            </a:r>
            <a:r>
              <a:rPr kumimoji="1" lang="zh-CN" altLang="en-US" dirty="0"/>
              <a:t>：每单位时间</a:t>
            </a:r>
            <a:r>
              <a:rPr lang="zh-CN" altLang="en-US" dirty="0"/>
              <a:t>（如每天、每周或每月）</a:t>
            </a:r>
            <a:r>
              <a:rPr kumimoji="1" lang="zh-CN" altLang="en-US" dirty="0"/>
              <a:t>内完成的⼯作项的数量。 请注意，产能的度量是对⼯作项的精确计数。</a:t>
            </a:r>
          </a:p>
          <a:p>
            <a:r>
              <a:rPr kumimoji="1" lang="zh-CN" altLang="en-US" dirty="0">
                <a:solidFill>
                  <a:srgbClr val="FF0000"/>
                </a:solidFill>
              </a:rPr>
              <a:t>⼯作项存续时⻓ </a:t>
            </a:r>
            <a:r>
              <a:rPr kumimoji="1" lang="en-US" altLang="zh-CN" dirty="0"/>
              <a:t>(Work Item Age)</a:t>
            </a:r>
            <a:r>
              <a:rPr kumimoji="1" lang="zh-CN" altLang="en-US" dirty="0"/>
              <a:t>：⼀⼯作项从开始到当前时刻之间所经过的时间⻓度。</a:t>
            </a:r>
            <a:endParaRPr kumimoji="1" lang="en-US" altLang="zh-CN" dirty="0"/>
          </a:p>
          <a:p>
            <a:pPr lvl="1"/>
            <a:r>
              <a:rPr kumimoji="1" lang="zh-CN" altLang="en-US" dirty="0"/>
              <a:t>	通过设置合理的预警线（</a:t>
            </a:r>
            <a:r>
              <a:rPr kumimoji="1" lang="en-US" altLang="zh-CN" dirty="0"/>
              <a:t>Aging Thresholds</a:t>
            </a:r>
            <a:r>
              <a:rPr kumimoji="1" lang="zh-CN" altLang="en-US" dirty="0"/>
              <a:t>），团队可以主动识别哪些任务需要额外关注或加快处理，从而避免任务过于滞留而影响整体交付效率。</a:t>
            </a:r>
          </a:p>
          <a:p>
            <a:r>
              <a:rPr kumimoji="1" lang="zh-CN" altLang="en-US" dirty="0">
                <a:solidFill>
                  <a:srgbClr val="FF0000"/>
                </a:solidFill>
              </a:rPr>
              <a:t>周期时间 </a:t>
            </a:r>
            <a:r>
              <a:rPr kumimoji="1" lang="en-US" altLang="zh-CN" dirty="0"/>
              <a:t>(Cycle time)</a:t>
            </a:r>
            <a:r>
              <a:rPr kumimoji="1" lang="zh-CN" altLang="en-US" dirty="0"/>
              <a:t>：周期时间指的是一个工作项从正式开始处理到完成交付之间的总时长。区别于存续时长（未完成的任务），周期时间统计的是已经完成的任务。</a:t>
            </a:r>
            <a:endParaRPr kumimoji="1" lang="en-US" altLang="zh-CN" dirty="0"/>
          </a:p>
          <a:p>
            <a:pPr lvl="1"/>
            <a:r>
              <a:rPr kumimoji="1" lang="zh-CN" altLang="en-US" dirty="0"/>
              <a:t>周期时间 </a:t>
            </a:r>
            <a:r>
              <a:rPr kumimoji="1" lang="en-US" altLang="zh-CN" dirty="0"/>
              <a:t>vs. </a:t>
            </a:r>
            <a:r>
              <a:rPr kumimoji="1" lang="zh-CN" altLang="en-US" dirty="0"/>
              <a:t>交付时间（</a:t>
            </a:r>
            <a:r>
              <a:rPr kumimoji="1" lang="en-US" altLang="zh-CN" dirty="0"/>
              <a:t>Lead Time</a:t>
            </a:r>
            <a:r>
              <a:rPr kumimoji="1" lang="zh-CN" altLang="en-US" dirty="0"/>
              <a:t>）​​：周期时间通常指“处理时间”，而交付时间可能包括需求提出到启动前的等待时间。</a:t>
            </a:r>
          </a:p>
          <a:p>
            <a:endParaRPr kumimoji="1" lang="zh-CN" altLang="en-US" dirty="0"/>
          </a:p>
        </p:txBody>
      </p:sp>
    </p:spTree>
    <p:extLst>
      <p:ext uri="{BB962C8B-B14F-4D97-AF65-F5344CB8AC3E}">
        <p14:creationId xmlns:p14="http://schemas.microsoft.com/office/powerpoint/2010/main" val="117749336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017F8-B287-19DC-3C2E-CEE18D7405A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9B829FE-6CE6-0943-F09A-812229E4B372}"/>
              </a:ext>
            </a:extLst>
          </p:cNvPr>
          <p:cNvSpPr>
            <a:spLocks noGrp="1"/>
          </p:cNvSpPr>
          <p:nvPr>
            <p:ph type="sldNum" sz="quarter" idx="12"/>
          </p:nvPr>
        </p:nvSpPr>
        <p:spPr/>
        <p:txBody>
          <a:bodyPr/>
          <a:lstStyle/>
          <a:p>
            <a:fld id="{51D91E7F-84B6-4064-9D4E-CC7D244BCA04}" type="slidenum">
              <a:rPr lang="zh-CN" altLang="en-US" smtClean="0"/>
              <a:t>26</a:t>
            </a:fld>
            <a:endParaRPr lang="zh-CN" altLang="en-US"/>
          </a:p>
        </p:txBody>
      </p:sp>
      <p:sp>
        <p:nvSpPr>
          <p:cNvPr id="3" name="文本占位符 2">
            <a:extLst>
              <a:ext uri="{FF2B5EF4-FFF2-40B4-BE49-F238E27FC236}">
                <a16:creationId xmlns:a16="http://schemas.microsoft.com/office/drawing/2014/main" id="{3E004E76-7623-3981-E6E3-8D1213660F22}"/>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的差异 </a:t>
            </a:r>
            <a:r>
              <a:rPr kumimoji="1" lang="en-US" altLang="zh-CN" dirty="0"/>
              <a:t>(</a:t>
            </a:r>
            <a:r>
              <a:rPr kumimoji="1" lang="zh-CN" altLang="en-US" dirty="0"/>
              <a:t>框架与角色</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13ECBCCC-15EE-FBE4-CF07-9602A7C5BEF8}"/>
              </a:ext>
            </a:extLst>
          </p:cNvPr>
          <p:cNvSpPr>
            <a:spLocks noGrp="1"/>
          </p:cNvSpPr>
          <p:nvPr>
            <p:ph idx="1"/>
          </p:nvPr>
        </p:nvSpPr>
        <p:spPr/>
        <p:txBody>
          <a:bodyPr>
            <a:normAutofit fontScale="92500" lnSpcReduction="20000"/>
          </a:bodyPr>
          <a:lstStyle/>
          <a:p>
            <a:r>
              <a:rPr kumimoji="1" lang="zh-CN" altLang="en-US" dirty="0"/>
              <a:t>框架性质</a:t>
            </a:r>
            <a:r>
              <a:rPr kumimoji="1" lang="en-US" altLang="zh-CN" dirty="0"/>
              <a:t>: Scrum</a:t>
            </a:r>
            <a:r>
              <a:rPr kumimoji="1" lang="zh-CN" altLang="en-US" dirty="0"/>
              <a:t>是迭代式（</a:t>
            </a:r>
            <a:r>
              <a:rPr kumimoji="1" lang="en-US" altLang="zh-CN" dirty="0"/>
              <a:t>Iterative</a:t>
            </a:r>
            <a:r>
              <a:rPr kumimoji="1" lang="zh-CN" altLang="en-US" dirty="0"/>
              <a:t>）框架，通过固定长度</a:t>
            </a:r>
            <a:r>
              <a:rPr kumimoji="1" lang="en-US" altLang="zh-CN" dirty="0"/>
              <a:t>Sprint</a:t>
            </a:r>
            <a:r>
              <a:rPr kumimoji="1" lang="zh-CN" altLang="en-US" dirty="0"/>
              <a:t>规划交付增量。</a:t>
            </a:r>
            <a:r>
              <a:rPr kumimoji="1" lang="en-US" altLang="zh-CN" dirty="0"/>
              <a:t>Kanban</a:t>
            </a:r>
            <a:r>
              <a:rPr kumimoji="1" lang="zh-CN" altLang="en-US" dirty="0"/>
              <a:t>是流动式（</a:t>
            </a:r>
            <a:r>
              <a:rPr kumimoji="1" lang="en-US" altLang="zh-CN" dirty="0"/>
              <a:t>Flow-based</a:t>
            </a:r>
            <a:r>
              <a:rPr kumimoji="1" lang="zh-CN" altLang="en-US" dirty="0"/>
              <a:t>）框架，无预定迭代周期，工作项持续流动，完成一个拉一个，可连续交付。</a:t>
            </a:r>
            <a:r>
              <a:rPr kumimoji="1" lang="en-US" altLang="zh-CN" dirty="0"/>
              <a:t>Scrum</a:t>
            </a:r>
            <a:r>
              <a:rPr kumimoji="1" lang="zh-CN" altLang="en-US" dirty="0"/>
              <a:t>适合节奏明确项目，</a:t>
            </a:r>
            <a:r>
              <a:rPr kumimoji="1" lang="en-US" altLang="zh-CN" dirty="0"/>
              <a:t>Kanban</a:t>
            </a:r>
            <a:r>
              <a:rPr kumimoji="1" lang="zh-CN" altLang="en-US" dirty="0"/>
              <a:t>适合持续流动工作（如支持维护）。</a:t>
            </a:r>
          </a:p>
          <a:p>
            <a:r>
              <a:rPr kumimoji="1" lang="zh-CN" altLang="en-US" dirty="0"/>
              <a:t>角色与责任</a:t>
            </a:r>
            <a:r>
              <a:rPr kumimoji="1" lang="en-US" altLang="zh-CN" dirty="0"/>
              <a:t>: Scrum</a:t>
            </a:r>
            <a:r>
              <a:rPr kumimoji="1" lang="zh-CN" altLang="en-US" dirty="0"/>
              <a:t>规定</a:t>
            </a:r>
            <a:r>
              <a:rPr kumimoji="1" lang="en-US" altLang="zh-CN" dirty="0"/>
              <a:t>3</a:t>
            </a:r>
            <a:r>
              <a:rPr kumimoji="1" lang="zh-CN" altLang="en-US" dirty="0"/>
              <a:t>个明确角色：产品负责人</a:t>
            </a:r>
            <a:r>
              <a:rPr kumimoji="1" lang="en-US" altLang="zh-CN" dirty="0"/>
              <a:t>(PO)</a:t>
            </a:r>
            <a:r>
              <a:rPr kumimoji="1" lang="zh-CN" altLang="en-US" dirty="0"/>
              <a:t>、</a:t>
            </a:r>
            <a:r>
              <a:rPr kumimoji="1" lang="en-US" altLang="zh-CN" dirty="0"/>
              <a:t>Scrum Master</a:t>
            </a:r>
            <a:r>
              <a:rPr kumimoji="1" lang="zh-CN" altLang="en-US" dirty="0"/>
              <a:t>、开发团队。</a:t>
            </a:r>
            <a:r>
              <a:rPr kumimoji="1" lang="en-US" altLang="zh-CN" dirty="0"/>
              <a:t>PO</a:t>
            </a:r>
            <a:r>
              <a:rPr kumimoji="1" lang="zh-CN" altLang="en-US" dirty="0"/>
              <a:t>负责价值最大化，</a:t>
            </a:r>
            <a:r>
              <a:rPr kumimoji="1" lang="en-US" altLang="zh-CN" dirty="0"/>
              <a:t>SM</a:t>
            </a:r>
            <a:r>
              <a:rPr kumimoji="1" lang="zh-CN" altLang="en-US" dirty="0"/>
              <a:t>负责流程保障，团队自组织实现目标。</a:t>
            </a:r>
            <a:r>
              <a:rPr kumimoji="1" lang="en-US" altLang="zh-CN" dirty="0"/>
              <a:t>Kanban</a:t>
            </a:r>
            <a:r>
              <a:rPr kumimoji="1" lang="zh-CN" altLang="en-US" dirty="0"/>
              <a:t>不指定必须角色，通常保留现有组织架构，成员各司其职，通过看板协同。虽有引入</a:t>
            </a:r>
            <a:r>
              <a:rPr kumimoji="1" lang="en-US" altLang="zh-CN" dirty="0"/>
              <a:t>SDM/SRM</a:t>
            </a:r>
            <a:r>
              <a:rPr kumimoji="1" lang="zh-CN" altLang="en-US" dirty="0"/>
              <a:t>等可选角色，但非强制。</a:t>
            </a:r>
            <a:r>
              <a:rPr kumimoji="1" lang="en-US" altLang="zh-CN" dirty="0"/>
              <a:t>Scrum</a:t>
            </a:r>
            <a:r>
              <a:rPr kumimoji="1" lang="zh-CN" altLang="en-US" dirty="0"/>
              <a:t>提供明确分工，</a:t>
            </a:r>
            <a:r>
              <a:rPr kumimoji="1" lang="en-US" altLang="zh-CN" dirty="0"/>
              <a:t>Kanban</a:t>
            </a:r>
            <a:r>
              <a:rPr kumimoji="1" lang="zh-CN" altLang="en-US" dirty="0"/>
              <a:t>鼓励自行分配。</a:t>
            </a:r>
          </a:p>
        </p:txBody>
      </p:sp>
    </p:spTree>
    <p:extLst>
      <p:ext uri="{BB962C8B-B14F-4D97-AF65-F5344CB8AC3E}">
        <p14:creationId xmlns:p14="http://schemas.microsoft.com/office/powerpoint/2010/main" val="16046015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E7EEF-7B37-BE7F-8814-A0A7D4170FA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3F0D64-1D2A-77DF-B664-9332AFBA9047}"/>
              </a:ext>
            </a:extLst>
          </p:cNvPr>
          <p:cNvSpPr>
            <a:spLocks noGrp="1"/>
          </p:cNvSpPr>
          <p:nvPr>
            <p:ph type="sldNum" sz="quarter" idx="12"/>
          </p:nvPr>
        </p:nvSpPr>
        <p:spPr/>
        <p:txBody>
          <a:bodyPr/>
          <a:lstStyle/>
          <a:p>
            <a:fld id="{51D91E7F-84B6-4064-9D4E-CC7D244BCA04}" type="slidenum">
              <a:rPr lang="zh-CN" altLang="en-US" smtClean="0"/>
              <a:t>27</a:t>
            </a:fld>
            <a:endParaRPr lang="zh-CN" altLang="en-US"/>
          </a:p>
        </p:txBody>
      </p:sp>
      <p:sp>
        <p:nvSpPr>
          <p:cNvPr id="3" name="文本占位符 2">
            <a:extLst>
              <a:ext uri="{FF2B5EF4-FFF2-40B4-BE49-F238E27FC236}">
                <a16:creationId xmlns:a16="http://schemas.microsoft.com/office/drawing/2014/main" id="{E8F4DB80-3DC3-29A6-3F45-D28B63B58F38}"/>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的差异 </a:t>
            </a:r>
            <a:r>
              <a:rPr kumimoji="1" lang="en-US" altLang="zh-CN" dirty="0"/>
              <a:t>(</a:t>
            </a:r>
            <a:r>
              <a:rPr kumimoji="1" lang="zh-CN" altLang="en-US" dirty="0"/>
              <a:t>时间规划与流程</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4D9D2F01-B049-60A0-A551-DE1DDC853C29}"/>
              </a:ext>
            </a:extLst>
          </p:cNvPr>
          <p:cNvSpPr>
            <a:spLocks noGrp="1"/>
          </p:cNvSpPr>
          <p:nvPr>
            <p:ph idx="1"/>
          </p:nvPr>
        </p:nvSpPr>
        <p:spPr/>
        <p:txBody>
          <a:bodyPr>
            <a:normAutofit fontScale="92500" lnSpcReduction="20000"/>
          </a:bodyPr>
          <a:lstStyle/>
          <a:p>
            <a:r>
              <a:rPr kumimoji="1" lang="zh-CN" altLang="en-US" dirty="0"/>
              <a:t>时间规划</a:t>
            </a:r>
            <a:r>
              <a:rPr kumimoji="1" lang="en-US" altLang="zh-CN" dirty="0"/>
              <a:t>: Scrum</a:t>
            </a:r>
            <a:r>
              <a:rPr kumimoji="1" lang="zh-CN" altLang="en-US" dirty="0"/>
              <a:t>以</a:t>
            </a:r>
            <a:r>
              <a:rPr kumimoji="1" lang="en-US" altLang="zh-CN" dirty="0"/>
              <a:t>Sprint</a:t>
            </a:r>
            <a:r>
              <a:rPr kumimoji="1" lang="zh-CN" altLang="en-US" dirty="0"/>
              <a:t>为时间盒进行计划评估。有固定节奏的会议（计划、站会、评审、回顾）。</a:t>
            </a:r>
            <a:r>
              <a:rPr kumimoji="1" lang="en-US" altLang="zh-CN" dirty="0"/>
              <a:t>Sprint</a:t>
            </a:r>
            <a:r>
              <a:rPr kumimoji="1" lang="zh-CN" altLang="en-US" dirty="0"/>
              <a:t>中通常不接受新需求变更。</a:t>
            </a:r>
            <a:r>
              <a:rPr kumimoji="1" lang="en-US" altLang="zh-CN" dirty="0"/>
              <a:t>Kanban</a:t>
            </a:r>
            <a:r>
              <a:rPr kumimoji="1" lang="zh-CN" altLang="en-US" dirty="0"/>
              <a:t>无时间盒约束，计划交付连续。需求变更可随时反映在队列，团队按优先级拉取。</a:t>
            </a:r>
            <a:r>
              <a:rPr kumimoji="1" lang="en-US" altLang="zh-CN" dirty="0"/>
              <a:t>Kanban</a:t>
            </a:r>
            <a:r>
              <a:rPr kumimoji="1" lang="zh-CN" altLang="en-US" dirty="0"/>
              <a:t>对变更反应更灵活，但需自行设定</a:t>
            </a:r>
            <a:r>
              <a:rPr kumimoji="1" lang="zh-CN" altLang="en-US"/>
              <a:t>回顾节奏。</a:t>
            </a:r>
            <a:endParaRPr kumimoji="1" lang="zh-CN" altLang="en-US" dirty="0"/>
          </a:p>
          <a:p>
            <a:r>
              <a:rPr kumimoji="1" lang="zh-CN" altLang="en-US" dirty="0"/>
              <a:t>流程和工件</a:t>
            </a:r>
            <a:r>
              <a:rPr kumimoji="1" lang="en-US" altLang="zh-CN" dirty="0"/>
              <a:t>: Scrum</a:t>
            </a:r>
            <a:r>
              <a:rPr kumimoji="1" lang="zh-CN" altLang="en-US" dirty="0"/>
              <a:t>强调规定事件（会议）和工件（</a:t>
            </a:r>
            <a:r>
              <a:rPr kumimoji="1" lang="en-US" altLang="zh-CN" dirty="0"/>
              <a:t>Product Backlog, Sprint Backlog, Increment</a:t>
            </a:r>
            <a:r>
              <a:rPr kumimoji="1" lang="zh-CN" altLang="en-US" dirty="0"/>
              <a:t>）。</a:t>
            </a:r>
            <a:r>
              <a:rPr kumimoji="1" lang="en-US" altLang="zh-CN" dirty="0"/>
              <a:t>Kanban</a:t>
            </a:r>
            <a:r>
              <a:rPr kumimoji="1" lang="zh-CN" altLang="en-US" dirty="0"/>
              <a:t>无指定事件工件，唯一主要工件是看板及相关策略。</a:t>
            </a:r>
            <a:r>
              <a:rPr kumimoji="1" lang="en-US" altLang="zh-CN" dirty="0"/>
              <a:t>Kanban</a:t>
            </a:r>
            <a:r>
              <a:rPr kumimoji="1" lang="zh-CN" altLang="en-US" dirty="0"/>
              <a:t>鼓励反馈环但频率形式由团队决定。</a:t>
            </a:r>
            <a:r>
              <a:rPr kumimoji="1" lang="en-US" altLang="zh-CN" dirty="0"/>
              <a:t>Scrum</a:t>
            </a:r>
            <a:r>
              <a:rPr kumimoji="1" lang="zh-CN" altLang="en-US" dirty="0"/>
              <a:t>提供结构化流程模板，</a:t>
            </a:r>
            <a:r>
              <a:rPr kumimoji="1" lang="en-US" altLang="zh-CN" dirty="0"/>
              <a:t>Kanban</a:t>
            </a:r>
            <a:r>
              <a:rPr kumimoji="1" lang="zh-CN" altLang="en-US" dirty="0"/>
              <a:t>提供灵活工具箱。</a:t>
            </a:r>
          </a:p>
        </p:txBody>
      </p:sp>
    </p:spTree>
    <p:extLst>
      <p:ext uri="{BB962C8B-B14F-4D97-AF65-F5344CB8AC3E}">
        <p14:creationId xmlns:p14="http://schemas.microsoft.com/office/powerpoint/2010/main" val="177958962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F2D2E-4079-BBDC-B4A1-4AF96474588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8BAA858-246F-684E-5C61-95002830DBFD}"/>
              </a:ext>
            </a:extLst>
          </p:cNvPr>
          <p:cNvSpPr>
            <a:spLocks noGrp="1"/>
          </p:cNvSpPr>
          <p:nvPr>
            <p:ph type="sldNum" sz="quarter" idx="12"/>
          </p:nvPr>
        </p:nvSpPr>
        <p:spPr/>
        <p:txBody>
          <a:bodyPr/>
          <a:lstStyle/>
          <a:p>
            <a:fld id="{51D91E7F-84B6-4064-9D4E-CC7D244BCA04}" type="slidenum">
              <a:rPr lang="zh-CN" altLang="en-US" smtClean="0"/>
              <a:t>28</a:t>
            </a:fld>
            <a:endParaRPr lang="zh-CN" altLang="en-US"/>
          </a:p>
        </p:txBody>
      </p:sp>
      <p:sp>
        <p:nvSpPr>
          <p:cNvPr id="3" name="文本占位符 2">
            <a:extLst>
              <a:ext uri="{FF2B5EF4-FFF2-40B4-BE49-F238E27FC236}">
                <a16:creationId xmlns:a16="http://schemas.microsoft.com/office/drawing/2014/main" id="{B017DF1A-1E5D-F8FD-B87A-093734EFDFA3}"/>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Scrum</a:t>
            </a:r>
            <a:r>
              <a:rPr kumimoji="1" lang="zh-CN" altLang="en-US" dirty="0"/>
              <a:t>的互补与融合 </a:t>
            </a:r>
            <a:r>
              <a:rPr kumimoji="1" lang="en-US" altLang="zh-CN" dirty="0"/>
              <a:t>(</a:t>
            </a:r>
            <a:r>
              <a:rPr kumimoji="1" lang="en-US" altLang="zh-CN" dirty="0" err="1"/>
              <a:t>Scrumban</a:t>
            </a:r>
            <a:r>
              <a:rPr kumimoji="1" lang="en-US" altLang="zh-CN" dirty="0"/>
              <a:t>)</a:t>
            </a:r>
            <a:endParaRPr kumimoji="1" lang="zh-CN" altLang="en-US" dirty="0"/>
          </a:p>
        </p:txBody>
      </p:sp>
      <p:sp>
        <p:nvSpPr>
          <p:cNvPr id="4" name="内容占位符 3">
            <a:extLst>
              <a:ext uri="{FF2B5EF4-FFF2-40B4-BE49-F238E27FC236}">
                <a16:creationId xmlns:a16="http://schemas.microsoft.com/office/drawing/2014/main" id="{BEEBB684-BDC0-9ACA-4B3A-FD4AA5EEC0B0}"/>
              </a:ext>
            </a:extLst>
          </p:cNvPr>
          <p:cNvSpPr>
            <a:spLocks noGrp="1"/>
          </p:cNvSpPr>
          <p:nvPr>
            <p:ph idx="1"/>
          </p:nvPr>
        </p:nvSpPr>
        <p:spPr/>
        <p:txBody>
          <a:bodyPr>
            <a:normAutofit/>
          </a:bodyPr>
          <a:lstStyle/>
          <a:p>
            <a:r>
              <a:rPr kumimoji="1" lang="zh-CN" altLang="en-US" dirty="0"/>
              <a:t>互补性</a:t>
            </a:r>
            <a:r>
              <a:rPr kumimoji="1" lang="en-US" altLang="zh-CN" dirty="0"/>
              <a:t>: </a:t>
            </a:r>
            <a:r>
              <a:rPr kumimoji="1" lang="zh-CN" altLang="en-US" dirty="0"/>
              <a:t>两者并非对立，常说“原则相同，实践有别”。可相互借鉴：</a:t>
            </a:r>
            <a:r>
              <a:rPr kumimoji="1" lang="en-US" altLang="zh-CN" dirty="0"/>
              <a:t>Scrum</a:t>
            </a:r>
            <a:r>
              <a:rPr kumimoji="1" lang="zh-CN" altLang="en-US" dirty="0"/>
              <a:t>团队常用可视化任务板（</a:t>
            </a:r>
            <a:r>
              <a:rPr kumimoji="1" lang="en-US" altLang="zh-CN" dirty="0"/>
              <a:t>Kanban</a:t>
            </a:r>
            <a:r>
              <a:rPr kumimoji="1" lang="zh-CN" altLang="en-US" dirty="0"/>
              <a:t>实践），设</a:t>
            </a:r>
            <a:r>
              <a:rPr kumimoji="1" lang="en-US" altLang="zh-CN" dirty="0"/>
              <a:t>WIP</a:t>
            </a:r>
            <a:r>
              <a:rPr kumimoji="1" lang="zh-CN" altLang="en-US" dirty="0"/>
              <a:t>限制改善流动；</a:t>
            </a:r>
            <a:r>
              <a:rPr kumimoji="1" lang="en-US" altLang="zh-CN" dirty="0"/>
              <a:t>Kanban</a:t>
            </a:r>
            <a:r>
              <a:rPr kumimoji="1" lang="zh-CN" altLang="en-US" dirty="0"/>
              <a:t>团队可引入定期回顾，借鉴</a:t>
            </a:r>
            <a:r>
              <a:rPr kumimoji="1" lang="en-US" altLang="zh-CN" dirty="0"/>
              <a:t>Backlog</a:t>
            </a:r>
            <a:r>
              <a:rPr kumimoji="1" lang="zh-CN" altLang="en-US" dirty="0"/>
              <a:t>管理。</a:t>
            </a:r>
          </a:p>
          <a:p>
            <a:r>
              <a:rPr kumimoji="1" lang="en-US" altLang="zh-CN" dirty="0" err="1">
                <a:solidFill>
                  <a:srgbClr val="FF0000"/>
                </a:solidFill>
              </a:rPr>
              <a:t>Scrumban</a:t>
            </a:r>
            <a:r>
              <a:rPr kumimoji="1" lang="en-US" altLang="zh-CN" dirty="0"/>
              <a:t>: </a:t>
            </a:r>
            <a:r>
              <a:rPr kumimoji="1" lang="zh-CN" altLang="en-US" dirty="0"/>
              <a:t>最著名的混合实践模式，由</a:t>
            </a:r>
            <a:r>
              <a:rPr kumimoji="1" lang="en-US" altLang="zh-CN" dirty="0"/>
              <a:t>Corey Ladas</a:t>
            </a:r>
            <a:r>
              <a:rPr kumimoji="1" lang="zh-CN" altLang="en-US" dirty="0"/>
              <a:t>提出，作为</a:t>
            </a:r>
            <a:r>
              <a:rPr kumimoji="1" lang="en-US" altLang="zh-CN" dirty="0"/>
              <a:t>Scrum</a:t>
            </a:r>
            <a:r>
              <a:rPr kumimoji="1" lang="zh-CN" altLang="en-US" dirty="0"/>
              <a:t>到</a:t>
            </a:r>
            <a:r>
              <a:rPr kumimoji="1" lang="en-US" altLang="zh-CN" dirty="0"/>
              <a:t>Kanban</a:t>
            </a:r>
            <a:r>
              <a:rPr kumimoji="1" lang="zh-CN" altLang="en-US" dirty="0"/>
              <a:t>的中间态</a:t>
            </a:r>
            <a:r>
              <a:rPr kumimoji="1" lang="en-US" altLang="zh-CN" dirty="0"/>
              <a:t>/</a:t>
            </a:r>
            <a:r>
              <a:rPr kumimoji="1" lang="zh-CN" altLang="en-US" dirty="0"/>
              <a:t>过渡。保留</a:t>
            </a:r>
            <a:r>
              <a:rPr kumimoji="1" lang="en-US" altLang="zh-CN" dirty="0"/>
              <a:t>Scrum</a:t>
            </a:r>
            <a:r>
              <a:rPr kumimoji="1" lang="zh-CN" altLang="en-US" dirty="0"/>
              <a:t>部分结构（如定期会议），取消固定</a:t>
            </a:r>
            <a:r>
              <a:rPr kumimoji="1" lang="en-US" altLang="zh-CN" dirty="0"/>
              <a:t>Sprint</a:t>
            </a:r>
            <a:r>
              <a:rPr kumimoji="1" lang="zh-CN" altLang="en-US" dirty="0"/>
              <a:t>承诺，改用</a:t>
            </a:r>
            <a:r>
              <a:rPr kumimoji="1" lang="en-US" altLang="zh-CN" dirty="0"/>
              <a:t>Kanban</a:t>
            </a:r>
            <a:r>
              <a:rPr kumimoji="1" lang="zh-CN" altLang="en-US" dirty="0"/>
              <a:t>拉动节奏和</a:t>
            </a:r>
            <a:r>
              <a:rPr kumimoji="1" lang="en-US" altLang="zh-CN" dirty="0"/>
              <a:t>WIP</a:t>
            </a:r>
            <a:r>
              <a:rPr kumimoji="1" lang="zh-CN" altLang="en-US" dirty="0"/>
              <a:t>控制。让团队逐步适应流动驱动，又不失改进机制。</a:t>
            </a:r>
          </a:p>
        </p:txBody>
      </p:sp>
    </p:spTree>
    <p:extLst>
      <p:ext uri="{BB962C8B-B14F-4D97-AF65-F5344CB8AC3E}">
        <p14:creationId xmlns:p14="http://schemas.microsoft.com/office/powerpoint/2010/main" val="246754661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0C184-2AE4-4BD5-B76D-E871C49BA5F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5A90FEA-B30F-6CB3-CEF8-BB07985DFD93}"/>
              </a:ext>
            </a:extLst>
          </p:cNvPr>
          <p:cNvSpPr>
            <a:spLocks noGrp="1"/>
          </p:cNvSpPr>
          <p:nvPr>
            <p:ph type="sldNum" sz="quarter" idx="12"/>
          </p:nvPr>
        </p:nvSpPr>
        <p:spPr/>
        <p:txBody>
          <a:bodyPr/>
          <a:lstStyle/>
          <a:p>
            <a:fld id="{51D91E7F-84B6-4064-9D4E-CC7D244BCA04}" type="slidenum">
              <a:rPr lang="zh-CN" altLang="en-US" smtClean="0"/>
              <a:t>29</a:t>
            </a:fld>
            <a:endParaRPr lang="zh-CN" altLang="en-US"/>
          </a:p>
        </p:txBody>
      </p:sp>
      <p:sp>
        <p:nvSpPr>
          <p:cNvPr id="3" name="文本占位符 2">
            <a:extLst>
              <a:ext uri="{FF2B5EF4-FFF2-40B4-BE49-F238E27FC236}">
                <a16:creationId xmlns:a16="http://schemas.microsoft.com/office/drawing/2014/main" id="{AAA0A059-5CC4-2652-FFB6-904C08332216}"/>
              </a:ext>
            </a:extLst>
          </p:cNvPr>
          <p:cNvSpPr>
            <a:spLocks noGrp="1"/>
          </p:cNvSpPr>
          <p:nvPr>
            <p:ph type="body" sz="quarter" idx="13"/>
          </p:nvPr>
        </p:nvSpPr>
        <p:spPr/>
        <p:txBody>
          <a:bodyPr/>
          <a:lstStyle/>
          <a:p>
            <a:r>
              <a:rPr kumimoji="1" lang="en-US" altLang="zh-CN" dirty="0"/>
              <a:t>Kanban</a:t>
            </a:r>
            <a:r>
              <a:rPr kumimoji="1" lang="zh-CN" altLang="en-US" dirty="0"/>
              <a:t>与</a:t>
            </a:r>
            <a:r>
              <a:rPr kumimoji="1" lang="en-US" altLang="zh-CN" dirty="0"/>
              <a:t>XP (</a:t>
            </a:r>
            <a:r>
              <a:rPr kumimoji="1" lang="zh-CN" altLang="en-US" dirty="0"/>
              <a:t>极限编程</a:t>
            </a:r>
            <a:r>
              <a:rPr kumimoji="1" lang="en-US" altLang="zh-CN" dirty="0"/>
              <a:t>) </a:t>
            </a:r>
            <a:r>
              <a:rPr kumimoji="1" lang="zh-CN" altLang="en-US" dirty="0"/>
              <a:t>的关系</a:t>
            </a:r>
          </a:p>
        </p:txBody>
      </p:sp>
      <p:sp>
        <p:nvSpPr>
          <p:cNvPr id="4" name="内容占位符 3">
            <a:extLst>
              <a:ext uri="{FF2B5EF4-FFF2-40B4-BE49-F238E27FC236}">
                <a16:creationId xmlns:a16="http://schemas.microsoft.com/office/drawing/2014/main" id="{5BD7575A-4339-2343-E722-4E6FC9B8284A}"/>
              </a:ext>
            </a:extLst>
          </p:cNvPr>
          <p:cNvSpPr>
            <a:spLocks noGrp="1"/>
          </p:cNvSpPr>
          <p:nvPr>
            <p:ph idx="1"/>
          </p:nvPr>
        </p:nvSpPr>
        <p:spPr/>
        <p:txBody>
          <a:bodyPr>
            <a:normAutofit fontScale="92500" lnSpcReduction="20000"/>
          </a:bodyPr>
          <a:lstStyle/>
          <a:p>
            <a:r>
              <a:rPr kumimoji="1" lang="zh-CN" altLang="en-US" dirty="0"/>
              <a:t>定位差异</a:t>
            </a:r>
            <a:r>
              <a:rPr kumimoji="1" lang="en-US" altLang="zh-CN" dirty="0"/>
              <a:t>: XP</a:t>
            </a:r>
            <a:r>
              <a:rPr kumimoji="1" lang="zh-CN" altLang="en-US" dirty="0"/>
              <a:t>（</a:t>
            </a:r>
            <a:r>
              <a:rPr kumimoji="1" lang="en-US" altLang="zh-CN" dirty="0"/>
              <a:t>Extreme Programming</a:t>
            </a:r>
            <a:r>
              <a:rPr kumimoji="1" lang="zh-CN" altLang="en-US" dirty="0"/>
              <a:t>）侧重工程实践，以</a:t>
            </a:r>
            <a:r>
              <a:rPr kumimoji="1" lang="en-US" altLang="zh-CN" dirty="0"/>
              <a:t>TDD</a:t>
            </a:r>
            <a:r>
              <a:rPr kumimoji="1" lang="zh-CN" altLang="en-US" dirty="0"/>
              <a:t>、重构、持续集成等代表，聚焦“如何开发更好软件”（工程技术、团队协作）。</a:t>
            </a:r>
            <a:r>
              <a:rPr kumimoji="1" lang="en-US" altLang="zh-CN" dirty="0"/>
              <a:t>Kanban</a:t>
            </a:r>
            <a:r>
              <a:rPr kumimoji="1" lang="zh-CN" altLang="en-US" dirty="0"/>
              <a:t>关注流程和可视化管理，聚焦“如何管理和改进工作流程”，本身不规定技术实践。</a:t>
            </a:r>
            <a:r>
              <a:rPr kumimoji="1" lang="en-US" altLang="zh-CN" dirty="0"/>
              <a:t>XP</a:t>
            </a:r>
            <a:r>
              <a:rPr kumimoji="1" lang="zh-CN" altLang="en-US" dirty="0"/>
              <a:t>是工程实践集，</a:t>
            </a:r>
            <a:r>
              <a:rPr kumimoji="1" lang="en-US" altLang="zh-CN" dirty="0"/>
              <a:t>Kanban</a:t>
            </a:r>
            <a:r>
              <a:rPr kumimoji="1" lang="zh-CN" altLang="en-US" dirty="0"/>
              <a:t>是流程管理方法，不在同一维度，无冲突替代关系。</a:t>
            </a:r>
          </a:p>
          <a:p>
            <a:r>
              <a:rPr kumimoji="1" lang="zh-CN" altLang="en-US" dirty="0"/>
              <a:t>兼容并用</a:t>
            </a:r>
            <a:r>
              <a:rPr kumimoji="1" lang="en-US" altLang="zh-CN" dirty="0"/>
              <a:t>: </a:t>
            </a:r>
            <a:r>
              <a:rPr kumimoji="1" lang="zh-CN" altLang="en-US" dirty="0"/>
              <a:t>可完全同时采用</a:t>
            </a:r>
            <a:r>
              <a:rPr kumimoji="1" lang="en-US" altLang="zh-CN" dirty="0"/>
              <a:t>XP</a:t>
            </a:r>
            <a:r>
              <a:rPr kumimoji="1" lang="zh-CN" altLang="en-US" dirty="0"/>
              <a:t>实践和</a:t>
            </a:r>
            <a:r>
              <a:rPr kumimoji="1" lang="en-US" altLang="zh-CN" dirty="0"/>
              <a:t>Kanban</a:t>
            </a:r>
            <a:r>
              <a:rPr kumimoji="1" lang="zh-CN" altLang="en-US" dirty="0"/>
              <a:t>方法。</a:t>
            </a:r>
            <a:r>
              <a:rPr kumimoji="1" lang="en-US" altLang="zh-CN" dirty="0"/>
              <a:t>XP</a:t>
            </a:r>
            <a:r>
              <a:rPr kumimoji="1" lang="zh-CN" altLang="en-US" dirty="0"/>
              <a:t>保证代码质量和开发技法，</a:t>
            </a:r>
            <a:r>
              <a:rPr kumimoji="1" lang="en-US" altLang="zh-CN" dirty="0"/>
              <a:t>Kanban</a:t>
            </a:r>
            <a:r>
              <a:rPr kumimoji="1" lang="zh-CN" altLang="en-US" dirty="0"/>
              <a:t>确保工作项流动顺畅及时交付。</a:t>
            </a:r>
            <a:r>
              <a:rPr kumimoji="1" lang="en-US" altLang="zh-CN" dirty="0"/>
              <a:t>XP</a:t>
            </a:r>
            <a:r>
              <a:rPr kumimoji="1" lang="zh-CN" altLang="en-US" dirty="0"/>
              <a:t>实践（结对、</a:t>
            </a:r>
            <a:r>
              <a:rPr kumimoji="1" lang="en-US" altLang="zh-CN" dirty="0"/>
              <a:t>TDD</a:t>
            </a:r>
            <a:r>
              <a:rPr kumimoji="1" lang="zh-CN" altLang="en-US" dirty="0"/>
              <a:t>）可在</a:t>
            </a:r>
            <a:r>
              <a:rPr kumimoji="1" lang="en-US" altLang="zh-CN" dirty="0"/>
              <a:t>Kanban</a:t>
            </a:r>
            <a:r>
              <a:rPr kumimoji="1" lang="zh-CN" altLang="en-US" dirty="0"/>
              <a:t>团队“开发中”列实施，不影响看板流程，反而可能缩短开发耗时、减少质量问题，加速流动。</a:t>
            </a:r>
          </a:p>
        </p:txBody>
      </p:sp>
    </p:spTree>
    <p:extLst>
      <p:ext uri="{BB962C8B-B14F-4D97-AF65-F5344CB8AC3E}">
        <p14:creationId xmlns:p14="http://schemas.microsoft.com/office/powerpoint/2010/main" val="38842617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50</TotalTime>
  <Words>2592</Words>
  <Application>Microsoft Macintosh PowerPoint</Application>
  <PresentationFormat>宽屏</PresentationFormat>
  <Paragraphs>109</Paragraphs>
  <Slides>31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等线</vt:lpstr>
      <vt:lpstr>微软雅黑</vt:lpstr>
      <vt:lpstr>Inter</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工作流映射</vt:lpstr>
      <vt:lpstr>PowerPoint 演示文稿</vt:lpstr>
      <vt:lpstr>硬币传递游戏</vt:lpstr>
      <vt:lpstr>硬币传递游戏说明</vt:lpstr>
      <vt:lpstr>硬币传递游戏结果</vt:lpstr>
      <vt:lpstr>紧急工作</vt:lpstr>
      <vt:lpstr>PowerPoint 演示文稿</vt:lpstr>
      <vt:lpstr>看板例子</vt:lpstr>
      <vt:lpstr>PowerPoint 演示文稿</vt:lpstr>
      <vt:lpstr>PowerPoint 演示文稿</vt:lpstr>
      <vt:lpstr>PowerPoint 演示文稿</vt:lpstr>
      <vt:lpstr>PowerPoint 演示文稿</vt:lpstr>
      <vt:lpstr>寻找WIP例子</vt:lpstr>
      <vt:lpstr>PowerPoint 演示文稿</vt:lpstr>
      <vt:lpstr>WIP上限提醒我们要采取行动，改善瓶颈;而不是把没完成的工作堆个没完。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lastModifiedBy>栋 邵</cp:lastModifiedBy>
  <cp:revision>41</cp:revision>
  <dcterms:created xsi:type="dcterms:W3CDTF">2025-04-07T06:01:44Z</dcterms:created>
  <dcterms:modified xsi:type="dcterms:W3CDTF">2025-04-10T05:41:00Z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