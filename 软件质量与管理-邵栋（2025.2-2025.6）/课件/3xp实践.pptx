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49"/>
  </p:notesMasterIdLst>
  <p:handoutMasterIdLst>
    <p:handoutMasterId r:id="rId50"/>
  </p:handoutMasterIdLst>
  <p:sldIdLst>
    <p:sldId id="337" r:id="rId2"/>
    <p:sldId id="344" r:id="rId3"/>
    <p:sldId id="350" r:id="rId4"/>
    <p:sldId id="351" r:id="rId5"/>
    <p:sldId id="352" r:id="rId6"/>
    <p:sldId id="353" r:id="rId7"/>
    <p:sldId id="354" r:id="rId8"/>
    <p:sldId id="345" r:id="rId9"/>
    <p:sldId id="355" r:id="rId10"/>
    <p:sldId id="356" r:id="rId11"/>
    <p:sldId id="357" r:id="rId12"/>
    <p:sldId id="358" r:id="rId13"/>
    <p:sldId id="359" r:id="rId14"/>
    <p:sldId id="360" r:id="rId15"/>
    <p:sldId id="361" r:id="rId16"/>
    <p:sldId id="362" r:id="rId17"/>
    <p:sldId id="363" r:id="rId18"/>
    <p:sldId id="364" r:id="rId19"/>
    <p:sldId id="365" r:id="rId20"/>
    <p:sldId id="366" r:id="rId21"/>
    <p:sldId id="367" r:id="rId22"/>
    <p:sldId id="368" r:id="rId23"/>
    <p:sldId id="370" r:id="rId24"/>
    <p:sldId id="371" r:id="rId25"/>
    <p:sldId id="372" r:id="rId26"/>
    <p:sldId id="373" r:id="rId27"/>
    <p:sldId id="374" r:id="rId28"/>
    <p:sldId id="380" r:id="rId29"/>
    <p:sldId id="381" r:id="rId30"/>
    <p:sldId id="382" r:id="rId31"/>
    <p:sldId id="383" r:id="rId32"/>
    <p:sldId id="384" r:id="rId33"/>
    <p:sldId id="375" r:id="rId34"/>
    <p:sldId id="376" r:id="rId35"/>
    <p:sldId id="377" r:id="rId36"/>
    <p:sldId id="378" r:id="rId37"/>
    <p:sldId id="369" r:id="rId38"/>
    <p:sldId id="385" r:id="rId39"/>
    <p:sldId id="386" r:id="rId40"/>
    <p:sldId id="387" r:id="rId41"/>
    <p:sldId id="388" r:id="rId42"/>
    <p:sldId id="389" r:id="rId43"/>
    <p:sldId id="390" r:id="rId44"/>
    <p:sldId id="391" r:id="rId45"/>
    <p:sldId id="392" r:id="rId46"/>
    <p:sldId id="393" r:id="rId47"/>
    <p:sldId id="340"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17">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muel Garcia" initials="S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C78BD"/>
    <a:srgbClr val="E31857"/>
    <a:srgbClr val="FEB813"/>
    <a:srgbClr val="870078"/>
    <a:srgbClr val="6A005F"/>
    <a:srgbClr val="760068"/>
    <a:srgbClr val="500048"/>
    <a:srgbClr val="A2008F"/>
    <a:srgbClr val="C000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019" autoAdjust="0"/>
    <p:restoredTop sz="78045" autoAdjust="0"/>
  </p:normalViewPr>
  <p:slideViewPr>
    <p:cSldViewPr snapToGrid="0" showGuides="1">
      <p:cViewPr varScale="1">
        <p:scale>
          <a:sx n="58" d="100"/>
          <a:sy n="58" d="100"/>
        </p:scale>
        <p:origin x="232" y="2616"/>
      </p:cViewPr>
      <p:guideLst>
        <p:guide orient="horz" pos="2160"/>
        <p:guide pos="3817"/>
      </p:guideLst>
    </p:cSldViewPr>
  </p:slideViewPr>
  <p:notesTextViewPr>
    <p:cViewPr>
      <p:scale>
        <a:sx n="1" d="1"/>
        <a:sy n="1" d="1"/>
      </p:scale>
      <p:origin x="0" y="0"/>
    </p:cViewPr>
  </p:notesTextViewPr>
  <p:sorterViewPr>
    <p:cViewPr>
      <p:scale>
        <a:sx n="120" d="100"/>
        <a:sy n="120" d="100"/>
      </p:scale>
      <p:origin x="0" y="0"/>
    </p:cViewPr>
  </p:sorterViewPr>
  <p:notesViewPr>
    <p:cSldViewPr snapToGrid="0">
      <p:cViewPr varScale="1">
        <p:scale>
          <a:sx n="72" d="100"/>
          <a:sy n="72" d="100"/>
        </p:scale>
        <p:origin x="3012" y="5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57D45F-9B06-4FD6-B80D-63AF92FC02D4}" type="datetimeFigureOut">
              <a:rPr lang="zh-CN" altLang="en-US" smtClean="0"/>
              <a:t>2025/3/15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33F7F3-BE4C-4D86-9918-24458AE0A277}"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2F98C7-9395-4E9A-96EC-DE4C39432AA7}" type="datetimeFigureOut">
              <a:rPr lang="zh-CN" altLang="en-US" smtClean="0"/>
              <a:t>2025/3/15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464DB0-CCE3-4363-801A-A01AADC6398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内页">
    <p:spTree>
      <p:nvGrpSpPr>
        <p:cNvPr id="1" name=""/>
        <p:cNvGrpSpPr/>
        <p:nvPr/>
      </p:nvGrpSpPr>
      <p:grpSpPr>
        <a:xfrm>
          <a:off x="0" y="0"/>
          <a:ext cx="0" cy="0"/>
          <a:chOff x="0" y="0"/>
          <a:chExt cx="0" cy="0"/>
        </a:xfrm>
      </p:grpSpPr>
      <p:sp>
        <p:nvSpPr>
          <p:cNvPr id="9" name="矩形 8"/>
          <p:cNvSpPr/>
          <p:nvPr userDrawn="1"/>
        </p:nvSpPr>
        <p:spPr>
          <a:xfrm>
            <a:off x="11208694" y="6320412"/>
            <a:ext cx="575959" cy="537587"/>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灯片编号占位符 15"/>
          <p:cNvSpPr>
            <a:spLocks noGrp="1"/>
          </p:cNvSpPr>
          <p:nvPr>
            <p:ph type="sldNum" sz="quarter" idx="12"/>
          </p:nvPr>
        </p:nvSpPr>
        <p:spPr>
          <a:xfrm>
            <a:off x="10801349" y="6406644"/>
            <a:ext cx="1390651" cy="365125"/>
          </a:xfrm>
        </p:spPr>
        <p:txBody>
          <a:bodyPr/>
          <a:lstStyle>
            <a:lvl1pPr algn="ctr">
              <a:defRPr sz="2000" b="1">
                <a:solidFill>
                  <a:schemeClr val="bg1"/>
                </a:solidFill>
              </a:defRPr>
            </a:lvl1pPr>
          </a:lstStyle>
          <a:p>
            <a:fld id="{51D91E7F-84B6-4064-9D4E-CC7D244BCA04}" type="slidenum">
              <a:rPr lang="zh-CN" altLang="en-US" smtClean="0"/>
              <a:t>‹#›</a:t>
            </a:fld>
            <a:endParaRPr lang="zh-CN" altLang="en-US"/>
          </a:p>
        </p:txBody>
      </p:sp>
      <p:grpSp>
        <p:nvGrpSpPr>
          <p:cNvPr id="13" name="组合 12"/>
          <p:cNvGrpSpPr/>
          <p:nvPr userDrawn="1"/>
        </p:nvGrpSpPr>
        <p:grpSpPr>
          <a:xfrm>
            <a:off x="160768" y="120576"/>
            <a:ext cx="657379" cy="653562"/>
            <a:chOff x="10920675" y="2008140"/>
            <a:chExt cx="576000" cy="576000"/>
          </a:xfrm>
        </p:grpSpPr>
        <p:sp>
          <p:nvSpPr>
            <p:cNvPr id="14" name="矩形 13"/>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7" name="文本占位符 16"/>
          <p:cNvSpPr>
            <a:spLocks noGrp="1"/>
          </p:cNvSpPr>
          <p:nvPr>
            <p:ph type="body" sz="quarter" idx="13"/>
          </p:nvPr>
        </p:nvSpPr>
        <p:spPr>
          <a:xfrm>
            <a:off x="1032184" y="297936"/>
            <a:ext cx="10321616" cy="584775"/>
          </a:xfrm>
        </p:spPr>
        <p:txBody>
          <a:bodyPr wrap="square" anchor="ctr" anchorCtr="0">
            <a:spAutoFit/>
          </a:bodyPr>
          <a:lstStyle>
            <a:lvl1pPr marL="0" indent="0">
              <a:lnSpc>
                <a:spcPct val="100000"/>
              </a:lnSpc>
              <a:spcBef>
                <a:spcPts val="0"/>
              </a:spcBef>
              <a:buNone/>
              <a:defRPr sz="3200" b="1" i="0" baseline="0"/>
            </a:lvl1pPr>
          </a:lstStyle>
          <a:p>
            <a:pPr lvl="0"/>
            <a:r>
              <a:rPr lang="zh-CN" altLang="en-US"/>
              <a:t>单击此处编辑母版文本样式</a:t>
            </a:r>
          </a:p>
        </p:txBody>
      </p:sp>
      <p:sp>
        <p:nvSpPr>
          <p:cNvPr id="10" name="Content Placeholder 2"/>
          <p:cNvSpPr>
            <a:spLocks noGrp="1"/>
          </p:cNvSpPr>
          <p:nvPr>
            <p:ph idx="1"/>
          </p:nvPr>
        </p:nvSpPr>
        <p:spPr>
          <a:xfrm>
            <a:off x="838200" y="1289956"/>
            <a:ext cx="10515600" cy="4887007"/>
          </a:xfrm>
        </p:spPr>
        <p:txBody>
          <a:bodyPr/>
          <a:lstStyle>
            <a:lvl1pPr marL="228600" indent="-228600">
              <a:buFont typeface="Wingdings" panose="05000000000000000000" pitchFamily="2" charset="2"/>
              <a:buChar char="l"/>
              <a:defRPr/>
            </a:lvl1pPr>
            <a:lvl2pPr marL="685800" indent="-228600">
              <a:buFont typeface="Wingdings" panose="05000000000000000000" pitchFamily="2" charset="2"/>
              <a:buChar char="n"/>
              <a:defRPr/>
            </a:lvl2pPr>
            <a:lvl3pPr marL="1143000" indent="-228600">
              <a:buFont typeface="Wingdings" panose="05000000000000000000" pitchFamily="2" charset="2"/>
              <a:buChar char="u"/>
              <a:defRPr/>
            </a:lvl3pPr>
            <a:lvl4pPr marL="1600200" indent="-228600">
              <a:buFont typeface="Wingdings" panose="05000000000000000000" pitchFamily="2" charset="2"/>
              <a:buChar char="Ø"/>
              <a:defRPr/>
            </a:lvl4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grpSp>
        <p:nvGrpSpPr>
          <p:cNvPr id="6" name="组合 5"/>
          <p:cNvGrpSpPr/>
          <p:nvPr userDrawn="1"/>
        </p:nvGrpSpPr>
        <p:grpSpPr>
          <a:xfrm>
            <a:off x="0" y="2697654"/>
            <a:ext cx="12192000" cy="1462692"/>
            <a:chOff x="0" y="2878638"/>
            <a:chExt cx="9144000" cy="1034852"/>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2878638"/>
              <a:ext cx="9144000" cy="729343"/>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10" name="组合 9"/>
          <p:cNvGrpSpPr/>
          <p:nvPr userDrawn="1"/>
        </p:nvGrpSpPr>
        <p:grpSpPr>
          <a:xfrm>
            <a:off x="10934299" y="1892024"/>
            <a:ext cx="693020" cy="653562"/>
            <a:chOff x="10920675" y="2008140"/>
            <a:chExt cx="576000" cy="576000"/>
          </a:xfrm>
        </p:grpSpPr>
        <p:sp>
          <p:nvSpPr>
            <p:cNvPr id="11" name="矩形 10"/>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4" name="Freeform 5"/>
          <p:cNvSpPr>
            <a:spLocks noEditPoints="1"/>
          </p:cNvSpPr>
          <p:nvPr userDrawn="1"/>
        </p:nvSpPr>
        <p:spPr bwMode="auto">
          <a:xfrm>
            <a:off x="11026467" y="2954360"/>
            <a:ext cx="600852" cy="516114"/>
          </a:xfrm>
          <a:custGeom>
            <a:avLst/>
            <a:gdLst>
              <a:gd name="T0" fmla="*/ 17 w 68"/>
              <a:gd name="T1" fmla="*/ 26 h 60"/>
              <a:gd name="T2" fmla="*/ 33 w 68"/>
              <a:gd name="T3" fmla="*/ 31 h 60"/>
              <a:gd name="T4" fmla="*/ 33 w 68"/>
              <a:gd name="T5" fmla="*/ 31 h 60"/>
              <a:gd name="T6" fmla="*/ 49 w 68"/>
              <a:gd name="T7" fmla="*/ 26 h 60"/>
              <a:gd name="T8" fmla="*/ 34 w 68"/>
              <a:gd name="T9" fmla="*/ 18 h 60"/>
              <a:gd name="T10" fmla="*/ 59 w 68"/>
              <a:gd name="T11" fmla="*/ 16 h 60"/>
              <a:gd name="T12" fmla="*/ 55 w 68"/>
              <a:gd name="T13" fmla="*/ 23 h 60"/>
              <a:gd name="T14" fmla="*/ 56 w 68"/>
              <a:gd name="T15" fmla="*/ 15 h 60"/>
              <a:gd name="T16" fmla="*/ 56 w 68"/>
              <a:gd name="T17" fmla="*/ 12 h 60"/>
              <a:gd name="T18" fmla="*/ 52 w 68"/>
              <a:gd name="T19" fmla="*/ 23 h 60"/>
              <a:gd name="T20" fmla="*/ 68 w 68"/>
              <a:gd name="T21" fmla="*/ 32 h 60"/>
              <a:gd name="T22" fmla="*/ 68 w 68"/>
              <a:gd name="T23" fmla="*/ 34 h 60"/>
              <a:gd name="T24" fmla="*/ 67 w 68"/>
              <a:gd name="T25" fmla="*/ 34 h 60"/>
              <a:gd name="T26" fmla="*/ 29 w 68"/>
              <a:gd name="T27" fmla="*/ 50 h 60"/>
              <a:gd name="T28" fmla="*/ 68 w 68"/>
              <a:gd name="T29" fmla="*/ 45 h 60"/>
              <a:gd name="T30" fmla="*/ 30 w 68"/>
              <a:gd name="T31" fmla="*/ 60 h 60"/>
              <a:gd name="T32" fmla="*/ 28 w 68"/>
              <a:gd name="T33" fmla="*/ 59 h 60"/>
              <a:gd name="T34" fmla="*/ 3 w 68"/>
              <a:gd name="T35" fmla="*/ 25 h 60"/>
              <a:gd name="T36" fmla="*/ 14 w 68"/>
              <a:gd name="T37" fmla="*/ 23 h 60"/>
              <a:gd name="T38" fmla="*/ 1 w 68"/>
              <a:gd name="T39" fmla="*/ 10 h 60"/>
              <a:gd name="T40" fmla="*/ 32 w 68"/>
              <a:gd name="T41" fmla="*/ 0 h 60"/>
              <a:gd name="T42" fmla="*/ 65 w 68"/>
              <a:gd name="T43" fmla="*/ 9 h 60"/>
              <a:gd name="T44" fmla="*/ 59 w 68"/>
              <a:gd name="T45" fmla="*/ 14 h 60"/>
              <a:gd name="T46" fmla="*/ 59 w 68"/>
              <a:gd name="T47" fmla="*/ 16 h 60"/>
              <a:gd name="T48" fmla="*/ 58 w 68"/>
              <a:gd name="T49" fmla="*/ 9 h 60"/>
              <a:gd name="T50" fmla="*/ 33 w 68"/>
              <a:gd name="T51" fmla="*/ 4 h 60"/>
              <a:gd name="T52" fmla="*/ 33 w 68"/>
              <a:gd name="T53" fmla="*/ 8 h 60"/>
              <a:gd name="T54" fmla="*/ 54 w 68"/>
              <a:gd name="T55" fmla="*/ 10 h 60"/>
              <a:gd name="T56" fmla="*/ 32 w 68"/>
              <a:gd name="T57" fmla="*/ 53 h 60"/>
              <a:gd name="T58" fmla="*/ 67 w 68"/>
              <a:gd name="T59" fmla="*/ 42 h 60"/>
              <a:gd name="T60" fmla="*/ 32 w 68"/>
              <a:gd name="T61" fmla="*/ 49 h 60"/>
              <a:gd name="T62" fmla="*/ 67 w 68"/>
              <a:gd name="T63" fmla="*/ 40 h 60"/>
              <a:gd name="T64" fmla="*/ 32 w 68"/>
              <a:gd name="T65" fmla="*/ 49 h 60"/>
              <a:gd name="T66" fmla="*/ 32 w 68"/>
              <a:gd name="T67" fmla="*/ 47 h 60"/>
              <a:gd name="T68" fmla="*/ 67 w 68"/>
              <a:gd name="T69" fmla="*/ 3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8" h="60">
                <a:moveTo>
                  <a:pt x="17" y="14"/>
                </a:moveTo>
                <a:cubicBezTo>
                  <a:pt x="17" y="26"/>
                  <a:pt x="17" y="26"/>
                  <a:pt x="17" y="26"/>
                </a:cubicBezTo>
                <a:cubicBezTo>
                  <a:pt x="17" y="26"/>
                  <a:pt x="18" y="27"/>
                  <a:pt x="18" y="27"/>
                </a:cubicBezTo>
                <a:cubicBezTo>
                  <a:pt x="22" y="28"/>
                  <a:pt x="29" y="31"/>
                  <a:pt x="33" y="31"/>
                </a:cubicBezTo>
                <a:cubicBezTo>
                  <a:pt x="33" y="31"/>
                  <a:pt x="33" y="31"/>
                  <a:pt x="33" y="31"/>
                </a:cubicBezTo>
                <a:cubicBezTo>
                  <a:pt x="33" y="31"/>
                  <a:pt x="33" y="31"/>
                  <a:pt x="33" y="31"/>
                </a:cubicBezTo>
                <a:cubicBezTo>
                  <a:pt x="36" y="31"/>
                  <a:pt x="39" y="30"/>
                  <a:pt x="41" y="30"/>
                </a:cubicBezTo>
                <a:cubicBezTo>
                  <a:pt x="45" y="29"/>
                  <a:pt x="47" y="27"/>
                  <a:pt x="49" y="26"/>
                </a:cubicBezTo>
                <a:cubicBezTo>
                  <a:pt x="49" y="14"/>
                  <a:pt x="49" y="14"/>
                  <a:pt x="49" y="14"/>
                </a:cubicBezTo>
                <a:cubicBezTo>
                  <a:pt x="34" y="18"/>
                  <a:pt x="34" y="18"/>
                  <a:pt x="34" y="18"/>
                </a:cubicBezTo>
                <a:cubicBezTo>
                  <a:pt x="17" y="14"/>
                  <a:pt x="17" y="14"/>
                  <a:pt x="17" y="14"/>
                </a:cubicBezTo>
                <a:close/>
                <a:moveTo>
                  <a:pt x="59" y="16"/>
                </a:moveTo>
                <a:cubicBezTo>
                  <a:pt x="61" y="23"/>
                  <a:pt x="61" y="23"/>
                  <a:pt x="61" y="23"/>
                </a:cubicBezTo>
                <a:cubicBezTo>
                  <a:pt x="59" y="25"/>
                  <a:pt x="57" y="25"/>
                  <a:pt x="55" y="23"/>
                </a:cubicBezTo>
                <a:cubicBezTo>
                  <a:pt x="56" y="16"/>
                  <a:pt x="56" y="16"/>
                  <a:pt x="56" y="16"/>
                </a:cubicBezTo>
                <a:cubicBezTo>
                  <a:pt x="56" y="16"/>
                  <a:pt x="56" y="16"/>
                  <a:pt x="56" y="15"/>
                </a:cubicBezTo>
                <a:cubicBezTo>
                  <a:pt x="56" y="15"/>
                  <a:pt x="56" y="14"/>
                  <a:pt x="56" y="14"/>
                </a:cubicBezTo>
                <a:cubicBezTo>
                  <a:pt x="56" y="12"/>
                  <a:pt x="56" y="12"/>
                  <a:pt x="56" y="12"/>
                </a:cubicBezTo>
                <a:cubicBezTo>
                  <a:pt x="52" y="13"/>
                  <a:pt x="52" y="13"/>
                  <a:pt x="52" y="13"/>
                </a:cubicBezTo>
                <a:cubicBezTo>
                  <a:pt x="52" y="23"/>
                  <a:pt x="52" y="23"/>
                  <a:pt x="52" y="23"/>
                </a:cubicBezTo>
                <a:cubicBezTo>
                  <a:pt x="68" y="30"/>
                  <a:pt x="68" y="30"/>
                  <a:pt x="68" y="30"/>
                </a:cubicBezTo>
                <a:cubicBezTo>
                  <a:pt x="68" y="32"/>
                  <a:pt x="68" y="32"/>
                  <a:pt x="68" y="32"/>
                </a:cubicBezTo>
                <a:cubicBezTo>
                  <a:pt x="68" y="34"/>
                  <a:pt x="68" y="34"/>
                  <a:pt x="68" y="34"/>
                </a:cubicBezTo>
                <a:cubicBezTo>
                  <a:pt x="68" y="34"/>
                  <a:pt x="68" y="34"/>
                  <a:pt x="68" y="34"/>
                </a:cubicBezTo>
                <a:cubicBezTo>
                  <a:pt x="68" y="34"/>
                  <a:pt x="68" y="34"/>
                  <a:pt x="68" y="34"/>
                </a:cubicBezTo>
                <a:cubicBezTo>
                  <a:pt x="67" y="34"/>
                  <a:pt x="67" y="34"/>
                  <a:pt x="67" y="34"/>
                </a:cubicBezTo>
                <a:cubicBezTo>
                  <a:pt x="30" y="44"/>
                  <a:pt x="30" y="44"/>
                  <a:pt x="30" y="44"/>
                </a:cubicBezTo>
                <a:cubicBezTo>
                  <a:pt x="29" y="46"/>
                  <a:pt x="29" y="48"/>
                  <a:pt x="29" y="50"/>
                </a:cubicBezTo>
                <a:cubicBezTo>
                  <a:pt x="29" y="52"/>
                  <a:pt x="29" y="54"/>
                  <a:pt x="30" y="56"/>
                </a:cubicBezTo>
                <a:cubicBezTo>
                  <a:pt x="68" y="45"/>
                  <a:pt x="68" y="45"/>
                  <a:pt x="68" y="45"/>
                </a:cubicBezTo>
                <a:cubicBezTo>
                  <a:pt x="68" y="48"/>
                  <a:pt x="68" y="48"/>
                  <a:pt x="68" y="48"/>
                </a:cubicBezTo>
                <a:cubicBezTo>
                  <a:pt x="30" y="60"/>
                  <a:pt x="30" y="60"/>
                  <a:pt x="30" y="60"/>
                </a:cubicBezTo>
                <a:cubicBezTo>
                  <a:pt x="29" y="60"/>
                  <a:pt x="29" y="60"/>
                  <a:pt x="29" y="60"/>
                </a:cubicBezTo>
                <a:cubicBezTo>
                  <a:pt x="28" y="59"/>
                  <a:pt x="28" y="59"/>
                  <a:pt x="28" y="59"/>
                </a:cubicBezTo>
                <a:cubicBezTo>
                  <a:pt x="3" y="38"/>
                  <a:pt x="3" y="38"/>
                  <a:pt x="3" y="38"/>
                </a:cubicBezTo>
                <a:cubicBezTo>
                  <a:pt x="2" y="34"/>
                  <a:pt x="1" y="30"/>
                  <a:pt x="3" y="25"/>
                </a:cubicBezTo>
                <a:cubicBezTo>
                  <a:pt x="3" y="25"/>
                  <a:pt x="3" y="25"/>
                  <a:pt x="3" y="25"/>
                </a:cubicBezTo>
                <a:cubicBezTo>
                  <a:pt x="14" y="23"/>
                  <a:pt x="14" y="23"/>
                  <a:pt x="14" y="23"/>
                </a:cubicBezTo>
                <a:cubicBezTo>
                  <a:pt x="14" y="13"/>
                  <a:pt x="14" y="13"/>
                  <a:pt x="14" y="13"/>
                </a:cubicBezTo>
                <a:cubicBezTo>
                  <a:pt x="1" y="10"/>
                  <a:pt x="1" y="10"/>
                  <a:pt x="1" y="10"/>
                </a:cubicBezTo>
                <a:cubicBezTo>
                  <a:pt x="0" y="8"/>
                  <a:pt x="0" y="8"/>
                  <a:pt x="0" y="8"/>
                </a:cubicBezTo>
                <a:cubicBezTo>
                  <a:pt x="32" y="0"/>
                  <a:pt x="32" y="0"/>
                  <a:pt x="32" y="0"/>
                </a:cubicBezTo>
                <a:cubicBezTo>
                  <a:pt x="65" y="7"/>
                  <a:pt x="65" y="7"/>
                  <a:pt x="65" y="7"/>
                </a:cubicBezTo>
                <a:cubicBezTo>
                  <a:pt x="65" y="9"/>
                  <a:pt x="65" y="9"/>
                  <a:pt x="65" y="9"/>
                </a:cubicBezTo>
                <a:cubicBezTo>
                  <a:pt x="59" y="11"/>
                  <a:pt x="59" y="11"/>
                  <a:pt x="59" y="11"/>
                </a:cubicBezTo>
                <a:cubicBezTo>
                  <a:pt x="59" y="14"/>
                  <a:pt x="59" y="14"/>
                  <a:pt x="59" y="14"/>
                </a:cubicBezTo>
                <a:cubicBezTo>
                  <a:pt x="59" y="14"/>
                  <a:pt x="59" y="15"/>
                  <a:pt x="59" y="15"/>
                </a:cubicBezTo>
                <a:cubicBezTo>
                  <a:pt x="59" y="16"/>
                  <a:pt x="59" y="16"/>
                  <a:pt x="59" y="16"/>
                </a:cubicBezTo>
                <a:close/>
                <a:moveTo>
                  <a:pt x="54" y="10"/>
                </a:moveTo>
                <a:cubicBezTo>
                  <a:pt x="58" y="9"/>
                  <a:pt x="58" y="9"/>
                  <a:pt x="58" y="9"/>
                </a:cubicBezTo>
                <a:cubicBezTo>
                  <a:pt x="36" y="5"/>
                  <a:pt x="36" y="5"/>
                  <a:pt x="36" y="5"/>
                </a:cubicBezTo>
                <a:cubicBezTo>
                  <a:pt x="36" y="4"/>
                  <a:pt x="34" y="4"/>
                  <a:pt x="33" y="4"/>
                </a:cubicBezTo>
                <a:cubicBezTo>
                  <a:pt x="31" y="4"/>
                  <a:pt x="29" y="5"/>
                  <a:pt x="29" y="6"/>
                </a:cubicBezTo>
                <a:cubicBezTo>
                  <a:pt x="29" y="7"/>
                  <a:pt x="31" y="8"/>
                  <a:pt x="33" y="8"/>
                </a:cubicBezTo>
                <a:cubicBezTo>
                  <a:pt x="34" y="8"/>
                  <a:pt x="35" y="8"/>
                  <a:pt x="36" y="7"/>
                </a:cubicBezTo>
                <a:cubicBezTo>
                  <a:pt x="54" y="10"/>
                  <a:pt x="54" y="10"/>
                  <a:pt x="54" y="10"/>
                </a:cubicBezTo>
                <a:close/>
                <a:moveTo>
                  <a:pt x="32" y="52"/>
                </a:moveTo>
                <a:cubicBezTo>
                  <a:pt x="32" y="53"/>
                  <a:pt x="32" y="53"/>
                  <a:pt x="32" y="53"/>
                </a:cubicBezTo>
                <a:cubicBezTo>
                  <a:pt x="67" y="43"/>
                  <a:pt x="67" y="43"/>
                  <a:pt x="67" y="43"/>
                </a:cubicBezTo>
                <a:cubicBezTo>
                  <a:pt x="67" y="42"/>
                  <a:pt x="67" y="42"/>
                  <a:pt x="67" y="42"/>
                </a:cubicBezTo>
                <a:cubicBezTo>
                  <a:pt x="32" y="52"/>
                  <a:pt x="32" y="52"/>
                  <a:pt x="32" y="52"/>
                </a:cubicBezTo>
                <a:close/>
                <a:moveTo>
                  <a:pt x="32" y="49"/>
                </a:moveTo>
                <a:cubicBezTo>
                  <a:pt x="32" y="49"/>
                  <a:pt x="32" y="49"/>
                  <a:pt x="32" y="49"/>
                </a:cubicBezTo>
                <a:cubicBezTo>
                  <a:pt x="67" y="40"/>
                  <a:pt x="67" y="40"/>
                  <a:pt x="67" y="40"/>
                </a:cubicBezTo>
                <a:cubicBezTo>
                  <a:pt x="67" y="39"/>
                  <a:pt x="67" y="39"/>
                  <a:pt x="67" y="39"/>
                </a:cubicBezTo>
                <a:cubicBezTo>
                  <a:pt x="32" y="49"/>
                  <a:pt x="32" y="49"/>
                  <a:pt x="32" y="49"/>
                </a:cubicBezTo>
                <a:close/>
                <a:moveTo>
                  <a:pt x="31" y="46"/>
                </a:moveTo>
                <a:cubicBezTo>
                  <a:pt x="32" y="47"/>
                  <a:pt x="32" y="47"/>
                  <a:pt x="32" y="47"/>
                </a:cubicBezTo>
                <a:cubicBezTo>
                  <a:pt x="67" y="37"/>
                  <a:pt x="67" y="37"/>
                  <a:pt x="67" y="37"/>
                </a:cubicBezTo>
                <a:cubicBezTo>
                  <a:pt x="67" y="36"/>
                  <a:pt x="67" y="36"/>
                  <a:pt x="67" y="36"/>
                </a:cubicBezTo>
                <a:lnTo>
                  <a:pt x="31" y="46"/>
                </a:lnTo>
                <a:close/>
              </a:path>
            </a:pathLst>
          </a:custGeom>
          <a:solidFill>
            <a:schemeClr val="bg1"/>
          </a:solidFill>
          <a:ln>
            <a:noFill/>
          </a:ln>
        </p:spPr>
        <p:txBody>
          <a:bodyPr vert="horz" wrap="square" lIns="68580" tIns="34290" rIns="68580" bIns="34290" numCol="1" anchor="t" anchorCtr="0" compatLnSpc="1"/>
          <a:lstStyle/>
          <a:p>
            <a:endParaRPr lang="zh-CN" altLang="en-US" sz="1350"/>
          </a:p>
        </p:txBody>
      </p:sp>
      <p:pic>
        <p:nvPicPr>
          <p:cNvPr id="15" name="图片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1362" y="2429346"/>
            <a:ext cx="1596121" cy="1999307"/>
          </a:xfrm>
          <a:prstGeom prst="rect">
            <a:avLst/>
          </a:prstGeom>
        </p:spPr>
      </p:pic>
      <p:sp>
        <p:nvSpPr>
          <p:cNvPr id="20" name="文本占位符 19"/>
          <p:cNvSpPr>
            <a:spLocks noGrp="1"/>
          </p:cNvSpPr>
          <p:nvPr>
            <p:ph type="body" sz="quarter" idx="10"/>
          </p:nvPr>
        </p:nvSpPr>
        <p:spPr>
          <a:xfrm>
            <a:off x="2587484" y="2695225"/>
            <a:ext cx="8438981" cy="1030876"/>
          </a:xfrm>
        </p:spPr>
        <p:txBody>
          <a:bodyPr anchor="ctr"/>
          <a:lstStyle>
            <a:lvl1pPr marL="0" indent="0" algn="ctr">
              <a:lnSpc>
                <a:spcPct val="100000"/>
              </a:lnSpc>
              <a:spcBef>
                <a:spcPts val="0"/>
              </a:spcBef>
              <a:buNone/>
              <a:defRPr b="1" i="0" baseline="0">
                <a:solidFill>
                  <a:schemeClr val="bg1"/>
                </a:solidFill>
              </a:defRPr>
            </a:lvl1pPr>
          </a:lstStyle>
          <a:p>
            <a:pPr lvl="0"/>
            <a:r>
              <a:rPr lang="zh-CN" altLang="en-US"/>
              <a:t>单击此处编辑母版文本样式</a:t>
            </a:r>
          </a:p>
        </p:txBody>
      </p:sp>
      <p:sp>
        <p:nvSpPr>
          <p:cNvPr id="21" name="文本占位符 19"/>
          <p:cNvSpPr>
            <a:spLocks noGrp="1"/>
          </p:cNvSpPr>
          <p:nvPr>
            <p:ph type="body" sz="quarter" idx="11"/>
          </p:nvPr>
        </p:nvSpPr>
        <p:spPr>
          <a:xfrm>
            <a:off x="2587484" y="3738042"/>
            <a:ext cx="8438981" cy="422304"/>
          </a:xfrm>
        </p:spPr>
        <p:txBody>
          <a:bodyPr anchor="ctr">
            <a:normAutofit/>
          </a:bodyPr>
          <a:lstStyle>
            <a:lvl1pPr marL="0" indent="0" algn="ctr">
              <a:lnSpc>
                <a:spcPct val="100000"/>
              </a:lnSpc>
              <a:spcBef>
                <a:spcPts val="0"/>
              </a:spcBef>
              <a:buNone/>
              <a:defRPr sz="1800" baseline="0">
                <a:solidFill>
                  <a:schemeClr val="bg1"/>
                </a:solidFill>
              </a:defRPr>
            </a:lvl1pPr>
          </a:lstStyle>
          <a:p>
            <a:pPr lvl="0"/>
            <a:r>
              <a:rPr lang="zh-CN" altLang="en-US"/>
              <a:t>单击此处编辑母版文本样式</a:t>
            </a:r>
          </a:p>
        </p:txBody>
      </p:sp>
      <p:sp>
        <p:nvSpPr>
          <p:cNvPr id="23" name="文本占位符 22"/>
          <p:cNvSpPr>
            <a:spLocks noGrp="1"/>
          </p:cNvSpPr>
          <p:nvPr>
            <p:ph type="body" sz="quarter" idx="12"/>
          </p:nvPr>
        </p:nvSpPr>
        <p:spPr>
          <a:xfrm>
            <a:off x="6658709" y="4846566"/>
            <a:ext cx="5148903" cy="914400"/>
          </a:xfrm>
        </p:spPr>
        <p:txBody>
          <a:bodyPr>
            <a:normAutofit/>
          </a:bodyPr>
          <a:lstStyle>
            <a:lvl1pPr marL="0" indent="0" algn="r">
              <a:lnSpc>
                <a:spcPct val="100000"/>
              </a:lnSpc>
              <a:spcBef>
                <a:spcPts val="0"/>
              </a:spcBef>
              <a:buNone/>
              <a:defRPr sz="1800"/>
            </a:lvl1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矩形 6"/>
          <p:cNvSpPr/>
          <p:nvPr userDrawn="1"/>
        </p:nvSpPr>
        <p:spPr>
          <a:xfrm>
            <a:off x="0" y="0"/>
            <a:ext cx="3216275" cy="6858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文本框 7"/>
          <p:cNvSpPr txBox="1"/>
          <p:nvPr userDrawn="1"/>
        </p:nvSpPr>
        <p:spPr>
          <a:xfrm>
            <a:off x="0" y="3152001"/>
            <a:ext cx="3216275" cy="553998"/>
          </a:xfrm>
          <a:prstGeom prst="rect">
            <a:avLst/>
          </a:prstGeom>
          <a:noFill/>
        </p:spPr>
        <p:txBody>
          <a:bodyPr wrap="square" rtlCol="0">
            <a:spAutoFit/>
          </a:bodyPr>
          <a:lstStyle/>
          <a:p>
            <a:pPr algn="r"/>
            <a:r>
              <a:rPr lang="en-US" altLang="zh-CN" sz="3000" b="1" dirty="0">
                <a:solidFill>
                  <a:schemeClr val="bg1"/>
                </a:solidFill>
                <a:cs typeface="Times New Roman" panose="02020603050405020304" pitchFamily="18" charset="0"/>
              </a:rPr>
              <a:t>CONTENTS</a:t>
            </a:r>
            <a:endParaRPr lang="zh-CN" altLang="en-US" sz="3000" b="1" dirty="0">
              <a:solidFill>
                <a:schemeClr val="bg1"/>
              </a:solidFill>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致谢">
    <p:spTree>
      <p:nvGrpSpPr>
        <p:cNvPr id="1" name=""/>
        <p:cNvGrpSpPr/>
        <p:nvPr/>
      </p:nvGrpSpPr>
      <p:grpSpPr>
        <a:xfrm>
          <a:off x="0" y="0"/>
          <a:ext cx="0" cy="0"/>
          <a:chOff x="0" y="0"/>
          <a:chExt cx="0" cy="0"/>
        </a:xfrm>
      </p:grpSpPr>
      <p:grpSp>
        <p:nvGrpSpPr>
          <p:cNvPr id="6" name="组合 5"/>
          <p:cNvGrpSpPr/>
          <p:nvPr userDrawn="1"/>
        </p:nvGrpSpPr>
        <p:grpSpPr>
          <a:xfrm>
            <a:off x="0" y="851038"/>
            <a:ext cx="12192000" cy="875445"/>
            <a:chOff x="0" y="3019996"/>
            <a:chExt cx="9144000" cy="893494"/>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3019996"/>
              <a:ext cx="9144000" cy="587986"/>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3829" y="629102"/>
            <a:ext cx="1051611" cy="1321787"/>
          </a:xfrm>
          <a:prstGeom prst="rect">
            <a:avLst/>
          </a:prstGeom>
        </p:spPr>
      </p:pic>
      <p:sp>
        <p:nvSpPr>
          <p:cNvPr id="13" name="文本框 12"/>
          <p:cNvSpPr txBox="1"/>
          <p:nvPr userDrawn="1"/>
        </p:nvSpPr>
        <p:spPr>
          <a:xfrm>
            <a:off x="4054413" y="2828835"/>
            <a:ext cx="4083169" cy="1200329"/>
          </a:xfrm>
          <a:prstGeom prst="rect">
            <a:avLst/>
          </a:prstGeom>
          <a:noFill/>
        </p:spPr>
        <p:txBody>
          <a:bodyPr wrap="none" rtlCol="0">
            <a:spAutoFit/>
          </a:bodyPr>
          <a:lstStyle/>
          <a:p>
            <a:r>
              <a:rPr lang="en-US" altLang="zh-CN" sz="7200" b="1" dirty="0">
                <a:solidFill>
                  <a:srgbClr val="6A005F"/>
                </a:solidFill>
              </a:rPr>
              <a:t>THANKS</a:t>
            </a:r>
            <a:endParaRPr lang="zh-CN" altLang="en-US" sz="7200" b="1" dirty="0">
              <a:solidFill>
                <a:srgbClr val="6A005F"/>
              </a:solidFill>
            </a:endParaRPr>
          </a:p>
        </p:txBody>
      </p:sp>
      <p:pic>
        <p:nvPicPr>
          <p:cNvPr id="14" name="图片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61027" y="6036473"/>
            <a:ext cx="1508760" cy="477982"/>
          </a:xfrm>
          <a:prstGeom prst="rect">
            <a:avLst/>
          </a:prstGeom>
        </p:spPr>
      </p:pic>
      <p:pic>
        <p:nvPicPr>
          <p:cNvPr id="15" name="图片 14"/>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514868" y="5977892"/>
            <a:ext cx="2161309" cy="595143"/>
          </a:xfrm>
          <a:prstGeom prst="rect">
            <a:avLst/>
          </a:prstGeom>
        </p:spPr>
      </p:pic>
      <p:sp>
        <p:nvSpPr>
          <p:cNvPr id="17" name="文本占位符 16"/>
          <p:cNvSpPr>
            <a:spLocks noGrp="1"/>
          </p:cNvSpPr>
          <p:nvPr>
            <p:ph type="body" sz="quarter" idx="10"/>
          </p:nvPr>
        </p:nvSpPr>
        <p:spPr>
          <a:xfrm>
            <a:off x="1875440" y="851037"/>
            <a:ext cx="9844611" cy="576108"/>
          </a:xfrm>
        </p:spPr>
        <p:txBody>
          <a:bodyPr anchor="ctr">
            <a:normAutofit/>
          </a:bodyPr>
          <a:lstStyle>
            <a:lvl1pPr marL="0" indent="0" algn="ctr">
              <a:lnSpc>
                <a:spcPct val="100000"/>
              </a:lnSpc>
              <a:spcBef>
                <a:spcPts val="0"/>
              </a:spcBef>
              <a:buNone/>
              <a:defRPr sz="2000" b="1" i="0" baseline="0">
                <a:solidFill>
                  <a:schemeClr val="bg1"/>
                </a:solidFill>
              </a:defRPr>
            </a:lvl1pPr>
          </a:lstStyle>
          <a:p>
            <a:pPr lvl="0"/>
            <a:r>
              <a:rPr lang="zh-CN" altLang="en-US"/>
              <a:t>单击此处编辑母版文本样式</a:t>
            </a:r>
          </a:p>
        </p:txBody>
      </p:sp>
      <p:sp>
        <p:nvSpPr>
          <p:cNvPr id="18" name="文本占位符 16"/>
          <p:cNvSpPr>
            <a:spLocks noGrp="1"/>
          </p:cNvSpPr>
          <p:nvPr>
            <p:ph type="body" sz="quarter" idx="11"/>
          </p:nvPr>
        </p:nvSpPr>
        <p:spPr>
          <a:xfrm>
            <a:off x="1875440" y="1427146"/>
            <a:ext cx="9844611" cy="299337"/>
          </a:xfrm>
        </p:spPr>
        <p:txBody>
          <a:bodyPr anchor="ctr">
            <a:noAutofit/>
          </a:bodyPr>
          <a:lstStyle>
            <a:lvl1pPr marL="0" indent="0" algn="ctr">
              <a:lnSpc>
                <a:spcPct val="100000"/>
              </a:lnSpc>
              <a:spcBef>
                <a:spcPts val="0"/>
              </a:spcBef>
              <a:buNone/>
              <a:defRPr sz="1600" b="0" i="0" baseline="0">
                <a:solidFill>
                  <a:schemeClr val="bg1"/>
                </a:solidFill>
              </a:defRPr>
            </a:lvl1pPr>
          </a:lstStyle>
          <a:p>
            <a:pPr lvl="0"/>
            <a:r>
              <a:rPr lang="zh-CN" altLang="en-US"/>
              <a:t>单击此处编辑母版文本样式</a:t>
            </a:r>
          </a:p>
        </p:txBody>
      </p:sp>
      <p:sp>
        <p:nvSpPr>
          <p:cNvPr id="20" name="文本占位符 19"/>
          <p:cNvSpPr>
            <a:spLocks noGrp="1"/>
          </p:cNvSpPr>
          <p:nvPr>
            <p:ph type="body" sz="quarter" idx="12"/>
          </p:nvPr>
        </p:nvSpPr>
        <p:spPr>
          <a:xfrm>
            <a:off x="3373886" y="4589847"/>
            <a:ext cx="5444225" cy="1083341"/>
          </a:xfrm>
        </p:spPr>
        <p:txBody>
          <a:bodyPr>
            <a:normAutofit/>
          </a:bodyPr>
          <a:lstStyle>
            <a:lvl1pPr marL="0" indent="0">
              <a:lnSpc>
                <a:spcPct val="100000"/>
              </a:lnSpc>
              <a:spcBef>
                <a:spcPts val="0"/>
              </a:spcBef>
              <a:buNone/>
              <a:defRPr sz="1600">
                <a:solidFill>
                  <a:srgbClr val="6A005F"/>
                </a:solidFill>
              </a:defRPr>
            </a:lvl1pPr>
          </a:lstStyle>
          <a:p>
            <a:pPr lvl="0"/>
            <a:r>
              <a:rPr lang="zh-CN" altLang="en-US"/>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CACE84-866A-C549-9C7F-F20C55C69120}" type="datetime1">
              <a:rPr lang="zh-CN" altLang="en-US" smtClean="0"/>
              <a:t>2025/3/15</a:t>
            </a:fld>
            <a:endParaRPr lang="zh-CN"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ltLang="zh-CN"/>
              <a:t>Dong Shao</a:t>
            </a:r>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D91E7F-84B6-4064-9D4E-CC7D244BCA0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0"/>
        </a:spcBef>
        <a:buFont typeface="Arial" panose="020B0604020202020204" pitchFamily="34" charset="0"/>
        <a:buChar char="•"/>
        <a:defRPr sz="2800" kern="1200" baseline="0">
          <a:solidFill>
            <a:srgbClr val="6A005F"/>
          </a:solidFill>
          <a:latin typeface="+mn-lt"/>
          <a:ea typeface="+mn-ea"/>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baseline="0">
          <a:solidFill>
            <a:srgbClr val="6A005F"/>
          </a:solidFill>
          <a:latin typeface="+mn-lt"/>
          <a:ea typeface="+mn-ea"/>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baseline="0">
          <a:solidFill>
            <a:srgbClr val="6A005F"/>
          </a:solidFill>
          <a:latin typeface="+mn-lt"/>
          <a:ea typeface="+mn-ea"/>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Extreme</a:t>
            </a:r>
            <a:r>
              <a:rPr lang="zh-CN" altLang="en-US" dirty="0"/>
              <a:t> </a:t>
            </a:r>
            <a:r>
              <a:rPr lang="en-US" altLang="zh-CN" dirty="0"/>
              <a:t>Programming</a:t>
            </a:r>
            <a:r>
              <a:rPr lang="zh-CN" altLang="en-US" dirty="0"/>
              <a:t> </a:t>
            </a:r>
            <a:r>
              <a:rPr lang="en-US" altLang="zh-CN" dirty="0"/>
              <a:t>2</a:t>
            </a:r>
            <a:endParaRPr lang="zh-CN" altLang="en-US" dirty="0"/>
          </a:p>
        </p:txBody>
      </p:sp>
      <p:sp>
        <p:nvSpPr>
          <p:cNvPr id="3" name="文本占位符 2"/>
          <p:cNvSpPr>
            <a:spLocks noGrp="1"/>
          </p:cNvSpPr>
          <p:nvPr>
            <p:ph type="body" sz="quarter" idx="11"/>
          </p:nvPr>
        </p:nvSpPr>
        <p:spPr/>
        <p:txBody>
          <a:bodyPr/>
          <a:lstStyle/>
          <a:p>
            <a:endParaRPr lang="zh-CN" altLang="en-US"/>
          </a:p>
        </p:txBody>
      </p:sp>
      <p:sp>
        <p:nvSpPr>
          <p:cNvPr id="4" name="文本占位符 3"/>
          <p:cNvSpPr>
            <a:spLocks noGrp="1"/>
          </p:cNvSpPr>
          <p:nvPr>
            <p:ph type="body" sz="quarter" idx="12"/>
          </p:nvPr>
        </p:nvSpPr>
        <p:spPr/>
        <p:txBody>
          <a:bodyPr/>
          <a:lstStyle/>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1</a:t>
            </a:fld>
            <a:endParaRPr lang="zh-CN" altLang="en-US"/>
          </a:p>
        </p:txBody>
      </p:sp>
      <p:sp>
        <p:nvSpPr>
          <p:cNvPr id="3" name="文本占位符 2"/>
          <p:cNvSpPr>
            <a:spLocks noGrp="1"/>
          </p:cNvSpPr>
          <p:nvPr>
            <p:ph type="body" sz="quarter" idx="13"/>
          </p:nvPr>
        </p:nvSpPr>
        <p:spPr/>
        <p:txBody>
          <a:bodyPr/>
          <a:lstStyle/>
          <a:p>
            <a:r>
              <a:rPr kumimoji="1" lang="zh-CN" altLang="en-US" dirty="0"/>
              <a:t>驾驶比喻</a:t>
            </a:r>
            <a:r>
              <a:rPr kumimoji="1" lang="en-US" altLang="zh-CN" dirty="0"/>
              <a:t>--</a:t>
            </a:r>
            <a:r>
              <a:rPr kumimoji="1" lang="zh-CN" altLang="en-US" dirty="0"/>
              <a:t>软件开发就像驾驶车辆</a:t>
            </a:r>
          </a:p>
        </p:txBody>
      </p:sp>
      <p:sp>
        <p:nvSpPr>
          <p:cNvPr id="4" name="内容占位符 3"/>
          <p:cNvSpPr>
            <a:spLocks noGrp="1"/>
          </p:cNvSpPr>
          <p:nvPr>
            <p:ph idx="1"/>
          </p:nvPr>
        </p:nvSpPr>
        <p:spPr/>
        <p:txBody>
          <a:bodyPr/>
          <a:lstStyle/>
          <a:p>
            <a:r>
              <a:rPr kumimoji="1" lang="zh-CN" altLang="en-US" dirty="0">
                <a:solidFill>
                  <a:srgbClr val="FF0000"/>
                </a:solidFill>
              </a:rPr>
              <a:t>我们需要通过频繁的小调整而非少量的大调整来掌控软件开发进程，就像驾驶汽车一样。</a:t>
            </a:r>
            <a:endParaRPr kumimoji="1" lang="en-US" altLang="zh-CN" dirty="0">
              <a:solidFill>
                <a:srgbClr val="FF0000"/>
              </a:solidFill>
            </a:endParaRPr>
          </a:p>
          <a:p>
            <a:r>
              <a:rPr kumimoji="1" lang="zh-CN" altLang="en-US" dirty="0">
                <a:solidFill>
                  <a:srgbClr val="FF0000"/>
                </a:solidFill>
              </a:rPr>
              <a:t>始终保持关注。</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2</a:t>
            </a:fld>
            <a:endParaRPr lang="zh-CN" altLang="en-US"/>
          </a:p>
        </p:txBody>
      </p:sp>
      <p:sp>
        <p:nvSpPr>
          <p:cNvPr id="3" name="文本占位符 2"/>
          <p:cNvSpPr>
            <a:spLocks noGrp="1"/>
          </p:cNvSpPr>
          <p:nvPr>
            <p:ph type="body" sz="quarter" idx="13"/>
          </p:nvPr>
        </p:nvSpPr>
        <p:spPr/>
        <p:txBody>
          <a:bodyPr/>
          <a:lstStyle/>
          <a:p>
            <a:r>
              <a:rPr kumimoji="1" lang="zh-CN" altLang="en-US" dirty="0"/>
              <a:t>价值观</a:t>
            </a:r>
          </a:p>
        </p:txBody>
      </p:sp>
      <p:sp>
        <p:nvSpPr>
          <p:cNvPr id="4" name="内容占位符 3"/>
          <p:cNvSpPr>
            <a:spLocks noGrp="1"/>
          </p:cNvSpPr>
          <p:nvPr>
            <p:ph idx="1"/>
          </p:nvPr>
        </p:nvSpPr>
        <p:spPr/>
        <p:txBody>
          <a:bodyPr/>
          <a:lstStyle/>
          <a:p>
            <a:pPr eaLnBrk="1" hangingPunct="1"/>
            <a:r>
              <a:rPr lang="en-US" altLang="zh-CN" sz="2800" b="1" dirty="0"/>
              <a:t>Communication</a:t>
            </a:r>
            <a:r>
              <a:rPr lang="zh-CN" altLang="en-US" sz="2800" b="1" dirty="0"/>
              <a:t> 交流</a:t>
            </a:r>
            <a:endParaRPr lang="en-US" altLang="zh-CN" sz="2800" dirty="0"/>
          </a:p>
          <a:p>
            <a:pPr eaLnBrk="1" hangingPunct="1"/>
            <a:r>
              <a:rPr lang="en-US" altLang="zh-CN" sz="2800" b="1" dirty="0"/>
              <a:t>Simplicity</a:t>
            </a:r>
            <a:r>
              <a:rPr lang="zh-CN" altLang="en-US" sz="2800" b="1" dirty="0"/>
              <a:t> 简单</a:t>
            </a:r>
            <a:endParaRPr lang="en-US" altLang="zh-CN" sz="2800" dirty="0"/>
          </a:p>
          <a:p>
            <a:pPr eaLnBrk="1" hangingPunct="1"/>
            <a:r>
              <a:rPr lang="en-US" altLang="zh-CN" sz="2800" b="1" dirty="0"/>
              <a:t>Feedback</a:t>
            </a:r>
            <a:r>
              <a:rPr lang="zh-CN" altLang="en-US" sz="2800" b="1" dirty="0"/>
              <a:t> 反馈</a:t>
            </a:r>
            <a:endParaRPr lang="en-US" altLang="zh-CN" sz="2800" dirty="0"/>
          </a:p>
          <a:p>
            <a:pPr eaLnBrk="1" hangingPunct="1"/>
            <a:r>
              <a:rPr lang="en-US" altLang="zh-CN" sz="2800" b="1" dirty="0"/>
              <a:t>Courage</a:t>
            </a:r>
            <a:r>
              <a:rPr lang="zh-CN" altLang="en-US" sz="2800" b="1" dirty="0"/>
              <a:t> 勇气</a:t>
            </a:r>
            <a:endParaRPr lang="en-US" altLang="zh-CN" sz="2800" dirty="0"/>
          </a:p>
          <a:p>
            <a:endParaRPr kumimoji="1" lang="zh-CN" altLang="en-US" dirty="0"/>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3</a:t>
            </a:fld>
            <a:endParaRPr lang="zh-CN" altLang="en-US"/>
          </a:p>
        </p:txBody>
      </p:sp>
      <p:sp>
        <p:nvSpPr>
          <p:cNvPr id="3" name="文本占位符 2"/>
          <p:cNvSpPr>
            <a:spLocks noGrp="1"/>
          </p:cNvSpPr>
          <p:nvPr>
            <p:ph type="body" sz="quarter" idx="13"/>
          </p:nvPr>
        </p:nvSpPr>
        <p:spPr/>
        <p:txBody>
          <a:bodyPr/>
          <a:lstStyle/>
          <a:p>
            <a:r>
              <a:rPr kumimoji="1" lang="zh-CN" altLang="en-US" dirty="0"/>
              <a:t>交流</a:t>
            </a:r>
          </a:p>
        </p:txBody>
      </p:sp>
      <p:sp>
        <p:nvSpPr>
          <p:cNvPr id="4" name="内容占位符 3"/>
          <p:cNvSpPr>
            <a:spLocks noGrp="1"/>
          </p:cNvSpPr>
          <p:nvPr>
            <p:ph idx="1"/>
          </p:nvPr>
        </p:nvSpPr>
        <p:spPr/>
        <p:txBody>
          <a:bodyPr>
            <a:normAutofit fontScale="92500" lnSpcReduction="10000"/>
          </a:bodyPr>
          <a:lstStyle/>
          <a:p>
            <a:r>
              <a:rPr kumimoji="1" lang="zh-CN" altLang="en-US" dirty="0"/>
              <a:t>开发者间沟通关系：</a:t>
            </a:r>
          </a:p>
          <a:p>
            <a:pPr lvl="1"/>
            <a:r>
              <a:rPr kumimoji="1" lang="en-US" altLang="zh-CN" dirty="0"/>
              <a:t> </a:t>
            </a:r>
            <a:r>
              <a:rPr kumimoji="1" lang="zh-CN" altLang="en-US" dirty="0"/>
              <a:t>开发者 </a:t>
            </a:r>
            <a:r>
              <a:rPr kumimoji="1" lang="en-US" altLang="zh-CN" dirty="0"/>
              <a:t>- </a:t>
            </a:r>
            <a:r>
              <a:rPr kumimoji="1" lang="zh-CN" altLang="en-US" dirty="0"/>
              <a:t>开发者</a:t>
            </a:r>
          </a:p>
          <a:p>
            <a:pPr lvl="1"/>
            <a:r>
              <a:rPr kumimoji="1" lang="en-US" altLang="zh-CN" dirty="0"/>
              <a:t> </a:t>
            </a:r>
            <a:r>
              <a:rPr kumimoji="1" lang="zh-CN" altLang="en-US" dirty="0"/>
              <a:t>开发者 </a:t>
            </a:r>
            <a:r>
              <a:rPr kumimoji="1" lang="en-US" altLang="zh-CN" dirty="0"/>
              <a:t>- </a:t>
            </a:r>
            <a:r>
              <a:rPr kumimoji="1" lang="zh-CN" altLang="en-US" dirty="0"/>
              <a:t>客户</a:t>
            </a:r>
          </a:p>
          <a:p>
            <a:pPr lvl="1"/>
            <a:r>
              <a:rPr kumimoji="1" lang="en-US" altLang="zh-CN" dirty="0"/>
              <a:t> </a:t>
            </a:r>
            <a:r>
              <a:rPr kumimoji="1" lang="zh-CN" altLang="en-US" dirty="0"/>
              <a:t>开发者 </a:t>
            </a:r>
            <a:r>
              <a:rPr kumimoji="1" lang="en-US" altLang="zh-CN" dirty="0"/>
              <a:t>- </a:t>
            </a:r>
            <a:r>
              <a:rPr kumimoji="1" lang="zh-CN" altLang="en-US" dirty="0"/>
              <a:t>管理层</a:t>
            </a:r>
          </a:p>
          <a:p>
            <a:endParaRPr kumimoji="1" lang="zh-CN" altLang="en-US" dirty="0"/>
          </a:p>
          <a:p>
            <a:r>
              <a:rPr kumimoji="1" lang="zh-CN" altLang="en-US" dirty="0"/>
              <a:t>极限编程（</a:t>
            </a:r>
            <a:r>
              <a:rPr kumimoji="1" lang="en-US" altLang="zh-CN" dirty="0"/>
              <a:t>XP</a:t>
            </a:r>
            <a:r>
              <a:rPr kumimoji="1" lang="zh-CN" altLang="en-US" dirty="0"/>
              <a:t>）强制要求的沟通方式：</a:t>
            </a:r>
          </a:p>
          <a:p>
            <a:r>
              <a:rPr kumimoji="1" lang="zh-CN" altLang="en-US" dirty="0"/>
              <a:t>− 单元测试</a:t>
            </a:r>
          </a:p>
          <a:p>
            <a:r>
              <a:rPr kumimoji="1" lang="zh-CN" altLang="en-US" dirty="0"/>
              <a:t>− 结对编程</a:t>
            </a:r>
          </a:p>
          <a:p>
            <a:r>
              <a:rPr kumimoji="1" lang="zh-CN" altLang="en-US" dirty="0"/>
              <a:t>− 任务估算</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4</a:t>
            </a:fld>
            <a:endParaRPr lang="zh-CN" altLang="en-US"/>
          </a:p>
        </p:txBody>
      </p:sp>
      <p:sp>
        <p:nvSpPr>
          <p:cNvPr id="3" name="文本占位符 2"/>
          <p:cNvSpPr>
            <a:spLocks noGrp="1"/>
          </p:cNvSpPr>
          <p:nvPr>
            <p:ph type="body" sz="quarter" idx="13"/>
          </p:nvPr>
        </p:nvSpPr>
        <p:spPr/>
        <p:txBody>
          <a:bodyPr/>
          <a:lstStyle/>
          <a:p>
            <a:r>
              <a:rPr kumimoji="1" lang="zh-CN" altLang="en-US" dirty="0"/>
              <a:t>简单</a:t>
            </a:r>
          </a:p>
        </p:txBody>
      </p:sp>
      <p:sp>
        <p:nvSpPr>
          <p:cNvPr id="4" name="内容占位符 3"/>
          <p:cNvSpPr>
            <a:spLocks noGrp="1"/>
          </p:cNvSpPr>
          <p:nvPr>
            <p:ph idx="1"/>
          </p:nvPr>
        </p:nvSpPr>
        <p:spPr/>
        <p:txBody>
          <a:bodyPr/>
          <a:lstStyle/>
          <a:p>
            <a:r>
              <a:rPr kumimoji="1" lang="en-US" altLang="zh-CN" dirty="0"/>
              <a:t>"What is the simplest thing that could possibly work?“ </a:t>
            </a:r>
          </a:p>
          <a:p>
            <a:pPr algn="l"/>
            <a:r>
              <a:rPr lang="zh-CN" altLang="en-US" b="0" i="0" u="none" strike="noStrike" dirty="0">
                <a:solidFill>
                  <a:srgbClr val="FF0000"/>
                </a:solidFill>
                <a:effectLst/>
                <a:latin typeface="Inter"/>
              </a:rPr>
              <a:t>当前可能奏效的最简方案是什么？</a:t>
            </a:r>
          </a:p>
          <a:p>
            <a:pPr algn="l"/>
            <a:r>
              <a:rPr lang="zh-CN" altLang="en-US" b="0" i="0" u="none" strike="noStrike" dirty="0">
                <a:effectLst/>
                <a:latin typeface="Inter"/>
              </a:rPr>
              <a:t>诠释：</a:t>
            </a:r>
            <a:r>
              <a:rPr lang="en-US" altLang="zh-CN" b="0" i="0" u="none" strike="noStrike" dirty="0">
                <a:effectLst/>
                <a:latin typeface="Inter"/>
              </a:rPr>
              <a:t>XP</a:t>
            </a:r>
            <a:r>
              <a:rPr lang="zh-CN" altLang="en-US" b="0" i="0" u="none" strike="noStrike" dirty="0">
                <a:effectLst/>
                <a:latin typeface="Inter"/>
              </a:rPr>
              <a:t>方法论主张</a:t>
            </a:r>
            <a:r>
              <a:rPr lang="en-US" altLang="zh-CN" b="0" i="0" u="none" strike="noStrike" dirty="0">
                <a:effectLst/>
                <a:latin typeface="Inter"/>
              </a:rPr>
              <a:t>——</a:t>
            </a:r>
            <a:r>
              <a:rPr lang="zh-CN" altLang="en-US" b="0" i="0" u="none" strike="noStrike" dirty="0">
                <a:effectLst/>
                <a:latin typeface="Inter"/>
              </a:rPr>
              <a:t>今天采用简单方案实施，明日若有需要再付出少许额外成本进行迭代优化，远胜于当下就构建可能永远派不上用场的复杂方案。</a:t>
            </a:r>
          </a:p>
          <a:p>
            <a:endParaRPr kumimoji="1" lang="en-US" altLang="zh-CN" dirty="0"/>
          </a:p>
          <a:p>
            <a:endParaRPr kumimoji="1" lang="zh-CN" altLang="en-US" dirty="0"/>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5</a:t>
            </a:fld>
            <a:endParaRPr lang="zh-CN" altLang="en-US"/>
          </a:p>
        </p:txBody>
      </p:sp>
      <p:sp>
        <p:nvSpPr>
          <p:cNvPr id="3" name="文本占位符 2"/>
          <p:cNvSpPr>
            <a:spLocks noGrp="1"/>
          </p:cNvSpPr>
          <p:nvPr>
            <p:ph type="body" sz="quarter" idx="13"/>
          </p:nvPr>
        </p:nvSpPr>
        <p:spPr/>
        <p:txBody>
          <a:bodyPr/>
          <a:lstStyle/>
          <a:p>
            <a:r>
              <a:rPr kumimoji="1" lang="zh-CN" altLang="en-US" dirty="0"/>
              <a:t>交流与沟通的协同效应</a:t>
            </a:r>
          </a:p>
        </p:txBody>
      </p:sp>
      <p:sp>
        <p:nvSpPr>
          <p:cNvPr id="4" name="内容占位符 3"/>
          <p:cNvSpPr>
            <a:spLocks noGrp="1"/>
          </p:cNvSpPr>
          <p:nvPr>
            <p:ph idx="1"/>
          </p:nvPr>
        </p:nvSpPr>
        <p:spPr/>
        <p:txBody>
          <a:bodyPr/>
          <a:lstStyle/>
          <a:p>
            <a:r>
              <a:rPr kumimoji="1" lang="zh-CN" altLang="en-US" dirty="0"/>
              <a:t> </a:t>
            </a:r>
            <a:r>
              <a:rPr kumimoji="1" lang="en-US" altLang="zh-CN" dirty="0"/>
              <a:t>- </a:t>
            </a:r>
            <a:r>
              <a:rPr kumimoji="1" lang="zh-CN" altLang="en-US" dirty="0"/>
              <a:t>沟通越充分，需求越清晰</a:t>
            </a:r>
          </a:p>
          <a:p>
            <a:r>
              <a:rPr kumimoji="1" lang="zh-CN" altLang="en-US" dirty="0"/>
              <a:t>  </a:t>
            </a:r>
            <a:r>
              <a:rPr kumimoji="1" lang="en-US" altLang="zh-CN" dirty="0"/>
              <a:t>- </a:t>
            </a:r>
            <a:r>
              <a:rPr kumimoji="1" lang="zh-CN" altLang="en-US" dirty="0"/>
              <a:t>系统越简单，沟通成本越低</a:t>
            </a:r>
          </a:p>
          <a:p>
            <a:r>
              <a:rPr kumimoji="1" lang="zh-CN" altLang="en-US" dirty="0"/>
              <a:t>  </a:t>
            </a:r>
            <a:r>
              <a:rPr kumimoji="1" lang="en-US" altLang="zh-CN" dirty="0"/>
              <a:t>- </a:t>
            </a:r>
            <a:r>
              <a:rPr kumimoji="1" lang="zh-CN" altLang="en-US" dirty="0"/>
              <a:t>简化系统可减少开发人员数量</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6</a:t>
            </a:fld>
            <a:endParaRPr lang="zh-CN" altLang="en-US"/>
          </a:p>
        </p:txBody>
      </p:sp>
      <p:sp>
        <p:nvSpPr>
          <p:cNvPr id="3" name="文本占位符 2"/>
          <p:cNvSpPr>
            <a:spLocks noGrp="1"/>
          </p:cNvSpPr>
          <p:nvPr>
            <p:ph type="body" sz="quarter" idx="13"/>
          </p:nvPr>
        </p:nvSpPr>
        <p:spPr/>
        <p:txBody>
          <a:bodyPr/>
          <a:lstStyle/>
          <a:p>
            <a:r>
              <a:rPr kumimoji="1" lang="zh-CN" altLang="en-US" dirty="0"/>
              <a:t>反馈</a:t>
            </a:r>
          </a:p>
        </p:txBody>
      </p:sp>
      <p:sp>
        <p:nvSpPr>
          <p:cNvPr id="4" name="内容占位符 3"/>
          <p:cNvSpPr>
            <a:spLocks noGrp="1"/>
          </p:cNvSpPr>
          <p:nvPr>
            <p:ph idx="1"/>
          </p:nvPr>
        </p:nvSpPr>
        <p:spPr/>
        <p:txBody>
          <a:bodyPr/>
          <a:lstStyle/>
          <a:p>
            <a:r>
              <a:rPr kumimoji="1" lang="zh-CN" altLang="en-US" dirty="0"/>
              <a:t>即时反馈（分钟</a:t>
            </a:r>
            <a:r>
              <a:rPr kumimoji="1" lang="en-US" altLang="zh-CN" dirty="0"/>
              <a:t>/</a:t>
            </a:r>
            <a:r>
              <a:rPr kumimoji="1" lang="zh-CN" altLang="en-US" dirty="0"/>
              <a:t>天级）</a:t>
            </a:r>
          </a:p>
          <a:p>
            <a:pPr lvl="1"/>
            <a:r>
              <a:rPr kumimoji="1" lang="en-US" altLang="zh-CN" dirty="0"/>
              <a:t>- </a:t>
            </a:r>
            <a:r>
              <a:rPr kumimoji="1" lang="zh-CN" altLang="en-US" dirty="0"/>
              <a:t>程序员：单元测试</a:t>
            </a:r>
          </a:p>
          <a:p>
            <a:pPr lvl="1"/>
            <a:r>
              <a:rPr kumimoji="1" lang="en-US" altLang="zh-CN" dirty="0"/>
              <a:t>- </a:t>
            </a:r>
            <a:r>
              <a:rPr kumimoji="1" lang="zh-CN" altLang="en-US" dirty="0"/>
              <a:t>客户：实时估算</a:t>
            </a:r>
          </a:p>
          <a:p>
            <a:pPr lvl="1"/>
            <a:r>
              <a:rPr kumimoji="1" lang="en-US" altLang="zh-CN" dirty="0"/>
              <a:t>- </a:t>
            </a:r>
            <a:r>
              <a:rPr kumimoji="1" lang="zh-CN" altLang="en-US" dirty="0"/>
              <a:t>团队：进度跟踪反馈</a:t>
            </a:r>
            <a:endParaRPr kumimoji="1" lang="en-US" altLang="zh-CN" dirty="0"/>
          </a:p>
          <a:p>
            <a:r>
              <a:rPr kumimoji="1" lang="zh-CN" altLang="en-US" dirty="0"/>
              <a:t>中长期反馈（周</a:t>
            </a:r>
            <a:r>
              <a:rPr kumimoji="1" lang="en-US" altLang="zh-CN" dirty="0"/>
              <a:t>/</a:t>
            </a:r>
            <a:r>
              <a:rPr kumimoji="1" lang="zh-CN" altLang="en-US" dirty="0"/>
              <a:t>月级）</a:t>
            </a:r>
          </a:p>
          <a:p>
            <a:pPr lvl="1"/>
            <a:r>
              <a:rPr kumimoji="1" lang="en-US" altLang="zh-CN" dirty="0"/>
              <a:t>- </a:t>
            </a:r>
            <a:r>
              <a:rPr kumimoji="1" lang="zh-CN" altLang="en-US" dirty="0"/>
              <a:t>客户：功能测试</a:t>
            </a:r>
          </a:p>
          <a:p>
            <a:pPr lvl="1"/>
            <a:r>
              <a:rPr kumimoji="1" lang="en-US" altLang="zh-CN" dirty="0"/>
              <a:t>- </a:t>
            </a:r>
            <a:r>
              <a:rPr kumimoji="1" lang="zh-CN" altLang="en-US" dirty="0"/>
              <a:t>运行软件验证</a:t>
            </a:r>
            <a:r>
              <a:rPr kumimoji="1" lang="en-US" altLang="zh-CN" dirty="0"/>
              <a:t>	</a:t>
            </a:r>
            <a:endParaRPr kumimoji="1" lang="zh-CN" altLang="en-US" dirty="0"/>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t>7</a:t>
            </a:fld>
            <a:endParaRPr lang="zh-CN" altLang="en-US"/>
          </a:p>
        </p:txBody>
      </p:sp>
      <p:sp>
        <p:nvSpPr>
          <p:cNvPr id="3" name="文本占位符 2"/>
          <p:cNvSpPr>
            <a:spLocks noGrp="1"/>
          </p:cNvSpPr>
          <p:nvPr>
            <p:ph type="body" sz="quarter" idx="13"/>
          </p:nvPr>
        </p:nvSpPr>
        <p:spPr/>
        <p:txBody>
          <a:bodyPr/>
          <a:lstStyle/>
          <a:p>
            <a:r>
              <a:rPr kumimoji="1" lang="zh-CN" altLang="en-US" dirty="0"/>
              <a:t>反馈与其他价值的联系</a:t>
            </a:r>
          </a:p>
        </p:txBody>
      </p:sp>
      <p:sp>
        <p:nvSpPr>
          <p:cNvPr id="4" name="内容占位符 3"/>
          <p:cNvSpPr>
            <a:spLocks noGrp="1"/>
          </p:cNvSpPr>
          <p:nvPr>
            <p:ph idx="1"/>
          </p:nvPr>
        </p:nvSpPr>
        <p:spPr/>
        <p:txBody>
          <a:bodyPr/>
          <a:lstStyle/>
          <a:p>
            <a:r>
              <a:rPr kumimoji="1" lang="en-US" altLang="zh-CN" dirty="0"/>
              <a:t>- </a:t>
            </a:r>
            <a:r>
              <a:rPr kumimoji="1" lang="zh-CN" altLang="en-US" dirty="0"/>
              <a:t>反馈增强沟通有效性</a:t>
            </a:r>
          </a:p>
          <a:p>
            <a:r>
              <a:rPr kumimoji="1" lang="en-US" altLang="zh-CN" dirty="0"/>
              <a:t>- </a:t>
            </a:r>
            <a:r>
              <a:rPr kumimoji="1" lang="zh-CN" altLang="en-US" dirty="0"/>
              <a:t>简单系统更易测试</a:t>
            </a:r>
          </a:p>
          <a:p>
            <a:r>
              <a:rPr kumimoji="1" lang="en-US" altLang="zh-CN" dirty="0"/>
              <a:t>- </a:t>
            </a:r>
            <a:r>
              <a:rPr kumimoji="1" lang="zh-CN" altLang="en-US" dirty="0"/>
              <a:t>测试驱动系统简化</a:t>
            </a:r>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DFB26-2696-9BF0-9B92-451D2CBDB1CB}"/>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3B30699-366A-5600-175C-E54640F3313E}"/>
              </a:ext>
            </a:extLst>
          </p:cNvPr>
          <p:cNvSpPr>
            <a:spLocks noGrp="1"/>
          </p:cNvSpPr>
          <p:nvPr>
            <p:ph type="sldNum" sz="quarter" idx="12"/>
          </p:nvPr>
        </p:nvSpPr>
        <p:spPr/>
        <p:txBody>
          <a:bodyPr/>
          <a:lstStyle/>
          <a:p>
            <a:fld id="{51D91E7F-84B6-4064-9D4E-CC7D244BCA04}" type="slidenum">
              <a:rPr lang="zh-CN" altLang="en-US" smtClean="0"/>
              <a:t>8</a:t>
            </a:fld>
            <a:endParaRPr lang="zh-CN" altLang="en-US"/>
          </a:p>
        </p:txBody>
      </p:sp>
      <p:sp>
        <p:nvSpPr>
          <p:cNvPr id="3" name="文本占位符 2">
            <a:extLst>
              <a:ext uri="{FF2B5EF4-FFF2-40B4-BE49-F238E27FC236}">
                <a16:creationId xmlns:a16="http://schemas.microsoft.com/office/drawing/2014/main" id="{A07A59BD-6A13-053E-53E2-3C3B6914ED37}"/>
              </a:ext>
            </a:extLst>
          </p:cNvPr>
          <p:cNvSpPr>
            <a:spLocks noGrp="1"/>
          </p:cNvSpPr>
          <p:nvPr>
            <p:ph type="body" sz="quarter" idx="13"/>
          </p:nvPr>
        </p:nvSpPr>
        <p:spPr/>
        <p:txBody>
          <a:bodyPr/>
          <a:lstStyle/>
          <a:p>
            <a:r>
              <a:rPr kumimoji="1" lang="zh-CN" altLang="en-US" dirty="0"/>
              <a:t>勇气</a:t>
            </a:r>
          </a:p>
        </p:txBody>
      </p:sp>
      <p:sp>
        <p:nvSpPr>
          <p:cNvPr id="4" name="内容占位符 3">
            <a:extLst>
              <a:ext uri="{FF2B5EF4-FFF2-40B4-BE49-F238E27FC236}">
                <a16:creationId xmlns:a16="http://schemas.microsoft.com/office/drawing/2014/main" id="{DB3A4DD2-E329-5075-848A-38A71F121E88}"/>
              </a:ext>
            </a:extLst>
          </p:cNvPr>
          <p:cNvSpPr>
            <a:spLocks noGrp="1"/>
          </p:cNvSpPr>
          <p:nvPr>
            <p:ph idx="1"/>
          </p:nvPr>
        </p:nvSpPr>
        <p:spPr/>
        <p:txBody>
          <a:bodyPr/>
          <a:lstStyle/>
          <a:p>
            <a:r>
              <a:rPr kumimoji="1" lang="zh-CN" altLang="en-US" dirty="0"/>
              <a:t>典型案例</a:t>
            </a:r>
          </a:p>
          <a:p>
            <a:pPr lvl="1"/>
            <a:r>
              <a:rPr kumimoji="1" lang="en-US" altLang="zh-CN" dirty="0"/>
              <a:t>- 25/30</a:t>
            </a:r>
            <a:r>
              <a:rPr kumimoji="1" lang="zh-CN" altLang="en-US" dirty="0"/>
              <a:t>周出现架构缺陷</a:t>
            </a:r>
          </a:p>
          <a:p>
            <a:pPr lvl="1"/>
            <a:r>
              <a:rPr kumimoji="1" lang="en-US" altLang="zh-CN" dirty="0"/>
              <a:t>- </a:t>
            </a:r>
            <a:r>
              <a:rPr kumimoji="1" lang="zh-CN" altLang="en-US" dirty="0"/>
              <a:t>重构导致</a:t>
            </a:r>
            <a:r>
              <a:rPr kumimoji="1" lang="en-US" altLang="zh-CN" dirty="0"/>
              <a:t>50%</a:t>
            </a:r>
            <a:r>
              <a:rPr kumimoji="1" lang="zh-CN" altLang="en-US" dirty="0"/>
              <a:t>测试失效</a:t>
            </a:r>
          </a:p>
          <a:p>
            <a:pPr lvl="1"/>
            <a:r>
              <a:rPr kumimoji="1" lang="en-US" altLang="zh-CN" dirty="0"/>
              <a:t>- </a:t>
            </a:r>
            <a:r>
              <a:rPr kumimoji="1" lang="zh-CN" altLang="en-US" dirty="0"/>
              <a:t>勇于推倒重来</a:t>
            </a:r>
            <a:endParaRPr kumimoji="1" lang="en-US" altLang="zh-CN" dirty="0"/>
          </a:p>
          <a:p>
            <a:r>
              <a:rPr kumimoji="1" lang="zh-CN" altLang="en-US" dirty="0"/>
              <a:t>类似</a:t>
            </a:r>
            <a:r>
              <a:rPr kumimoji="1" lang="en-US" altLang="zh-CN" dirty="0"/>
              <a:t>"</a:t>
            </a:r>
            <a:r>
              <a:rPr kumimoji="1" lang="zh-CN" altLang="en-US" dirty="0"/>
              <a:t>爬山算法</a:t>
            </a:r>
            <a:r>
              <a:rPr kumimoji="1" lang="en-US" altLang="zh-CN" dirty="0"/>
              <a:t>"</a:t>
            </a:r>
            <a:r>
              <a:rPr kumimoji="1" lang="zh-CN" altLang="en-US" dirty="0"/>
              <a:t>：</a:t>
            </a:r>
          </a:p>
          <a:p>
            <a:pPr lvl="1"/>
            <a:r>
              <a:rPr kumimoji="1" lang="en-US" altLang="zh-CN" dirty="0"/>
              <a:t>- </a:t>
            </a:r>
            <a:r>
              <a:rPr kumimoji="1" lang="zh-CN" altLang="en-US" dirty="0"/>
              <a:t>简单设计→适度复杂→再简化</a:t>
            </a:r>
          </a:p>
          <a:p>
            <a:pPr lvl="1"/>
            <a:r>
              <a:rPr kumimoji="1" lang="en-US" altLang="zh-CN" dirty="0"/>
              <a:t>- </a:t>
            </a:r>
            <a:r>
              <a:rPr kumimoji="1" lang="zh-CN" altLang="en-US" dirty="0"/>
              <a:t>警惕局部最优陷阱</a:t>
            </a:r>
          </a:p>
        </p:txBody>
      </p:sp>
    </p:spTree>
    <p:extLst>
      <p:ext uri="{BB962C8B-B14F-4D97-AF65-F5344CB8AC3E}">
        <p14:creationId xmlns:p14="http://schemas.microsoft.com/office/powerpoint/2010/main" val="256215855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F6C92-731E-4FC3-0D72-9CBE4C0255D1}"/>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DD91E80-8A21-7491-9198-843790B8C2D9}"/>
              </a:ext>
            </a:extLst>
          </p:cNvPr>
          <p:cNvSpPr>
            <a:spLocks noGrp="1"/>
          </p:cNvSpPr>
          <p:nvPr>
            <p:ph type="sldNum" sz="quarter" idx="12"/>
          </p:nvPr>
        </p:nvSpPr>
        <p:spPr/>
        <p:txBody>
          <a:bodyPr/>
          <a:lstStyle/>
          <a:p>
            <a:fld id="{51D91E7F-84B6-4064-9D4E-CC7D244BCA04}" type="slidenum">
              <a:rPr lang="zh-CN" altLang="en-US" smtClean="0"/>
              <a:t>9</a:t>
            </a:fld>
            <a:endParaRPr lang="zh-CN" altLang="en-US"/>
          </a:p>
        </p:txBody>
      </p:sp>
      <p:sp>
        <p:nvSpPr>
          <p:cNvPr id="3" name="文本占位符 2">
            <a:extLst>
              <a:ext uri="{FF2B5EF4-FFF2-40B4-BE49-F238E27FC236}">
                <a16:creationId xmlns:a16="http://schemas.microsoft.com/office/drawing/2014/main" id="{6F2F6623-B3DF-2553-0945-A4317DF5136E}"/>
              </a:ext>
            </a:extLst>
          </p:cNvPr>
          <p:cNvSpPr>
            <a:spLocks noGrp="1"/>
          </p:cNvSpPr>
          <p:nvPr>
            <p:ph type="body" sz="quarter" idx="13"/>
          </p:nvPr>
        </p:nvSpPr>
        <p:spPr/>
        <p:txBody>
          <a:bodyPr/>
          <a:lstStyle/>
          <a:p>
            <a:r>
              <a:rPr kumimoji="1" lang="zh-CN" altLang="en-US" dirty="0"/>
              <a:t>价值观支撑体系</a:t>
            </a:r>
          </a:p>
        </p:txBody>
      </p:sp>
      <p:sp>
        <p:nvSpPr>
          <p:cNvPr id="4" name="内容占位符 3">
            <a:extLst>
              <a:ext uri="{FF2B5EF4-FFF2-40B4-BE49-F238E27FC236}">
                <a16:creationId xmlns:a16="http://schemas.microsoft.com/office/drawing/2014/main" id="{CD525328-60C4-2F21-2C42-6F4482B6F943}"/>
              </a:ext>
            </a:extLst>
          </p:cNvPr>
          <p:cNvSpPr>
            <a:spLocks noGrp="1"/>
          </p:cNvSpPr>
          <p:nvPr>
            <p:ph idx="1"/>
          </p:nvPr>
        </p:nvSpPr>
        <p:spPr/>
        <p:txBody>
          <a:bodyPr>
            <a:normAutofit fontScale="92500"/>
          </a:bodyPr>
          <a:lstStyle/>
          <a:p>
            <a:r>
              <a:rPr kumimoji="1" lang="zh-CN" altLang="en-US" dirty="0"/>
              <a:t>如果没有前三个价值观（的支持），勇气本身只是纯粹的蛮干。</a:t>
            </a:r>
          </a:p>
          <a:p>
            <a:r>
              <a:rPr kumimoji="1" lang="zh-CN" altLang="en-US" dirty="0"/>
              <a:t>沟通支持勇气，因为它为更多高风险、高回报的实验开辟了可能性。</a:t>
            </a:r>
          </a:p>
          <a:p>
            <a:r>
              <a:rPr kumimoji="1" lang="zh-CN" altLang="en-US" dirty="0"/>
              <a:t>简洁支持勇气，因为对于一个简单的系统，你可以更加勇敢。</a:t>
            </a:r>
          </a:p>
          <a:p>
            <a:r>
              <a:rPr kumimoji="1" lang="zh-CN" altLang="en-US" dirty="0"/>
              <a:t>具体的反馈支持勇气，因为如果你按下一个按钮就能看到测试变绿，那么你在对代码进行激进的修改时会感到更加安全。</a:t>
            </a:r>
            <a:endParaRPr kumimoji="1" lang="en-US" altLang="zh-CN" dirty="0"/>
          </a:p>
          <a:p>
            <a:r>
              <a:rPr kumimoji="1" lang="zh-CN" altLang="en-US" dirty="0"/>
              <a:t>基础：尊重（</a:t>
            </a:r>
            <a:r>
              <a:rPr kumimoji="1" lang="en-US" altLang="zh-CN" dirty="0"/>
              <a:t>Respect</a:t>
            </a:r>
            <a:r>
              <a:rPr kumimoji="1" lang="zh-CN" altLang="en-US" dirty="0"/>
              <a:t>）</a:t>
            </a:r>
            <a:endParaRPr kumimoji="1" lang="en-US" altLang="zh-CN" dirty="0"/>
          </a:p>
          <a:p>
            <a:pPr lvl="1"/>
            <a:r>
              <a:rPr kumimoji="1" lang="zh-CN" altLang="en-US" dirty="0"/>
              <a:t>团队互信是</a:t>
            </a:r>
            <a:r>
              <a:rPr kumimoji="1" lang="en-US" altLang="zh-CN" dirty="0"/>
              <a:t>XP</a:t>
            </a:r>
            <a:r>
              <a:rPr kumimoji="1" lang="zh-CN" altLang="en-US" dirty="0"/>
              <a:t>前提</a:t>
            </a:r>
          </a:p>
          <a:p>
            <a:pPr lvl="1"/>
            <a:r>
              <a:rPr kumimoji="1" lang="zh-CN" altLang="en-US" dirty="0"/>
              <a:t>成员对项目的投入决定成败</a:t>
            </a:r>
          </a:p>
        </p:txBody>
      </p:sp>
    </p:spTree>
    <p:extLst>
      <p:ext uri="{BB962C8B-B14F-4D97-AF65-F5344CB8AC3E}">
        <p14:creationId xmlns:p14="http://schemas.microsoft.com/office/powerpoint/2010/main" val="311529750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267D51-DC36-B930-FC68-6CE5027EBCB2}"/>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C89F364-0659-3AFE-67FE-0D4F816B616F}"/>
              </a:ext>
            </a:extLst>
          </p:cNvPr>
          <p:cNvSpPr>
            <a:spLocks noGrp="1"/>
          </p:cNvSpPr>
          <p:nvPr>
            <p:ph type="sldNum" sz="quarter" idx="12"/>
          </p:nvPr>
        </p:nvSpPr>
        <p:spPr/>
        <p:txBody>
          <a:bodyPr/>
          <a:lstStyle/>
          <a:p>
            <a:fld id="{51D91E7F-84B6-4064-9D4E-CC7D244BCA04}" type="slidenum">
              <a:rPr lang="zh-CN" altLang="en-US" smtClean="0"/>
              <a:t>10</a:t>
            </a:fld>
            <a:endParaRPr lang="zh-CN" altLang="en-US"/>
          </a:p>
        </p:txBody>
      </p:sp>
      <p:sp>
        <p:nvSpPr>
          <p:cNvPr id="3" name="文本占位符 2">
            <a:extLst>
              <a:ext uri="{FF2B5EF4-FFF2-40B4-BE49-F238E27FC236}">
                <a16:creationId xmlns:a16="http://schemas.microsoft.com/office/drawing/2014/main" id="{F080FDDE-41CE-7F2C-B91C-4D19C535A294}"/>
              </a:ext>
            </a:extLst>
          </p:cNvPr>
          <p:cNvSpPr>
            <a:spLocks noGrp="1"/>
          </p:cNvSpPr>
          <p:nvPr>
            <p:ph type="body" sz="quarter" idx="13"/>
          </p:nvPr>
        </p:nvSpPr>
        <p:spPr/>
        <p:txBody>
          <a:bodyPr/>
          <a:lstStyle/>
          <a:p>
            <a:r>
              <a:rPr kumimoji="1" lang="zh-CN" altLang="en-US" dirty="0"/>
              <a:t>软件开发的基本内容</a:t>
            </a:r>
          </a:p>
        </p:txBody>
      </p:sp>
      <p:pic>
        <p:nvPicPr>
          <p:cNvPr id="5" name="内容占位符 4">
            <a:extLst>
              <a:ext uri="{FF2B5EF4-FFF2-40B4-BE49-F238E27FC236}">
                <a16:creationId xmlns:a16="http://schemas.microsoft.com/office/drawing/2014/main" id="{AB88AAB5-321A-02E3-02E5-566A954A5F71}"/>
              </a:ext>
            </a:extLst>
          </p:cNvPr>
          <p:cNvPicPr>
            <a:picLocks noGrp="1" noChangeAspect="1"/>
          </p:cNvPicPr>
          <p:nvPr>
            <p:ph idx="1"/>
          </p:nvPr>
        </p:nvPicPr>
        <p:blipFill>
          <a:blip r:embed="rId2"/>
          <a:stretch>
            <a:fillRect/>
          </a:stretch>
        </p:blipFill>
        <p:spPr>
          <a:xfrm>
            <a:off x="1358072" y="1201515"/>
            <a:ext cx="3280330" cy="4886325"/>
          </a:xfrm>
          <a:prstGeom prst="rect">
            <a:avLst/>
          </a:prstGeom>
        </p:spPr>
      </p:pic>
      <p:sp>
        <p:nvSpPr>
          <p:cNvPr id="7" name="文本框 6">
            <a:extLst>
              <a:ext uri="{FF2B5EF4-FFF2-40B4-BE49-F238E27FC236}">
                <a16:creationId xmlns:a16="http://schemas.microsoft.com/office/drawing/2014/main" id="{07130683-3E7F-C5F5-A6F8-70296C7D28EC}"/>
              </a:ext>
            </a:extLst>
          </p:cNvPr>
          <p:cNvSpPr txBox="1"/>
          <p:nvPr/>
        </p:nvSpPr>
        <p:spPr>
          <a:xfrm>
            <a:off x="5010538" y="1944174"/>
            <a:ext cx="6102220" cy="2554545"/>
          </a:xfrm>
          <a:prstGeom prst="rect">
            <a:avLst/>
          </a:prstGeom>
          <a:noFill/>
        </p:spPr>
        <p:txBody>
          <a:bodyPr wrap="square">
            <a:spAutoFit/>
          </a:bodyPr>
          <a:lstStyle/>
          <a:p>
            <a:r>
              <a:rPr lang="zh-CN" altLang="en-US" sz="3200" b="0" i="0" dirty="0">
                <a:effectLst/>
                <a:latin typeface="Inter"/>
              </a:rPr>
              <a:t>我们希望尽我们必须做的一切来实现稳定、可预测的软件开发。</a:t>
            </a:r>
            <a:endParaRPr lang="en-US" altLang="zh-CN" sz="3200" b="0" i="0" dirty="0">
              <a:effectLst/>
              <a:latin typeface="Inter"/>
            </a:endParaRPr>
          </a:p>
          <a:p>
            <a:endParaRPr lang="en-US" altLang="zh-CN" sz="3200" b="0" i="0" dirty="0">
              <a:effectLst/>
              <a:latin typeface="Inter"/>
            </a:endParaRPr>
          </a:p>
          <a:p>
            <a:r>
              <a:rPr lang="zh-CN" altLang="en-US" sz="3200" b="0" i="0" dirty="0">
                <a:effectLst/>
                <a:latin typeface="Inter"/>
              </a:rPr>
              <a:t>开发的四项基本活动是编码、测试、倾听和设计。</a:t>
            </a:r>
            <a:endParaRPr lang="zh-CN" altLang="en-US" sz="3200" dirty="0"/>
          </a:p>
        </p:txBody>
      </p:sp>
    </p:spTree>
    <p:extLst>
      <p:ext uri="{BB962C8B-B14F-4D97-AF65-F5344CB8AC3E}">
        <p14:creationId xmlns:p14="http://schemas.microsoft.com/office/powerpoint/2010/main" val="358382105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47BF6-4E1B-188D-FC39-D0BD6890A23B}"/>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1B38DD6-31A2-51A2-24B7-C2B8BAFB88C0}"/>
              </a:ext>
            </a:extLst>
          </p:cNvPr>
          <p:cNvSpPr>
            <a:spLocks noGrp="1"/>
          </p:cNvSpPr>
          <p:nvPr>
            <p:ph type="sldNum" sz="quarter" idx="12"/>
          </p:nvPr>
        </p:nvSpPr>
        <p:spPr/>
        <p:txBody>
          <a:bodyPr/>
          <a:lstStyle/>
          <a:p>
            <a:fld id="{51D91E7F-84B6-4064-9D4E-CC7D244BCA04}" type="slidenum">
              <a:rPr lang="zh-CN" altLang="en-US" smtClean="0"/>
              <a:t>11</a:t>
            </a:fld>
            <a:endParaRPr lang="zh-CN" altLang="en-US"/>
          </a:p>
        </p:txBody>
      </p:sp>
      <p:sp>
        <p:nvSpPr>
          <p:cNvPr id="3" name="文本占位符 2">
            <a:extLst>
              <a:ext uri="{FF2B5EF4-FFF2-40B4-BE49-F238E27FC236}">
                <a16:creationId xmlns:a16="http://schemas.microsoft.com/office/drawing/2014/main" id="{9701A563-703F-7B49-CC81-D0295F00E208}"/>
              </a:ext>
            </a:extLst>
          </p:cNvPr>
          <p:cNvSpPr>
            <a:spLocks noGrp="1"/>
          </p:cNvSpPr>
          <p:nvPr>
            <p:ph type="body" sz="quarter" idx="13"/>
          </p:nvPr>
        </p:nvSpPr>
        <p:spPr/>
        <p:txBody>
          <a:bodyPr/>
          <a:lstStyle/>
          <a:p>
            <a:r>
              <a:rPr kumimoji="1" lang="zh-CN" altLang="en-US" dirty="0"/>
              <a:t>编码</a:t>
            </a:r>
          </a:p>
        </p:txBody>
      </p:sp>
      <p:sp>
        <p:nvSpPr>
          <p:cNvPr id="4" name="内容占位符 3">
            <a:extLst>
              <a:ext uri="{FF2B5EF4-FFF2-40B4-BE49-F238E27FC236}">
                <a16:creationId xmlns:a16="http://schemas.microsoft.com/office/drawing/2014/main" id="{D8FFBA4F-B81C-8EBA-31A2-648CD98CB214}"/>
              </a:ext>
            </a:extLst>
          </p:cNvPr>
          <p:cNvSpPr>
            <a:spLocks noGrp="1"/>
          </p:cNvSpPr>
          <p:nvPr>
            <p:ph idx="1"/>
          </p:nvPr>
        </p:nvSpPr>
        <p:spPr/>
        <p:txBody>
          <a:bodyPr/>
          <a:lstStyle/>
          <a:p>
            <a:r>
              <a:rPr lang="zh-CN" altLang="en-US" b="0" i="0" dirty="0">
                <a:effectLst/>
                <a:latin typeface="Inter"/>
              </a:rPr>
              <a:t>这是你工作的成果。</a:t>
            </a:r>
            <a:endParaRPr lang="en-US" altLang="zh-CN" b="0" i="0" dirty="0">
              <a:effectLst/>
              <a:latin typeface="Inter"/>
            </a:endParaRPr>
          </a:p>
          <a:p>
            <a:r>
              <a:rPr lang="zh-CN" altLang="en-US" b="0" i="0" dirty="0">
                <a:effectLst/>
                <a:latin typeface="Inter"/>
              </a:rPr>
              <a:t>其他价值：</a:t>
            </a:r>
            <a:br>
              <a:rPr lang="zh-CN" altLang="en-US" dirty="0"/>
            </a:br>
            <a:r>
              <a:rPr lang="en-US" altLang="zh-CN" dirty="0"/>
              <a:t>	</a:t>
            </a:r>
            <a:r>
              <a:rPr lang="zh-CN" altLang="en-US" b="0" i="0" dirty="0">
                <a:effectLst/>
                <a:latin typeface="Inter"/>
              </a:rPr>
              <a:t>学习。</a:t>
            </a:r>
            <a:br>
              <a:rPr lang="zh-CN" altLang="en-US" dirty="0"/>
            </a:br>
            <a:r>
              <a:rPr lang="en-US" altLang="zh-CN" dirty="0"/>
              <a:t>	</a:t>
            </a:r>
            <a:r>
              <a:rPr lang="zh-CN" altLang="en-US" b="0" i="0" dirty="0">
                <a:effectLst/>
                <a:latin typeface="Inter"/>
              </a:rPr>
              <a:t>沟通：准确。</a:t>
            </a:r>
            <a:endParaRPr kumimoji="1" lang="zh-CN" altLang="en-US" dirty="0"/>
          </a:p>
        </p:txBody>
      </p:sp>
    </p:spTree>
    <p:extLst>
      <p:ext uri="{BB962C8B-B14F-4D97-AF65-F5344CB8AC3E}">
        <p14:creationId xmlns:p14="http://schemas.microsoft.com/office/powerpoint/2010/main" val="256224198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71B63-BFBF-8B63-FD3B-02C976DAB32E}"/>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2E455C2-8805-ECAF-96AA-80403587CF62}"/>
              </a:ext>
            </a:extLst>
          </p:cNvPr>
          <p:cNvSpPr>
            <a:spLocks noGrp="1"/>
          </p:cNvSpPr>
          <p:nvPr>
            <p:ph type="sldNum" sz="quarter" idx="12"/>
          </p:nvPr>
        </p:nvSpPr>
        <p:spPr/>
        <p:txBody>
          <a:bodyPr/>
          <a:lstStyle/>
          <a:p>
            <a:fld id="{51D91E7F-84B6-4064-9D4E-CC7D244BCA04}" type="slidenum">
              <a:rPr lang="zh-CN" altLang="en-US" smtClean="0"/>
              <a:t>12</a:t>
            </a:fld>
            <a:endParaRPr lang="zh-CN" altLang="en-US"/>
          </a:p>
        </p:txBody>
      </p:sp>
      <p:sp>
        <p:nvSpPr>
          <p:cNvPr id="3" name="文本占位符 2">
            <a:extLst>
              <a:ext uri="{FF2B5EF4-FFF2-40B4-BE49-F238E27FC236}">
                <a16:creationId xmlns:a16="http://schemas.microsoft.com/office/drawing/2014/main" id="{098BB328-A334-1C90-4B93-BC05C1B949A9}"/>
              </a:ext>
            </a:extLst>
          </p:cNvPr>
          <p:cNvSpPr>
            <a:spLocks noGrp="1"/>
          </p:cNvSpPr>
          <p:nvPr>
            <p:ph type="body" sz="quarter" idx="13"/>
          </p:nvPr>
        </p:nvSpPr>
        <p:spPr/>
        <p:txBody>
          <a:bodyPr/>
          <a:lstStyle/>
          <a:p>
            <a:r>
              <a:rPr kumimoji="1" lang="zh-CN" altLang="en-US" dirty="0"/>
              <a:t>测试</a:t>
            </a:r>
          </a:p>
        </p:txBody>
      </p:sp>
      <p:sp>
        <p:nvSpPr>
          <p:cNvPr id="4" name="内容占位符 3">
            <a:extLst>
              <a:ext uri="{FF2B5EF4-FFF2-40B4-BE49-F238E27FC236}">
                <a16:creationId xmlns:a16="http://schemas.microsoft.com/office/drawing/2014/main" id="{F8E10073-343D-AB1D-7F1B-7205BBCAD829}"/>
              </a:ext>
            </a:extLst>
          </p:cNvPr>
          <p:cNvSpPr>
            <a:spLocks noGrp="1"/>
          </p:cNvSpPr>
          <p:nvPr>
            <p:ph idx="1"/>
          </p:nvPr>
        </p:nvSpPr>
        <p:spPr/>
        <p:txBody>
          <a:bodyPr>
            <a:normAutofit fontScale="77500" lnSpcReduction="20000"/>
          </a:bodyPr>
          <a:lstStyle/>
          <a:p>
            <a:r>
              <a:rPr kumimoji="1" lang="zh-CN" altLang="en-US" dirty="0"/>
              <a:t>“任何无法测量的东西都不存在”</a:t>
            </a:r>
            <a:r>
              <a:rPr kumimoji="1" lang="en-US" altLang="zh-CN" dirty="0"/>
              <a:t>—— </a:t>
            </a:r>
            <a:r>
              <a:rPr kumimoji="1" lang="zh-CN" altLang="en-US" dirty="0"/>
              <a:t>科学哲学（对编程也适用）</a:t>
            </a:r>
          </a:p>
          <a:p>
            <a:r>
              <a:rPr kumimoji="1" lang="zh-CN" altLang="en-US" dirty="0"/>
              <a:t>测试让我有机会独立于实现方式去思考我想要的东西。然后，测试告诉我是否实现了我认为我实现的东西。</a:t>
            </a:r>
            <a:endParaRPr kumimoji="1" lang="en-US" altLang="zh-CN" dirty="0"/>
          </a:p>
          <a:p>
            <a:r>
              <a:rPr kumimoji="1" lang="zh-CN" altLang="en-US" dirty="0"/>
              <a:t>测试会告诉你何时完成</a:t>
            </a:r>
            <a:r>
              <a:rPr kumimoji="1" lang="en-US" altLang="zh-CN" dirty="0"/>
              <a:t>——</a:t>
            </a:r>
            <a:r>
              <a:rPr kumimoji="1" lang="zh-CN" altLang="en-US" dirty="0"/>
              <a:t>当测试运行时，你暂时完成了编码。</a:t>
            </a:r>
            <a:endParaRPr kumimoji="1" lang="en-US" altLang="zh-CN" dirty="0"/>
          </a:p>
          <a:p>
            <a:r>
              <a:rPr lang="zh-CN" altLang="en-US" b="0" i="0" u="none" strike="noStrike" dirty="0">
                <a:effectLst/>
                <a:latin typeface="PingFang SC" panose="020B0400000000000000" pitchFamily="34" charset="-122"/>
                <a:ea typeface="PingFang SC" panose="020B0400000000000000" pitchFamily="34" charset="-122"/>
              </a:rPr>
              <a:t>当所有可能的测试用例均已通过且无法再设计出新的失败场景时，即可视为完全完成。</a:t>
            </a:r>
            <a:endParaRPr lang="en-US" altLang="zh-CN" b="0" i="0" u="none" strike="noStrike" dirty="0">
              <a:effectLst/>
              <a:latin typeface="PingFang SC" panose="020B0400000000000000" pitchFamily="34" charset="-122"/>
              <a:ea typeface="PingFang SC" panose="020B0400000000000000" pitchFamily="34" charset="-122"/>
            </a:endParaRPr>
          </a:p>
          <a:p>
            <a:r>
              <a:rPr kumimoji="1" lang="zh-CN" altLang="en-US" dirty="0"/>
              <a:t>长期来看，为什么要测试的答案是测试能让程序的寿命更长（如果测试被运行和维护的话）。你可以在更长的时间里修改程序。</a:t>
            </a:r>
          </a:p>
          <a:p>
            <a:r>
              <a:rPr kumimoji="1" lang="zh-CN" altLang="en-US" dirty="0"/>
              <a:t>短期原因：信心。</a:t>
            </a:r>
          </a:p>
          <a:p>
            <a:r>
              <a:rPr kumimoji="1" lang="zh-CN" altLang="en-US" dirty="0"/>
              <a:t>一起编程和测试也比仅仅编程更快。</a:t>
            </a:r>
          </a:p>
          <a:p>
            <a:pPr lvl="1"/>
            <a:r>
              <a:rPr kumimoji="1" lang="zh-CN" altLang="en-US" dirty="0"/>
              <a:t>生产力的提升来自于调试所花费时间的减少。</a:t>
            </a:r>
          </a:p>
        </p:txBody>
      </p:sp>
    </p:spTree>
    <p:extLst>
      <p:ext uri="{BB962C8B-B14F-4D97-AF65-F5344CB8AC3E}">
        <p14:creationId xmlns:p14="http://schemas.microsoft.com/office/powerpoint/2010/main" val="209010365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E97D1-8727-1582-0782-2BD3D133DAC4}"/>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4B8E05B-223C-75D1-919E-B1DEB3A10248}"/>
              </a:ext>
            </a:extLst>
          </p:cNvPr>
          <p:cNvSpPr>
            <a:spLocks noGrp="1"/>
          </p:cNvSpPr>
          <p:nvPr>
            <p:ph type="sldNum" sz="quarter" idx="12"/>
          </p:nvPr>
        </p:nvSpPr>
        <p:spPr/>
        <p:txBody>
          <a:bodyPr/>
          <a:lstStyle/>
          <a:p>
            <a:fld id="{51D91E7F-84B6-4064-9D4E-CC7D244BCA04}" type="slidenum">
              <a:rPr lang="zh-CN" altLang="en-US" smtClean="0"/>
              <a:t>13</a:t>
            </a:fld>
            <a:endParaRPr lang="zh-CN" altLang="en-US"/>
          </a:p>
        </p:txBody>
      </p:sp>
      <p:sp>
        <p:nvSpPr>
          <p:cNvPr id="3" name="文本占位符 2">
            <a:extLst>
              <a:ext uri="{FF2B5EF4-FFF2-40B4-BE49-F238E27FC236}">
                <a16:creationId xmlns:a16="http://schemas.microsoft.com/office/drawing/2014/main" id="{E001F0B6-7FA5-E9C0-846B-575644092FF0}"/>
              </a:ext>
            </a:extLst>
          </p:cNvPr>
          <p:cNvSpPr>
            <a:spLocks noGrp="1"/>
          </p:cNvSpPr>
          <p:nvPr>
            <p:ph type="body" sz="quarter" idx="13"/>
          </p:nvPr>
        </p:nvSpPr>
        <p:spPr/>
        <p:txBody>
          <a:bodyPr/>
          <a:lstStyle/>
          <a:p>
            <a:r>
              <a:rPr kumimoji="1" lang="zh-CN" altLang="en-US" dirty="0"/>
              <a:t>测试类型</a:t>
            </a:r>
          </a:p>
        </p:txBody>
      </p:sp>
      <p:sp>
        <p:nvSpPr>
          <p:cNvPr id="4" name="内容占位符 3">
            <a:extLst>
              <a:ext uri="{FF2B5EF4-FFF2-40B4-BE49-F238E27FC236}">
                <a16:creationId xmlns:a16="http://schemas.microsoft.com/office/drawing/2014/main" id="{248A732C-E8CE-4171-F8BD-3E78222BE93A}"/>
              </a:ext>
            </a:extLst>
          </p:cNvPr>
          <p:cNvSpPr>
            <a:spLocks noGrp="1"/>
          </p:cNvSpPr>
          <p:nvPr>
            <p:ph idx="1"/>
          </p:nvPr>
        </p:nvSpPr>
        <p:spPr/>
        <p:txBody>
          <a:bodyPr/>
          <a:lstStyle/>
          <a:p>
            <a:r>
              <a:rPr kumimoji="1" lang="zh-CN" altLang="en-US" dirty="0"/>
              <a:t>我们将有程序员编写的单元测试，以使他们自己确信他们的程序按照他们认为的方式工作。</a:t>
            </a:r>
            <a:endParaRPr kumimoji="1" lang="en-US" altLang="zh-CN" dirty="0"/>
          </a:p>
          <a:p>
            <a:r>
              <a:rPr kumimoji="1" lang="zh-CN" altLang="en-US" dirty="0"/>
              <a:t>我们还将有由客户编写（或至少由客户指定）的功能测试，以使他们自己确信整个系统按照他们认为的整个系统应有的方式工作。</a:t>
            </a:r>
          </a:p>
        </p:txBody>
      </p:sp>
    </p:spTree>
    <p:extLst>
      <p:ext uri="{BB962C8B-B14F-4D97-AF65-F5344CB8AC3E}">
        <p14:creationId xmlns:p14="http://schemas.microsoft.com/office/powerpoint/2010/main" val="296414183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5BD70-620D-538A-EAE4-82FFC2036D24}"/>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3C5825D-4B19-EFA3-0E2D-19E929E55EB6}"/>
              </a:ext>
            </a:extLst>
          </p:cNvPr>
          <p:cNvSpPr>
            <a:spLocks noGrp="1"/>
          </p:cNvSpPr>
          <p:nvPr>
            <p:ph type="sldNum" sz="quarter" idx="12"/>
          </p:nvPr>
        </p:nvSpPr>
        <p:spPr/>
        <p:txBody>
          <a:bodyPr/>
          <a:lstStyle/>
          <a:p>
            <a:fld id="{51D91E7F-84B6-4064-9D4E-CC7D244BCA04}" type="slidenum">
              <a:rPr lang="zh-CN" altLang="en-US" smtClean="0"/>
              <a:t>14</a:t>
            </a:fld>
            <a:endParaRPr lang="zh-CN" altLang="en-US"/>
          </a:p>
        </p:txBody>
      </p:sp>
      <p:sp>
        <p:nvSpPr>
          <p:cNvPr id="3" name="文本占位符 2">
            <a:extLst>
              <a:ext uri="{FF2B5EF4-FFF2-40B4-BE49-F238E27FC236}">
                <a16:creationId xmlns:a16="http://schemas.microsoft.com/office/drawing/2014/main" id="{2E5A2B1B-F47E-3709-C66C-197E3FCCF537}"/>
              </a:ext>
            </a:extLst>
          </p:cNvPr>
          <p:cNvSpPr>
            <a:spLocks noGrp="1"/>
          </p:cNvSpPr>
          <p:nvPr>
            <p:ph type="body" sz="quarter" idx="13"/>
          </p:nvPr>
        </p:nvSpPr>
        <p:spPr/>
        <p:txBody>
          <a:bodyPr/>
          <a:lstStyle/>
          <a:p>
            <a:r>
              <a:rPr kumimoji="1" lang="zh-CN" altLang="en-US" dirty="0"/>
              <a:t>倾听</a:t>
            </a:r>
          </a:p>
        </p:txBody>
      </p:sp>
      <p:sp>
        <p:nvSpPr>
          <p:cNvPr id="4" name="内容占位符 3">
            <a:extLst>
              <a:ext uri="{FF2B5EF4-FFF2-40B4-BE49-F238E27FC236}">
                <a16:creationId xmlns:a16="http://schemas.microsoft.com/office/drawing/2014/main" id="{B2283EE6-8D24-E1EA-E5F0-4D31D892513F}"/>
              </a:ext>
            </a:extLst>
          </p:cNvPr>
          <p:cNvSpPr>
            <a:spLocks noGrp="1"/>
          </p:cNvSpPr>
          <p:nvPr>
            <p:ph idx="1"/>
          </p:nvPr>
        </p:nvSpPr>
        <p:spPr/>
        <p:txBody>
          <a:bodyPr/>
          <a:lstStyle/>
          <a:p>
            <a:r>
              <a:rPr kumimoji="1" lang="zh-CN" altLang="en-US" dirty="0"/>
              <a:t>程序员请业务人员说明项目的需求。</a:t>
            </a:r>
          </a:p>
          <a:p>
            <a:r>
              <a:rPr kumimoji="1" lang="zh-CN" altLang="en-US" dirty="0"/>
              <a:t>程序员帮助业务人员了解软件方面哪些容易，哪些困难。</a:t>
            </a:r>
          </a:p>
          <a:p>
            <a:r>
              <a:rPr kumimoji="1" lang="zh-CN" altLang="en-US" dirty="0"/>
              <a:t>相互倾听（程序员与程序员之间、程序员与客户之间）。</a:t>
            </a:r>
          </a:p>
        </p:txBody>
      </p:sp>
    </p:spTree>
    <p:extLst>
      <p:ext uri="{BB962C8B-B14F-4D97-AF65-F5344CB8AC3E}">
        <p14:creationId xmlns:p14="http://schemas.microsoft.com/office/powerpoint/2010/main" val="300640269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B063F-13D5-44F4-8F50-C1672EB94CDC}"/>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961C81C7-1C7A-CCA2-C1D4-808BBDC077C9}"/>
              </a:ext>
            </a:extLst>
          </p:cNvPr>
          <p:cNvSpPr>
            <a:spLocks noGrp="1"/>
          </p:cNvSpPr>
          <p:nvPr>
            <p:ph type="sldNum" sz="quarter" idx="12"/>
          </p:nvPr>
        </p:nvSpPr>
        <p:spPr/>
        <p:txBody>
          <a:bodyPr/>
          <a:lstStyle/>
          <a:p>
            <a:fld id="{51D91E7F-84B6-4064-9D4E-CC7D244BCA04}" type="slidenum">
              <a:rPr lang="zh-CN" altLang="en-US" smtClean="0"/>
              <a:t>15</a:t>
            </a:fld>
            <a:endParaRPr lang="zh-CN" altLang="en-US"/>
          </a:p>
        </p:txBody>
      </p:sp>
      <p:sp>
        <p:nvSpPr>
          <p:cNvPr id="3" name="文本占位符 2">
            <a:extLst>
              <a:ext uri="{FF2B5EF4-FFF2-40B4-BE49-F238E27FC236}">
                <a16:creationId xmlns:a16="http://schemas.microsoft.com/office/drawing/2014/main" id="{FD8D6BDB-7D69-CC0E-0162-ACB126382923}"/>
              </a:ext>
            </a:extLst>
          </p:cNvPr>
          <p:cNvSpPr>
            <a:spLocks noGrp="1"/>
          </p:cNvSpPr>
          <p:nvPr>
            <p:ph type="body" sz="quarter" idx="13"/>
          </p:nvPr>
        </p:nvSpPr>
        <p:spPr/>
        <p:txBody>
          <a:bodyPr/>
          <a:lstStyle/>
          <a:p>
            <a:r>
              <a:rPr kumimoji="1" lang="zh-CN" altLang="en-US" dirty="0"/>
              <a:t>设计</a:t>
            </a:r>
          </a:p>
        </p:txBody>
      </p:sp>
      <p:sp>
        <p:nvSpPr>
          <p:cNvPr id="4" name="内容占位符 3">
            <a:extLst>
              <a:ext uri="{FF2B5EF4-FFF2-40B4-BE49-F238E27FC236}">
                <a16:creationId xmlns:a16="http://schemas.microsoft.com/office/drawing/2014/main" id="{14647011-83C9-A702-399E-37C84E89B330}"/>
              </a:ext>
            </a:extLst>
          </p:cNvPr>
          <p:cNvSpPr>
            <a:spLocks noGrp="1"/>
          </p:cNvSpPr>
          <p:nvPr>
            <p:ph idx="1"/>
          </p:nvPr>
        </p:nvSpPr>
        <p:spPr/>
        <p:txBody>
          <a:bodyPr/>
          <a:lstStyle/>
          <a:p>
            <a:r>
              <a:rPr kumimoji="1" lang="en-US" altLang="zh-CN" dirty="0"/>
              <a:t>Why</a:t>
            </a:r>
          </a:p>
          <a:p>
            <a:r>
              <a:rPr kumimoji="1" lang="zh-CN" altLang="en-US" dirty="0"/>
              <a:t>只是听一听，写一个测试用例，让它运行，再听一听，再写一个测试用例，无限循环下去吗？</a:t>
            </a:r>
            <a:r>
              <a:rPr kumimoji="1" lang="zh-CN" altLang="en-US" dirty="0">
                <a:solidFill>
                  <a:srgbClr val="FF0000"/>
                </a:solidFill>
              </a:rPr>
              <a:t>不。会出现：</a:t>
            </a:r>
            <a:endParaRPr kumimoji="1" lang="en-US" altLang="zh-CN" dirty="0">
              <a:solidFill>
                <a:srgbClr val="FF0000"/>
              </a:solidFill>
            </a:endParaRPr>
          </a:p>
          <a:p>
            <a:pPr lvl="1"/>
            <a:r>
              <a:rPr kumimoji="1" lang="zh-CN" altLang="en-US" dirty="0"/>
              <a:t>让下一个测试用例运行的唯一方法是破坏另一个。</a:t>
            </a:r>
            <a:endParaRPr kumimoji="1" lang="en-US" altLang="zh-CN" dirty="0"/>
          </a:p>
          <a:p>
            <a:pPr lvl="1"/>
            <a:r>
              <a:rPr kumimoji="1" lang="zh-CN" altLang="en-US" dirty="0"/>
              <a:t>或者让测试用例运行的唯一方法所带来的麻烦远远超过了它的价值。”</a:t>
            </a:r>
            <a:endParaRPr kumimoji="1" lang="en-US" altLang="zh-CN" dirty="0"/>
          </a:p>
          <a:p>
            <a:endParaRPr kumimoji="1" lang="zh-CN" altLang="en-US" dirty="0"/>
          </a:p>
        </p:txBody>
      </p:sp>
    </p:spTree>
    <p:extLst>
      <p:ext uri="{BB962C8B-B14F-4D97-AF65-F5344CB8AC3E}">
        <p14:creationId xmlns:p14="http://schemas.microsoft.com/office/powerpoint/2010/main" val="290298340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1884B-DD50-ECFB-D0AE-158D33CACABF}"/>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6AE8B6C-51C8-E852-394E-409FC0EE2091}"/>
              </a:ext>
            </a:extLst>
          </p:cNvPr>
          <p:cNvSpPr>
            <a:spLocks noGrp="1"/>
          </p:cNvSpPr>
          <p:nvPr>
            <p:ph type="sldNum" sz="quarter" idx="12"/>
          </p:nvPr>
        </p:nvSpPr>
        <p:spPr/>
        <p:txBody>
          <a:bodyPr/>
          <a:lstStyle/>
          <a:p>
            <a:fld id="{51D91E7F-84B6-4064-9D4E-CC7D244BCA04}" type="slidenum">
              <a:rPr lang="zh-CN" altLang="en-US" smtClean="0"/>
              <a:t>16</a:t>
            </a:fld>
            <a:endParaRPr lang="zh-CN" altLang="en-US"/>
          </a:p>
        </p:txBody>
      </p:sp>
      <p:sp>
        <p:nvSpPr>
          <p:cNvPr id="3" name="文本占位符 2">
            <a:extLst>
              <a:ext uri="{FF2B5EF4-FFF2-40B4-BE49-F238E27FC236}">
                <a16:creationId xmlns:a16="http://schemas.microsoft.com/office/drawing/2014/main" id="{E3B00E8E-DC8F-707D-FFA8-3C8D64E0C5EC}"/>
              </a:ext>
            </a:extLst>
          </p:cNvPr>
          <p:cNvSpPr>
            <a:spLocks noGrp="1"/>
          </p:cNvSpPr>
          <p:nvPr>
            <p:ph type="body" sz="quarter" idx="13"/>
          </p:nvPr>
        </p:nvSpPr>
        <p:spPr/>
        <p:txBody>
          <a:bodyPr/>
          <a:lstStyle/>
          <a:p>
            <a:r>
              <a:rPr kumimoji="1" lang="zh-CN" altLang="en-US" dirty="0"/>
              <a:t>好的设计</a:t>
            </a:r>
          </a:p>
        </p:txBody>
      </p:sp>
      <p:sp>
        <p:nvSpPr>
          <p:cNvPr id="4" name="内容占位符 3">
            <a:extLst>
              <a:ext uri="{FF2B5EF4-FFF2-40B4-BE49-F238E27FC236}">
                <a16:creationId xmlns:a16="http://schemas.microsoft.com/office/drawing/2014/main" id="{384F4463-5A20-2572-44B9-6AF87F133863}"/>
              </a:ext>
            </a:extLst>
          </p:cNvPr>
          <p:cNvSpPr>
            <a:spLocks noGrp="1"/>
          </p:cNvSpPr>
          <p:nvPr>
            <p:ph idx="1"/>
          </p:nvPr>
        </p:nvSpPr>
        <p:spPr/>
        <p:txBody>
          <a:bodyPr/>
          <a:lstStyle/>
          <a:p>
            <a:r>
              <a:rPr kumimoji="1" lang="zh-CN" altLang="en-US" dirty="0"/>
              <a:t>良好的设计会组织逻辑，以便系统的一部分发生变化并不总是需要系统的另一部分发生变化。</a:t>
            </a:r>
            <a:endParaRPr kumimoji="1" lang="en-US" altLang="zh-CN" dirty="0"/>
          </a:p>
          <a:p>
            <a:r>
              <a:rPr lang="zh-CN" altLang="en-US" b="0" i="0" u="none" strike="noStrike" dirty="0">
                <a:effectLst/>
                <a:latin typeface="PingFang SC" panose="020B0400000000000000" pitchFamily="34" charset="-122"/>
                <a:ea typeface="PingFang SC" panose="020B0400000000000000" pitchFamily="34" charset="-122"/>
              </a:rPr>
              <a:t>良好的设计确保系统中的每一段逻辑都有且仅有一个实现位置。</a:t>
            </a:r>
            <a:endParaRPr lang="en-US" altLang="zh-CN" b="0" i="0" u="none" strike="noStrike" dirty="0">
              <a:effectLst/>
              <a:latin typeface="PingFang SC" panose="020B0400000000000000" pitchFamily="34" charset="-122"/>
              <a:ea typeface="PingFang SC" panose="020B0400000000000000" pitchFamily="34" charset="-122"/>
            </a:endParaRPr>
          </a:p>
          <a:p>
            <a:r>
              <a:rPr kumimoji="1" lang="zh-CN" altLang="en-US" dirty="0"/>
              <a:t>良好的设计将逻辑放在它所操作的数据附近。</a:t>
            </a:r>
            <a:endParaRPr kumimoji="1" lang="en-US" altLang="zh-CN" dirty="0"/>
          </a:p>
          <a:p>
            <a:r>
              <a:rPr kumimoji="1" lang="zh-CN" altLang="en-US" dirty="0"/>
              <a:t>良好的设计允许系统扩展，且仅在一个地方进行更改。</a:t>
            </a:r>
          </a:p>
        </p:txBody>
      </p:sp>
    </p:spTree>
    <p:extLst>
      <p:ext uri="{BB962C8B-B14F-4D97-AF65-F5344CB8AC3E}">
        <p14:creationId xmlns:p14="http://schemas.microsoft.com/office/powerpoint/2010/main" val="313453643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3CB21-D740-1474-1A05-16BD29A1325A}"/>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359684B-45DC-9313-6C6C-4C998DB79B53}"/>
              </a:ext>
            </a:extLst>
          </p:cNvPr>
          <p:cNvSpPr>
            <a:spLocks noGrp="1"/>
          </p:cNvSpPr>
          <p:nvPr>
            <p:ph type="sldNum" sz="quarter" idx="12"/>
          </p:nvPr>
        </p:nvSpPr>
        <p:spPr/>
        <p:txBody>
          <a:bodyPr/>
          <a:lstStyle/>
          <a:p>
            <a:fld id="{51D91E7F-84B6-4064-9D4E-CC7D244BCA04}" type="slidenum">
              <a:rPr lang="zh-CN" altLang="en-US" smtClean="0"/>
              <a:t>17</a:t>
            </a:fld>
            <a:endParaRPr lang="zh-CN" altLang="en-US"/>
          </a:p>
        </p:txBody>
      </p:sp>
      <p:sp>
        <p:nvSpPr>
          <p:cNvPr id="3" name="文本占位符 2">
            <a:extLst>
              <a:ext uri="{FF2B5EF4-FFF2-40B4-BE49-F238E27FC236}">
                <a16:creationId xmlns:a16="http://schemas.microsoft.com/office/drawing/2014/main" id="{BEA3E7FB-DFFF-A5B0-F8BC-15D5BCDEAF3E}"/>
              </a:ext>
            </a:extLst>
          </p:cNvPr>
          <p:cNvSpPr>
            <a:spLocks noGrp="1"/>
          </p:cNvSpPr>
          <p:nvPr>
            <p:ph type="body" sz="quarter" idx="13"/>
          </p:nvPr>
        </p:nvSpPr>
        <p:spPr/>
        <p:txBody>
          <a:bodyPr/>
          <a:lstStyle/>
          <a:p>
            <a:r>
              <a:rPr kumimoji="1" lang="zh-CN" altLang="en-US" dirty="0"/>
              <a:t>结论</a:t>
            </a:r>
          </a:p>
        </p:txBody>
      </p:sp>
      <p:sp>
        <p:nvSpPr>
          <p:cNvPr id="4" name="内容占位符 3">
            <a:extLst>
              <a:ext uri="{FF2B5EF4-FFF2-40B4-BE49-F238E27FC236}">
                <a16:creationId xmlns:a16="http://schemas.microsoft.com/office/drawing/2014/main" id="{617F42D7-5756-AE6F-7C9B-820C6A55757E}"/>
              </a:ext>
            </a:extLst>
          </p:cNvPr>
          <p:cNvSpPr>
            <a:spLocks noGrp="1"/>
          </p:cNvSpPr>
          <p:nvPr>
            <p:ph idx="1"/>
          </p:nvPr>
        </p:nvSpPr>
        <p:spPr/>
        <p:txBody>
          <a:bodyPr/>
          <a:lstStyle/>
          <a:p>
            <a:r>
              <a:rPr kumimoji="1" lang="zh-CN" altLang="en-US" dirty="0"/>
              <a:t>所以你编写代码，因为如果你不编写代码，你就什么都没做。</a:t>
            </a:r>
            <a:endParaRPr kumimoji="1" lang="en-US" altLang="zh-CN" dirty="0"/>
          </a:p>
          <a:p>
            <a:r>
              <a:rPr kumimoji="1" lang="zh-CN" altLang="en-US" dirty="0"/>
              <a:t>你进行测试，因为如果你不测试，你就不知道什么时候完成了编码。</a:t>
            </a:r>
            <a:endParaRPr kumimoji="1" lang="en-US" altLang="zh-CN" dirty="0"/>
          </a:p>
          <a:p>
            <a:r>
              <a:rPr kumimoji="1" lang="zh-CN" altLang="en-US" dirty="0"/>
              <a:t>你倾听，因为如果你不倾听，你就不知道要编写什么代码或测试什么。</a:t>
            </a:r>
            <a:endParaRPr kumimoji="1" lang="en-US" altLang="zh-CN" dirty="0"/>
          </a:p>
          <a:p>
            <a:r>
              <a:rPr kumimoji="1" lang="zh-CN" altLang="en-US" dirty="0"/>
              <a:t>你进行设计，这样你就可以无限期地继续编写代码、进行测试和倾听。</a:t>
            </a:r>
          </a:p>
        </p:txBody>
      </p:sp>
    </p:spTree>
    <p:extLst>
      <p:ext uri="{BB962C8B-B14F-4D97-AF65-F5344CB8AC3E}">
        <p14:creationId xmlns:p14="http://schemas.microsoft.com/office/powerpoint/2010/main" val="136528533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3938F-B5E4-F1BA-A775-912F40E48A98}"/>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D3E696A-D6D3-E8D5-659A-9873BFF14F7E}"/>
              </a:ext>
            </a:extLst>
          </p:cNvPr>
          <p:cNvSpPr>
            <a:spLocks noGrp="1"/>
          </p:cNvSpPr>
          <p:nvPr>
            <p:ph type="sldNum" sz="quarter" idx="12"/>
          </p:nvPr>
        </p:nvSpPr>
        <p:spPr/>
        <p:txBody>
          <a:bodyPr/>
          <a:lstStyle/>
          <a:p>
            <a:fld id="{51D91E7F-84B6-4064-9D4E-CC7D244BCA04}" type="slidenum">
              <a:rPr lang="zh-CN" altLang="en-US" smtClean="0"/>
              <a:t>18</a:t>
            </a:fld>
            <a:endParaRPr lang="zh-CN" altLang="en-US"/>
          </a:p>
        </p:txBody>
      </p:sp>
      <p:sp>
        <p:nvSpPr>
          <p:cNvPr id="3" name="文本占位符 2">
            <a:extLst>
              <a:ext uri="{FF2B5EF4-FFF2-40B4-BE49-F238E27FC236}">
                <a16:creationId xmlns:a16="http://schemas.microsoft.com/office/drawing/2014/main" id="{08194941-AF63-E7A7-716B-89CA39DA4D2C}"/>
              </a:ext>
            </a:extLst>
          </p:cNvPr>
          <p:cNvSpPr>
            <a:spLocks noGrp="1"/>
          </p:cNvSpPr>
          <p:nvPr>
            <p:ph type="body" sz="quarter" idx="13"/>
          </p:nvPr>
        </p:nvSpPr>
        <p:spPr>
          <a:xfrm>
            <a:off x="1175058" y="3148684"/>
            <a:ext cx="10321616" cy="584775"/>
          </a:xfrm>
        </p:spPr>
        <p:txBody>
          <a:bodyPr/>
          <a:lstStyle/>
          <a:p>
            <a:pPr algn="ctr"/>
            <a:r>
              <a:rPr kumimoji="1" lang="zh-CN" altLang="en-US" dirty="0"/>
              <a:t>基本实践</a:t>
            </a:r>
          </a:p>
        </p:txBody>
      </p:sp>
    </p:spTree>
    <p:extLst>
      <p:ext uri="{BB962C8B-B14F-4D97-AF65-F5344CB8AC3E}">
        <p14:creationId xmlns:p14="http://schemas.microsoft.com/office/powerpoint/2010/main" val="424236837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567F4-6233-78D4-A8E2-B24DC2FC6DFE}"/>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6365F97-5B95-54BF-A0BE-414BB3787502}"/>
              </a:ext>
            </a:extLst>
          </p:cNvPr>
          <p:cNvSpPr>
            <a:spLocks noGrp="1"/>
          </p:cNvSpPr>
          <p:nvPr>
            <p:ph type="sldNum" sz="quarter" idx="12"/>
          </p:nvPr>
        </p:nvSpPr>
        <p:spPr/>
        <p:txBody>
          <a:bodyPr/>
          <a:lstStyle/>
          <a:p>
            <a:fld id="{51D91E7F-84B6-4064-9D4E-CC7D244BCA04}" type="slidenum">
              <a:rPr lang="zh-CN" altLang="en-US" smtClean="0"/>
              <a:t>19</a:t>
            </a:fld>
            <a:endParaRPr lang="zh-CN" altLang="en-US"/>
          </a:p>
        </p:txBody>
      </p:sp>
      <p:sp>
        <p:nvSpPr>
          <p:cNvPr id="3" name="文本占位符 2">
            <a:extLst>
              <a:ext uri="{FF2B5EF4-FFF2-40B4-BE49-F238E27FC236}">
                <a16:creationId xmlns:a16="http://schemas.microsoft.com/office/drawing/2014/main" id="{F1ED8E27-5BBA-D75F-147E-282BF6869A93}"/>
              </a:ext>
            </a:extLst>
          </p:cNvPr>
          <p:cNvSpPr>
            <a:spLocks noGrp="1"/>
          </p:cNvSpPr>
          <p:nvPr>
            <p:ph type="body" sz="quarter" idx="13"/>
          </p:nvPr>
        </p:nvSpPr>
        <p:spPr/>
        <p:txBody>
          <a:bodyPr/>
          <a:lstStyle/>
          <a:p>
            <a:r>
              <a:rPr kumimoji="1" lang="en-US" altLang="zh-CN" dirty="0"/>
              <a:t>1</a:t>
            </a:r>
            <a:r>
              <a:rPr kumimoji="1" lang="zh-CN" altLang="en-US" dirty="0"/>
              <a:t>、计划游戏 </a:t>
            </a:r>
            <a:r>
              <a:rPr kumimoji="1" lang="en-US" altLang="zh-CN" dirty="0"/>
              <a:t>Planning</a:t>
            </a:r>
            <a:r>
              <a:rPr kumimoji="1" lang="zh-CN" altLang="en-US" dirty="0"/>
              <a:t> </a:t>
            </a:r>
            <a:r>
              <a:rPr kumimoji="1" lang="en-US" altLang="zh-CN" dirty="0"/>
              <a:t>Game</a:t>
            </a:r>
            <a:endParaRPr kumimoji="1" lang="zh-CN" altLang="en-US" dirty="0"/>
          </a:p>
        </p:txBody>
      </p:sp>
      <p:sp>
        <p:nvSpPr>
          <p:cNvPr id="4" name="内容占位符 3">
            <a:extLst>
              <a:ext uri="{FF2B5EF4-FFF2-40B4-BE49-F238E27FC236}">
                <a16:creationId xmlns:a16="http://schemas.microsoft.com/office/drawing/2014/main" id="{306B525E-0474-D7AB-6E99-12E2C736AFF5}"/>
              </a:ext>
            </a:extLst>
          </p:cNvPr>
          <p:cNvSpPr>
            <a:spLocks noGrp="1"/>
          </p:cNvSpPr>
          <p:nvPr>
            <p:ph idx="1"/>
          </p:nvPr>
        </p:nvSpPr>
        <p:spPr/>
        <p:txBody>
          <a:bodyPr>
            <a:normAutofit/>
          </a:bodyPr>
          <a:lstStyle/>
          <a:p>
            <a:r>
              <a:rPr kumimoji="1" lang="zh-CN" altLang="en-US" dirty="0"/>
              <a:t>无论是业务考虑还是技术考虑都不应占据单一决定地位。</a:t>
            </a:r>
            <a:endParaRPr kumimoji="1" lang="en-US" altLang="zh-CN" dirty="0"/>
          </a:p>
          <a:p>
            <a:r>
              <a:rPr kumimoji="1" lang="zh-CN" altLang="en-US" dirty="0"/>
              <a:t>业务人员需要决定：</a:t>
            </a:r>
          </a:p>
          <a:p>
            <a:pPr lvl="1"/>
            <a:r>
              <a:rPr kumimoji="1" lang="zh-CN" altLang="en-US" dirty="0"/>
              <a:t>范围 </a:t>
            </a:r>
            <a:r>
              <a:rPr kumimoji="1" lang="en-US" altLang="zh-CN" dirty="0"/>
              <a:t>—— </a:t>
            </a:r>
            <a:r>
              <a:rPr kumimoji="1" lang="zh-CN" altLang="en-US" dirty="0"/>
              <a:t>为了使系统在生产中具有价值，必须解决多少问题？</a:t>
            </a:r>
          </a:p>
          <a:p>
            <a:pPr lvl="1"/>
            <a:r>
              <a:rPr kumimoji="1" lang="zh-CN" altLang="en-US" dirty="0"/>
              <a:t>优先级 </a:t>
            </a:r>
            <a:r>
              <a:rPr kumimoji="1" lang="en-US" altLang="zh-CN" dirty="0"/>
              <a:t>—— </a:t>
            </a:r>
            <a:r>
              <a:rPr kumimoji="1" lang="zh-CN" altLang="en-US" dirty="0"/>
              <a:t>如果一开始你只能拥有 </a:t>
            </a:r>
            <a:r>
              <a:rPr kumimoji="1" lang="en-US" altLang="zh-CN" dirty="0"/>
              <a:t>A </a:t>
            </a:r>
            <a:r>
              <a:rPr kumimoji="1" lang="zh-CN" altLang="en-US" dirty="0"/>
              <a:t>或 </a:t>
            </a:r>
            <a:r>
              <a:rPr kumimoji="1" lang="en-US" altLang="zh-CN" dirty="0"/>
              <a:t>B</a:t>
            </a:r>
            <a:r>
              <a:rPr kumimoji="1" lang="zh-CN" altLang="en-US" dirty="0"/>
              <a:t>，你想要哪一个？</a:t>
            </a:r>
          </a:p>
          <a:p>
            <a:pPr lvl="1"/>
            <a:r>
              <a:rPr kumimoji="1" lang="zh-CN" altLang="en-US" dirty="0"/>
              <a:t>发布的组成 </a:t>
            </a:r>
            <a:r>
              <a:rPr kumimoji="1" lang="en-US" altLang="zh-CN" dirty="0"/>
              <a:t>—— </a:t>
            </a:r>
            <a:r>
              <a:rPr kumimoji="1" lang="zh-CN" altLang="en-US" dirty="0"/>
              <a:t>在业务使用该软件比不使用该软件更好之前，需要做多少或多少工作？</a:t>
            </a:r>
          </a:p>
          <a:p>
            <a:pPr lvl="1"/>
            <a:r>
              <a:rPr kumimoji="1" lang="zh-CN" altLang="en-US" dirty="0"/>
              <a:t>发布日期 </a:t>
            </a:r>
            <a:r>
              <a:rPr kumimoji="1" lang="en-US" altLang="zh-CN" dirty="0"/>
              <a:t>—— </a:t>
            </a:r>
            <a:r>
              <a:rPr kumimoji="1" lang="zh-CN" altLang="en-US" dirty="0"/>
              <a:t>哪些重要日期软件（或部分软件）的存在会产生重大影响？</a:t>
            </a:r>
          </a:p>
        </p:txBody>
      </p:sp>
    </p:spTree>
    <p:extLst>
      <p:ext uri="{BB962C8B-B14F-4D97-AF65-F5344CB8AC3E}">
        <p14:creationId xmlns:p14="http://schemas.microsoft.com/office/powerpoint/2010/main" val="426756850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43F93-2FC1-DC2C-4A43-5F868A0B2511}"/>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B132601-8CB3-DB4C-66BC-D0B0B23AFC21}"/>
              </a:ext>
            </a:extLst>
          </p:cNvPr>
          <p:cNvSpPr>
            <a:spLocks noGrp="1"/>
          </p:cNvSpPr>
          <p:nvPr>
            <p:ph type="sldNum" sz="quarter" idx="12"/>
          </p:nvPr>
        </p:nvSpPr>
        <p:spPr/>
        <p:txBody>
          <a:bodyPr/>
          <a:lstStyle/>
          <a:p>
            <a:fld id="{51D91E7F-84B6-4064-9D4E-CC7D244BCA04}" type="slidenum">
              <a:rPr lang="zh-CN" altLang="en-US" smtClean="0"/>
              <a:t>20</a:t>
            </a:fld>
            <a:endParaRPr lang="zh-CN" altLang="en-US"/>
          </a:p>
        </p:txBody>
      </p:sp>
      <p:sp>
        <p:nvSpPr>
          <p:cNvPr id="3" name="文本占位符 2">
            <a:extLst>
              <a:ext uri="{FF2B5EF4-FFF2-40B4-BE49-F238E27FC236}">
                <a16:creationId xmlns:a16="http://schemas.microsoft.com/office/drawing/2014/main" id="{BFA979C3-BC9A-5B71-F553-F5E8897602EA}"/>
              </a:ext>
            </a:extLst>
          </p:cNvPr>
          <p:cNvSpPr>
            <a:spLocks noGrp="1"/>
          </p:cNvSpPr>
          <p:nvPr>
            <p:ph type="body" sz="quarter" idx="13"/>
          </p:nvPr>
        </p:nvSpPr>
        <p:spPr/>
        <p:txBody>
          <a:bodyPr/>
          <a:lstStyle/>
          <a:p>
            <a:endParaRPr kumimoji="1" lang="zh-CN" altLang="en-US"/>
          </a:p>
        </p:txBody>
      </p:sp>
      <p:sp>
        <p:nvSpPr>
          <p:cNvPr id="4" name="内容占位符 3">
            <a:extLst>
              <a:ext uri="{FF2B5EF4-FFF2-40B4-BE49-F238E27FC236}">
                <a16:creationId xmlns:a16="http://schemas.microsoft.com/office/drawing/2014/main" id="{8D300031-47FE-9BA2-11FD-F5C899D47174}"/>
              </a:ext>
            </a:extLst>
          </p:cNvPr>
          <p:cNvSpPr>
            <a:spLocks noGrp="1"/>
          </p:cNvSpPr>
          <p:nvPr>
            <p:ph idx="1"/>
          </p:nvPr>
        </p:nvSpPr>
        <p:spPr/>
        <p:txBody>
          <a:bodyPr>
            <a:normAutofit/>
          </a:bodyPr>
          <a:lstStyle/>
          <a:p>
            <a:r>
              <a:rPr lang="zh-CN" altLang="en-US" b="0" i="0" u="none" strike="noStrike" dirty="0">
                <a:effectLst/>
                <a:latin typeface="PingFang SC" panose="020B0400000000000000" pitchFamily="34" charset="-122"/>
                <a:ea typeface="PingFang SC" panose="020B0400000000000000" pitchFamily="34" charset="-122"/>
              </a:rPr>
              <a:t>业务决策需结合技术可行性。开发团队需提供技术评估（如实现成本、风险等），作为业务决策的依据。</a:t>
            </a:r>
            <a:endParaRPr lang="en-US" altLang="zh-CN" b="0" i="0" u="none" strike="noStrike" dirty="0">
              <a:effectLst/>
              <a:latin typeface="PingFang SC" panose="020B0400000000000000" pitchFamily="34" charset="-122"/>
              <a:ea typeface="PingFang SC" panose="020B0400000000000000" pitchFamily="34" charset="-122"/>
            </a:endParaRPr>
          </a:p>
          <a:p>
            <a:r>
              <a:rPr kumimoji="1" lang="zh-CN" altLang="en-US" dirty="0"/>
              <a:t>技术人员决定以下事项：</a:t>
            </a:r>
          </a:p>
          <a:p>
            <a:pPr lvl="1"/>
            <a:r>
              <a:rPr kumimoji="1" lang="zh-CN" altLang="en-US" dirty="0"/>
              <a:t>估算 </a:t>
            </a:r>
            <a:r>
              <a:rPr kumimoji="1" lang="en-US" altLang="zh-CN" dirty="0"/>
              <a:t>—— </a:t>
            </a:r>
            <a:r>
              <a:rPr kumimoji="1" lang="zh-CN" altLang="en-US" dirty="0"/>
              <a:t>实现一个功能需要多长时间？</a:t>
            </a:r>
          </a:p>
          <a:p>
            <a:pPr lvl="1"/>
            <a:r>
              <a:rPr kumimoji="1" lang="zh-CN" altLang="en-US" dirty="0"/>
              <a:t>后果 </a:t>
            </a:r>
            <a:r>
              <a:rPr kumimoji="1" lang="en-US" altLang="zh-CN" dirty="0"/>
              <a:t>—— </a:t>
            </a:r>
            <a:r>
              <a:rPr kumimoji="1" lang="zh-CN" altLang="en-US" dirty="0"/>
              <a:t>只有在了解技术后果的情况下，才能做出战略性的业务决策。</a:t>
            </a:r>
          </a:p>
          <a:p>
            <a:pPr lvl="1"/>
            <a:r>
              <a:rPr kumimoji="1" lang="zh-CN" altLang="en-US" dirty="0"/>
              <a:t>流程 </a:t>
            </a:r>
            <a:r>
              <a:rPr kumimoji="1" lang="en-US" altLang="zh-CN" dirty="0"/>
              <a:t>—— </a:t>
            </a:r>
            <a:r>
              <a:rPr kumimoji="1" lang="zh-CN" altLang="en-US" dirty="0"/>
              <a:t>工作和团队将如何组织？</a:t>
            </a:r>
          </a:p>
          <a:p>
            <a:pPr lvl="1"/>
            <a:r>
              <a:rPr kumimoji="1" lang="zh-CN" altLang="en-US" dirty="0"/>
              <a:t>详细的日程安排 </a:t>
            </a:r>
            <a:r>
              <a:rPr kumimoji="1" lang="en-US" altLang="zh-CN" dirty="0"/>
              <a:t>—— </a:t>
            </a:r>
            <a:r>
              <a:rPr kumimoji="1" lang="zh-CN" altLang="en-US" dirty="0"/>
              <a:t>在一个版本中，哪些故事将首先完成？</a:t>
            </a:r>
          </a:p>
        </p:txBody>
      </p:sp>
    </p:spTree>
    <p:extLst>
      <p:ext uri="{BB962C8B-B14F-4D97-AF65-F5344CB8AC3E}">
        <p14:creationId xmlns:p14="http://schemas.microsoft.com/office/powerpoint/2010/main" val="74586475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51F16-0248-B652-18F8-09AEBC768791}"/>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12EF884-FEAF-DBEF-4DE3-70A768BC53AA}"/>
              </a:ext>
            </a:extLst>
          </p:cNvPr>
          <p:cNvSpPr>
            <a:spLocks noGrp="1"/>
          </p:cNvSpPr>
          <p:nvPr>
            <p:ph type="sldNum" sz="quarter" idx="12"/>
          </p:nvPr>
        </p:nvSpPr>
        <p:spPr/>
        <p:txBody>
          <a:bodyPr/>
          <a:lstStyle/>
          <a:p>
            <a:fld id="{51D91E7F-84B6-4064-9D4E-CC7D244BCA04}" type="slidenum">
              <a:rPr lang="zh-CN" altLang="en-US" smtClean="0"/>
              <a:t>21</a:t>
            </a:fld>
            <a:endParaRPr lang="zh-CN" altLang="en-US"/>
          </a:p>
        </p:txBody>
      </p:sp>
      <p:sp>
        <p:nvSpPr>
          <p:cNvPr id="3" name="文本占位符 2">
            <a:extLst>
              <a:ext uri="{FF2B5EF4-FFF2-40B4-BE49-F238E27FC236}">
                <a16:creationId xmlns:a16="http://schemas.microsoft.com/office/drawing/2014/main" id="{C10778FB-3E4C-5FD2-700B-050F1B08345B}"/>
              </a:ext>
            </a:extLst>
          </p:cNvPr>
          <p:cNvSpPr>
            <a:spLocks noGrp="1"/>
          </p:cNvSpPr>
          <p:nvPr>
            <p:ph type="body" sz="quarter" idx="13"/>
          </p:nvPr>
        </p:nvSpPr>
        <p:spPr/>
        <p:txBody>
          <a:bodyPr/>
          <a:lstStyle/>
          <a:p>
            <a:r>
              <a:rPr kumimoji="1" lang="en-US" altLang="zh-CN" dirty="0"/>
              <a:t>2</a:t>
            </a:r>
            <a:r>
              <a:rPr kumimoji="1" lang="zh-CN" altLang="en-US" dirty="0"/>
              <a:t> 小发布 </a:t>
            </a:r>
            <a:r>
              <a:rPr kumimoji="1" lang="en-US" altLang="zh-CN" dirty="0"/>
              <a:t>Small Releases</a:t>
            </a:r>
            <a:endParaRPr kumimoji="1" lang="zh-CN" altLang="en-US" dirty="0"/>
          </a:p>
        </p:txBody>
      </p:sp>
      <p:sp>
        <p:nvSpPr>
          <p:cNvPr id="4" name="内容占位符 3">
            <a:extLst>
              <a:ext uri="{FF2B5EF4-FFF2-40B4-BE49-F238E27FC236}">
                <a16:creationId xmlns:a16="http://schemas.microsoft.com/office/drawing/2014/main" id="{E8F7D225-1492-1860-D828-719FA6DD8D6E}"/>
              </a:ext>
            </a:extLst>
          </p:cNvPr>
          <p:cNvSpPr>
            <a:spLocks noGrp="1"/>
          </p:cNvSpPr>
          <p:nvPr>
            <p:ph idx="1"/>
          </p:nvPr>
        </p:nvSpPr>
        <p:spPr/>
        <p:txBody>
          <a:bodyPr/>
          <a:lstStyle/>
          <a:p>
            <a:r>
              <a:rPr kumimoji="1" lang="zh-CN" altLang="en-US" dirty="0"/>
              <a:t>每次发布都应尽可能小，包含最有价值的业务需求。</a:t>
            </a:r>
            <a:endParaRPr kumimoji="1" lang="en-US" altLang="zh-CN" dirty="0"/>
          </a:p>
          <a:p>
            <a:r>
              <a:rPr kumimoji="1" lang="zh-CN" altLang="en-US" dirty="0"/>
              <a:t>发布必须作为一个整体有意义。</a:t>
            </a:r>
            <a:endParaRPr kumimoji="1" lang="en-US" altLang="zh-CN" dirty="0"/>
          </a:p>
          <a:p>
            <a:r>
              <a:rPr kumimoji="1" lang="zh-CN" altLang="en-US" dirty="0"/>
              <a:t>一次计划一两个月远比一次计划六个月或一年要好得多。</a:t>
            </a:r>
          </a:p>
        </p:txBody>
      </p:sp>
    </p:spTree>
    <p:extLst>
      <p:ext uri="{BB962C8B-B14F-4D97-AF65-F5344CB8AC3E}">
        <p14:creationId xmlns:p14="http://schemas.microsoft.com/office/powerpoint/2010/main" val="69280032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2C1ED-0CE3-5B29-0EB8-8986B7741CF1}"/>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50489ED-40F3-D223-BD16-A7383E9263F8}"/>
              </a:ext>
            </a:extLst>
          </p:cNvPr>
          <p:cNvSpPr>
            <a:spLocks noGrp="1"/>
          </p:cNvSpPr>
          <p:nvPr>
            <p:ph type="sldNum" sz="quarter" idx="12"/>
          </p:nvPr>
        </p:nvSpPr>
        <p:spPr/>
        <p:txBody>
          <a:bodyPr/>
          <a:lstStyle/>
          <a:p>
            <a:fld id="{51D91E7F-84B6-4064-9D4E-CC7D244BCA04}" type="slidenum">
              <a:rPr lang="zh-CN" altLang="en-US" smtClean="0"/>
              <a:t>22</a:t>
            </a:fld>
            <a:endParaRPr lang="zh-CN" altLang="en-US"/>
          </a:p>
        </p:txBody>
      </p:sp>
      <p:sp>
        <p:nvSpPr>
          <p:cNvPr id="3" name="文本占位符 2">
            <a:extLst>
              <a:ext uri="{FF2B5EF4-FFF2-40B4-BE49-F238E27FC236}">
                <a16:creationId xmlns:a16="http://schemas.microsoft.com/office/drawing/2014/main" id="{9A47C9D2-6A65-7F40-A10D-4029ACDF5620}"/>
              </a:ext>
            </a:extLst>
          </p:cNvPr>
          <p:cNvSpPr>
            <a:spLocks noGrp="1"/>
          </p:cNvSpPr>
          <p:nvPr>
            <p:ph type="body" sz="quarter" idx="13"/>
          </p:nvPr>
        </p:nvSpPr>
        <p:spPr/>
        <p:txBody>
          <a:bodyPr/>
          <a:lstStyle/>
          <a:p>
            <a:r>
              <a:rPr kumimoji="1" lang="en-US" altLang="zh-CN" dirty="0"/>
              <a:t>3</a:t>
            </a:r>
            <a:r>
              <a:rPr kumimoji="1" lang="zh-CN" altLang="en-US" dirty="0"/>
              <a:t> 隐喻</a:t>
            </a:r>
            <a:r>
              <a:rPr kumimoji="1" lang="en-US" altLang="zh-CN" dirty="0"/>
              <a:t>Metaphor</a:t>
            </a:r>
            <a:endParaRPr kumimoji="1" lang="zh-CN" altLang="en-US" dirty="0"/>
          </a:p>
        </p:txBody>
      </p:sp>
      <p:sp>
        <p:nvSpPr>
          <p:cNvPr id="4" name="内容占位符 3">
            <a:extLst>
              <a:ext uri="{FF2B5EF4-FFF2-40B4-BE49-F238E27FC236}">
                <a16:creationId xmlns:a16="http://schemas.microsoft.com/office/drawing/2014/main" id="{77F7845F-B603-E4B2-03D7-131906BE5134}"/>
              </a:ext>
            </a:extLst>
          </p:cNvPr>
          <p:cNvSpPr>
            <a:spLocks noGrp="1"/>
          </p:cNvSpPr>
          <p:nvPr>
            <p:ph idx="1"/>
          </p:nvPr>
        </p:nvSpPr>
        <p:spPr/>
        <p:txBody>
          <a:bodyPr/>
          <a:lstStyle/>
          <a:p>
            <a:r>
              <a:rPr kumimoji="1" lang="zh-CN" altLang="en-US" dirty="0"/>
              <a:t>每个极限编程（</a:t>
            </a:r>
            <a:r>
              <a:rPr kumimoji="1" lang="en-US" altLang="zh-CN" dirty="0"/>
              <a:t>XP</a:t>
            </a:r>
            <a:r>
              <a:rPr kumimoji="1" lang="zh-CN" altLang="en-US" dirty="0"/>
              <a:t>）软件项目都由一个总体隐喻来指导。</a:t>
            </a:r>
            <a:endParaRPr kumimoji="1" lang="en-US" altLang="zh-CN" dirty="0"/>
          </a:p>
          <a:p>
            <a:r>
              <a:rPr kumimoji="1" lang="zh-CN" altLang="en-US" dirty="0"/>
              <a:t>在极限编程中，这个隐喻取代了许多其他人所说的 “架构”。</a:t>
            </a:r>
            <a:endParaRPr kumimoji="1" lang="en-US" altLang="zh-CN" dirty="0"/>
          </a:p>
          <a:p>
            <a:r>
              <a:rPr kumimoji="1" lang="zh-CN" altLang="en-US" dirty="0"/>
              <a:t>选择一个系统隐喻，通过一致地命名类和方法让团队保持同步</a:t>
            </a:r>
            <a:endParaRPr kumimoji="1" lang="en-US" altLang="zh-CN" dirty="0"/>
          </a:p>
          <a:p>
            <a:pPr lvl="1"/>
            <a:r>
              <a:rPr kumimoji="1" lang="zh-CN" altLang="en-US" dirty="0"/>
              <a:t>例如，克莱斯勒薪资系统被构建为一条生产线。</a:t>
            </a:r>
            <a:endParaRPr kumimoji="1" lang="en-US" altLang="zh-CN" dirty="0"/>
          </a:p>
          <a:p>
            <a:pPr lvl="1"/>
            <a:r>
              <a:rPr kumimoji="1" lang="zh-CN" altLang="en-US" dirty="0"/>
              <a:t>搜索引擎 </a:t>
            </a:r>
            <a:r>
              <a:rPr kumimoji="1" lang="en-US" altLang="zh-CN" dirty="0"/>
              <a:t>-</a:t>
            </a:r>
            <a:r>
              <a:rPr kumimoji="1" lang="zh-CN" altLang="en-US" dirty="0"/>
              <a:t>一大群蜘蛛，在网上四处寻找要捕捉的东西，然后把东西带回巢穴。” </a:t>
            </a:r>
          </a:p>
          <a:p>
            <a:endParaRPr kumimoji="1" lang="zh-CN" altLang="en-US" dirty="0"/>
          </a:p>
          <a:p>
            <a:endParaRPr kumimoji="1" lang="zh-CN" altLang="en-US" dirty="0"/>
          </a:p>
        </p:txBody>
      </p:sp>
    </p:spTree>
    <p:extLst>
      <p:ext uri="{BB962C8B-B14F-4D97-AF65-F5344CB8AC3E}">
        <p14:creationId xmlns:p14="http://schemas.microsoft.com/office/powerpoint/2010/main" val="199899915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C2455-0C84-6C84-E7A5-44F5858946BC}"/>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FD392FA-5A21-BA7F-3821-5FB7BFFE313B}"/>
              </a:ext>
            </a:extLst>
          </p:cNvPr>
          <p:cNvSpPr>
            <a:spLocks noGrp="1"/>
          </p:cNvSpPr>
          <p:nvPr>
            <p:ph type="sldNum" sz="quarter" idx="12"/>
          </p:nvPr>
        </p:nvSpPr>
        <p:spPr/>
        <p:txBody>
          <a:bodyPr/>
          <a:lstStyle/>
          <a:p>
            <a:fld id="{51D91E7F-84B6-4064-9D4E-CC7D244BCA04}" type="slidenum">
              <a:rPr lang="zh-CN" altLang="en-US" smtClean="0"/>
              <a:t>23</a:t>
            </a:fld>
            <a:endParaRPr lang="zh-CN" altLang="en-US"/>
          </a:p>
        </p:txBody>
      </p:sp>
      <p:sp>
        <p:nvSpPr>
          <p:cNvPr id="3" name="文本占位符 2">
            <a:extLst>
              <a:ext uri="{FF2B5EF4-FFF2-40B4-BE49-F238E27FC236}">
                <a16:creationId xmlns:a16="http://schemas.microsoft.com/office/drawing/2014/main" id="{40AB0F71-7819-6325-A7CE-445E7F69A9BD}"/>
              </a:ext>
            </a:extLst>
          </p:cNvPr>
          <p:cNvSpPr>
            <a:spLocks noGrp="1"/>
          </p:cNvSpPr>
          <p:nvPr>
            <p:ph type="body" sz="quarter" idx="13"/>
          </p:nvPr>
        </p:nvSpPr>
        <p:spPr/>
        <p:txBody>
          <a:bodyPr/>
          <a:lstStyle/>
          <a:p>
            <a:r>
              <a:rPr kumimoji="1" lang="en-US" altLang="zh-CN" dirty="0"/>
              <a:t>4</a:t>
            </a:r>
            <a:r>
              <a:rPr kumimoji="1" lang="zh-CN" altLang="en-US" dirty="0"/>
              <a:t> 简单设计 </a:t>
            </a:r>
            <a:r>
              <a:rPr kumimoji="1" lang="en-US" altLang="zh-CN" dirty="0"/>
              <a:t>Simple Design</a:t>
            </a:r>
            <a:endParaRPr kumimoji="1" lang="zh-CN" altLang="en-US" dirty="0"/>
          </a:p>
        </p:txBody>
      </p:sp>
      <p:sp>
        <p:nvSpPr>
          <p:cNvPr id="4" name="内容占位符 3">
            <a:extLst>
              <a:ext uri="{FF2B5EF4-FFF2-40B4-BE49-F238E27FC236}">
                <a16:creationId xmlns:a16="http://schemas.microsoft.com/office/drawing/2014/main" id="{A86A06FA-BBAF-DC63-B7B1-2C9B4D991591}"/>
              </a:ext>
            </a:extLst>
          </p:cNvPr>
          <p:cNvSpPr>
            <a:spLocks noGrp="1"/>
          </p:cNvSpPr>
          <p:nvPr>
            <p:ph idx="1"/>
          </p:nvPr>
        </p:nvSpPr>
        <p:spPr/>
        <p:txBody>
          <a:bodyPr/>
          <a:lstStyle/>
          <a:p>
            <a:r>
              <a:rPr kumimoji="1" lang="zh-CN" altLang="en-US" dirty="0"/>
              <a:t>运行所有测试。</a:t>
            </a:r>
          </a:p>
          <a:p>
            <a:r>
              <a:rPr kumimoji="1" lang="zh-CN" altLang="en-US" dirty="0"/>
              <a:t>没有重复的逻辑。警惕像并行类层次结构这样的隐藏重复。</a:t>
            </a:r>
          </a:p>
          <a:p>
            <a:r>
              <a:rPr kumimoji="1" lang="zh-CN" altLang="en-US" dirty="0"/>
              <a:t>表明对程序员重要的每一个意图。</a:t>
            </a:r>
          </a:p>
          <a:p>
            <a:r>
              <a:rPr kumimoji="1" lang="zh-CN" altLang="en-US" dirty="0"/>
              <a:t>具有尽可能少的类和方法。</a:t>
            </a:r>
          </a:p>
          <a:p>
            <a:pPr lvl="1"/>
            <a:r>
              <a:rPr kumimoji="1" lang="zh-CN" altLang="en-US" dirty="0"/>
              <a:t>反对：“为今天实现，为明天设计。”</a:t>
            </a:r>
          </a:p>
        </p:txBody>
      </p:sp>
    </p:spTree>
    <p:extLst>
      <p:ext uri="{BB962C8B-B14F-4D97-AF65-F5344CB8AC3E}">
        <p14:creationId xmlns:p14="http://schemas.microsoft.com/office/powerpoint/2010/main" val="405910646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D6AA1-7D3E-33CF-6304-00FCC4C082AA}"/>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858CD31-EE10-28AB-99BB-A355FF08E0B4}"/>
              </a:ext>
            </a:extLst>
          </p:cNvPr>
          <p:cNvSpPr>
            <a:spLocks noGrp="1"/>
          </p:cNvSpPr>
          <p:nvPr>
            <p:ph type="sldNum" sz="quarter" idx="12"/>
          </p:nvPr>
        </p:nvSpPr>
        <p:spPr/>
        <p:txBody>
          <a:bodyPr/>
          <a:lstStyle/>
          <a:p>
            <a:fld id="{51D91E7F-84B6-4064-9D4E-CC7D244BCA04}" type="slidenum">
              <a:rPr lang="zh-CN" altLang="en-US" smtClean="0"/>
              <a:t>24</a:t>
            </a:fld>
            <a:endParaRPr lang="zh-CN" altLang="en-US"/>
          </a:p>
        </p:txBody>
      </p:sp>
      <p:sp>
        <p:nvSpPr>
          <p:cNvPr id="3" name="文本占位符 2">
            <a:extLst>
              <a:ext uri="{FF2B5EF4-FFF2-40B4-BE49-F238E27FC236}">
                <a16:creationId xmlns:a16="http://schemas.microsoft.com/office/drawing/2014/main" id="{FEB36CA0-4A46-5A71-383C-77AC7BB10D80}"/>
              </a:ext>
            </a:extLst>
          </p:cNvPr>
          <p:cNvSpPr>
            <a:spLocks noGrp="1"/>
          </p:cNvSpPr>
          <p:nvPr>
            <p:ph type="body" sz="quarter" idx="13"/>
          </p:nvPr>
        </p:nvSpPr>
        <p:spPr/>
        <p:txBody>
          <a:bodyPr/>
          <a:lstStyle/>
          <a:p>
            <a:r>
              <a:rPr kumimoji="1" lang="en-US" altLang="zh-CN" dirty="0"/>
              <a:t>5</a:t>
            </a:r>
            <a:r>
              <a:rPr kumimoji="1" lang="zh-CN" altLang="en-US" dirty="0"/>
              <a:t> 测试 </a:t>
            </a:r>
            <a:r>
              <a:rPr kumimoji="1" lang="en-US" altLang="zh-CN" dirty="0"/>
              <a:t>TDD</a:t>
            </a:r>
            <a:endParaRPr kumimoji="1" lang="zh-CN" altLang="en-US" dirty="0"/>
          </a:p>
        </p:txBody>
      </p:sp>
      <p:sp>
        <p:nvSpPr>
          <p:cNvPr id="4" name="内容占位符 3">
            <a:extLst>
              <a:ext uri="{FF2B5EF4-FFF2-40B4-BE49-F238E27FC236}">
                <a16:creationId xmlns:a16="http://schemas.microsoft.com/office/drawing/2014/main" id="{E5E3FF24-7496-834E-9712-C54193F9F859}"/>
              </a:ext>
            </a:extLst>
          </p:cNvPr>
          <p:cNvSpPr>
            <a:spLocks noGrp="1"/>
          </p:cNvSpPr>
          <p:nvPr>
            <p:ph idx="1"/>
          </p:nvPr>
        </p:nvSpPr>
        <p:spPr/>
        <p:txBody>
          <a:bodyPr/>
          <a:lstStyle/>
          <a:p>
            <a:r>
              <a:rPr kumimoji="1" lang="zh-CN" altLang="en-US" dirty="0"/>
              <a:t>任何没有自动化测试的程序功能实际上都不存在。</a:t>
            </a:r>
            <a:endParaRPr kumimoji="1" lang="en-US" altLang="zh-CN" dirty="0"/>
          </a:p>
          <a:p>
            <a:r>
              <a:rPr kumimoji="1" lang="zh-CN" altLang="en-US" dirty="0"/>
              <a:t>程序员编写单元测试，以便他们对程序运行的信心能够成为程序本身的一部分。</a:t>
            </a:r>
            <a:endParaRPr kumimoji="1" lang="en-US" altLang="zh-CN" dirty="0"/>
          </a:p>
          <a:p>
            <a:r>
              <a:rPr kumimoji="1" lang="zh-CN" altLang="en-US" dirty="0"/>
              <a:t>客户编写功能测试，以便他们对程序运行的信心也能成为程序的一部分。</a:t>
            </a:r>
          </a:p>
        </p:txBody>
      </p:sp>
    </p:spTree>
    <p:extLst>
      <p:ext uri="{BB962C8B-B14F-4D97-AF65-F5344CB8AC3E}">
        <p14:creationId xmlns:p14="http://schemas.microsoft.com/office/powerpoint/2010/main" val="142783241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FE71D-14DD-C498-F924-C51F965B786D}"/>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3D58B3C-1BB5-E7D8-C406-D751CEBAD86E}"/>
              </a:ext>
            </a:extLst>
          </p:cNvPr>
          <p:cNvSpPr>
            <a:spLocks noGrp="1"/>
          </p:cNvSpPr>
          <p:nvPr>
            <p:ph type="sldNum" sz="quarter" idx="12"/>
          </p:nvPr>
        </p:nvSpPr>
        <p:spPr/>
        <p:txBody>
          <a:bodyPr/>
          <a:lstStyle/>
          <a:p>
            <a:fld id="{51D91E7F-84B6-4064-9D4E-CC7D244BCA04}" type="slidenum">
              <a:rPr lang="zh-CN" altLang="en-US" smtClean="0"/>
              <a:t>25</a:t>
            </a:fld>
            <a:endParaRPr lang="zh-CN" altLang="en-US"/>
          </a:p>
        </p:txBody>
      </p:sp>
      <p:sp>
        <p:nvSpPr>
          <p:cNvPr id="3" name="文本占位符 2">
            <a:extLst>
              <a:ext uri="{FF2B5EF4-FFF2-40B4-BE49-F238E27FC236}">
                <a16:creationId xmlns:a16="http://schemas.microsoft.com/office/drawing/2014/main" id="{CF084C7E-6E9C-EEBA-3515-F0338D54200B}"/>
              </a:ext>
            </a:extLst>
          </p:cNvPr>
          <p:cNvSpPr>
            <a:spLocks noGrp="1"/>
          </p:cNvSpPr>
          <p:nvPr>
            <p:ph type="body" sz="quarter" idx="13"/>
          </p:nvPr>
        </p:nvSpPr>
        <p:spPr/>
        <p:txBody>
          <a:bodyPr/>
          <a:lstStyle/>
          <a:p>
            <a:r>
              <a:rPr kumimoji="1" lang="en-US" altLang="zh-CN" dirty="0"/>
              <a:t>6</a:t>
            </a:r>
            <a:r>
              <a:rPr kumimoji="1" lang="zh-CN" altLang="en-US" dirty="0"/>
              <a:t> 重构 </a:t>
            </a:r>
            <a:r>
              <a:rPr kumimoji="1" lang="en-US" altLang="zh-CN" dirty="0"/>
              <a:t>Refactoring</a:t>
            </a:r>
            <a:endParaRPr kumimoji="1" lang="zh-CN" altLang="en-US" dirty="0"/>
          </a:p>
        </p:txBody>
      </p:sp>
      <p:sp>
        <p:nvSpPr>
          <p:cNvPr id="4" name="内容占位符 3">
            <a:extLst>
              <a:ext uri="{FF2B5EF4-FFF2-40B4-BE49-F238E27FC236}">
                <a16:creationId xmlns:a16="http://schemas.microsoft.com/office/drawing/2014/main" id="{4DD835B0-938E-176C-7068-F0A9FC5962D1}"/>
              </a:ext>
            </a:extLst>
          </p:cNvPr>
          <p:cNvSpPr>
            <a:spLocks noGrp="1"/>
          </p:cNvSpPr>
          <p:nvPr>
            <p:ph idx="1"/>
          </p:nvPr>
        </p:nvSpPr>
        <p:spPr/>
        <p:txBody>
          <a:bodyPr/>
          <a:lstStyle/>
          <a:p>
            <a:r>
              <a:rPr kumimoji="1" lang="zh-CN" altLang="en-US" dirty="0"/>
              <a:t>在实现程序功能时，程序员总是会问是否有办法改变现有程序，以使添加该功能变得简单。</a:t>
            </a:r>
            <a:endParaRPr kumimoji="1" lang="en-US" altLang="zh-CN" dirty="0"/>
          </a:p>
          <a:p>
            <a:r>
              <a:rPr kumimoji="1" lang="zh-CN" altLang="en-US" dirty="0"/>
              <a:t>不过，你不能仅凭猜测进行重构；只有当系统要求你进行重构时，你才进行重构。</a:t>
            </a:r>
            <a:endParaRPr kumimoji="1" lang="en-US" altLang="zh-CN" dirty="0"/>
          </a:p>
          <a:p>
            <a:pPr lvl="1"/>
            <a:r>
              <a:rPr kumimoji="1" lang="zh-CN" altLang="en-US" dirty="0"/>
              <a:t>当系统要求你复制代码时，它就是在要求进行重构。</a:t>
            </a:r>
          </a:p>
          <a:p>
            <a:endParaRPr kumimoji="1" lang="zh-CN" altLang="en-US" dirty="0"/>
          </a:p>
        </p:txBody>
      </p:sp>
    </p:spTree>
    <p:extLst>
      <p:ext uri="{BB962C8B-B14F-4D97-AF65-F5344CB8AC3E}">
        <p14:creationId xmlns:p14="http://schemas.microsoft.com/office/powerpoint/2010/main" val="4289726248"/>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C2049-F16A-8CBF-BF46-B54B9EB94169}"/>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6A95499-7FF2-49A1-6E6D-489E44F3FA90}"/>
              </a:ext>
            </a:extLst>
          </p:cNvPr>
          <p:cNvSpPr>
            <a:spLocks noGrp="1"/>
          </p:cNvSpPr>
          <p:nvPr>
            <p:ph type="sldNum" sz="quarter" idx="12"/>
          </p:nvPr>
        </p:nvSpPr>
        <p:spPr/>
        <p:txBody>
          <a:bodyPr/>
          <a:lstStyle/>
          <a:p>
            <a:fld id="{51D91E7F-84B6-4064-9D4E-CC7D244BCA04}" type="slidenum">
              <a:rPr lang="zh-CN" altLang="en-US" smtClean="0"/>
              <a:t>26</a:t>
            </a:fld>
            <a:endParaRPr lang="zh-CN" altLang="en-US"/>
          </a:p>
        </p:txBody>
      </p:sp>
      <p:sp>
        <p:nvSpPr>
          <p:cNvPr id="3" name="文本占位符 2">
            <a:extLst>
              <a:ext uri="{FF2B5EF4-FFF2-40B4-BE49-F238E27FC236}">
                <a16:creationId xmlns:a16="http://schemas.microsoft.com/office/drawing/2014/main" id="{82A36097-CD58-C320-7DB3-D2EC2784FB7D}"/>
              </a:ext>
            </a:extLst>
          </p:cNvPr>
          <p:cNvSpPr>
            <a:spLocks noGrp="1"/>
          </p:cNvSpPr>
          <p:nvPr>
            <p:ph type="body" sz="quarter" idx="13"/>
          </p:nvPr>
        </p:nvSpPr>
        <p:spPr/>
        <p:txBody>
          <a:bodyPr/>
          <a:lstStyle/>
          <a:p>
            <a:r>
              <a:rPr kumimoji="1" lang="en-US" altLang="zh-CN" dirty="0"/>
              <a:t>7</a:t>
            </a:r>
            <a:r>
              <a:rPr kumimoji="1" lang="zh-CN" altLang="en-US" dirty="0"/>
              <a:t> 结对编程</a:t>
            </a:r>
          </a:p>
        </p:txBody>
      </p:sp>
      <p:sp>
        <p:nvSpPr>
          <p:cNvPr id="4" name="内容占位符 3">
            <a:extLst>
              <a:ext uri="{FF2B5EF4-FFF2-40B4-BE49-F238E27FC236}">
                <a16:creationId xmlns:a16="http://schemas.microsoft.com/office/drawing/2014/main" id="{5ACB2565-2E8E-0ABD-4B4A-E2AF9E812CC1}"/>
              </a:ext>
            </a:extLst>
          </p:cNvPr>
          <p:cNvSpPr>
            <a:spLocks noGrp="1"/>
          </p:cNvSpPr>
          <p:nvPr>
            <p:ph idx="1"/>
          </p:nvPr>
        </p:nvSpPr>
        <p:spPr>
          <a:xfrm>
            <a:off x="838200" y="1289956"/>
            <a:ext cx="10515600" cy="5270108"/>
          </a:xfrm>
        </p:spPr>
        <p:txBody>
          <a:bodyPr>
            <a:normAutofit fontScale="85000" lnSpcReduction="20000"/>
          </a:bodyPr>
          <a:lstStyle/>
          <a:p>
            <a:r>
              <a:rPr kumimoji="1" lang="zh-CN" altLang="en-US" dirty="0"/>
              <a:t>所有生产代码的过程中，都有两个人盯着一台机器，共用一个键盘和一个鼠标。</a:t>
            </a:r>
            <a:endParaRPr kumimoji="1" lang="en-US" altLang="zh-CN" dirty="0"/>
          </a:p>
          <a:p>
            <a:r>
              <a:rPr kumimoji="1" lang="zh-CN" altLang="en-US" dirty="0"/>
              <a:t>其中一个人，即手握键盘和鼠标的那位，思考的是在此处实现这个方法的最佳方式。</a:t>
            </a:r>
            <a:endParaRPr kumimoji="1" lang="en-US" altLang="zh-CN" dirty="0"/>
          </a:p>
          <a:p>
            <a:r>
              <a:rPr kumimoji="1" lang="zh-CN" altLang="en-US" dirty="0"/>
              <a:t>另一个人则从更具战略性的角度思考： </a:t>
            </a:r>
            <a:endParaRPr kumimoji="1" lang="en-US" altLang="zh-CN" dirty="0"/>
          </a:p>
          <a:p>
            <a:pPr lvl="1"/>
            <a:r>
              <a:rPr kumimoji="1" lang="zh-CN" altLang="en-US" dirty="0"/>
              <a:t>整个方法行得通吗？</a:t>
            </a:r>
            <a:endParaRPr kumimoji="1" lang="en-US" altLang="zh-CN" dirty="0"/>
          </a:p>
          <a:p>
            <a:pPr lvl="1"/>
            <a:r>
              <a:rPr kumimoji="1" lang="zh-CN" altLang="en-US" dirty="0"/>
              <a:t>还有哪些测试用例可能尚未通过？</a:t>
            </a:r>
            <a:endParaRPr kumimoji="1" lang="en-US" altLang="zh-CN" dirty="0"/>
          </a:p>
          <a:p>
            <a:pPr lvl="1"/>
            <a:r>
              <a:rPr kumimoji="1" lang="zh-CN" altLang="en-US" dirty="0"/>
              <a:t>有没有办法简化整个系统，让当前的问题迎刃而解？</a:t>
            </a:r>
            <a:endParaRPr kumimoji="1" lang="en-US" altLang="zh-CN" dirty="0"/>
          </a:p>
          <a:p>
            <a:r>
              <a:rPr kumimoji="1" lang="zh-CN" altLang="en-US" dirty="0"/>
              <a:t>结对不是固定的。</a:t>
            </a:r>
            <a:endParaRPr kumimoji="1" lang="en-US" altLang="zh-CN" dirty="0"/>
          </a:p>
          <a:p>
            <a:r>
              <a:rPr kumimoji="1" lang="zh-CN" altLang="en-US" dirty="0"/>
              <a:t>如果你要负责一个自己不熟悉领域的任务，不妨找最有相关经验的人跟你结对。</a:t>
            </a:r>
            <a:endParaRPr kumimoji="1" lang="en-US" altLang="zh-CN" dirty="0"/>
          </a:p>
          <a:p>
            <a:endParaRPr kumimoji="1" lang="zh-CN" altLang="en-US" dirty="0"/>
          </a:p>
        </p:txBody>
      </p:sp>
    </p:spTree>
    <p:extLst>
      <p:ext uri="{BB962C8B-B14F-4D97-AF65-F5344CB8AC3E}">
        <p14:creationId xmlns:p14="http://schemas.microsoft.com/office/powerpoint/2010/main" val="175560589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ACE76-4604-41CE-7DC9-61C5F2897A27}"/>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B92E395-EA87-6DBA-7856-0C7649EC2FCA}"/>
              </a:ext>
            </a:extLst>
          </p:cNvPr>
          <p:cNvSpPr>
            <a:spLocks noGrp="1"/>
          </p:cNvSpPr>
          <p:nvPr>
            <p:ph type="sldNum" sz="quarter" idx="12"/>
          </p:nvPr>
        </p:nvSpPr>
        <p:spPr/>
        <p:txBody>
          <a:bodyPr/>
          <a:lstStyle/>
          <a:p>
            <a:fld id="{51D91E7F-84B6-4064-9D4E-CC7D244BCA04}" type="slidenum">
              <a:rPr lang="zh-CN" altLang="en-US" smtClean="0"/>
              <a:t>27</a:t>
            </a:fld>
            <a:endParaRPr lang="zh-CN" altLang="en-US"/>
          </a:p>
        </p:txBody>
      </p:sp>
      <p:sp>
        <p:nvSpPr>
          <p:cNvPr id="3" name="文本占位符 2">
            <a:extLst>
              <a:ext uri="{FF2B5EF4-FFF2-40B4-BE49-F238E27FC236}">
                <a16:creationId xmlns:a16="http://schemas.microsoft.com/office/drawing/2014/main" id="{270F0159-786C-8282-77F3-B4C42031E337}"/>
              </a:ext>
            </a:extLst>
          </p:cNvPr>
          <p:cNvSpPr>
            <a:spLocks noGrp="1"/>
          </p:cNvSpPr>
          <p:nvPr>
            <p:ph type="body" sz="quarter" idx="13"/>
          </p:nvPr>
        </p:nvSpPr>
        <p:spPr/>
        <p:txBody>
          <a:bodyPr/>
          <a:lstStyle/>
          <a:p>
            <a:r>
              <a:rPr kumimoji="1" lang="en-US" altLang="zh-CN" dirty="0"/>
              <a:t>8</a:t>
            </a:r>
            <a:r>
              <a:rPr kumimoji="1" lang="zh-CN" altLang="en-US" dirty="0"/>
              <a:t> 代码集体拥有制 </a:t>
            </a:r>
            <a:r>
              <a:rPr kumimoji="1" lang="en-US" altLang="zh-CN" dirty="0"/>
              <a:t>Collective Ownership</a:t>
            </a:r>
            <a:endParaRPr kumimoji="1" lang="zh-CN" altLang="en-US" dirty="0"/>
          </a:p>
        </p:txBody>
      </p:sp>
      <p:sp>
        <p:nvSpPr>
          <p:cNvPr id="4" name="内容占位符 3">
            <a:extLst>
              <a:ext uri="{FF2B5EF4-FFF2-40B4-BE49-F238E27FC236}">
                <a16:creationId xmlns:a16="http://schemas.microsoft.com/office/drawing/2014/main" id="{F7A2F684-1719-987F-9991-6433A6A863DA}"/>
              </a:ext>
            </a:extLst>
          </p:cNvPr>
          <p:cNvSpPr>
            <a:spLocks noGrp="1"/>
          </p:cNvSpPr>
          <p:nvPr>
            <p:ph idx="1"/>
          </p:nvPr>
        </p:nvSpPr>
        <p:spPr/>
        <p:txBody>
          <a:bodyPr>
            <a:normAutofit lnSpcReduction="10000"/>
          </a:bodyPr>
          <a:lstStyle/>
          <a:p>
            <a:r>
              <a:rPr lang="zh-CN" altLang="en-US" b="0" i="0" dirty="0">
                <a:solidFill>
                  <a:srgbClr val="FF0000"/>
                </a:solidFill>
                <a:effectLst/>
                <a:latin typeface="Inter"/>
              </a:rPr>
              <a:t>任何人若发现有机会为代码的任何部分增加价值，都应随时这么做。</a:t>
            </a:r>
            <a:endParaRPr lang="en-US" altLang="zh-CN" b="0" i="0" dirty="0">
              <a:solidFill>
                <a:srgbClr val="FF0000"/>
              </a:solidFill>
              <a:effectLst/>
              <a:latin typeface="Inter"/>
            </a:endParaRPr>
          </a:p>
          <a:p>
            <a:r>
              <a:rPr lang="zh-CN" altLang="en-US" b="0" i="0" dirty="0">
                <a:effectLst/>
                <a:latin typeface="Inter"/>
              </a:rPr>
              <a:t>无所有权模式。在过去，没有任何人拥有特定的某段代码。如果有人想修改代码，就会按照自己的目的去改，而不管修改后的代码与现有代码是否契合。</a:t>
            </a:r>
            <a:endParaRPr lang="en-US" altLang="zh-CN" b="0" i="0" dirty="0">
              <a:effectLst/>
              <a:latin typeface="Inter"/>
            </a:endParaRPr>
          </a:p>
          <a:p>
            <a:r>
              <a:rPr lang="zh-CN" altLang="en-US" b="0" i="0" dirty="0">
                <a:effectLst/>
                <a:latin typeface="Inter"/>
              </a:rPr>
              <a:t>个人代码所有权模式。只有代码的正式所有者才能修改某段代码。其他任何人若发现代码需要修改，都必须向所有者提交请求。人们都不太愿意打扰代码所有者。</a:t>
            </a:r>
            <a:endParaRPr kumimoji="1" lang="zh-CN" altLang="en-US" dirty="0"/>
          </a:p>
        </p:txBody>
      </p:sp>
    </p:spTree>
    <p:extLst>
      <p:ext uri="{BB962C8B-B14F-4D97-AF65-F5344CB8AC3E}">
        <p14:creationId xmlns:p14="http://schemas.microsoft.com/office/powerpoint/2010/main" val="378767627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966F9-B4A6-BA4B-162A-33005D233DD6}"/>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4AAC81C7-A44A-D5A6-8F9F-BA112F3EA767}"/>
              </a:ext>
            </a:extLst>
          </p:cNvPr>
          <p:cNvSpPr>
            <a:spLocks noGrp="1"/>
          </p:cNvSpPr>
          <p:nvPr>
            <p:ph type="sldNum" sz="quarter" idx="12"/>
          </p:nvPr>
        </p:nvSpPr>
        <p:spPr/>
        <p:txBody>
          <a:bodyPr/>
          <a:lstStyle/>
          <a:p>
            <a:fld id="{51D91E7F-84B6-4064-9D4E-CC7D244BCA04}" type="slidenum">
              <a:rPr lang="zh-CN" altLang="en-US" smtClean="0"/>
              <a:t>28</a:t>
            </a:fld>
            <a:endParaRPr lang="zh-CN" altLang="en-US"/>
          </a:p>
        </p:txBody>
      </p:sp>
      <p:sp>
        <p:nvSpPr>
          <p:cNvPr id="3" name="文本占位符 2">
            <a:extLst>
              <a:ext uri="{FF2B5EF4-FFF2-40B4-BE49-F238E27FC236}">
                <a16:creationId xmlns:a16="http://schemas.microsoft.com/office/drawing/2014/main" id="{B096A2E3-8382-D555-79FE-0D2BA8611EE3}"/>
              </a:ext>
            </a:extLst>
          </p:cNvPr>
          <p:cNvSpPr>
            <a:spLocks noGrp="1"/>
          </p:cNvSpPr>
          <p:nvPr>
            <p:ph type="body" sz="quarter" idx="13"/>
          </p:nvPr>
        </p:nvSpPr>
        <p:spPr/>
        <p:txBody>
          <a:bodyPr/>
          <a:lstStyle/>
          <a:p>
            <a:r>
              <a:rPr kumimoji="1" lang="en-US" altLang="zh-CN" dirty="0"/>
              <a:t>9</a:t>
            </a:r>
            <a:r>
              <a:rPr kumimoji="1" lang="zh-CN" altLang="en-US" dirty="0"/>
              <a:t> 持续集成 </a:t>
            </a:r>
            <a:r>
              <a:rPr kumimoji="1" lang="en-US" altLang="zh-CN" dirty="0"/>
              <a:t>Continuous Integration </a:t>
            </a:r>
            <a:endParaRPr kumimoji="1" lang="zh-CN" altLang="en-US" dirty="0"/>
          </a:p>
        </p:txBody>
      </p:sp>
      <p:sp>
        <p:nvSpPr>
          <p:cNvPr id="4" name="内容占位符 3">
            <a:extLst>
              <a:ext uri="{FF2B5EF4-FFF2-40B4-BE49-F238E27FC236}">
                <a16:creationId xmlns:a16="http://schemas.microsoft.com/office/drawing/2014/main" id="{051FAD5F-1353-911B-B5CE-23021D088D48}"/>
              </a:ext>
            </a:extLst>
          </p:cNvPr>
          <p:cNvSpPr>
            <a:spLocks noGrp="1"/>
          </p:cNvSpPr>
          <p:nvPr>
            <p:ph idx="1"/>
          </p:nvPr>
        </p:nvSpPr>
        <p:spPr/>
        <p:txBody>
          <a:bodyPr>
            <a:normAutofit lnSpcReduction="10000"/>
          </a:bodyPr>
          <a:lstStyle/>
          <a:p>
            <a:r>
              <a:rPr kumimoji="1" lang="zh-CN" altLang="en-US" dirty="0"/>
              <a:t>代码在几小时内 </a:t>
            </a:r>
            <a:r>
              <a:rPr kumimoji="1" lang="en-US" altLang="zh-CN" dirty="0"/>
              <a:t>—— </a:t>
            </a:r>
            <a:r>
              <a:rPr kumimoji="1" lang="zh-CN" altLang="en-US" dirty="0"/>
              <a:t>最多一天的开发时间内 </a:t>
            </a:r>
            <a:r>
              <a:rPr kumimoji="1" lang="en-US" altLang="zh-CN" dirty="0"/>
              <a:t>—— </a:t>
            </a:r>
            <a:r>
              <a:rPr kumimoji="1" lang="zh-CN" altLang="en-US" dirty="0"/>
              <a:t>完成集成与测试。</a:t>
            </a:r>
          </a:p>
          <a:p>
            <a:r>
              <a:rPr kumimoji="1" lang="zh-CN" altLang="en-US" dirty="0"/>
              <a:t>一种简单的做法是设置一台专门用于集成的机器。当这台机器空闲时，负责集成代码的两人坐下来，加载当前版本，载入他们所做的更改（检查并解决任何冲突），然后运行测试，直至测试全部通过（</a:t>
            </a:r>
            <a:r>
              <a:rPr kumimoji="1" lang="en-US" altLang="zh-CN" dirty="0"/>
              <a:t>100% </a:t>
            </a:r>
            <a:r>
              <a:rPr kumimoji="1" lang="zh-CN" altLang="en-US" dirty="0"/>
              <a:t>正确）。</a:t>
            </a:r>
            <a:endParaRPr kumimoji="1" lang="en-US" altLang="zh-CN" dirty="0"/>
          </a:p>
          <a:p>
            <a:r>
              <a:rPr lang="zh-CN" altLang="en-US" b="0" i="0" u="none" strike="noStrike" dirty="0">
                <a:effectLst/>
                <a:latin typeface="PingFang SC" panose="020B0400000000000000" pitchFamily="34" charset="-122"/>
                <a:ea typeface="PingFang SC" panose="020B0400000000000000" pitchFamily="34" charset="-122"/>
              </a:rPr>
              <a:t>少量变更的持续集成能快速定位问题：若测试失败，责任明确归属于当前集成人员，因上一轮集成已确保测试通过。</a:t>
            </a:r>
            <a:endParaRPr kumimoji="1" lang="zh-CN" altLang="en-US" dirty="0"/>
          </a:p>
        </p:txBody>
      </p:sp>
    </p:spTree>
    <p:extLst>
      <p:ext uri="{BB962C8B-B14F-4D97-AF65-F5344CB8AC3E}">
        <p14:creationId xmlns:p14="http://schemas.microsoft.com/office/powerpoint/2010/main" val="275776916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678F0-0198-03C2-5D57-4932885AFD76}"/>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79F136B-CBF6-56A3-1220-DF305DEC6182}"/>
              </a:ext>
            </a:extLst>
          </p:cNvPr>
          <p:cNvSpPr>
            <a:spLocks noGrp="1"/>
          </p:cNvSpPr>
          <p:nvPr>
            <p:ph type="sldNum" sz="quarter" idx="12"/>
          </p:nvPr>
        </p:nvSpPr>
        <p:spPr/>
        <p:txBody>
          <a:bodyPr/>
          <a:lstStyle/>
          <a:p>
            <a:fld id="{51D91E7F-84B6-4064-9D4E-CC7D244BCA04}" type="slidenum">
              <a:rPr lang="zh-CN" altLang="en-US" smtClean="0"/>
              <a:t>29</a:t>
            </a:fld>
            <a:endParaRPr lang="zh-CN" altLang="en-US"/>
          </a:p>
        </p:txBody>
      </p:sp>
      <p:sp>
        <p:nvSpPr>
          <p:cNvPr id="3" name="文本占位符 2">
            <a:extLst>
              <a:ext uri="{FF2B5EF4-FFF2-40B4-BE49-F238E27FC236}">
                <a16:creationId xmlns:a16="http://schemas.microsoft.com/office/drawing/2014/main" id="{EB7DE338-B64E-74E7-988D-A444966599F5}"/>
              </a:ext>
            </a:extLst>
          </p:cNvPr>
          <p:cNvSpPr>
            <a:spLocks noGrp="1"/>
          </p:cNvSpPr>
          <p:nvPr>
            <p:ph type="body" sz="quarter" idx="13"/>
          </p:nvPr>
        </p:nvSpPr>
        <p:spPr/>
        <p:txBody>
          <a:bodyPr/>
          <a:lstStyle/>
          <a:p>
            <a:r>
              <a:rPr kumimoji="1" lang="en-US" altLang="zh-CN" dirty="0"/>
              <a:t>10</a:t>
            </a:r>
            <a:r>
              <a:rPr kumimoji="1" lang="zh-CN" altLang="en-US" dirty="0"/>
              <a:t>、</a:t>
            </a:r>
            <a:r>
              <a:rPr kumimoji="1" lang="en-US" altLang="zh-CN" dirty="0"/>
              <a:t>40 </a:t>
            </a:r>
            <a:r>
              <a:rPr kumimoji="1" lang="zh-CN" altLang="en-US" dirty="0"/>
              <a:t>小时工作制 </a:t>
            </a:r>
            <a:r>
              <a:rPr kumimoji="1" lang="en-US" altLang="zh-CN" dirty="0"/>
              <a:t>40-Hour Week</a:t>
            </a:r>
            <a:endParaRPr kumimoji="1" lang="zh-CN" altLang="en-US" dirty="0"/>
          </a:p>
        </p:txBody>
      </p:sp>
      <p:sp>
        <p:nvSpPr>
          <p:cNvPr id="4" name="内容占位符 3">
            <a:extLst>
              <a:ext uri="{FF2B5EF4-FFF2-40B4-BE49-F238E27FC236}">
                <a16:creationId xmlns:a16="http://schemas.microsoft.com/office/drawing/2014/main" id="{08C8FFCA-6B3F-8D85-D000-928D9E897A8E}"/>
              </a:ext>
            </a:extLst>
          </p:cNvPr>
          <p:cNvSpPr>
            <a:spLocks noGrp="1"/>
          </p:cNvSpPr>
          <p:nvPr>
            <p:ph idx="1"/>
          </p:nvPr>
        </p:nvSpPr>
        <p:spPr/>
        <p:txBody>
          <a:bodyPr/>
          <a:lstStyle/>
          <a:p>
            <a:r>
              <a:rPr lang="zh-CN" altLang="en-US" b="0" i="0" dirty="0">
                <a:effectLst/>
                <a:latin typeface="Inter"/>
              </a:rPr>
              <a:t>加班是项目中存在严重问题的一个征兆。</a:t>
            </a:r>
            <a:endParaRPr lang="en-US" altLang="zh-CN" b="0" i="0" dirty="0">
              <a:effectLst/>
              <a:latin typeface="Inter"/>
            </a:endParaRPr>
          </a:p>
          <a:p>
            <a:r>
              <a:rPr lang="zh-CN" altLang="en-US" b="0" i="0" dirty="0">
                <a:effectLst/>
                <a:latin typeface="Inter"/>
              </a:rPr>
              <a:t>每周在工作现场是否正好工作 </a:t>
            </a:r>
            <a:r>
              <a:rPr lang="en-US" altLang="zh-CN" b="0" i="0" dirty="0">
                <a:effectLst/>
                <a:latin typeface="Inter"/>
              </a:rPr>
              <a:t>40 </a:t>
            </a:r>
            <a:r>
              <a:rPr lang="zh-CN" altLang="en-US" b="0" i="0" dirty="0">
                <a:effectLst/>
                <a:latin typeface="Inter"/>
              </a:rPr>
              <a:t>小时，并不是特别重要。</a:t>
            </a:r>
            <a:endParaRPr kumimoji="1" lang="zh-CN" altLang="en-US" dirty="0"/>
          </a:p>
        </p:txBody>
      </p:sp>
    </p:spTree>
    <p:extLst>
      <p:ext uri="{BB962C8B-B14F-4D97-AF65-F5344CB8AC3E}">
        <p14:creationId xmlns:p14="http://schemas.microsoft.com/office/powerpoint/2010/main" val="366616279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D291A-3450-E0AE-01F5-AD4A018A96E7}"/>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ED0C871-D8F4-634B-7BC8-16F5AFA59F18}"/>
              </a:ext>
            </a:extLst>
          </p:cNvPr>
          <p:cNvSpPr>
            <a:spLocks noGrp="1"/>
          </p:cNvSpPr>
          <p:nvPr>
            <p:ph type="sldNum" sz="quarter" idx="12"/>
          </p:nvPr>
        </p:nvSpPr>
        <p:spPr/>
        <p:txBody>
          <a:bodyPr/>
          <a:lstStyle/>
          <a:p>
            <a:fld id="{51D91E7F-84B6-4064-9D4E-CC7D244BCA04}" type="slidenum">
              <a:rPr lang="zh-CN" altLang="en-US" smtClean="0"/>
              <a:t>30</a:t>
            </a:fld>
            <a:endParaRPr lang="zh-CN" altLang="en-US"/>
          </a:p>
        </p:txBody>
      </p:sp>
      <p:sp>
        <p:nvSpPr>
          <p:cNvPr id="3" name="文本占位符 2">
            <a:extLst>
              <a:ext uri="{FF2B5EF4-FFF2-40B4-BE49-F238E27FC236}">
                <a16:creationId xmlns:a16="http://schemas.microsoft.com/office/drawing/2014/main" id="{AC9D8FF2-75AD-DBF8-E6B1-903B6AE93491}"/>
              </a:ext>
            </a:extLst>
          </p:cNvPr>
          <p:cNvSpPr>
            <a:spLocks noGrp="1"/>
          </p:cNvSpPr>
          <p:nvPr>
            <p:ph type="body" sz="quarter" idx="13"/>
          </p:nvPr>
        </p:nvSpPr>
        <p:spPr/>
        <p:txBody>
          <a:bodyPr/>
          <a:lstStyle/>
          <a:p>
            <a:r>
              <a:rPr kumimoji="1" lang="en-US" altLang="zh-CN" dirty="0"/>
              <a:t>11</a:t>
            </a:r>
            <a:r>
              <a:rPr kumimoji="1" lang="zh-CN" altLang="en-US" dirty="0"/>
              <a:t> 现场客户 </a:t>
            </a:r>
            <a:r>
              <a:rPr lang="en-US" altLang="zh-CN" dirty="0"/>
              <a:t>On-Site Customer</a:t>
            </a:r>
            <a:endParaRPr kumimoji="1" lang="zh-CN" altLang="en-US" dirty="0"/>
          </a:p>
        </p:txBody>
      </p:sp>
      <p:sp>
        <p:nvSpPr>
          <p:cNvPr id="4" name="内容占位符 3">
            <a:extLst>
              <a:ext uri="{FF2B5EF4-FFF2-40B4-BE49-F238E27FC236}">
                <a16:creationId xmlns:a16="http://schemas.microsoft.com/office/drawing/2014/main" id="{0C796862-9309-C252-7A72-9BAD4720E429}"/>
              </a:ext>
            </a:extLst>
          </p:cNvPr>
          <p:cNvSpPr>
            <a:spLocks noGrp="1"/>
          </p:cNvSpPr>
          <p:nvPr>
            <p:ph idx="1"/>
          </p:nvPr>
        </p:nvSpPr>
        <p:spPr/>
        <p:txBody>
          <a:bodyPr/>
          <a:lstStyle/>
          <a:p>
            <a:r>
              <a:rPr lang="zh-CN" altLang="en-US" b="0" i="0" dirty="0">
                <a:effectLst/>
                <a:latin typeface="Inter"/>
              </a:rPr>
              <a:t>真正的客户必须与团队坐在一起，随时解答问题、解决争议并确定小规模的优先级。</a:t>
            </a:r>
            <a:endParaRPr lang="en-US" altLang="zh-CN" b="0" i="0" dirty="0">
              <a:effectLst/>
              <a:latin typeface="Inter"/>
            </a:endParaRPr>
          </a:p>
          <a:p>
            <a:r>
              <a:rPr lang="zh-CN" altLang="en-US" b="0" i="0" dirty="0">
                <a:effectLst/>
                <a:latin typeface="Inter"/>
              </a:rPr>
              <a:t>对这一规则的主要反对意见是，正在开发的系统的真正用户太宝贵了，不能分配给团队。</a:t>
            </a:r>
            <a:endParaRPr lang="en-US" altLang="zh-CN" b="0" i="0" dirty="0">
              <a:effectLst/>
              <a:latin typeface="Inter"/>
            </a:endParaRPr>
          </a:p>
          <a:p>
            <a:pPr lvl="1"/>
            <a:r>
              <a:rPr lang="zh-CN" altLang="en-US" b="0" i="0" dirty="0">
                <a:effectLst/>
                <a:latin typeface="Inter"/>
              </a:rPr>
              <a:t>管理者必须决定哪一个更有价值 </a:t>
            </a:r>
            <a:r>
              <a:rPr lang="en-US" altLang="zh-CN" b="0" i="0" dirty="0">
                <a:effectLst/>
                <a:latin typeface="Inter"/>
              </a:rPr>
              <a:t>—— </a:t>
            </a:r>
            <a:r>
              <a:rPr lang="zh-CN" altLang="en-US" b="0" i="0" dirty="0">
                <a:effectLst/>
                <a:latin typeface="Inter"/>
              </a:rPr>
              <a:t>是让软件更快更好地投入使用，还是留住一两个人的产出。</a:t>
            </a:r>
            <a:endParaRPr kumimoji="1" lang="zh-CN" altLang="en-US" dirty="0"/>
          </a:p>
        </p:txBody>
      </p:sp>
    </p:spTree>
    <p:extLst>
      <p:ext uri="{BB962C8B-B14F-4D97-AF65-F5344CB8AC3E}">
        <p14:creationId xmlns:p14="http://schemas.microsoft.com/office/powerpoint/2010/main" val="218808794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5154A-0C7A-1EA7-58DF-8B4DC0B38B6B}"/>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30D5416-E625-5959-B2DC-F7511A330F1F}"/>
              </a:ext>
            </a:extLst>
          </p:cNvPr>
          <p:cNvSpPr>
            <a:spLocks noGrp="1"/>
          </p:cNvSpPr>
          <p:nvPr>
            <p:ph type="sldNum" sz="quarter" idx="12"/>
          </p:nvPr>
        </p:nvSpPr>
        <p:spPr/>
        <p:txBody>
          <a:bodyPr/>
          <a:lstStyle/>
          <a:p>
            <a:fld id="{51D91E7F-84B6-4064-9D4E-CC7D244BCA04}" type="slidenum">
              <a:rPr lang="zh-CN" altLang="en-US" smtClean="0"/>
              <a:t>31</a:t>
            </a:fld>
            <a:endParaRPr lang="zh-CN" altLang="en-US"/>
          </a:p>
        </p:txBody>
      </p:sp>
      <p:sp>
        <p:nvSpPr>
          <p:cNvPr id="3" name="文本占位符 2">
            <a:extLst>
              <a:ext uri="{FF2B5EF4-FFF2-40B4-BE49-F238E27FC236}">
                <a16:creationId xmlns:a16="http://schemas.microsoft.com/office/drawing/2014/main" id="{AD2F8D59-779B-66E2-6530-E6749B5CA9B2}"/>
              </a:ext>
            </a:extLst>
          </p:cNvPr>
          <p:cNvSpPr>
            <a:spLocks noGrp="1"/>
          </p:cNvSpPr>
          <p:nvPr>
            <p:ph type="body" sz="quarter" idx="13"/>
          </p:nvPr>
        </p:nvSpPr>
        <p:spPr/>
        <p:txBody>
          <a:bodyPr/>
          <a:lstStyle/>
          <a:p>
            <a:r>
              <a:rPr kumimoji="1" lang="en-US" altLang="zh-CN" dirty="0"/>
              <a:t>12</a:t>
            </a:r>
            <a:r>
              <a:rPr kumimoji="1" lang="zh-CN" altLang="en-US" dirty="0"/>
              <a:t> 编码标准 </a:t>
            </a:r>
            <a:r>
              <a:rPr lang="en-US" altLang="zh-CN" dirty="0"/>
              <a:t>Coding Standards</a:t>
            </a:r>
            <a:endParaRPr kumimoji="1" lang="zh-CN" altLang="en-US" dirty="0"/>
          </a:p>
        </p:txBody>
      </p:sp>
      <p:sp>
        <p:nvSpPr>
          <p:cNvPr id="4" name="内容占位符 3">
            <a:extLst>
              <a:ext uri="{FF2B5EF4-FFF2-40B4-BE49-F238E27FC236}">
                <a16:creationId xmlns:a16="http://schemas.microsoft.com/office/drawing/2014/main" id="{FED2C229-F50B-0D2D-9E4A-4FC5086CA9C5}"/>
              </a:ext>
            </a:extLst>
          </p:cNvPr>
          <p:cNvSpPr>
            <a:spLocks noGrp="1"/>
          </p:cNvSpPr>
          <p:nvPr>
            <p:ph idx="1"/>
          </p:nvPr>
        </p:nvSpPr>
        <p:spPr/>
        <p:txBody>
          <a:bodyPr/>
          <a:lstStyle/>
          <a:p>
            <a:r>
              <a:rPr lang="zh-CN" altLang="en-US" b="0" i="0" dirty="0">
                <a:effectLst/>
                <a:latin typeface="Inter"/>
              </a:rPr>
              <a:t>如果要让所有这些程序员在系统的不同部分之间切换，一天之内更换几次搭档，还不断重构彼此的代码，那你根本承受不起存在多套不同的编码规范。</a:t>
            </a:r>
            <a:endParaRPr kumimoji="1" lang="zh-CN" altLang="en-US" dirty="0"/>
          </a:p>
        </p:txBody>
      </p:sp>
    </p:spTree>
    <p:extLst>
      <p:ext uri="{BB962C8B-B14F-4D97-AF65-F5344CB8AC3E}">
        <p14:creationId xmlns:p14="http://schemas.microsoft.com/office/powerpoint/2010/main" val="245172936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3ED20-4C86-1E0D-FC96-1B8466494A5D}"/>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73DAF3D-D35D-F9F5-0C79-8540261B8059}"/>
              </a:ext>
            </a:extLst>
          </p:cNvPr>
          <p:cNvSpPr>
            <a:spLocks noGrp="1"/>
          </p:cNvSpPr>
          <p:nvPr>
            <p:ph type="sldNum" sz="quarter" idx="12"/>
          </p:nvPr>
        </p:nvSpPr>
        <p:spPr/>
        <p:txBody>
          <a:bodyPr/>
          <a:lstStyle/>
          <a:p>
            <a:fld id="{51D91E7F-84B6-4064-9D4E-CC7D244BCA04}" type="slidenum">
              <a:rPr lang="zh-CN" altLang="en-US" smtClean="0"/>
              <a:t>32</a:t>
            </a:fld>
            <a:endParaRPr lang="zh-CN" altLang="en-US"/>
          </a:p>
        </p:txBody>
      </p:sp>
      <p:sp>
        <p:nvSpPr>
          <p:cNvPr id="3" name="文本占位符 2">
            <a:extLst>
              <a:ext uri="{FF2B5EF4-FFF2-40B4-BE49-F238E27FC236}">
                <a16:creationId xmlns:a16="http://schemas.microsoft.com/office/drawing/2014/main" id="{037B7849-B468-C3FC-17A1-FC69F9D820E1}"/>
              </a:ext>
            </a:extLst>
          </p:cNvPr>
          <p:cNvSpPr>
            <a:spLocks noGrp="1"/>
          </p:cNvSpPr>
          <p:nvPr>
            <p:ph type="body" sz="quarter" idx="13"/>
          </p:nvPr>
        </p:nvSpPr>
        <p:spPr/>
        <p:txBody>
          <a:bodyPr/>
          <a:lstStyle/>
          <a:p>
            <a:r>
              <a:rPr kumimoji="1" lang="zh-CN" altLang="en-US" dirty="0"/>
              <a:t>极限的做法可行吗？</a:t>
            </a:r>
          </a:p>
        </p:txBody>
      </p:sp>
      <p:sp>
        <p:nvSpPr>
          <p:cNvPr id="4" name="内容占位符 3">
            <a:extLst>
              <a:ext uri="{FF2B5EF4-FFF2-40B4-BE49-F238E27FC236}">
                <a16:creationId xmlns:a16="http://schemas.microsoft.com/office/drawing/2014/main" id="{AC73F710-D894-858B-2989-AC109ED56F89}"/>
              </a:ext>
            </a:extLst>
          </p:cNvPr>
          <p:cNvSpPr>
            <a:spLocks noGrp="1"/>
          </p:cNvSpPr>
          <p:nvPr>
            <p:ph idx="1"/>
          </p:nvPr>
        </p:nvSpPr>
        <p:spPr/>
        <p:txBody>
          <a:bodyPr/>
          <a:lstStyle/>
          <a:p>
            <a:r>
              <a:rPr lang="zh-CN" altLang="en-US" b="0" i="0" dirty="0">
                <a:effectLst/>
                <a:latin typeface="Inter"/>
              </a:rPr>
              <a:t>上述所描述的实践方法没有一个是独特或原创的。</a:t>
            </a:r>
            <a:endParaRPr lang="en-US" altLang="zh-CN" b="0" i="0" dirty="0">
              <a:effectLst/>
              <a:latin typeface="Inter"/>
            </a:endParaRPr>
          </a:p>
          <a:p>
            <a:r>
              <a:rPr lang="zh-CN" altLang="en-US" b="0" i="0" dirty="0">
                <a:effectLst/>
                <a:latin typeface="Inter"/>
              </a:rPr>
              <a:t>自从有程序编写以来，这些方法就一直在使用。</a:t>
            </a:r>
            <a:endParaRPr lang="en-US" altLang="zh-CN" b="0" i="0" dirty="0">
              <a:effectLst/>
              <a:latin typeface="Inter"/>
            </a:endParaRPr>
          </a:p>
          <a:p>
            <a:r>
              <a:rPr lang="zh-CN" altLang="en-US" b="0" i="0" dirty="0">
                <a:effectLst/>
                <a:latin typeface="Inter"/>
              </a:rPr>
              <a:t>由于其弱点逐渐显现，其中大多数方法已被更为复杂、成本更高的实践方法所摒弃。</a:t>
            </a:r>
            <a:endParaRPr lang="en-US" altLang="zh-CN" b="0" i="0" dirty="0">
              <a:effectLst/>
              <a:latin typeface="Inter"/>
            </a:endParaRPr>
          </a:p>
          <a:p>
            <a:r>
              <a:rPr lang="zh-CN" altLang="en-US" b="0" i="0" dirty="0">
                <a:effectLst/>
                <a:latin typeface="Inter"/>
              </a:rPr>
              <a:t>倘若这些弱点如今能被其他实践方法的优点所弥补，又会怎样呢？</a:t>
            </a:r>
            <a:endParaRPr kumimoji="1" lang="zh-CN" altLang="en-US" dirty="0"/>
          </a:p>
        </p:txBody>
      </p:sp>
    </p:spTree>
    <p:extLst>
      <p:ext uri="{BB962C8B-B14F-4D97-AF65-F5344CB8AC3E}">
        <p14:creationId xmlns:p14="http://schemas.microsoft.com/office/powerpoint/2010/main" val="175540256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ECF23-DF9C-9067-1065-990DB5BE81A5}"/>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E3EBCEC-BB25-6276-6226-2DA9B940569C}"/>
              </a:ext>
            </a:extLst>
          </p:cNvPr>
          <p:cNvSpPr>
            <a:spLocks noGrp="1"/>
          </p:cNvSpPr>
          <p:nvPr>
            <p:ph type="sldNum" sz="quarter" idx="12"/>
          </p:nvPr>
        </p:nvSpPr>
        <p:spPr/>
        <p:txBody>
          <a:bodyPr/>
          <a:lstStyle/>
          <a:p>
            <a:fld id="{51D91E7F-84B6-4064-9D4E-CC7D244BCA04}" type="slidenum">
              <a:rPr lang="zh-CN" altLang="en-US" smtClean="0"/>
              <a:t>33</a:t>
            </a:fld>
            <a:endParaRPr lang="zh-CN" altLang="en-US"/>
          </a:p>
        </p:txBody>
      </p:sp>
      <p:sp>
        <p:nvSpPr>
          <p:cNvPr id="3" name="文本占位符 2">
            <a:extLst>
              <a:ext uri="{FF2B5EF4-FFF2-40B4-BE49-F238E27FC236}">
                <a16:creationId xmlns:a16="http://schemas.microsoft.com/office/drawing/2014/main" id="{3C05F825-B8DA-107D-3363-0B7F0C1AC24A}"/>
              </a:ext>
            </a:extLst>
          </p:cNvPr>
          <p:cNvSpPr>
            <a:spLocks noGrp="1"/>
          </p:cNvSpPr>
          <p:nvPr>
            <p:ph type="body" sz="quarter" idx="13"/>
          </p:nvPr>
        </p:nvSpPr>
        <p:spPr/>
        <p:txBody>
          <a:bodyPr/>
          <a:lstStyle/>
          <a:p>
            <a:r>
              <a:rPr kumimoji="1" lang="en-US" altLang="zh-CN" dirty="0"/>
              <a:t>1</a:t>
            </a:r>
            <a:r>
              <a:rPr kumimoji="1" lang="zh-CN" altLang="en-US" dirty="0"/>
              <a:t> 计划游戏 </a:t>
            </a:r>
            <a:r>
              <a:rPr lang="en-US" altLang="zh-CN" dirty="0"/>
              <a:t>The Planning Game </a:t>
            </a:r>
            <a:endParaRPr kumimoji="1" lang="zh-CN" altLang="en-US" dirty="0"/>
          </a:p>
        </p:txBody>
      </p:sp>
      <p:sp>
        <p:nvSpPr>
          <p:cNvPr id="4" name="内容占位符 3">
            <a:extLst>
              <a:ext uri="{FF2B5EF4-FFF2-40B4-BE49-F238E27FC236}">
                <a16:creationId xmlns:a16="http://schemas.microsoft.com/office/drawing/2014/main" id="{3F0C157E-64AC-FC85-3DF3-B2B4B00562E3}"/>
              </a:ext>
            </a:extLst>
          </p:cNvPr>
          <p:cNvSpPr>
            <a:spLocks noGrp="1"/>
          </p:cNvSpPr>
          <p:nvPr>
            <p:ph idx="1"/>
          </p:nvPr>
        </p:nvSpPr>
        <p:spPr/>
        <p:txBody>
          <a:bodyPr>
            <a:normAutofit/>
          </a:bodyPr>
          <a:lstStyle/>
          <a:p>
            <a:r>
              <a:rPr lang="zh-CN" altLang="en-US" b="0" i="0" dirty="0">
                <a:effectLst/>
                <a:latin typeface="Inter"/>
              </a:rPr>
              <a:t>你不可能仅凭一个粗略的计划就开始开发工作。</a:t>
            </a:r>
            <a:endParaRPr lang="en-US" altLang="zh-CN" b="0" i="0" dirty="0">
              <a:effectLst/>
              <a:latin typeface="Inter"/>
            </a:endParaRPr>
          </a:p>
          <a:p>
            <a:r>
              <a:rPr lang="zh-CN" altLang="en-US" b="0" i="0" dirty="0">
                <a:effectLst/>
                <a:latin typeface="Inter"/>
              </a:rPr>
              <a:t>你也不能不断地更新计划，那样耗时太长，还会让客户不满。</a:t>
            </a:r>
            <a:endParaRPr lang="en-US" altLang="zh-CN" b="0" i="0" dirty="0">
              <a:effectLst/>
              <a:latin typeface="Inter"/>
            </a:endParaRPr>
          </a:p>
          <a:p>
            <a:pPr lvl="1"/>
            <a:r>
              <a:rPr lang="zh-CN" altLang="en-US" b="0" i="0" dirty="0">
                <a:effectLst/>
                <a:latin typeface="Inter"/>
              </a:rPr>
              <a:t>客户会根据程序员提供的预估自行更新计划。</a:t>
            </a:r>
            <a:endParaRPr lang="en-US" altLang="zh-CN" dirty="0"/>
          </a:p>
          <a:p>
            <a:pPr lvl="1"/>
            <a:r>
              <a:rPr lang="zh-CN" altLang="en-US" b="0" i="0" dirty="0">
                <a:effectLst/>
                <a:latin typeface="Inter"/>
              </a:rPr>
              <a:t>一开始你有一个大致的计划，能让客户对未来几年可能实现的内容有个粗略的概念。</a:t>
            </a:r>
            <a:endParaRPr lang="en-US" altLang="zh-CN" b="0" i="0" dirty="0">
              <a:effectLst/>
              <a:latin typeface="Inter"/>
            </a:endParaRPr>
          </a:p>
          <a:p>
            <a:pPr lvl="1"/>
            <a:r>
              <a:rPr lang="zh-CN" altLang="en-US" b="0" i="0" dirty="0">
                <a:effectLst/>
                <a:latin typeface="Inter"/>
              </a:rPr>
              <a:t>你进行了短期发布，所以计划中的任何失误最多只会产生几周或几个月的影响。</a:t>
            </a:r>
            <a:endParaRPr lang="en-US" altLang="zh-CN" b="0" i="0" dirty="0">
              <a:effectLst/>
              <a:latin typeface="Inter"/>
            </a:endParaRPr>
          </a:p>
          <a:p>
            <a:pPr lvl="1"/>
            <a:r>
              <a:rPr lang="zh-CN" altLang="en-US" b="0" i="0" dirty="0">
                <a:effectLst/>
                <a:latin typeface="Inter"/>
              </a:rPr>
              <a:t>你的客户与团队一同办公，所以他们能迅速发现潜在的变化和改进机会。</a:t>
            </a:r>
            <a:endParaRPr kumimoji="1" lang="zh-CN" altLang="en-US" dirty="0"/>
          </a:p>
        </p:txBody>
      </p:sp>
    </p:spTree>
    <p:extLst>
      <p:ext uri="{BB962C8B-B14F-4D97-AF65-F5344CB8AC3E}">
        <p14:creationId xmlns:p14="http://schemas.microsoft.com/office/powerpoint/2010/main" val="1184996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79EB0-FC21-A470-A4D5-23C414A30462}"/>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26DB3ED-4024-07E3-6315-CD07617776BF}"/>
              </a:ext>
            </a:extLst>
          </p:cNvPr>
          <p:cNvSpPr>
            <a:spLocks noGrp="1"/>
          </p:cNvSpPr>
          <p:nvPr>
            <p:ph type="sldNum" sz="quarter" idx="12"/>
          </p:nvPr>
        </p:nvSpPr>
        <p:spPr/>
        <p:txBody>
          <a:bodyPr/>
          <a:lstStyle/>
          <a:p>
            <a:fld id="{51D91E7F-84B6-4064-9D4E-CC7D244BCA04}" type="slidenum">
              <a:rPr lang="zh-CN" altLang="en-US" smtClean="0"/>
              <a:t>34</a:t>
            </a:fld>
            <a:endParaRPr lang="zh-CN" altLang="en-US"/>
          </a:p>
        </p:txBody>
      </p:sp>
      <p:sp>
        <p:nvSpPr>
          <p:cNvPr id="3" name="文本占位符 2">
            <a:extLst>
              <a:ext uri="{FF2B5EF4-FFF2-40B4-BE49-F238E27FC236}">
                <a16:creationId xmlns:a16="http://schemas.microsoft.com/office/drawing/2014/main" id="{3ECFD252-0245-D51D-91DC-591C9D4CCBE2}"/>
              </a:ext>
            </a:extLst>
          </p:cNvPr>
          <p:cNvSpPr>
            <a:spLocks noGrp="1"/>
          </p:cNvSpPr>
          <p:nvPr>
            <p:ph type="body" sz="quarter" idx="13"/>
          </p:nvPr>
        </p:nvSpPr>
        <p:spPr/>
        <p:txBody>
          <a:bodyPr/>
          <a:lstStyle/>
          <a:p>
            <a:r>
              <a:rPr kumimoji="1" lang="en-US" altLang="zh-CN" dirty="0"/>
              <a:t>2</a:t>
            </a:r>
            <a:r>
              <a:rPr kumimoji="1" lang="zh-CN" altLang="en-US" dirty="0"/>
              <a:t> 小发布（段发布）周期 </a:t>
            </a:r>
            <a:r>
              <a:rPr lang="en-US" altLang="zh-CN" dirty="0"/>
              <a:t>Short Releases </a:t>
            </a:r>
            <a:endParaRPr kumimoji="1" lang="zh-CN" altLang="en-US" dirty="0"/>
          </a:p>
        </p:txBody>
      </p:sp>
      <p:sp>
        <p:nvSpPr>
          <p:cNvPr id="4" name="内容占位符 3">
            <a:extLst>
              <a:ext uri="{FF2B5EF4-FFF2-40B4-BE49-F238E27FC236}">
                <a16:creationId xmlns:a16="http://schemas.microsoft.com/office/drawing/2014/main" id="{4B991941-C9CE-08FA-3117-3B8DDF675F1F}"/>
              </a:ext>
            </a:extLst>
          </p:cNvPr>
          <p:cNvSpPr>
            <a:spLocks noGrp="1"/>
          </p:cNvSpPr>
          <p:nvPr>
            <p:ph idx="1"/>
          </p:nvPr>
        </p:nvSpPr>
        <p:spPr/>
        <p:txBody>
          <a:bodyPr>
            <a:normAutofit/>
          </a:bodyPr>
          <a:lstStyle/>
          <a:p>
            <a:r>
              <a:rPr lang="zh-CN" altLang="en-US" b="0" i="0" dirty="0">
                <a:effectLst/>
                <a:latin typeface="Inter"/>
              </a:rPr>
              <a:t>你不可能在几个月后就投入生产。</a:t>
            </a:r>
            <a:endParaRPr lang="en-US" altLang="zh-CN" b="0" i="0" dirty="0">
              <a:effectLst/>
              <a:latin typeface="Inter"/>
            </a:endParaRPr>
          </a:p>
          <a:p>
            <a:pPr lvl="1"/>
            <a:r>
              <a:rPr lang="zh-CN" altLang="en-US" dirty="0">
                <a:latin typeface="Inter"/>
              </a:rPr>
              <a:t>计划游戏</a:t>
            </a:r>
            <a:r>
              <a:rPr lang="zh-CN" altLang="en-US" b="0" i="0" dirty="0">
                <a:effectLst/>
                <a:latin typeface="Inter"/>
              </a:rPr>
              <a:t>帮助你处理最有价值的用户故事，所以即使是一个小系统也有商业价值。</a:t>
            </a:r>
            <a:endParaRPr lang="en-US" altLang="zh-CN" b="0" i="0" dirty="0">
              <a:effectLst/>
              <a:latin typeface="Inter"/>
            </a:endParaRPr>
          </a:p>
          <a:p>
            <a:pPr lvl="1"/>
            <a:r>
              <a:rPr lang="zh-CN" altLang="en-US" b="0" i="0" dirty="0">
                <a:effectLst/>
                <a:latin typeface="Inter"/>
              </a:rPr>
              <a:t>你一直在持续集成，所以发布产品的打包成本极低。</a:t>
            </a:r>
            <a:endParaRPr lang="en-US" altLang="zh-CN" b="0" i="0" dirty="0">
              <a:effectLst/>
              <a:latin typeface="Inter"/>
            </a:endParaRPr>
          </a:p>
          <a:p>
            <a:pPr lvl="1"/>
            <a:r>
              <a:rPr lang="zh-CN" altLang="en-US" b="0" i="0" dirty="0">
                <a:effectLst/>
                <a:latin typeface="Inter"/>
              </a:rPr>
              <a:t>你的测试将缺陷率降低到了足够低的水平，因此在软件发布前，无需经历漫长的测试周期。</a:t>
            </a:r>
            <a:endParaRPr lang="en-US" altLang="zh-CN" b="0" i="0" dirty="0">
              <a:effectLst/>
              <a:latin typeface="Inter"/>
            </a:endParaRPr>
          </a:p>
          <a:p>
            <a:pPr lvl="1"/>
            <a:r>
              <a:rPr lang="zh-CN" altLang="en-US" b="0" i="0" dirty="0">
                <a:effectLst/>
                <a:latin typeface="Inter"/>
              </a:rPr>
              <a:t>你可以做一个简单的设计，这个设计足以满足此次发布，而非适用于所有时期。</a:t>
            </a:r>
            <a:endParaRPr kumimoji="1" lang="zh-CN" altLang="en-US" dirty="0"/>
          </a:p>
        </p:txBody>
      </p:sp>
    </p:spTree>
    <p:extLst>
      <p:ext uri="{BB962C8B-B14F-4D97-AF65-F5344CB8AC3E}">
        <p14:creationId xmlns:p14="http://schemas.microsoft.com/office/powerpoint/2010/main" val="253305949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E3779-B5DF-1C86-6D93-5D5C814C0423}"/>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16BF2DED-7E82-689D-AAFD-F920DF3F3B7B}"/>
              </a:ext>
            </a:extLst>
          </p:cNvPr>
          <p:cNvSpPr>
            <a:spLocks noGrp="1"/>
          </p:cNvSpPr>
          <p:nvPr>
            <p:ph type="sldNum" sz="quarter" idx="12"/>
          </p:nvPr>
        </p:nvSpPr>
        <p:spPr/>
        <p:txBody>
          <a:bodyPr/>
          <a:lstStyle/>
          <a:p>
            <a:fld id="{51D91E7F-84B6-4064-9D4E-CC7D244BCA04}" type="slidenum">
              <a:rPr lang="zh-CN" altLang="en-US" smtClean="0"/>
              <a:t>35</a:t>
            </a:fld>
            <a:endParaRPr lang="zh-CN" altLang="en-US"/>
          </a:p>
        </p:txBody>
      </p:sp>
      <p:sp>
        <p:nvSpPr>
          <p:cNvPr id="3" name="文本占位符 2">
            <a:extLst>
              <a:ext uri="{FF2B5EF4-FFF2-40B4-BE49-F238E27FC236}">
                <a16:creationId xmlns:a16="http://schemas.microsoft.com/office/drawing/2014/main" id="{F5A39766-7C86-19AF-5E86-46BF1BE70E94}"/>
              </a:ext>
            </a:extLst>
          </p:cNvPr>
          <p:cNvSpPr>
            <a:spLocks noGrp="1"/>
          </p:cNvSpPr>
          <p:nvPr>
            <p:ph type="body" sz="quarter" idx="13"/>
          </p:nvPr>
        </p:nvSpPr>
        <p:spPr/>
        <p:txBody>
          <a:bodyPr/>
          <a:lstStyle/>
          <a:p>
            <a:r>
              <a:rPr kumimoji="1" lang="en-US" altLang="zh-CN" dirty="0"/>
              <a:t>3</a:t>
            </a:r>
            <a:r>
              <a:rPr kumimoji="1" lang="zh-CN" altLang="en-US" dirty="0"/>
              <a:t> 隐喻 </a:t>
            </a:r>
            <a:r>
              <a:rPr lang="en-US" altLang="zh-CN" dirty="0"/>
              <a:t>Metaphor</a:t>
            </a:r>
            <a:endParaRPr kumimoji="1" lang="zh-CN" altLang="en-US" dirty="0"/>
          </a:p>
        </p:txBody>
      </p:sp>
      <p:sp>
        <p:nvSpPr>
          <p:cNvPr id="4" name="内容占位符 3">
            <a:extLst>
              <a:ext uri="{FF2B5EF4-FFF2-40B4-BE49-F238E27FC236}">
                <a16:creationId xmlns:a16="http://schemas.microsoft.com/office/drawing/2014/main" id="{65F12CAE-714D-6BF5-CD66-F249F94C21D8}"/>
              </a:ext>
            </a:extLst>
          </p:cNvPr>
          <p:cNvSpPr>
            <a:spLocks noGrp="1"/>
          </p:cNvSpPr>
          <p:nvPr>
            <p:ph idx="1"/>
          </p:nvPr>
        </p:nvSpPr>
        <p:spPr/>
        <p:txBody>
          <a:bodyPr/>
          <a:lstStyle/>
          <a:p>
            <a:r>
              <a:rPr lang="zh-CN" altLang="en-US" b="0" i="0" dirty="0">
                <a:effectLst/>
                <a:latin typeface="Inter"/>
              </a:rPr>
              <a:t>你不可能仅凭一个隐喻就开始开发工作。这里面细节不够，而且，要是你错了怎么办？</a:t>
            </a:r>
            <a:endParaRPr lang="en-US" altLang="zh-CN" b="0" i="0" dirty="0">
              <a:effectLst/>
              <a:latin typeface="Inter"/>
            </a:endParaRPr>
          </a:p>
          <a:p>
            <a:pPr lvl="1"/>
            <a:r>
              <a:rPr lang="zh-CN" altLang="en-US" b="0" i="0" dirty="0">
                <a:effectLst/>
                <a:latin typeface="Inter"/>
              </a:rPr>
              <a:t>你很快就能从实际代码和测试中得到具体反馈，了解这个隐喻在实践中是否行得通。</a:t>
            </a:r>
            <a:endParaRPr lang="en-US" altLang="zh-CN" b="0" i="0" dirty="0">
              <a:effectLst/>
              <a:latin typeface="Inter"/>
            </a:endParaRPr>
          </a:p>
          <a:p>
            <a:pPr lvl="1"/>
            <a:r>
              <a:rPr lang="zh-CN" altLang="en-US" b="0" i="0" dirty="0">
                <a:effectLst/>
                <a:latin typeface="Inter"/>
              </a:rPr>
              <a:t>你的客户很乐意用这个隐喻来谈论这个系统。</a:t>
            </a:r>
            <a:endParaRPr lang="en-US" altLang="zh-CN" b="0" i="0" dirty="0">
              <a:effectLst/>
              <a:latin typeface="Inter"/>
            </a:endParaRPr>
          </a:p>
          <a:p>
            <a:pPr lvl="1"/>
            <a:r>
              <a:rPr lang="zh-CN" altLang="en-US" b="0" i="0" dirty="0">
                <a:effectLst/>
                <a:latin typeface="Inter"/>
              </a:rPr>
              <a:t>你通过重构不断完善自己对这个隐喻在实践中意义的理解。</a:t>
            </a:r>
            <a:endParaRPr kumimoji="1" lang="zh-CN" altLang="en-US" dirty="0"/>
          </a:p>
        </p:txBody>
      </p:sp>
    </p:spTree>
    <p:extLst>
      <p:ext uri="{BB962C8B-B14F-4D97-AF65-F5344CB8AC3E}">
        <p14:creationId xmlns:p14="http://schemas.microsoft.com/office/powerpoint/2010/main" val="3586231901"/>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2A0E2-9C9B-70EC-B631-7C2ADBB61CD9}"/>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41478C7-FEC0-A6C7-F93D-8BB9BFE2C6F9}"/>
              </a:ext>
            </a:extLst>
          </p:cNvPr>
          <p:cNvSpPr>
            <a:spLocks noGrp="1"/>
          </p:cNvSpPr>
          <p:nvPr>
            <p:ph type="sldNum" sz="quarter" idx="12"/>
          </p:nvPr>
        </p:nvSpPr>
        <p:spPr/>
        <p:txBody>
          <a:bodyPr/>
          <a:lstStyle/>
          <a:p>
            <a:fld id="{51D91E7F-84B6-4064-9D4E-CC7D244BCA04}" type="slidenum">
              <a:rPr lang="zh-CN" altLang="en-US" smtClean="0"/>
              <a:t>36</a:t>
            </a:fld>
            <a:endParaRPr lang="zh-CN" altLang="en-US"/>
          </a:p>
        </p:txBody>
      </p:sp>
      <p:sp>
        <p:nvSpPr>
          <p:cNvPr id="3" name="文本占位符 2">
            <a:extLst>
              <a:ext uri="{FF2B5EF4-FFF2-40B4-BE49-F238E27FC236}">
                <a16:creationId xmlns:a16="http://schemas.microsoft.com/office/drawing/2014/main" id="{DEA2BFD3-1858-6288-2ACA-70BE30943706}"/>
              </a:ext>
            </a:extLst>
          </p:cNvPr>
          <p:cNvSpPr>
            <a:spLocks noGrp="1"/>
          </p:cNvSpPr>
          <p:nvPr>
            <p:ph type="body" sz="quarter" idx="13"/>
          </p:nvPr>
        </p:nvSpPr>
        <p:spPr/>
        <p:txBody>
          <a:bodyPr/>
          <a:lstStyle/>
          <a:p>
            <a:r>
              <a:rPr kumimoji="1" lang="en-US" altLang="zh-CN" dirty="0"/>
              <a:t>4</a:t>
            </a:r>
            <a:r>
              <a:rPr kumimoji="1" lang="zh-CN" altLang="en-US" dirty="0"/>
              <a:t> 简单设计 </a:t>
            </a:r>
            <a:r>
              <a:rPr lang="en-US" altLang="zh-CN" dirty="0"/>
              <a:t>Simple Design </a:t>
            </a:r>
            <a:endParaRPr kumimoji="1" lang="zh-CN" altLang="en-US" dirty="0"/>
          </a:p>
        </p:txBody>
      </p:sp>
      <p:sp>
        <p:nvSpPr>
          <p:cNvPr id="4" name="内容占位符 3">
            <a:extLst>
              <a:ext uri="{FF2B5EF4-FFF2-40B4-BE49-F238E27FC236}">
                <a16:creationId xmlns:a16="http://schemas.microsoft.com/office/drawing/2014/main" id="{68BCCEB5-059D-A656-DF6C-BD33ED1EDFC8}"/>
              </a:ext>
            </a:extLst>
          </p:cNvPr>
          <p:cNvSpPr>
            <a:spLocks noGrp="1"/>
          </p:cNvSpPr>
          <p:nvPr>
            <p:ph idx="1"/>
          </p:nvPr>
        </p:nvSpPr>
        <p:spPr/>
        <p:txBody>
          <a:bodyPr/>
          <a:lstStyle/>
          <a:p>
            <a:r>
              <a:rPr lang="zh-CN" altLang="en-US" b="0" i="0" dirty="0">
                <a:effectLst/>
                <a:latin typeface="Inter"/>
              </a:rPr>
              <a:t>你不可能为今天的代码设计得恰到好处。你会把自己设计到死胡同里，然后就会被困住，无法继续演进这个系统。</a:t>
            </a:r>
            <a:endParaRPr lang="en-US" altLang="zh-CN" b="0" i="0" dirty="0">
              <a:effectLst/>
              <a:latin typeface="Inter"/>
            </a:endParaRPr>
          </a:p>
          <a:p>
            <a:pPr lvl="1"/>
            <a:r>
              <a:rPr lang="zh-CN" altLang="en-US" b="0" i="0" dirty="0">
                <a:effectLst/>
                <a:latin typeface="Inter"/>
              </a:rPr>
              <a:t>你习惯重构，所以做改动并不用担心。</a:t>
            </a:r>
            <a:endParaRPr lang="en-US" altLang="zh-CN" b="0" i="0" dirty="0">
              <a:effectLst/>
              <a:latin typeface="Inter"/>
            </a:endParaRPr>
          </a:p>
          <a:p>
            <a:pPr lvl="1"/>
            <a:r>
              <a:rPr lang="zh-CN" altLang="en-US" b="0" i="0" u="none" strike="noStrike" dirty="0">
                <a:effectLst/>
                <a:latin typeface="PingFang SC" panose="020B0400000000000000" pitchFamily="34" charset="-122"/>
                <a:ea typeface="PingFang SC" panose="020B0400000000000000" pitchFamily="34" charset="-122"/>
              </a:rPr>
              <a:t>清晰的系统隐喻可指导后续设计变更，确保迭代方向与整体架构保持一致。</a:t>
            </a:r>
            <a:endParaRPr lang="en-US" altLang="zh-CN" b="0" i="0" u="none" strike="noStrike" dirty="0">
              <a:effectLst/>
              <a:latin typeface="PingFang SC" panose="020B0400000000000000" pitchFamily="34" charset="-122"/>
              <a:ea typeface="PingFang SC" panose="020B0400000000000000" pitchFamily="34" charset="-122"/>
            </a:endParaRPr>
          </a:p>
          <a:p>
            <a:pPr lvl="1"/>
            <a:r>
              <a:rPr lang="zh-CN" altLang="en-US" b="0" i="0">
                <a:effectLst/>
                <a:latin typeface="Inter"/>
              </a:rPr>
              <a:t>你</a:t>
            </a:r>
            <a:r>
              <a:rPr lang="zh-CN" altLang="en-US" b="0" i="0" dirty="0">
                <a:effectLst/>
                <a:latin typeface="Inter"/>
              </a:rPr>
              <a:t>是和一位伙伴一起编程，所以你有信心自己做出的是一个简洁的设计，而非愚蠢的设计。</a:t>
            </a:r>
            <a:endParaRPr kumimoji="1" lang="zh-CN" altLang="en-US" dirty="0"/>
          </a:p>
        </p:txBody>
      </p:sp>
    </p:spTree>
    <p:extLst>
      <p:ext uri="{BB962C8B-B14F-4D97-AF65-F5344CB8AC3E}">
        <p14:creationId xmlns:p14="http://schemas.microsoft.com/office/powerpoint/2010/main" val="2507520989"/>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02BEE-E8E3-1E0F-996B-B664FC7A5375}"/>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3BD9DD9D-B112-A667-6448-AFDA9D9093E0}"/>
              </a:ext>
            </a:extLst>
          </p:cNvPr>
          <p:cNvSpPr>
            <a:spLocks noGrp="1"/>
          </p:cNvSpPr>
          <p:nvPr>
            <p:ph type="sldNum" sz="quarter" idx="12"/>
          </p:nvPr>
        </p:nvSpPr>
        <p:spPr/>
        <p:txBody>
          <a:bodyPr/>
          <a:lstStyle/>
          <a:p>
            <a:fld id="{51D91E7F-84B6-4064-9D4E-CC7D244BCA04}" type="slidenum">
              <a:rPr lang="zh-CN" altLang="en-US" smtClean="0"/>
              <a:t>37</a:t>
            </a:fld>
            <a:endParaRPr lang="zh-CN" altLang="en-US"/>
          </a:p>
        </p:txBody>
      </p:sp>
      <p:sp>
        <p:nvSpPr>
          <p:cNvPr id="3" name="文本占位符 2">
            <a:extLst>
              <a:ext uri="{FF2B5EF4-FFF2-40B4-BE49-F238E27FC236}">
                <a16:creationId xmlns:a16="http://schemas.microsoft.com/office/drawing/2014/main" id="{B0176002-11FA-B5AC-169A-F32DD0F98B80}"/>
              </a:ext>
            </a:extLst>
          </p:cNvPr>
          <p:cNvSpPr>
            <a:spLocks noGrp="1"/>
          </p:cNvSpPr>
          <p:nvPr>
            <p:ph type="body" sz="quarter" idx="13"/>
          </p:nvPr>
        </p:nvSpPr>
        <p:spPr>
          <a:xfrm>
            <a:off x="1032184" y="386718"/>
            <a:ext cx="10321616" cy="584775"/>
          </a:xfrm>
        </p:spPr>
        <p:txBody>
          <a:bodyPr/>
          <a:lstStyle/>
          <a:p>
            <a:r>
              <a:rPr kumimoji="1" lang="en-US" altLang="zh-CN" dirty="0"/>
              <a:t>5</a:t>
            </a:r>
            <a:r>
              <a:rPr kumimoji="1" lang="zh-CN" altLang="en-US" dirty="0"/>
              <a:t> 测试 </a:t>
            </a:r>
            <a:r>
              <a:rPr lang="en-US" altLang="zh-CN" dirty="0"/>
              <a:t>Testing</a:t>
            </a:r>
            <a:endParaRPr kumimoji="1" lang="zh-CN" altLang="en-US" dirty="0"/>
          </a:p>
        </p:txBody>
      </p:sp>
      <p:sp>
        <p:nvSpPr>
          <p:cNvPr id="4" name="内容占位符 3">
            <a:extLst>
              <a:ext uri="{FF2B5EF4-FFF2-40B4-BE49-F238E27FC236}">
                <a16:creationId xmlns:a16="http://schemas.microsoft.com/office/drawing/2014/main" id="{CFF8F037-A029-EC09-7D9B-971A74BFEA0B}"/>
              </a:ext>
            </a:extLst>
          </p:cNvPr>
          <p:cNvSpPr>
            <a:spLocks noGrp="1"/>
          </p:cNvSpPr>
          <p:nvPr>
            <p:ph idx="1"/>
          </p:nvPr>
        </p:nvSpPr>
        <p:spPr/>
        <p:txBody>
          <a:bodyPr>
            <a:normAutofit/>
          </a:bodyPr>
          <a:lstStyle/>
          <a:p>
            <a:r>
              <a:rPr lang="zh-CN" altLang="en-US" b="0" i="0" dirty="0">
                <a:effectLst/>
                <a:latin typeface="Inter"/>
              </a:rPr>
              <a:t>你不可能把所有那些测试都写出来。那会花费太多时间。程序员不会写测试的。</a:t>
            </a:r>
            <a:endParaRPr lang="en-US" altLang="zh-CN" b="0" i="0" dirty="0">
              <a:effectLst/>
              <a:latin typeface="Inter"/>
            </a:endParaRPr>
          </a:p>
          <a:p>
            <a:pPr lvl="1"/>
            <a:r>
              <a:rPr lang="zh-CN" altLang="en-US" b="0" i="0" dirty="0">
                <a:effectLst/>
                <a:latin typeface="Inter"/>
              </a:rPr>
              <a:t>设计已经尽可能简单了，所以写测试也没那么难。</a:t>
            </a:r>
            <a:endParaRPr lang="en-US" altLang="zh-CN" b="0" i="0" dirty="0">
              <a:effectLst/>
              <a:latin typeface="Inter"/>
            </a:endParaRPr>
          </a:p>
          <a:p>
            <a:pPr lvl="1"/>
            <a:r>
              <a:rPr lang="zh-CN" altLang="en-US" b="0" i="0" dirty="0">
                <a:effectLst/>
                <a:latin typeface="Inter"/>
              </a:rPr>
              <a:t>结对编程 </a:t>
            </a:r>
            <a:r>
              <a:rPr lang="en-US" altLang="zh-CN" b="0" i="0" dirty="0">
                <a:effectLst/>
                <a:latin typeface="Inter"/>
              </a:rPr>
              <a:t>—— </a:t>
            </a:r>
            <a:r>
              <a:rPr lang="zh-CN" altLang="en-US" b="0" i="0" dirty="0">
                <a:effectLst/>
                <a:latin typeface="Inter"/>
              </a:rPr>
              <a:t>同伴压力</a:t>
            </a:r>
            <a:endParaRPr lang="en-US" altLang="zh-CN" b="0" i="0" dirty="0">
              <a:effectLst/>
              <a:latin typeface="Inter"/>
            </a:endParaRPr>
          </a:p>
          <a:p>
            <a:pPr lvl="1"/>
            <a:r>
              <a:rPr lang="zh-CN" altLang="en-US" b="0" i="0" dirty="0">
                <a:effectLst/>
                <a:latin typeface="Inter"/>
              </a:rPr>
              <a:t>当你看到所有测试都能运行时，你会感觉很好。</a:t>
            </a:r>
            <a:endParaRPr lang="en-US" altLang="zh-CN" b="0" i="0" dirty="0">
              <a:effectLst/>
              <a:latin typeface="Inter"/>
            </a:endParaRPr>
          </a:p>
          <a:p>
            <a:pPr lvl="1"/>
            <a:r>
              <a:rPr lang="zh-CN" altLang="en-US" b="0" i="0" dirty="0">
                <a:effectLst/>
                <a:latin typeface="Inter"/>
              </a:rPr>
              <a:t>当客户看到他们所有的测试都能运行时，他们会对这个系统感觉良好。</a:t>
            </a:r>
            <a:endParaRPr kumimoji="1" lang="zh-CN" altLang="en-US" dirty="0"/>
          </a:p>
        </p:txBody>
      </p:sp>
    </p:spTree>
    <p:extLst>
      <p:ext uri="{BB962C8B-B14F-4D97-AF65-F5344CB8AC3E}">
        <p14:creationId xmlns:p14="http://schemas.microsoft.com/office/powerpoint/2010/main" val="339461713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20BA2F-32B1-B603-F69E-3A24289E94AC}"/>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A2D43238-EB53-E2E2-8438-2CB474EC3468}"/>
              </a:ext>
            </a:extLst>
          </p:cNvPr>
          <p:cNvSpPr>
            <a:spLocks noGrp="1"/>
          </p:cNvSpPr>
          <p:nvPr>
            <p:ph type="sldNum" sz="quarter" idx="12"/>
          </p:nvPr>
        </p:nvSpPr>
        <p:spPr/>
        <p:txBody>
          <a:bodyPr/>
          <a:lstStyle/>
          <a:p>
            <a:fld id="{51D91E7F-84B6-4064-9D4E-CC7D244BCA04}" type="slidenum">
              <a:rPr lang="zh-CN" altLang="en-US" smtClean="0"/>
              <a:t>38</a:t>
            </a:fld>
            <a:endParaRPr lang="zh-CN" altLang="en-US"/>
          </a:p>
        </p:txBody>
      </p:sp>
      <p:sp>
        <p:nvSpPr>
          <p:cNvPr id="3" name="文本占位符 2">
            <a:extLst>
              <a:ext uri="{FF2B5EF4-FFF2-40B4-BE49-F238E27FC236}">
                <a16:creationId xmlns:a16="http://schemas.microsoft.com/office/drawing/2014/main" id="{5ACA5DAE-38D4-56A3-2CE8-3E3FEF94A489}"/>
              </a:ext>
            </a:extLst>
          </p:cNvPr>
          <p:cNvSpPr>
            <a:spLocks noGrp="1"/>
          </p:cNvSpPr>
          <p:nvPr>
            <p:ph type="body" sz="quarter" idx="13"/>
          </p:nvPr>
        </p:nvSpPr>
        <p:spPr>
          <a:xfrm>
            <a:off x="1032184" y="386718"/>
            <a:ext cx="10321616" cy="584775"/>
          </a:xfrm>
        </p:spPr>
        <p:txBody>
          <a:bodyPr/>
          <a:lstStyle/>
          <a:p>
            <a:r>
              <a:rPr kumimoji="1" lang="en-US" altLang="zh-CN" dirty="0"/>
              <a:t>6</a:t>
            </a:r>
            <a:r>
              <a:rPr kumimoji="1" lang="zh-CN" altLang="en-US" dirty="0"/>
              <a:t> 重构 </a:t>
            </a:r>
            <a:r>
              <a:rPr lang="en-US" altLang="zh-CN" dirty="0"/>
              <a:t>Refactoring</a:t>
            </a:r>
            <a:endParaRPr kumimoji="1" lang="zh-CN" altLang="en-US" dirty="0"/>
          </a:p>
        </p:txBody>
      </p:sp>
      <p:sp>
        <p:nvSpPr>
          <p:cNvPr id="4" name="内容占位符 3">
            <a:extLst>
              <a:ext uri="{FF2B5EF4-FFF2-40B4-BE49-F238E27FC236}">
                <a16:creationId xmlns:a16="http://schemas.microsoft.com/office/drawing/2014/main" id="{C2D185AD-080C-5DFC-238F-80593902ACE9}"/>
              </a:ext>
            </a:extLst>
          </p:cNvPr>
          <p:cNvSpPr>
            <a:spLocks noGrp="1"/>
          </p:cNvSpPr>
          <p:nvPr>
            <p:ph idx="1"/>
          </p:nvPr>
        </p:nvSpPr>
        <p:spPr/>
        <p:txBody>
          <a:bodyPr>
            <a:normAutofit fontScale="85000" lnSpcReduction="20000"/>
          </a:bodyPr>
          <a:lstStyle/>
          <a:p>
            <a:r>
              <a:rPr kumimoji="1" lang="zh-CN" altLang="en-US" dirty="0"/>
              <a:t>你不可能一直重构系统的设计。这会花费太长时间，太难控制，而且很可能会破坏系统。</a:t>
            </a:r>
          </a:p>
          <a:p>
            <a:pPr lvl="1"/>
            <a:r>
              <a:rPr kumimoji="1" lang="zh-CN" altLang="en-US" dirty="0"/>
              <a:t>你习惯集体所有制，所以只要有需要，你不介意在任何地方进行修改。</a:t>
            </a:r>
          </a:p>
          <a:p>
            <a:pPr lvl="1"/>
            <a:r>
              <a:rPr kumimoji="1" lang="zh-CN" altLang="en-US" dirty="0"/>
              <a:t>你有编码标准，所以在重构之前无需重新格式化。</a:t>
            </a:r>
            <a:endParaRPr kumimoji="1" lang="en-US" altLang="zh-CN" dirty="0"/>
          </a:p>
          <a:p>
            <a:pPr lvl="1"/>
            <a:r>
              <a:rPr kumimoji="1" lang="zh-CN" altLang="en-US" dirty="0"/>
              <a:t>你结对编程，因此更有可能有勇气去应对棘手的重构工作，而且不太可能破坏原有功能。</a:t>
            </a:r>
          </a:p>
          <a:p>
            <a:pPr lvl="1"/>
            <a:r>
              <a:rPr kumimoji="1" lang="zh-CN" altLang="en-US" dirty="0">
                <a:solidFill>
                  <a:srgbClr val="FF0000"/>
                </a:solidFill>
              </a:rPr>
              <a:t>你采用简洁的设计，因此重构起来更加容易。</a:t>
            </a:r>
          </a:p>
          <a:p>
            <a:pPr lvl="1"/>
            <a:r>
              <a:rPr kumimoji="1" lang="zh-CN" altLang="en-US" dirty="0">
                <a:solidFill>
                  <a:srgbClr val="FF0000"/>
                </a:solidFill>
              </a:rPr>
              <a:t>你有测试，所以不太可能在不知情的情况下破坏原有功能。</a:t>
            </a:r>
          </a:p>
          <a:p>
            <a:pPr lvl="1"/>
            <a:r>
              <a:rPr kumimoji="1" lang="zh-CN" altLang="en-US" dirty="0">
                <a:solidFill>
                  <a:srgbClr val="FF0000"/>
                </a:solidFill>
              </a:rPr>
              <a:t>你有持续集成，所以如果不小心在某个环节破坏了原有功能，或者你们的重构与他人的工作发生冲突，几个小时内就能知晓。</a:t>
            </a:r>
          </a:p>
          <a:p>
            <a:pPr lvl="1"/>
            <a:r>
              <a:rPr kumimoji="1" lang="zh-CN" altLang="en-US" dirty="0"/>
              <a:t>你休息充分，因此更有勇气，也不太容易犯错。</a:t>
            </a:r>
          </a:p>
        </p:txBody>
      </p:sp>
    </p:spTree>
    <p:extLst>
      <p:ext uri="{BB962C8B-B14F-4D97-AF65-F5344CB8AC3E}">
        <p14:creationId xmlns:p14="http://schemas.microsoft.com/office/powerpoint/2010/main" val="2878292287"/>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56802-7B92-5898-4234-17DF34B6BF40}"/>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2C4DC1D-9263-05B8-EC4B-B6C49B02E083}"/>
              </a:ext>
            </a:extLst>
          </p:cNvPr>
          <p:cNvSpPr>
            <a:spLocks noGrp="1"/>
          </p:cNvSpPr>
          <p:nvPr>
            <p:ph type="sldNum" sz="quarter" idx="12"/>
          </p:nvPr>
        </p:nvSpPr>
        <p:spPr/>
        <p:txBody>
          <a:bodyPr/>
          <a:lstStyle/>
          <a:p>
            <a:fld id="{51D91E7F-84B6-4064-9D4E-CC7D244BCA04}" type="slidenum">
              <a:rPr lang="zh-CN" altLang="en-US" smtClean="0"/>
              <a:t>39</a:t>
            </a:fld>
            <a:endParaRPr lang="zh-CN" altLang="en-US"/>
          </a:p>
        </p:txBody>
      </p:sp>
      <p:sp>
        <p:nvSpPr>
          <p:cNvPr id="3" name="文本占位符 2">
            <a:extLst>
              <a:ext uri="{FF2B5EF4-FFF2-40B4-BE49-F238E27FC236}">
                <a16:creationId xmlns:a16="http://schemas.microsoft.com/office/drawing/2014/main" id="{73FF0CA5-90C1-DE07-768A-7D11C1198FD3}"/>
              </a:ext>
            </a:extLst>
          </p:cNvPr>
          <p:cNvSpPr>
            <a:spLocks noGrp="1"/>
          </p:cNvSpPr>
          <p:nvPr>
            <p:ph type="body" sz="quarter" idx="13"/>
          </p:nvPr>
        </p:nvSpPr>
        <p:spPr>
          <a:xfrm>
            <a:off x="1032184" y="386718"/>
            <a:ext cx="10321616" cy="584775"/>
          </a:xfrm>
        </p:spPr>
        <p:txBody>
          <a:bodyPr/>
          <a:lstStyle/>
          <a:p>
            <a:r>
              <a:rPr kumimoji="1" lang="en-US" altLang="zh-CN" dirty="0"/>
              <a:t>7</a:t>
            </a:r>
            <a:r>
              <a:rPr kumimoji="1" lang="zh-CN" altLang="en-US" dirty="0"/>
              <a:t> 结对编程</a:t>
            </a:r>
            <a:r>
              <a:rPr lang="en-US" altLang="zh-CN" dirty="0"/>
              <a:t>Pair Programming </a:t>
            </a:r>
            <a:endParaRPr kumimoji="1" lang="zh-CN" altLang="en-US" dirty="0"/>
          </a:p>
        </p:txBody>
      </p:sp>
      <p:sp>
        <p:nvSpPr>
          <p:cNvPr id="4" name="内容占位符 3">
            <a:extLst>
              <a:ext uri="{FF2B5EF4-FFF2-40B4-BE49-F238E27FC236}">
                <a16:creationId xmlns:a16="http://schemas.microsoft.com/office/drawing/2014/main" id="{160BC178-F9D3-3E41-0BFD-8C9E7C52D64C}"/>
              </a:ext>
            </a:extLst>
          </p:cNvPr>
          <p:cNvSpPr>
            <a:spLocks noGrp="1"/>
          </p:cNvSpPr>
          <p:nvPr>
            <p:ph idx="1"/>
          </p:nvPr>
        </p:nvSpPr>
        <p:spPr/>
        <p:txBody>
          <a:bodyPr>
            <a:normAutofit lnSpcReduction="10000"/>
          </a:bodyPr>
          <a:lstStyle/>
          <a:p>
            <a:r>
              <a:rPr kumimoji="1" lang="zh-CN" altLang="en-US" dirty="0"/>
              <a:t>你不可能一直结对编写所有的生产代码。这样速度太慢了。要是</a:t>
            </a:r>
            <a:r>
              <a:rPr kumimoji="1" lang="zh-CN" altLang="en-US" dirty="0">
                <a:solidFill>
                  <a:srgbClr val="FF0000"/>
                </a:solidFill>
              </a:rPr>
              <a:t>两个人合不来</a:t>
            </a:r>
            <a:r>
              <a:rPr kumimoji="1" lang="zh-CN" altLang="en-US" dirty="0"/>
              <a:t>怎么办？</a:t>
            </a:r>
          </a:p>
          <a:p>
            <a:pPr lvl="1"/>
            <a:r>
              <a:rPr kumimoji="1" lang="zh-CN" altLang="en-US" dirty="0"/>
              <a:t>编码标准能减少琐碎的争论。</a:t>
            </a:r>
          </a:p>
          <a:p>
            <a:pPr lvl="1"/>
            <a:r>
              <a:rPr kumimoji="1" lang="zh-CN" altLang="en-US" dirty="0"/>
              <a:t>每个人都精神饱满、精力充沛。</a:t>
            </a:r>
            <a:endParaRPr kumimoji="1" lang="en-US" altLang="zh-CN" dirty="0"/>
          </a:p>
          <a:p>
            <a:pPr lvl="1"/>
            <a:r>
              <a:rPr kumimoji="1" lang="zh-CN" altLang="en-US" dirty="0"/>
              <a:t>结对编程的两人共同编写测试，这让他们有机会在着手实现主体内容之前，统一彼此的理解。</a:t>
            </a:r>
          </a:p>
          <a:p>
            <a:pPr lvl="1"/>
            <a:r>
              <a:rPr kumimoji="1" lang="zh-CN" altLang="en-US" dirty="0"/>
              <a:t>结对编程的两人可以借助隐喻来确定命名和基本设计。</a:t>
            </a:r>
          </a:p>
          <a:p>
            <a:pPr lvl="1"/>
            <a:r>
              <a:rPr kumimoji="1" lang="zh-CN" altLang="en-US" dirty="0"/>
              <a:t>结对编程的两人在一个简单的设计框架内工作，因此他们都能明白进展情况。</a:t>
            </a:r>
            <a:endParaRPr kumimoji="1" lang="en-US" altLang="zh-CN" dirty="0"/>
          </a:p>
          <a:p>
            <a:pPr lvl="1"/>
            <a:endParaRPr kumimoji="1" lang="zh-CN" altLang="en-US" dirty="0"/>
          </a:p>
        </p:txBody>
      </p:sp>
    </p:spTree>
    <p:extLst>
      <p:ext uri="{BB962C8B-B14F-4D97-AF65-F5344CB8AC3E}">
        <p14:creationId xmlns:p14="http://schemas.microsoft.com/office/powerpoint/2010/main" val="134891703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FA424-DEE4-2482-1DEC-ED175B1FD509}"/>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68F9B8A-FD56-C33D-50CA-0A9412E03BCA}"/>
              </a:ext>
            </a:extLst>
          </p:cNvPr>
          <p:cNvSpPr>
            <a:spLocks noGrp="1"/>
          </p:cNvSpPr>
          <p:nvPr>
            <p:ph type="sldNum" sz="quarter" idx="12"/>
          </p:nvPr>
        </p:nvSpPr>
        <p:spPr/>
        <p:txBody>
          <a:bodyPr/>
          <a:lstStyle/>
          <a:p>
            <a:fld id="{51D91E7F-84B6-4064-9D4E-CC7D244BCA04}" type="slidenum">
              <a:rPr lang="zh-CN" altLang="en-US" smtClean="0"/>
              <a:t>40</a:t>
            </a:fld>
            <a:endParaRPr lang="zh-CN" altLang="en-US"/>
          </a:p>
        </p:txBody>
      </p:sp>
      <p:sp>
        <p:nvSpPr>
          <p:cNvPr id="3" name="文本占位符 2">
            <a:extLst>
              <a:ext uri="{FF2B5EF4-FFF2-40B4-BE49-F238E27FC236}">
                <a16:creationId xmlns:a16="http://schemas.microsoft.com/office/drawing/2014/main" id="{92D987DE-0A21-20D2-C683-8147A03DA093}"/>
              </a:ext>
            </a:extLst>
          </p:cNvPr>
          <p:cNvSpPr>
            <a:spLocks noGrp="1"/>
          </p:cNvSpPr>
          <p:nvPr>
            <p:ph type="body" sz="quarter" idx="13"/>
          </p:nvPr>
        </p:nvSpPr>
        <p:spPr>
          <a:xfrm>
            <a:off x="1032184" y="386718"/>
            <a:ext cx="10321616" cy="584775"/>
          </a:xfrm>
        </p:spPr>
        <p:txBody>
          <a:bodyPr/>
          <a:lstStyle/>
          <a:p>
            <a:r>
              <a:rPr kumimoji="1" lang="en-US" altLang="zh-CN" dirty="0"/>
              <a:t>8</a:t>
            </a:r>
            <a:r>
              <a:rPr kumimoji="1" lang="zh-CN" altLang="en-US" dirty="0"/>
              <a:t> 代码集体拥有制 </a:t>
            </a:r>
            <a:r>
              <a:rPr lang="en-US" altLang="zh-CN" dirty="0"/>
              <a:t>Collective Ownership </a:t>
            </a:r>
            <a:endParaRPr kumimoji="1" lang="zh-CN" altLang="en-US" dirty="0"/>
          </a:p>
        </p:txBody>
      </p:sp>
      <p:sp>
        <p:nvSpPr>
          <p:cNvPr id="4" name="内容占位符 3">
            <a:extLst>
              <a:ext uri="{FF2B5EF4-FFF2-40B4-BE49-F238E27FC236}">
                <a16:creationId xmlns:a16="http://schemas.microsoft.com/office/drawing/2014/main" id="{67BED482-E36C-E57A-42FD-67CA6564A773}"/>
              </a:ext>
            </a:extLst>
          </p:cNvPr>
          <p:cNvSpPr>
            <a:spLocks noGrp="1"/>
          </p:cNvSpPr>
          <p:nvPr>
            <p:ph idx="1"/>
          </p:nvPr>
        </p:nvSpPr>
        <p:spPr/>
        <p:txBody>
          <a:bodyPr/>
          <a:lstStyle/>
          <a:p>
            <a:r>
              <a:rPr kumimoji="1" lang="zh-CN" altLang="en-US" dirty="0"/>
              <a:t>你不可能让所有人在任何地方都有可能改变任何事。那样人们会到处搞破坏，整合成本也会大幅上升。</a:t>
            </a:r>
          </a:p>
          <a:p>
            <a:pPr lvl="1"/>
            <a:r>
              <a:rPr kumimoji="1" lang="zh-CN" altLang="en-US" dirty="0"/>
              <a:t>你在足够短的时间内进行集成，这样产生冲突的可能性就会降低。</a:t>
            </a:r>
            <a:endParaRPr kumimoji="1" lang="en-US" altLang="zh-CN" dirty="0"/>
          </a:p>
          <a:p>
            <a:pPr lvl="1"/>
            <a:r>
              <a:rPr kumimoji="1" lang="zh-CN" altLang="en-US" dirty="0"/>
              <a:t>你编写并运行测试，这样无意中破坏程序的可能性就会降低。</a:t>
            </a:r>
          </a:p>
          <a:p>
            <a:pPr lvl="1"/>
            <a:r>
              <a:rPr kumimoji="1" lang="zh-CN" altLang="en-US" dirty="0"/>
              <a:t>你进行结对编程，这样破坏代码的可能性就更小，而且程序员能更快地了解哪些修改是有益的。</a:t>
            </a:r>
          </a:p>
          <a:p>
            <a:pPr lvl="1"/>
            <a:r>
              <a:rPr kumimoji="1" lang="zh-CN" altLang="en-US" dirty="0"/>
              <a:t>你遵循编码标准，这样就不会陷入可怕的“花括号”之争。</a:t>
            </a:r>
          </a:p>
        </p:txBody>
      </p:sp>
    </p:spTree>
    <p:extLst>
      <p:ext uri="{BB962C8B-B14F-4D97-AF65-F5344CB8AC3E}">
        <p14:creationId xmlns:p14="http://schemas.microsoft.com/office/powerpoint/2010/main" val="2356335960"/>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66894-7F05-1146-EA1D-3C66ED1C5F87}"/>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26EF51E-3ACF-8D3D-462F-15D9FD44467E}"/>
              </a:ext>
            </a:extLst>
          </p:cNvPr>
          <p:cNvSpPr>
            <a:spLocks noGrp="1"/>
          </p:cNvSpPr>
          <p:nvPr>
            <p:ph type="sldNum" sz="quarter" idx="12"/>
          </p:nvPr>
        </p:nvSpPr>
        <p:spPr/>
        <p:txBody>
          <a:bodyPr/>
          <a:lstStyle/>
          <a:p>
            <a:fld id="{51D91E7F-84B6-4064-9D4E-CC7D244BCA04}" type="slidenum">
              <a:rPr lang="zh-CN" altLang="en-US" smtClean="0"/>
              <a:t>41</a:t>
            </a:fld>
            <a:endParaRPr lang="zh-CN" altLang="en-US"/>
          </a:p>
        </p:txBody>
      </p:sp>
      <p:sp>
        <p:nvSpPr>
          <p:cNvPr id="3" name="文本占位符 2">
            <a:extLst>
              <a:ext uri="{FF2B5EF4-FFF2-40B4-BE49-F238E27FC236}">
                <a16:creationId xmlns:a16="http://schemas.microsoft.com/office/drawing/2014/main" id="{8D03B363-1E12-B985-E93C-56BB09F1ED74}"/>
              </a:ext>
            </a:extLst>
          </p:cNvPr>
          <p:cNvSpPr>
            <a:spLocks noGrp="1"/>
          </p:cNvSpPr>
          <p:nvPr>
            <p:ph type="body" sz="quarter" idx="13"/>
          </p:nvPr>
        </p:nvSpPr>
        <p:spPr>
          <a:xfrm>
            <a:off x="1032184" y="386718"/>
            <a:ext cx="10321616" cy="584775"/>
          </a:xfrm>
        </p:spPr>
        <p:txBody>
          <a:bodyPr/>
          <a:lstStyle/>
          <a:p>
            <a:r>
              <a:rPr kumimoji="1" lang="en-US" altLang="zh-CN" dirty="0"/>
              <a:t>9</a:t>
            </a:r>
            <a:r>
              <a:rPr kumimoji="1" lang="zh-CN" altLang="en-US" dirty="0"/>
              <a:t> 持续集成 </a:t>
            </a:r>
            <a:r>
              <a:rPr lang="en-US" altLang="zh-CN" dirty="0"/>
              <a:t>Continuous Integration </a:t>
            </a:r>
            <a:endParaRPr kumimoji="1" lang="zh-CN" altLang="en-US" dirty="0"/>
          </a:p>
        </p:txBody>
      </p:sp>
      <p:sp>
        <p:nvSpPr>
          <p:cNvPr id="4" name="内容占位符 3">
            <a:extLst>
              <a:ext uri="{FF2B5EF4-FFF2-40B4-BE49-F238E27FC236}">
                <a16:creationId xmlns:a16="http://schemas.microsoft.com/office/drawing/2014/main" id="{669738D6-FD08-6757-84DE-1D937A36D38F}"/>
              </a:ext>
            </a:extLst>
          </p:cNvPr>
          <p:cNvSpPr>
            <a:spLocks noGrp="1"/>
          </p:cNvSpPr>
          <p:nvPr>
            <p:ph idx="1"/>
          </p:nvPr>
        </p:nvSpPr>
        <p:spPr/>
        <p:txBody>
          <a:bodyPr/>
          <a:lstStyle/>
          <a:p>
            <a:r>
              <a:rPr lang="zh-CN" altLang="en-US" b="0" i="0" dirty="0">
                <a:effectLst/>
                <a:latin typeface="Inter"/>
              </a:rPr>
              <a:t>仅仅工作几个小时，你根本不可能完成整合。整合所需的时间长得多，而且存在太多冲突，还很容易不小心搞砸某些事情。</a:t>
            </a:r>
            <a:endParaRPr lang="en-US" altLang="zh-CN" b="0" i="0" dirty="0">
              <a:effectLst/>
              <a:latin typeface="Inter"/>
            </a:endParaRPr>
          </a:p>
          <a:p>
            <a:pPr lvl="1"/>
            <a:r>
              <a:rPr kumimoji="1" lang="zh-CN" altLang="en-US" dirty="0"/>
              <a:t>你可以快速运行测试，这样就能知道自己没有破坏任何东西。</a:t>
            </a:r>
          </a:p>
          <a:p>
            <a:pPr lvl="1"/>
            <a:r>
              <a:rPr kumimoji="1" lang="zh-CN" altLang="en-US" dirty="0"/>
              <a:t>你们两人一组进行编程，因此需要整合的变更流数量减半。</a:t>
            </a:r>
          </a:p>
          <a:p>
            <a:pPr lvl="1"/>
            <a:r>
              <a:rPr kumimoji="1" lang="zh-CN" altLang="en-US" dirty="0"/>
              <a:t>你进行重构，这样代码就会拆分成更多小模块，减少冲突的可能性。</a:t>
            </a:r>
          </a:p>
        </p:txBody>
      </p:sp>
    </p:spTree>
    <p:extLst>
      <p:ext uri="{BB962C8B-B14F-4D97-AF65-F5344CB8AC3E}">
        <p14:creationId xmlns:p14="http://schemas.microsoft.com/office/powerpoint/2010/main" val="271257990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F9148-243E-6CE5-E60E-083AF87A46A8}"/>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CD3A3B14-BEA6-EA36-9C05-744A84D25ADC}"/>
              </a:ext>
            </a:extLst>
          </p:cNvPr>
          <p:cNvSpPr>
            <a:spLocks noGrp="1"/>
          </p:cNvSpPr>
          <p:nvPr>
            <p:ph type="sldNum" sz="quarter" idx="12"/>
          </p:nvPr>
        </p:nvSpPr>
        <p:spPr/>
        <p:txBody>
          <a:bodyPr/>
          <a:lstStyle/>
          <a:p>
            <a:fld id="{51D91E7F-84B6-4064-9D4E-CC7D244BCA04}" type="slidenum">
              <a:rPr lang="zh-CN" altLang="en-US" smtClean="0"/>
              <a:t>42</a:t>
            </a:fld>
            <a:endParaRPr lang="zh-CN" altLang="en-US"/>
          </a:p>
        </p:txBody>
      </p:sp>
      <p:sp>
        <p:nvSpPr>
          <p:cNvPr id="3" name="文本占位符 2">
            <a:extLst>
              <a:ext uri="{FF2B5EF4-FFF2-40B4-BE49-F238E27FC236}">
                <a16:creationId xmlns:a16="http://schemas.microsoft.com/office/drawing/2014/main" id="{F84ED8A0-63AF-5DD2-CAE6-A4BB9F3F97D8}"/>
              </a:ext>
            </a:extLst>
          </p:cNvPr>
          <p:cNvSpPr>
            <a:spLocks noGrp="1"/>
          </p:cNvSpPr>
          <p:nvPr>
            <p:ph type="body" sz="quarter" idx="13"/>
          </p:nvPr>
        </p:nvSpPr>
        <p:spPr>
          <a:xfrm>
            <a:off x="1032184" y="386718"/>
            <a:ext cx="10321616" cy="584775"/>
          </a:xfrm>
        </p:spPr>
        <p:txBody>
          <a:bodyPr/>
          <a:lstStyle/>
          <a:p>
            <a:r>
              <a:rPr kumimoji="1" lang="en-US" altLang="zh-CN" dirty="0"/>
              <a:t>10</a:t>
            </a:r>
            <a:r>
              <a:rPr kumimoji="1" lang="zh-CN" altLang="en-US" dirty="0"/>
              <a:t>、 </a:t>
            </a:r>
            <a:r>
              <a:rPr kumimoji="1" lang="en-US" altLang="zh-CN" dirty="0"/>
              <a:t>40 </a:t>
            </a:r>
            <a:r>
              <a:rPr kumimoji="1" lang="zh-CN" altLang="en-US" dirty="0"/>
              <a:t>小时工作制 </a:t>
            </a:r>
            <a:r>
              <a:rPr lang="en-US" altLang="zh-CN" dirty="0"/>
              <a:t>40-Hour Week</a:t>
            </a:r>
            <a:endParaRPr kumimoji="1" lang="zh-CN" altLang="en-US" dirty="0"/>
          </a:p>
        </p:txBody>
      </p:sp>
      <p:sp>
        <p:nvSpPr>
          <p:cNvPr id="4" name="内容占位符 3">
            <a:extLst>
              <a:ext uri="{FF2B5EF4-FFF2-40B4-BE49-F238E27FC236}">
                <a16:creationId xmlns:a16="http://schemas.microsoft.com/office/drawing/2014/main" id="{9B52FD87-2E70-4E7C-0FF8-2184783BA37A}"/>
              </a:ext>
            </a:extLst>
          </p:cNvPr>
          <p:cNvSpPr>
            <a:spLocks noGrp="1"/>
          </p:cNvSpPr>
          <p:nvPr>
            <p:ph idx="1"/>
          </p:nvPr>
        </p:nvSpPr>
        <p:spPr/>
        <p:txBody>
          <a:bodyPr/>
          <a:lstStyle/>
          <a:p>
            <a:r>
              <a:rPr kumimoji="1" lang="zh-CN" altLang="en-US" dirty="0"/>
              <a:t>你不可能每周仅工作</a:t>
            </a:r>
            <a:r>
              <a:rPr kumimoji="1" lang="en-US" altLang="zh-CN" dirty="0"/>
              <a:t>40</a:t>
            </a:r>
            <a:r>
              <a:rPr kumimoji="1" lang="zh-CN" altLang="en-US" dirty="0"/>
              <a:t>小时。</a:t>
            </a:r>
          </a:p>
          <a:p>
            <a:pPr lvl="1"/>
            <a:r>
              <a:rPr kumimoji="1" lang="zh-CN" altLang="en-US" dirty="0"/>
              <a:t>计划游戏会为你提供更有价值的工作去做。</a:t>
            </a:r>
          </a:p>
          <a:p>
            <a:pPr lvl="1"/>
            <a:r>
              <a:rPr kumimoji="1" lang="zh-CN" altLang="en-US" dirty="0"/>
              <a:t>计划游戏与测试相结合，能减少令人讨厌的意外情况发生的频率，即那种你发现要做的工作比预想中更多的情况。</a:t>
            </a:r>
          </a:p>
          <a:p>
            <a:pPr lvl="1"/>
            <a:r>
              <a:rPr kumimoji="1" lang="zh-CN" altLang="en-US" dirty="0"/>
              <a:t>这些实践作为一个整体，能帮助你以最快的速度编程，所以你不可能有更快的速度了。 </a:t>
            </a:r>
          </a:p>
        </p:txBody>
      </p:sp>
    </p:spTree>
    <p:extLst>
      <p:ext uri="{BB962C8B-B14F-4D97-AF65-F5344CB8AC3E}">
        <p14:creationId xmlns:p14="http://schemas.microsoft.com/office/powerpoint/2010/main" val="3066967654"/>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BDE15-7184-F296-9A75-2D37EFCB799B}"/>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FD1F2B1-1576-97BF-F2F3-A4AA7B883E12}"/>
              </a:ext>
            </a:extLst>
          </p:cNvPr>
          <p:cNvSpPr>
            <a:spLocks noGrp="1"/>
          </p:cNvSpPr>
          <p:nvPr>
            <p:ph type="sldNum" sz="quarter" idx="12"/>
          </p:nvPr>
        </p:nvSpPr>
        <p:spPr/>
        <p:txBody>
          <a:bodyPr/>
          <a:lstStyle/>
          <a:p>
            <a:fld id="{51D91E7F-84B6-4064-9D4E-CC7D244BCA04}" type="slidenum">
              <a:rPr lang="zh-CN" altLang="en-US" smtClean="0"/>
              <a:t>43</a:t>
            </a:fld>
            <a:endParaRPr lang="zh-CN" altLang="en-US"/>
          </a:p>
        </p:txBody>
      </p:sp>
      <p:sp>
        <p:nvSpPr>
          <p:cNvPr id="3" name="文本占位符 2">
            <a:extLst>
              <a:ext uri="{FF2B5EF4-FFF2-40B4-BE49-F238E27FC236}">
                <a16:creationId xmlns:a16="http://schemas.microsoft.com/office/drawing/2014/main" id="{60DB2E7A-32B1-6797-E349-6A556EE722C6}"/>
              </a:ext>
            </a:extLst>
          </p:cNvPr>
          <p:cNvSpPr>
            <a:spLocks noGrp="1"/>
          </p:cNvSpPr>
          <p:nvPr>
            <p:ph type="body" sz="quarter" idx="13"/>
          </p:nvPr>
        </p:nvSpPr>
        <p:spPr>
          <a:xfrm>
            <a:off x="1032184" y="386718"/>
            <a:ext cx="10321616" cy="584775"/>
          </a:xfrm>
        </p:spPr>
        <p:txBody>
          <a:bodyPr/>
          <a:lstStyle/>
          <a:p>
            <a:r>
              <a:rPr kumimoji="1" lang="en-US" altLang="zh-CN" dirty="0"/>
              <a:t>11</a:t>
            </a:r>
            <a:r>
              <a:rPr kumimoji="1" lang="zh-CN" altLang="en-US" dirty="0"/>
              <a:t> 现场客户 </a:t>
            </a:r>
            <a:r>
              <a:rPr lang="en-US" altLang="zh-CN" dirty="0"/>
              <a:t>On-Site Customer</a:t>
            </a:r>
            <a:endParaRPr kumimoji="1" lang="zh-CN" altLang="en-US" dirty="0"/>
          </a:p>
        </p:txBody>
      </p:sp>
      <p:sp>
        <p:nvSpPr>
          <p:cNvPr id="4" name="内容占位符 3">
            <a:extLst>
              <a:ext uri="{FF2B5EF4-FFF2-40B4-BE49-F238E27FC236}">
                <a16:creationId xmlns:a16="http://schemas.microsoft.com/office/drawing/2014/main" id="{4C9129B3-3687-500A-B88D-0FD928A72318}"/>
              </a:ext>
            </a:extLst>
          </p:cNvPr>
          <p:cNvSpPr>
            <a:spLocks noGrp="1"/>
          </p:cNvSpPr>
          <p:nvPr>
            <p:ph idx="1"/>
          </p:nvPr>
        </p:nvSpPr>
        <p:spPr/>
        <p:txBody>
          <a:bodyPr/>
          <a:lstStyle/>
          <a:p>
            <a:r>
              <a:rPr kumimoji="1" lang="zh-CN" altLang="en-US" dirty="0"/>
              <a:t>你们团队里不可能有真正的客户全职坐在那里。他们在其他地方能为企业创造更多价值。</a:t>
            </a:r>
          </a:p>
          <a:p>
            <a:pPr lvl="1"/>
            <a:r>
              <a:rPr kumimoji="1" lang="zh-CN" altLang="en-US" dirty="0"/>
              <a:t>他们可以通过编写功能测试为项目创造价值。</a:t>
            </a:r>
          </a:p>
          <a:p>
            <a:pPr lvl="1"/>
            <a:r>
              <a:rPr kumimoji="1" lang="zh-CN" altLang="en-US" dirty="0"/>
              <a:t>他们可以通过为程序员做出小规模的优先级和范围决策，为项目创造价值。 </a:t>
            </a:r>
          </a:p>
        </p:txBody>
      </p:sp>
    </p:spTree>
    <p:extLst>
      <p:ext uri="{BB962C8B-B14F-4D97-AF65-F5344CB8AC3E}">
        <p14:creationId xmlns:p14="http://schemas.microsoft.com/office/powerpoint/2010/main" val="269392955"/>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744AC-BF62-0A26-14D7-1021212D285C}"/>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77D8D5B7-FFB0-B4AE-4CEC-D918B0B57A3A}"/>
              </a:ext>
            </a:extLst>
          </p:cNvPr>
          <p:cNvSpPr>
            <a:spLocks noGrp="1"/>
          </p:cNvSpPr>
          <p:nvPr>
            <p:ph type="sldNum" sz="quarter" idx="12"/>
          </p:nvPr>
        </p:nvSpPr>
        <p:spPr/>
        <p:txBody>
          <a:bodyPr/>
          <a:lstStyle/>
          <a:p>
            <a:fld id="{51D91E7F-84B6-4064-9D4E-CC7D244BCA04}" type="slidenum">
              <a:rPr lang="zh-CN" altLang="en-US" smtClean="0"/>
              <a:t>44</a:t>
            </a:fld>
            <a:endParaRPr lang="zh-CN" altLang="en-US"/>
          </a:p>
        </p:txBody>
      </p:sp>
      <p:sp>
        <p:nvSpPr>
          <p:cNvPr id="3" name="文本占位符 2">
            <a:extLst>
              <a:ext uri="{FF2B5EF4-FFF2-40B4-BE49-F238E27FC236}">
                <a16:creationId xmlns:a16="http://schemas.microsoft.com/office/drawing/2014/main" id="{7B0FF07C-5428-10AF-74CC-F02526ABDC17}"/>
              </a:ext>
            </a:extLst>
          </p:cNvPr>
          <p:cNvSpPr>
            <a:spLocks noGrp="1"/>
          </p:cNvSpPr>
          <p:nvPr>
            <p:ph type="body" sz="quarter" idx="13"/>
          </p:nvPr>
        </p:nvSpPr>
        <p:spPr>
          <a:xfrm>
            <a:off x="1032184" y="386718"/>
            <a:ext cx="10321616" cy="584775"/>
          </a:xfrm>
        </p:spPr>
        <p:txBody>
          <a:bodyPr/>
          <a:lstStyle/>
          <a:p>
            <a:r>
              <a:rPr kumimoji="1" lang="en-US" altLang="zh-CN" dirty="0"/>
              <a:t>12</a:t>
            </a:r>
            <a:r>
              <a:rPr kumimoji="1" lang="zh-CN" altLang="en-US" dirty="0"/>
              <a:t> 编码规范 </a:t>
            </a:r>
            <a:r>
              <a:rPr lang="en-US" altLang="zh-CN" dirty="0"/>
              <a:t>Coding Standards</a:t>
            </a:r>
            <a:endParaRPr kumimoji="1" lang="zh-CN" altLang="en-US" dirty="0"/>
          </a:p>
        </p:txBody>
      </p:sp>
      <p:sp>
        <p:nvSpPr>
          <p:cNvPr id="4" name="内容占位符 3">
            <a:extLst>
              <a:ext uri="{FF2B5EF4-FFF2-40B4-BE49-F238E27FC236}">
                <a16:creationId xmlns:a16="http://schemas.microsoft.com/office/drawing/2014/main" id="{AEA96567-116C-E89A-E99B-487BC8E18349}"/>
              </a:ext>
            </a:extLst>
          </p:cNvPr>
          <p:cNvSpPr>
            <a:spLocks noGrp="1"/>
          </p:cNvSpPr>
          <p:nvPr>
            <p:ph idx="1"/>
          </p:nvPr>
        </p:nvSpPr>
        <p:spPr/>
        <p:txBody>
          <a:bodyPr/>
          <a:lstStyle/>
          <a:p>
            <a:r>
              <a:rPr kumimoji="1" lang="zh-CN" altLang="en-US" dirty="0"/>
              <a:t>你不可能要求团队按照统一标准编写代码。程序员极具个人主义，宁愿辞职也不愿把花括号放在别的地方。</a:t>
            </a:r>
          </a:p>
          <a:p>
            <a:pPr lvl="1"/>
            <a:r>
              <a:rPr kumimoji="1" lang="zh-CN" altLang="en-US" dirty="0"/>
              <a:t>极限编程（</a:t>
            </a:r>
            <a:r>
              <a:rPr kumimoji="1" lang="en-US" altLang="zh-CN" dirty="0"/>
              <a:t>XP</a:t>
            </a:r>
            <a:r>
              <a:rPr kumimoji="1" lang="zh-CN" altLang="en-US" dirty="0"/>
              <a:t>）能让他们更有可能成为成功团队的一员。</a:t>
            </a:r>
          </a:p>
        </p:txBody>
      </p:sp>
    </p:spTree>
    <p:extLst>
      <p:ext uri="{BB962C8B-B14F-4D97-AF65-F5344CB8AC3E}">
        <p14:creationId xmlns:p14="http://schemas.microsoft.com/office/powerpoint/2010/main" val="3212854956"/>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57313-AF13-72FD-D394-22E12CFE82C2}"/>
            </a:ext>
          </a:extLst>
        </p:cNvPr>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569CB179-F004-576A-F679-D55E2A24D6B0}"/>
              </a:ext>
            </a:extLst>
          </p:cNvPr>
          <p:cNvSpPr>
            <a:spLocks noGrp="1"/>
          </p:cNvSpPr>
          <p:nvPr>
            <p:ph type="sldNum" sz="quarter" idx="12"/>
          </p:nvPr>
        </p:nvSpPr>
        <p:spPr/>
        <p:txBody>
          <a:bodyPr/>
          <a:lstStyle/>
          <a:p>
            <a:fld id="{51D91E7F-84B6-4064-9D4E-CC7D244BCA04}" type="slidenum">
              <a:rPr lang="zh-CN" altLang="en-US" smtClean="0"/>
              <a:t>45</a:t>
            </a:fld>
            <a:endParaRPr lang="zh-CN" altLang="en-US"/>
          </a:p>
        </p:txBody>
      </p:sp>
      <p:sp>
        <p:nvSpPr>
          <p:cNvPr id="3" name="文本占位符 2">
            <a:extLst>
              <a:ext uri="{FF2B5EF4-FFF2-40B4-BE49-F238E27FC236}">
                <a16:creationId xmlns:a16="http://schemas.microsoft.com/office/drawing/2014/main" id="{72612F0D-760F-6446-F185-322675D6A67E}"/>
              </a:ext>
            </a:extLst>
          </p:cNvPr>
          <p:cNvSpPr>
            <a:spLocks noGrp="1"/>
          </p:cNvSpPr>
          <p:nvPr>
            <p:ph type="body" sz="quarter" idx="13"/>
          </p:nvPr>
        </p:nvSpPr>
        <p:spPr>
          <a:xfrm>
            <a:off x="1032184" y="386718"/>
            <a:ext cx="10321616" cy="584775"/>
          </a:xfrm>
        </p:spPr>
        <p:txBody>
          <a:bodyPr/>
          <a:lstStyle/>
          <a:p>
            <a:r>
              <a:rPr kumimoji="1" lang="zh-CN" altLang="en-US" dirty="0"/>
              <a:t>总结 </a:t>
            </a:r>
            <a:r>
              <a:rPr kumimoji="1" lang="en-US" altLang="zh-CN" dirty="0"/>
              <a:t>–</a:t>
            </a:r>
            <a:r>
              <a:rPr kumimoji="1" lang="zh-CN" altLang="en-US" dirty="0"/>
              <a:t> 互相支持</a:t>
            </a:r>
          </a:p>
        </p:txBody>
      </p:sp>
      <p:pic>
        <p:nvPicPr>
          <p:cNvPr id="5" name="Picture 3">
            <a:extLst>
              <a:ext uri="{FF2B5EF4-FFF2-40B4-BE49-F238E27FC236}">
                <a16:creationId xmlns:a16="http://schemas.microsoft.com/office/drawing/2014/main" id="{B481264F-6BC6-57B0-C541-CF7A80805F1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12731" y="1066092"/>
            <a:ext cx="8166537" cy="5405190"/>
          </a:xfrm>
        </p:spPr>
      </p:pic>
    </p:spTree>
    <p:extLst>
      <p:ext uri="{BB962C8B-B14F-4D97-AF65-F5344CB8AC3E}">
        <p14:creationId xmlns:p14="http://schemas.microsoft.com/office/powerpoint/2010/main" val="3946457852"/>
      </p:ext>
    </p:extLst>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zh-CN" altLang="en-US"/>
          </a:p>
        </p:txBody>
      </p:sp>
      <p:sp>
        <p:nvSpPr>
          <p:cNvPr id="3" name="文本占位符 2"/>
          <p:cNvSpPr>
            <a:spLocks noGrp="1"/>
          </p:cNvSpPr>
          <p:nvPr>
            <p:ph type="body" sz="quarter" idx="11"/>
          </p:nvPr>
        </p:nvSpPr>
        <p:spPr/>
        <p:txBody>
          <a:bodyPr/>
          <a:lstStyle/>
          <a:p>
            <a:endParaRPr lang="zh-CN" altLang="en-US"/>
          </a:p>
        </p:txBody>
      </p:sp>
      <p:sp>
        <p:nvSpPr>
          <p:cNvPr id="4" name="文本占位符 3"/>
          <p:cNvSpPr>
            <a:spLocks noGrp="1"/>
          </p:cNvSpPr>
          <p:nvPr>
            <p:ph type="body" sz="quarter" idx="12"/>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50">
        <p:fade/>
      </p:transition>
    </mc:Choice>
    <mc:Fallback xmlns="">
      <p:transition>
        <p:fade/>
      </p:transition>
    </mc:Fallback>
  </mc:AlternateContent>
</p:sld>
</file>

<file path=ppt/theme/theme1.xml><?xml version="1.0" encoding="utf-8"?>
<a:theme xmlns:a="http://schemas.openxmlformats.org/drawingml/2006/main" name="Office 主题">
  <a:themeElements>
    <a:clrScheme name="南大紫">
      <a:dk1>
        <a:srgbClr val="6A005F"/>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lides">
      <a:majorFont>
        <a:latin typeface="Times New Roman"/>
        <a:ea typeface="微软雅黑"/>
        <a:cs typeface=""/>
      </a:majorFont>
      <a:minorFont>
        <a:latin typeface="Times New Roman"/>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主题</Template>
  <TotalTime>92</TotalTime>
  <Words>3333</Words>
  <Application>Microsoft Macintosh PowerPoint</Application>
  <PresentationFormat>宽屏</PresentationFormat>
  <Paragraphs>276</Paragraphs>
  <Slides>47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47</vt:i4>
      </vt:variant>
    </vt:vector>
  </HeadingPairs>
  <TitlesOfParts>
    <vt:vector size="55" baseType="lpstr">
      <vt:lpstr>等线</vt:lpstr>
      <vt:lpstr>Inter</vt:lpstr>
      <vt:lpstr>PingFang SC</vt:lpstr>
      <vt:lpstr>Arial</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栋 邵</dc:creator>
  <dc:description>第一PPT模板网-WWW.1PPT.COM</dc:description>
  <cp:lastModifiedBy>栋 邵</cp:lastModifiedBy>
  <cp:revision>75</cp:revision>
  <dcterms:created xsi:type="dcterms:W3CDTF">2025-03-15T04:47:31Z</dcterms:created>
  <dcterms:modified xsi:type="dcterms:W3CDTF">2025-03-15T11:53:12Z</dcterms:modified>
  <cp:category>第一PPT模板网-WWW.1PPT.COM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AC13F161FBC3290550F89F62C78629F4</vt:lpwstr>
  </property>
  <property fmtid="{D5CDD505-2E9C-101B-9397-08002B2CF9AE}" pid="3" name="KSOProductBuildVer">
    <vt:lpwstr>2052-4.1.1.6613</vt:lpwstr>
  </property>
</Properties>
</file>